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autoCompressPictures="0">
  <p:sldMasterIdLst>
    <p:sldMasterId id="2147483648" r:id="rId1"/>
  </p:sldMasterIdLst>
  <p:notesMasterIdLst>
    <p:notesMasterId r:id="rId58"/>
  </p:notesMasterIdLst>
  <p:handoutMasterIdLst>
    <p:handoutMasterId r:id="rId59"/>
  </p:handoutMasterIdLst>
  <p:sldIdLst>
    <p:sldId id="454" r:id="rId2"/>
    <p:sldId id="508" r:id="rId3"/>
    <p:sldId id="509" r:id="rId4"/>
    <p:sldId id="510" r:id="rId5"/>
    <p:sldId id="474" r:id="rId6"/>
    <p:sldId id="499" r:id="rId7"/>
    <p:sldId id="471" r:id="rId8"/>
    <p:sldId id="455" r:id="rId9"/>
    <p:sldId id="341" r:id="rId10"/>
    <p:sldId id="438" r:id="rId11"/>
    <p:sldId id="493" r:id="rId12"/>
    <p:sldId id="497" r:id="rId13"/>
    <p:sldId id="440" r:id="rId14"/>
    <p:sldId id="332" r:id="rId15"/>
    <p:sldId id="456" r:id="rId16"/>
    <p:sldId id="285" r:id="rId17"/>
    <p:sldId id="286" r:id="rId18"/>
    <p:sldId id="465" r:id="rId19"/>
    <p:sldId id="475" r:id="rId20"/>
    <p:sldId id="369" r:id="rId21"/>
    <p:sldId id="479" r:id="rId22"/>
    <p:sldId id="480" r:id="rId23"/>
    <p:sldId id="481" r:id="rId24"/>
    <p:sldId id="482" r:id="rId25"/>
    <p:sldId id="457" r:id="rId26"/>
    <p:sldId id="483" r:id="rId27"/>
    <p:sldId id="496" r:id="rId28"/>
    <p:sldId id="494" r:id="rId29"/>
    <p:sldId id="458" r:id="rId30"/>
    <p:sldId id="484" r:id="rId31"/>
    <p:sldId id="501" r:id="rId32"/>
    <p:sldId id="485" r:id="rId33"/>
    <p:sldId id="486" r:id="rId34"/>
    <p:sldId id="385" r:id="rId35"/>
    <p:sldId id="487" r:id="rId36"/>
    <p:sldId id="488" r:id="rId37"/>
    <p:sldId id="460" r:id="rId38"/>
    <p:sldId id="473" r:id="rId39"/>
    <p:sldId id="314" r:id="rId40"/>
    <p:sldId id="453" r:id="rId41"/>
    <p:sldId id="491" r:id="rId42"/>
    <p:sldId id="462" r:id="rId43"/>
    <p:sldId id="495" r:id="rId44"/>
    <p:sldId id="492" r:id="rId45"/>
    <p:sldId id="502" r:id="rId46"/>
    <p:sldId id="503" r:id="rId47"/>
    <p:sldId id="504" r:id="rId48"/>
    <p:sldId id="505" r:id="rId49"/>
    <p:sldId id="506" r:id="rId50"/>
    <p:sldId id="507" r:id="rId51"/>
    <p:sldId id="446" r:id="rId52"/>
    <p:sldId id="447" r:id="rId53"/>
    <p:sldId id="463" r:id="rId54"/>
    <p:sldId id="467" r:id="rId55"/>
    <p:sldId id="498" r:id="rId56"/>
    <p:sldId id="500" r:id="rId57"/>
  </p:sldIdLst>
  <p:sldSz cx="10058400" cy="7772400"/>
  <p:notesSz cx="7137400" cy="9436100"/>
  <p:defaultTextStyle>
    <a:defPPr>
      <a:defRPr lang="en-US"/>
    </a:defPPr>
    <a:lvl1pPr algn="ctr"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5pPr>
    <a:lvl6pPr marL="2286000" algn="l" defTabSz="914400" rtl="0" eaLnBrk="1" latinLnBrk="0" hangingPunct="1">
      <a:defRPr sz="1400" b="1" kern="1200">
        <a:solidFill>
          <a:schemeClr val="tx1"/>
        </a:solidFill>
        <a:latin typeface="Arial" panose="020B0604020202020204" pitchFamily="34" charset="0"/>
        <a:ea typeface="+mn-ea"/>
        <a:cs typeface="+mn-cs"/>
      </a:defRPr>
    </a:lvl6pPr>
    <a:lvl7pPr marL="2743200" algn="l" defTabSz="914400" rtl="0" eaLnBrk="1" latinLnBrk="0" hangingPunct="1">
      <a:defRPr sz="1400" b="1" kern="1200">
        <a:solidFill>
          <a:schemeClr val="tx1"/>
        </a:solidFill>
        <a:latin typeface="Arial" panose="020B0604020202020204" pitchFamily="34" charset="0"/>
        <a:ea typeface="+mn-ea"/>
        <a:cs typeface="+mn-cs"/>
      </a:defRPr>
    </a:lvl7pPr>
    <a:lvl8pPr marL="3200400" algn="l" defTabSz="914400" rtl="0" eaLnBrk="1" latinLnBrk="0" hangingPunct="1">
      <a:defRPr sz="1400" b="1" kern="1200">
        <a:solidFill>
          <a:schemeClr val="tx1"/>
        </a:solidFill>
        <a:latin typeface="Arial" panose="020B0604020202020204" pitchFamily="34" charset="0"/>
        <a:ea typeface="+mn-ea"/>
        <a:cs typeface="+mn-cs"/>
      </a:defRPr>
    </a:lvl8pPr>
    <a:lvl9pPr marL="3657600" algn="l" defTabSz="914400" rtl="0" eaLnBrk="1" latinLnBrk="0" hangingPunct="1">
      <a:defRPr sz="14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722">
          <p15:clr>
            <a:srgbClr val="A4A3A4"/>
          </p15:clr>
        </p15:guide>
        <p15:guide id="2" orient="horz" pos="4383">
          <p15:clr>
            <a:srgbClr val="A4A3A4"/>
          </p15:clr>
        </p15:guide>
        <p15:guide id="3" orient="horz" pos="1420">
          <p15:clr>
            <a:srgbClr val="A4A3A4"/>
          </p15:clr>
        </p15:guide>
        <p15:guide id="4" pos="3167">
          <p15:clr>
            <a:srgbClr val="A4A3A4"/>
          </p15:clr>
        </p15:guide>
        <p15:guide id="5" pos="4868">
          <p15:clr>
            <a:srgbClr val="A4A3A4"/>
          </p15:clr>
        </p15:guide>
        <p15:guide id="6" pos="785">
          <p15:clr>
            <a:srgbClr val="A4A3A4"/>
          </p15:clr>
        </p15:guide>
        <p15:guide id="7" pos="468">
          <p15:clr>
            <a:srgbClr val="A4A3A4"/>
          </p15:clr>
        </p15:guide>
      </p15:sldGuideLst>
    </p:ext>
    <p:ext uri="{2D200454-40CA-4A62-9FC3-DE9A4176ACB9}">
      <p15:notesGuideLst xmlns:p15="http://schemas.microsoft.com/office/powerpoint/2012/main">
        <p15:guide id="1" orient="horz" pos="2971">
          <p15:clr>
            <a:srgbClr val="A4A3A4"/>
          </p15:clr>
        </p15:guide>
        <p15:guide id="2" pos="224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showOutlineIcons="0">
    <p:restoredLeft sz="22804"/>
    <p:restoredTop sz="86395"/>
  </p:normalViewPr>
  <p:slideViewPr>
    <p:cSldViewPr snapToGrid="0">
      <p:cViewPr>
        <p:scale>
          <a:sx n="117" d="100"/>
          <a:sy n="117" d="100"/>
        </p:scale>
        <p:origin x="1224" y="144"/>
      </p:cViewPr>
      <p:guideLst>
        <p:guide orient="horz" pos="722"/>
        <p:guide orient="horz" pos="4383"/>
        <p:guide orient="horz" pos="1420"/>
        <p:guide pos="3167"/>
        <p:guide pos="4868"/>
        <p:guide pos="785"/>
        <p:guide pos="4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1"/>
        <a:sy n="1" d="1"/>
      </p:scale>
      <p:origin x="0" y="0"/>
    </p:cViewPr>
  </p:sorterViewPr>
  <p:notesViewPr>
    <p:cSldViewPr snapToGrid="0">
      <p:cViewPr varScale="1">
        <p:scale>
          <a:sx n="54" d="100"/>
          <a:sy n="54" d="100"/>
        </p:scale>
        <p:origin x="-1746" y="-84"/>
      </p:cViewPr>
      <p:guideLst>
        <p:guide orient="horz" pos="2971"/>
        <p:guide pos="224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9506" name="Rectangle 2">
            <a:extLst>
              <a:ext uri="{FF2B5EF4-FFF2-40B4-BE49-F238E27FC236}">
                <a16:creationId xmlns:a16="http://schemas.microsoft.com/office/drawing/2014/main" id="{DD2E8C0D-26C5-F61D-C8CA-84A71EC8C92B}"/>
              </a:ext>
            </a:extLst>
          </p:cNvPr>
          <p:cNvSpPr>
            <a:spLocks noGrp="1" noChangeArrowheads="1"/>
          </p:cNvSpPr>
          <p:nvPr>
            <p:ph type="hdr" sz="quarter"/>
          </p:nvPr>
        </p:nvSpPr>
        <p:spPr bwMode="auto">
          <a:xfrm>
            <a:off x="0" y="0"/>
            <a:ext cx="313055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655" tIns="45827" rIns="91655" bIns="45827" numCol="1" anchor="t" anchorCtr="0" compatLnSpc="1">
            <a:prstTxWarp prst="textNoShape">
              <a:avLst/>
            </a:prstTxWarp>
          </a:bodyPr>
          <a:lstStyle>
            <a:lvl1pPr algn="l" defTabSz="915988">
              <a:defRPr sz="1200"/>
            </a:lvl1pPr>
          </a:lstStyle>
          <a:p>
            <a:endParaRPr lang="en-US" altLang="en-US"/>
          </a:p>
        </p:txBody>
      </p:sp>
      <p:sp>
        <p:nvSpPr>
          <p:cNvPr id="149507" name="Rectangle 3">
            <a:extLst>
              <a:ext uri="{FF2B5EF4-FFF2-40B4-BE49-F238E27FC236}">
                <a16:creationId xmlns:a16="http://schemas.microsoft.com/office/drawing/2014/main" id="{58289EDE-F543-8747-A558-492188B54E15}"/>
              </a:ext>
            </a:extLst>
          </p:cNvPr>
          <p:cNvSpPr>
            <a:spLocks noGrp="1" noChangeArrowheads="1"/>
          </p:cNvSpPr>
          <p:nvPr>
            <p:ph type="dt" sz="quarter" idx="1"/>
          </p:nvPr>
        </p:nvSpPr>
        <p:spPr bwMode="auto">
          <a:xfrm>
            <a:off x="4046538" y="0"/>
            <a:ext cx="305435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655" tIns="45827" rIns="91655" bIns="45827" numCol="1" anchor="t" anchorCtr="0" compatLnSpc="1">
            <a:prstTxWarp prst="textNoShape">
              <a:avLst/>
            </a:prstTxWarp>
          </a:bodyPr>
          <a:lstStyle>
            <a:lvl1pPr algn="r" defTabSz="915988">
              <a:defRPr sz="1200"/>
            </a:lvl1pPr>
          </a:lstStyle>
          <a:p>
            <a:endParaRPr lang="en-US" altLang="en-US"/>
          </a:p>
        </p:txBody>
      </p:sp>
      <p:sp>
        <p:nvSpPr>
          <p:cNvPr id="149508" name="Rectangle 4">
            <a:extLst>
              <a:ext uri="{FF2B5EF4-FFF2-40B4-BE49-F238E27FC236}">
                <a16:creationId xmlns:a16="http://schemas.microsoft.com/office/drawing/2014/main" id="{80807AE7-A34F-BE8C-D625-BC3B66AF39DA}"/>
              </a:ext>
            </a:extLst>
          </p:cNvPr>
          <p:cNvSpPr>
            <a:spLocks noGrp="1" noChangeArrowheads="1"/>
          </p:cNvSpPr>
          <p:nvPr>
            <p:ph type="ftr" sz="quarter" idx="2"/>
          </p:nvPr>
        </p:nvSpPr>
        <p:spPr bwMode="auto">
          <a:xfrm>
            <a:off x="0" y="8940800"/>
            <a:ext cx="313055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655" tIns="45827" rIns="91655" bIns="45827" numCol="1" anchor="b" anchorCtr="0" compatLnSpc="1">
            <a:prstTxWarp prst="textNoShape">
              <a:avLst/>
            </a:prstTxWarp>
          </a:bodyPr>
          <a:lstStyle>
            <a:lvl1pPr algn="l" defTabSz="915988">
              <a:defRPr sz="1200"/>
            </a:lvl1pPr>
          </a:lstStyle>
          <a:p>
            <a:endParaRPr lang="en-US" altLang="en-US"/>
          </a:p>
        </p:txBody>
      </p:sp>
      <p:sp>
        <p:nvSpPr>
          <p:cNvPr id="149509" name="Rectangle 5">
            <a:extLst>
              <a:ext uri="{FF2B5EF4-FFF2-40B4-BE49-F238E27FC236}">
                <a16:creationId xmlns:a16="http://schemas.microsoft.com/office/drawing/2014/main" id="{88DD3714-178F-3628-ED36-F188523BA2CE}"/>
              </a:ext>
            </a:extLst>
          </p:cNvPr>
          <p:cNvSpPr>
            <a:spLocks noGrp="1" noChangeArrowheads="1"/>
          </p:cNvSpPr>
          <p:nvPr>
            <p:ph type="sldNum" sz="quarter" idx="3"/>
          </p:nvPr>
        </p:nvSpPr>
        <p:spPr bwMode="auto">
          <a:xfrm>
            <a:off x="4046538" y="8940800"/>
            <a:ext cx="305435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655" tIns="45827" rIns="91655" bIns="45827" numCol="1" anchor="b" anchorCtr="0" compatLnSpc="1">
            <a:prstTxWarp prst="textNoShape">
              <a:avLst/>
            </a:prstTxWarp>
          </a:bodyPr>
          <a:lstStyle>
            <a:lvl1pPr algn="r" defTabSz="915988">
              <a:defRPr sz="1200"/>
            </a:lvl1pPr>
          </a:lstStyle>
          <a:p>
            <a:fld id="{248B3AEF-2390-A243-8E57-5196B9757746}"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047B774A-9DE7-49EF-7A69-8DD5332D75C9}"/>
              </a:ext>
            </a:extLst>
          </p:cNvPr>
          <p:cNvSpPr>
            <a:spLocks noGrp="1" noChangeArrowheads="1"/>
          </p:cNvSpPr>
          <p:nvPr>
            <p:ph type="hdr" sz="quarter"/>
          </p:nvPr>
        </p:nvSpPr>
        <p:spPr bwMode="auto">
          <a:xfrm>
            <a:off x="0" y="0"/>
            <a:ext cx="313055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650" tIns="45825" rIns="91650" bIns="45825" numCol="1" anchor="t" anchorCtr="0" compatLnSpc="1">
            <a:prstTxWarp prst="textNoShape">
              <a:avLst/>
            </a:prstTxWarp>
          </a:bodyPr>
          <a:lstStyle>
            <a:lvl1pPr algn="l" defTabSz="915988">
              <a:defRPr sz="1200" b="0">
                <a:latin typeface="Times New Roman" panose="02020603050405020304" pitchFamily="18" charset="0"/>
              </a:defRPr>
            </a:lvl1pPr>
          </a:lstStyle>
          <a:p>
            <a:endParaRPr lang="en-US" altLang="en-US"/>
          </a:p>
        </p:txBody>
      </p:sp>
      <p:sp>
        <p:nvSpPr>
          <p:cNvPr id="9219" name="Rectangle 3">
            <a:extLst>
              <a:ext uri="{FF2B5EF4-FFF2-40B4-BE49-F238E27FC236}">
                <a16:creationId xmlns:a16="http://schemas.microsoft.com/office/drawing/2014/main" id="{822EE064-CB14-D5AC-F526-5223DC5E6411}"/>
              </a:ext>
            </a:extLst>
          </p:cNvPr>
          <p:cNvSpPr>
            <a:spLocks noGrp="1" noChangeArrowheads="1"/>
          </p:cNvSpPr>
          <p:nvPr>
            <p:ph type="dt" idx="1"/>
          </p:nvPr>
        </p:nvSpPr>
        <p:spPr bwMode="auto">
          <a:xfrm>
            <a:off x="4046538" y="0"/>
            <a:ext cx="305435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650" tIns="45825" rIns="91650" bIns="45825" numCol="1" anchor="t" anchorCtr="0" compatLnSpc="1">
            <a:prstTxWarp prst="textNoShape">
              <a:avLst/>
            </a:prstTxWarp>
          </a:bodyPr>
          <a:lstStyle>
            <a:lvl1pPr algn="r" defTabSz="915988">
              <a:defRPr sz="1200" b="0">
                <a:latin typeface="Times New Roman" panose="02020603050405020304" pitchFamily="18" charset="0"/>
              </a:defRPr>
            </a:lvl1pPr>
          </a:lstStyle>
          <a:p>
            <a:endParaRPr lang="en-US" altLang="en-US"/>
          </a:p>
        </p:txBody>
      </p:sp>
      <p:sp>
        <p:nvSpPr>
          <p:cNvPr id="9220" name="Rectangle 4">
            <a:extLst>
              <a:ext uri="{FF2B5EF4-FFF2-40B4-BE49-F238E27FC236}">
                <a16:creationId xmlns:a16="http://schemas.microsoft.com/office/drawing/2014/main" id="{565A1390-93A8-F06A-932A-1A783C3E798E}"/>
              </a:ext>
            </a:extLst>
          </p:cNvPr>
          <p:cNvSpPr>
            <a:spLocks noChangeArrowheads="1" noTextEdit="1"/>
          </p:cNvSpPr>
          <p:nvPr>
            <p:ph type="sldImg" idx="2"/>
          </p:nvPr>
        </p:nvSpPr>
        <p:spPr bwMode="auto">
          <a:xfrm>
            <a:off x="1262063" y="687388"/>
            <a:ext cx="4649787" cy="3592512"/>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21" name="Rectangle 5">
            <a:extLst>
              <a:ext uri="{FF2B5EF4-FFF2-40B4-BE49-F238E27FC236}">
                <a16:creationId xmlns:a16="http://schemas.microsoft.com/office/drawing/2014/main" id="{F801EAD6-C616-BB19-7BBB-04AFB292BAC4}"/>
              </a:ext>
            </a:extLst>
          </p:cNvPr>
          <p:cNvSpPr>
            <a:spLocks noGrp="1" noChangeArrowheads="1"/>
          </p:cNvSpPr>
          <p:nvPr>
            <p:ph type="body" sz="quarter" idx="3"/>
          </p:nvPr>
        </p:nvSpPr>
        <p:spPr bwMode="auto">
          <a:xfrm>
            <a:off x="915988" y="4508500"/>
            <a:ext cx="5268912" cy="42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650" tIns="45825" rIns="91650" bIns="45825"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222" name="Rectangle 6">
            <a:extLst>
              <a:ext uri="{FF2B5EF4-FFF2-40B4-BE49-F238E27FC236}">
                <a16:creationId xmlns:a16="http://schemas.microsoft.com/office/drawing/2014/main" id="{F70BDE5A-AC35-0B20-E99F-FC0F5A06CA8E}"/>
              </a:ext>
            </a:extLst>
          </p:cNvPr>
          <p:cNvSpPr>
            <a:spLocks noGrp="1" noChangeArrowheads="1"/>
          </p:cNvSpPr>
          <p:nvPr>
            <p:ph type="ftr" sz="quarter" idx="4"/>
          </p:nvPr>
        </p:nvSpPr>
        <p:spPr bwMode="auto">
          <a:xfrm>
            <a:off x="0" y="8940800"/>
            <a:ext cx="313055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650" tIns="45825" rIns="91650" bIns="45825" numCol="1" anchor="b" anchorCtr="0" compatLnSpc="1">
            <a:prstTxWarp prst="textNoShape">
              <a:avLst/>
            </a:prstTxWarp>
          </a:bodyPr>
          <a:lstStyle>
            <a:lvl1pPr algn="l" defTabSz="915988">
              <a:defRPr sz="1200" b="0">
                <a:latin typeface="Times New Roman" panose="02020603050405020304" pitchFamily="18" charset="0"/>
              </a:defRPr>
            </a:lvl1pPr>
          </a:lstStyle>
          <a:p>
            <a:endParaRPr lang="en-US" altLang="en-US"/>
          </a:p>
        </p:txBody>
      </p:sp>
      <p:sp>
        <p:nvSpPr>
          <p:cNvPr id="9223" name="Rectangle 7">
            <a:extLst>
              <a:ext uri="{FF2B5EF4-FFF2-40B4-BE49-F238E27FC236}">
                <a16:creationId xmlns:a16="http://schemas.microsoft.com/office/drawing/2014/main" id="{9B09B938-2405-2950-4D94-8DFCF40A51B4}"/>
              </a:ext>
            </a:extLst>
          </p:cNvPr>
          <p:cNvSpPr>
            <a:spLocks noGrp="1" noChangeArrowheads="1"/>
          </p:cNvSpPr>
          <p:nvPr>
            <p:ph type="sldNum" sz="quarter" idx="5"/>
          </p:nvPr>
        </p:nvSpPr>
        <p:spPr bwMode="auto">
          <a:xfrm>
            <a:off x="4046538" y="8940800"/>
            <a:ext cx="305435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650" tIns="45825" rIns="91650" bIns="45825" numCol="1" anchor="b" anchorCtr="0" compatLnSpc="1">
            <a:prstTxWarp prst="textNoShape">
              <a:avLst/>
            </a:prstTxWarp>
          </a:bodyPr>
          <a:lstStyle>
            <a:lvl1pPr algn="r" defTabSz="915988">
              <a:defRPr sz="1200" b="0">
                <a:latin typeface="Times New Roman" panose="02020603050405020304" pitchFamily="18" charset="0"/>
              </a:defRPr>
            </a:lvl1pPr>
          </a:lstStyle>
          <a:p>
            <a:fld id="{187452DA-F96F-AD4E-A6E9-6AD33568DF3D}"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9E4ECC5-4186-94E8-71C8-AB62E7ADFF5A}"/>
              </a:ext>
            </a:extLst>
          </p:cNvPr>
          <p:cNvSpPr>
            <a:spLocks noGrp="1" noChangeArrowheads="1"/>
          </p:cNvSpPr>
          <p:nvPr>
            <p:ph type="sldNum" sz="quarter" idx="5"/>
          </p:nvPr>
        </p:nvSpPr>
        <p:spPr>
          <a:ln/>
        </p:spPr>
        <p:txBody>
          <a:bodyPr/>
          <a:lstStyle/>
          <a:p>
            <a:fld id="{CB6CFB66-F527-CA46-9A23-B19ED866CA67}" type="slidenum">
              <a:rPr lang="en-US" altLang="en-US"/>
              <a:pPr/>
              <a:t>0</a:t>
            </a:fld>
            <a:endParaRPr lang="en-US" altLang="en-US"/>
          </a:p>
        </p:txBody>
      </p:sp>
      <p:sp>
        <p:nvSpPr>
          <p:cNvPr id="248834" name="Rectangle 2">
            <a:extLst>
              <a:ext uri="{FF2B5EF4-FFF2-40B4-BE49-F238E27FC236}">
                <a16:creationId xmlns:a16="http://schemas.microsoft.com/office/drawing/2014/main" id="{695AAFD5-AE68-EBE9-B062-4286ACF355DF}"/>
              </a:ext>
            </a:extLst>
          </p:cNvPr>
          <p:cNvSpPr>
            <a:spLocks noChangeArrowheads="1" noTextEdit="1"/>
          </p:cNvSpPr>
          <p:nvPr>
            <p:ph type="sldImg"/>
          </p:nvPr>
        </p:nvSpPr>
        <p:spPr bwMode="auto">
          <a:xfrm>
            <a:off x="1263650" y="688975"/>
            <a:ext cx="4648200" cy="3590925"/>
          </a:xfrm>
          <a:prstGeom prst="rect">
            <a:avLst/>
          </a:prstGeom>
          <a:solidFill>
            <a:srgbClr val="FFFFFF"/>
          </a:solidFill>
          <a:ln>
            <a:solidFill>
              <a:srgbClr val="000000"/>
            </a:solidFill>
            <a:miter lim="800000"/>
            <a:headEnd/>
            <a:tailEnd/>
          </a:ln>
        </p:spPr>
      </p:sp>
      <p:sp>
        <p:nvSpPr>
          <p:cNvPr id="248835" name="Rectangle 3">
            <a:extLst>
              <a:ext uri="{FF2B5EF4-FFF2-40B4-BE49-F238E27FC236}">
                <a16:creationId xmlns:a16="http://schemas.microsoft.com/office/drawing/2014/main" id="{A70722B6-F858-3D60-BC34-B6F207E59A0F}"/>
              </a:ext>
            </a:extLst>
          </p:cNvPr>
          <p:cNvSpPr>
            <a:spLocks noChangeArrowheads="1"/>
          </p:cNvSpPr>
          <p:nvPr>
            <p:ph type="body" idx="1"/>
          </p:nvPr>
        </p:nvSpPr>
        <p:spPr bwMode="auto">
          <a:xfrm>
            <a:off x="915988" y="4508500"/>
            <a:ext cx="5268912" cy="4202113"/>
          </a:xfrm>
          <a:prstGeom prst="rect">
            <a:avLst/>
          </a:prstGeom>
          <a:solidFill>
            <a:srgbClr val="FFFFFF"/>
          </a:solidFill>
          <a:ln>
            <a:solidFill>
              <a:srgbClr val="000000"/>
            </a:solidFill>
            <a:miter lim="800000"/>
            <a:headEnd/>
            <a:tailEnd/>
          </a:ln>
        </p:spPr>
        <p:txBody>
          <a:bodyPr lIns="91563" tIns="45782" rIns="91563" bIns="45782"/>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7452DA-F96F-AD4E-A6E9-6AD33568DF3D}" type="slidenum">
              <a:rPr lang="en-US" altLang="en-US" smtClean="0"/>
              <a:pPr/>
              <a:t>2</a:t>
            </a:fld>
            <a:endParaRPr lang="en-US" altLang="en-US"/>
          </a:p>
        </p:txBody>
      </p:sp>
    </p:spTree>
    <p:extLst>
      <p:ext uri="{BB962C8B-B14F-4D97-AF65-F5344CB8AC3E}">
        <p14:creationId xmlns:p14="http://schemas.microsoft.com/office/powerpoint/2010/main" val="3870515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7452DA-F96F-AD4E-A6E9-6AD33568DF3D}" type="slidenum">
              <a:rPr lang="en-US" altLang="en-US" smtClean="0"/>
              <a:pPr/>
              <a:t>3</a:t>
            </a:fld>
            <a:endParaRPr lang="en-US" altLang="en-US"/>
          </a:p>
        </p:txBody>
      </p:sp>
    </p:spTree>
    <p:extLst>
      <p:ext uri="{BB962C8B-B14F-4D97-AF65-F5344CB8AC3E}">
        <p14:creationId xmlns:p14="http://schemas.microsoft.com/office/powerpoint/2010/main" val="528487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0F42F5C-01D4-AA41-8A66-D80E27295DFE}"/>
              </a:ext>
            </a:extLst>
          </p:cNvPr>
          <p:cNvSpPr>
            <a:spLocks noGrp="1" noChangeArrowheads="1"/>
          </p:cNvSpPr>
          <p:nvPr>
            <p:ph type="sldNum" sz="quarter" idx="5"/>
          </p:nvPr>
        </p:nvSpPr>
        <p:spPr>
          <a:ln/>
        </p:spPr>
        <p:txBody>
          <a:bodyPr/>
          <a:lstStyle/>
          <a:p>
            <a:fld id="{A76C58D1-BFF6-6F4C-81EE-D30FDA745EB6}" type="slidenum">
              <a:rPr lang="en-US" altLang="en-US"/>
              <a:pPr/>
              <a:t>4</a:t>
            </a:fld>
            <a:endParaRPr lang="en-US" altLang="en-US"/>
          </a:p>
        </p:txBody>
      </p:sp>
      <p:sp>
        <p:nvSpPr>
          <p:cNvPr id="282626" name="Rectangle 2">
            <a:extLst>
              <a:ext uri="{FF2B5EF4-FFF2-40B4-BE49-F238E27FC236}">
                <a16:creationId xmlns:a16="http://schemas.microsoft.com/office/drawing/2014/main" id="{3C4DBA4B-D42B-7107-7903-2CED4D48B9F8}"/>
              </a:ext>
            </a:extLst>
          </p:cNvPr>
          <p:cNvSpPr>
            <a:spLocks noChangeArrowheads="1" noTextEdit="1"/>
          </p:cNvSpPr>
          <p:nvPr>
            <p:ph type="sldImg"/>
          </p:nvPr>
        </p:nvSpPr>
        <p:spPr>
          <a:xfrm>
            <a:off x="1260475" y="304800"/>
            <a:ext cx="4649788" cy="3592513"/>
          </a:xfrm>
          <a:ln/>
        </p:spPr>
      </p:sp>
      <p:sp>
        <p:nvSpPr>
          <p:cNvPr id="282627" name="Rectangle 3">
            <a:extLst>
              <a:ext uri="{FF2B5EF4-FFF2-40B4-BE49-F238E27FC236}">
                <a16:creationId xmlns:a16="http://schemas.microsoft.com/office/drawing/2014/main" id="{C1F6CB67-82F3-C4DC-18D7-A917D92EF716}"/>
              </a:ext>
            </a:extLst>
          </p:cNvPr>
          <p:cNvSpPr>
            <a:spLocks noGrp="1" noChangeArrowheads="1"/>
          </p:cNvSpPr>
          <p:nvPr>
            <p:ph type="body" idx="1"/>
          </p:nvPr>
        </p:nvSpPr>
        <p:spPr>
          <a:xfrm>
            <a:off x="228600" y="3968750"/>
            <a:ext cx="6780213" cy="5110163"/>
          </a:xfrm>
        </p:spPr>
        <p:txBody>
          <a:bodyPr lIns="91500" tIns="45750" rIns="91500" bIns="45750"/>
          <a:lstStyle/>
          <a:p>
            <a:r>
              <a:rPr lang="en-US" altLang="en-US" sz="1100">
                <a:cs typeface="Times New Roman" panose="02020603050405020304" pitchFamily="18" charset="0"/>
              </a:rPr>
              <a:t>As a member of our firm’s Management Committee, I would like to take a moment to introduce GMO to you.</a:t>
            </a:r>
          </a:p>
          <a:p>
            <a:pPr>
              <a:spcBef>
                <a:spcPct val="70000"/>
              </a:spcBef>
            </a:pPr>
            <a:r>
              <a:rPr lang="en-US" altLang="en-US" sz="1100">
                <a:cs typeface="Times New Roman" panose="02020603050405020304" pitchFamily="18" charset="0"/>
              </a:rPr>
              <a:t>We are a global independent money manager based in Boston with a key investment and client service center based here in California.  We recognize many fine firms have been selected to present to you by the CalPERS Staff with the assistance of Wilshire Associates, each with their own unique attributes.  We appreciated being included amongst such a group.</a:t>
            </a:r>
          </a:p>
          <a:p>
            <a:pPr>
              <a:spcBef>
                <a:spcPct val="70000"/>
              </a:spcBef>
            </a:pPr>
            <a:r>
              <a:rPr lang="en-US" altLang="en-US" sz="1100">
                <a:cs typeface="Times New Roman" panose="02020603050405020304" pitchFamily="18" charset="0"/>
              </a:rPr>
              <a:t>As a partnership solely focused on managing money, we believe four key characteristics define GMO:</a:t>
            </a:r>
          </a:p>
          <a:p>
            <a:pPr>
              <a:spcBef>
                <a:spcPct val="70000"/>
              </a:spcBef>
            </a:pPr>
            <a:r>
              <a:rPr lang="en-US" altLang="en-US" sz="1100" b="1" u="sng">
                <a:cs typeface="Times New Roman" panose="02020603050405020304" pitchFamily="18" charset="0"/>
              </a:rPr>
              <a:t>Value:</a:t>
            </a:r>
            <a:r>
              <a:rPr lang="en-US" altLang="en-US" sz="1100">
                <a:cs typeface="Times New Roman" panose="02020603050405020304" pitchFamily="18" charset="0"/>
              </a:rPr>
              <a:t>   Philosophically, we believe that value is a powerful discipline for identifying mispriced securities and generating excess returns.  Value is a characteristic common to every discipline we employ.  We have proven our expertise in identifying mispriced securities using our valuation techniques for over 20 years.</a:t>
            </a:r>
          </a:p>
          <a:p>
            <a:pPr>
              <a:spcBef>
                <a:spcPct val="70000"/>
              </a:spcBef>
            </a:pPr>
            <a:r>
              <a:rPr lang="en-US" altLang="en-US" sz="1100" b="1" u="sng">
                <a:cs typeface="Times New Roman" panose="02020603050405020304" pitchFamily="18" charset="0"/>
              </a:rPr>
              <a:t>Experience:</a:t>
            </a:r>
            <a:r>
              <a:rPr lang="en-US" altLang="en-US" sz="1100">
                <a:cs typeface="Times New Roman" panose="02020603050405020304" pitchFamily="18" charset="0"/>
              </a:rPr>
              <a:t> GMO possess the good judgment that only comes from experience.  Our people, processes, strategies, systems, business practices and service models have all been tested in many dynamic environments and have succeeded.  It is a function of this experience that makes us confident that we can meet CalPERS expectations with respect to both your investment and service requirements.</a:t>
            </a:r>
          </a:p>
          <a:p>
            <a:pPr>
              <a:spcBef>
                <a:spcPct val="70000"/>
              </a:spcBef>
            </a:pPr>
            <a:r>
              <a:rPr lang="en-US" altLang="en-US" sz="1100" b="1" u="sng">
                <a:cs typeface="Times New Roman" panose="02020603050405020304" pitchFamily="18" charset="0"/>
              </a:rPr>
              <a:t>Independence:</a:t>
            </a:r>
            <a:r>
              <a:rPr lang="en-US" altLang="en-US" sz="1100">
                <a:cs typeface="Times New Roman" panose="02020603050405020304" pitchFamily="18" charset="0"/>
              </a:rPr>
              <a:t> As a firm 100% owned by its employees we control our own destiny and agenda.  We are able to focus all of our collective efforts to fulfill our mission -&gt; namely to be a focused asset manager.  We continue to manage portfolios on behalf of institutional investors similar to CalPERS, and we are driven to produce superior investment results and service consistent with our clients’ objectives. </a:t>
            </a:r>
          </a:p>
          <a:p>
            <a:pPr>
              <a:spcBef>
                <a:spcPct val="70000"/>
              </a:spcBef>
            </a:pPr>
            <a:r>
              <a:rPr lang="en-US" altLang="en-US" sz="1100" b="1" u="sng">
                <a:cs typeface="Times New Roman" panose="02020603050405020304" pitchFamily="18" charset="0"/>
              </a:rPr>
              <a:t>Stability:</a:t>
            </a:r>
            <a:r>
              <a:rPr lang="en-US" altLang="en-US" sz="1100">
                <a:cs typeface="Times New Roman" panose="02020603050405020304" pitchFamily="18" charset="0"/>
              </a:rPr>
              <a:t> We have the means and record of attracting and retaining our team of professionals. Our mission is clear. Speaking on behalf of the GMO Mgt Committee; we as a firm recognize and appreciate the premium that your Investment Committee, the CalPERS Staff and Wilshire Associates place on stability.  We have the ability to reinvest in our business across the board to ensure our mission is not compromised.  </a:t>
            </a:r>
          </a:p>
          <a:p>
            <a:pPr>
              <a:spcBef>
                <a:spcPct val="70000"/>
              </a:spcBef>
            </a:pPr>
            <a:r>
              <a:rPr lang="en-US" altLang="en-US" sz="1100">
                <a:cs typeface="Times New Roman" panose="02020603050405020304" pitchFamily="18" charset="0"/>
              </a:rPr>
              <a:t>In our presentation, you will see that we have a page outlining your objectives.  We state these in writing because we want to be held accountable for delivering these objectives.  We want to be held accountable because we have significant confidence in our processes and people, and with that, let me allow Ann to introduce our International Equity management team.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0B38F60-2556-229F-9B61-800D5CC5F608}"/>
              </a:ext>
            </a:extLst>
          </p:cNvPr>
          <p:cNvSpPr>
            <a:spLocks noGrp="1" noChangeArrowheads="1"/>
          </p:cNvSpPr>
          <p:nvPr>
            <p:ph type="sldNum" sz="quarter" idx="5"/>
          </p:nvPr>
        </p:nvSpPr>
        <p:spPr>
          <a:ln/>
        </p:spPr>
        <p:txBody>
          <a:bodyPr/>
          <a:lstStyle/>
          <a:p>
            <a:fld id="{F2410FC0-E585-3240-9A9E-382C0C8EFF61}" type="slidenum">
              <a:rPr lang="en-US" altLang="en-US"/>
              <a:pPr/>
              <a:t>5</a:t>
            </a:fld>
            <a:endParaRPr lang="en-US" altLang="en-US"/>
          </a:p>
        </p:txBody>
      </p:sp>
      <p:sp>
        <p:nvSpPr>
          <p:cNvPr id="315394" name="Rectangle 1026">
            <a:extLst>
              <a:ext uri="{FF2B5EF4-FFF2-40B4-BE49-F238E27FC236}">
                <a16:creationId xmlns:a16="http://schemas.microsoft.com/office/drawing/2014/main" id="{62668062-F520-AA2F-0792-9FBB5D073DA2}"/>
              </a:ext>
            </a:extLst>
          </p:cNvPr>
          <p:cNvSpPr>
            <a:spLocks noChangeArrowheads="1" noTextEdit="1"/>
          </p:cNvSpPr>
          <p:nvPr>
            <p:ph type="sldImg"/>
          </p:nvPr>
        </p:nvSpPr>
        <p:spPr>
          <a:xfrm>
            <a:off x="1263650" y="687388"/>
            <a:ext cx="4649788" cy="3592512"/>
          </a:xfrm>
          <a:ln/>
        </p:spPr>
      </p:sp>
      <p:sp>
        <p:nvSpPr>
          <p:cNvPr id="315395" name="Rectangle 1027">
            <a:extLst>
              <a:ext uri="{FF2B5EF4-FFF2-40B4-BE49-F238E27FC236}">
                <a16:creationId xmlns:a16="http://schemas.microsoft.com/office/drawing/2014/main" id="{9A5B04C3-B86E-ECAC-A66F-5CBECDB95EF9}"/>
              </a:ext>
            </a:extLst>
          </p:cNvPr>
          <p:cNvSpPr>
            <a:spLocks noGrp="1" noChangeArrowheads="1"/>
          </p:cNvSpPr>
          <p:nvPr>
            <p:ph type="body" idx="1"/>
          </p:nvPr>
        </p:nvSpPr>
        <p:spPr/>
        <p:txBody>
          <a:bodyPr lIns="89702" tIns="44851" rIns="89702" bIns="44851"/>
          <a:lstStyle/>
          <a:p>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3CA8E98-E1BE-8732-33C0-7710DAA470D0}"/>
              </a:ext>
            </a:extLst>
          </p:cNvPr>
          <p:cNvSpPr>
            <a:spLocks noGrp="1" noChangeArrowheads="1"/>
          </p:cNvSpPr>
          <p:nvPr>
            <p:ph type="sldNum" sz="quarter" idx="5"/>
          </p:nvPr>
        </p:nvSpPr>
        <p:spPr>
          <a:ln/>
        </p:spPr>
        <p:txBody>
          <a:bodyPr/>
          <a:lstStyle/>
          <a:p>
            <a:fld id="{02048716-820D-AA43-AD09-1B85727D8D3D}" type="slidenum">
              <a:rPr lang="en-US" altLang="en-US"/>
              <a:pPr/>
              <a:t>7</a:t>
            </a:fld>
            <a:endParaRPr lang="en-US" altLang="en-US"/>
          </a:p>
        </p:txBody>
      </p:sp>
      <p:sp>
        <p:nvSpPr>
          <p:cNvPr id="250882" name="Rectangle 2">
            <a:extLst>
              <a:ext uri="{FF2B5EF4-FFF2-40B4-BE49-F238E27FC236}">
                <a16:creationId xmlns:a16="http://schemas.microsoft.com/office/drawing/2014/main" id="{53AC8ED3-F9A1-674B-1EAD-0F754CA03B1B}"/>
              </a:ext>
            </a:extLst>
          </p:cNvPr>
          <p:cNvSpPr>
            <a:spLocks noChangeArrowheads="1" noTextEdit="1"/>
          </p:cNvSpPr>
          <p:nvPr>
            <p:ph type="sldImg"/>
          </p:nvPr>
        </p:nvSpPr>
        <p:spPr bwMode="auto">
          <a:xfrm>
            <a:off x="1263650" y="688975"/>
            <a:ext cx="4648200" cy="3590925"/>
          </a:xfrm>
          <a:prstGeom prst="rect">
            <a:avLst/>
          </a:prstGeom>
          <a:solidFill>
            <a:srgbClr val="FFFFFF"/>
          </a:solidFill>
          <a:ln>
            <a:solidFill>
              <a:srgbClr val="000000"/>
            </a:solidFill>
            <a:miter lim="800000"/>
            <a:headEnd/>
            <a:tailEnd/>
          </a:ln>
        </p:spPr>
      </p:sp>
      <p:sp>
        <p:nvSpPr>
          <p:cNvPr id="250883" name="Rectangle 3">
            <a:extLst>
              <a:ext uri="{FF2B5EF4-FFF2-40B4-BE49-F238E27FC236}">
                <a16:creationId xmlns:a16="http://schemas.microsoft.com/office/drawing/2014/main" id="{1B952EF6-4762-F813-EEB1-8702DF45E87E}"/>
              </a:ext>
            </a:extLst>
          </p:cNvPr>
          <p:cNvSpPr>
            <a:spLocks noChangeArrowheads="1"/>
          </p:cNvSpPr>
          <p:nvPr>
            <p:ph type="body" idx="1"/>
          </p:nvPr>
        </p:nvSpPr>
        <p:spPr bwMode="auto">
          <a:xfrm>
            <a:off x="915988" y="4508500"/>
            <a:ext cx="5268912" cy="4202113"/>
          </a:xfrm>
          <a:prstGeom prst="rect">
            <a:avLst/>
          </a:prstGeom>
          <a:solidFill>
            <a:srgbClr val="FFFFFF"/>
          </a:solidFill>
          <a:ln>
            <a:solidFill>
              <a:srgbClr val="000000"/>
            </a:solidFill>
            <a:miter lim="800000"/>
            <a:headEnd/>
            <a:tailEnd/>
          </a:ln>
        </p:spPr>
        <p:txBody>
          <a:bodyPr lIns="91563" tIns="45782" rIns="91563" bIns="45782"/>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3EEB334-1F5C-5931-F82D-7C9D81B2BFF8}"/>
              </a:ext>
            </a:extLst>
          </p:cNvPr>
          <p:cNvSpPr>
            <a:spLocks noGrp="1" noChangeArrowheads="1"/>
          </p:cNvSpPr>
          <p:nvPr>
            <p:ph type="sldNum" sz="quarter" idx="5"/>
          </p:nvPr>
        </p:nvSpPr>
        <p:spPr>
          <a:ln/>
        </p:spPr>
        <p:txBody>
          <a:bodyPr/>
          <a:lstStyle/>
          <a:p>
            <a:fld id="{75F75B0C-F4AE-3A47-BF36-8BB518756A92}" type="slidenum">
              <a:rPr lang="en-US" altLang="en-US"/>
              <a:pPr/>
              <a:t>14</a:t>
            </a:fld>
            <a:endParaRPr lang="en-US" altLang="en-US"/>
          </a:p>
        </p:txBody>
      </p:sp>
      <p:sp>
        <p:nvSpPr>
          <p:cNvPr id="252930" name="Rectangle 2">
            <a:extLst>
              <a:ext uri="{FF2B5EF4-FFF2-40B4-BE49-F238E27FC236}">
                <a16:creationId xmlns:a16="http://schemas.microsoft.com/office/drawing/2014/main" id="{1F6F4F29-79C2-79E3-C2F8-143B968FAB63}"/>
              </a:ext>
            </a:extLst>
          </p:cNvPr>
          <p:cNvSpPr>
            <a:spLocks noChangeArrowheads="1" noTextEdit="1"/>
          </p:cNvSpPr>
          <p:nvPr>
            <p:ph type="sldImg"/>
          </p:nvPr>
        </p:nvSpPr>
        <p:spPr bwMode="auto">
          <a:xfrm>
            <a:off x="1263650" y="688975"/>
            <a:ext cx="4648200" cy="3590925"/>
          </a:xfrm>
          <a:prstGeom prst="rect">
            <a:avLst/>
          </a:prstGeom>
          <a:solidFill>
            <a:srgbClr val="FFFFFF"/>
          </a:solidFill>
          <a:ln>
            <a:solidFill>
              <a:srgbClr val="000000"/>
            </a:solidFill>
            <a:miter lim="800000"/>
            <a:headEnd/>
            <a:tailEnd/>
          </a:ln>
        </p:spPr>
      </p:sp>
      <p:sp>
        <p:nvSpPr>
          <p:cNvPr id="252931" name="Rectangle 3">
            <a:extLst>
              <a:ext uri="{FF2B5EF4-FFF2-40B4-BE49-F238E27FC236}">
                <a16:creationId xmlns:a16="http://schemas.microsoft.com/office/drawing/2014/main" id="{720A91D5-333A-AEFE-786C-7C50FCBC0820}"/>
              </a:ext>
            </a:extLst>
          </p:cNvPr>
          <p:cNvSpPr>
            <a:spLocks noChangeArrowheads="1"/>
          </p:cNvSpPr>
          <p:nvPr>
            <p:ph type="body" idx="1"/>
          </p:nvPr>
        </p:nvSpPr>
        <p:spPr bwMode="auto">
          <a:xfrm>
            <a:off x="915988" y="4508500"/>
            <a:ext cx="5268912" cy="4202113"/>
          </a:xfrm>
          <a:prstGeom prst="rect">
            <a:avLst/>
          </a:prstGeom>
          <a:solidFill>
            <a:srgbClr val="FFFFFF"/>
          </a:solidFill>
          <a:ln>
            <a:solidFill>
              <a:srgbClr val="000000"/>
            </a:solidFill>
            <a:miter lim="800000"/>
            <a:headEnd/>
            <a:tailEnd/>
          </a:ln>
        </p:spPr>
        <p:txBody>
          <a:bodyPr lIns="91563" tIns="45782" rIns="91563" bIns="45782"/>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7452DA-F96F-AD4E-A6E9-6AD33568DF3D}" type="slidenum">
              <a:rPr lang="en-US" altLang="en-US" smtClean="0"/>
              <a:pPr/>
              <a:t>20</a:t>
            </a:fld>
            <a:endParaRPr lang="en-US" altLang="en-US"/>
          </a:p>
        </p:txBody>
      </p:sp>
    </p:spTree>
    <p:extLst>
      <p:ext uri="{BB962C8B-B14F-4D97-AF65-F5344CB8AC3E}">
        <p14:creationId xmlns:p14="http://schemas.microsoft.com/office/powerpoint/2010/main" val="18046644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7452DA-F96F-AD4E-A6E9-6AD33568DF3D}" type="slidenum">
              <a:rPr lang="en-US" altLang="en-US" smtClean="0"/>
              <a:pPr/>
              <a:t>21</a:t>
            </a:fld>
            <a:endParaRPr lang="en-US" altLang="en-US"/>
          </a:p>
        </p:txBody>
      </p:sp>
    </p:spTree>
    <p:extLst>
      <p:ext uri="{BB962C8B-B14F-4D97-AF65-F5344CB8AC3E}">
        <p14:creationId xmlns:p14="http://schemas.microsoft.com/office/powerpoint/2010/main" val="1576223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011D9A9-5541-DA5E-94D5-E0009F2BF26B}"/>
              </a:ext>
            </a:extLst>
          </p:cNvPr>
          <p:cNvSpPr>
            <a:spLocks noGrp="1" noChangeArrowheads="1"/>
          </p:cNvSpPr>
          <p:nvPr>
            <p:ph type="sldNum" sz="quarter" idx="5"/>
          </p:nvPr>
        </p:nvSpPr>
        <p:spPr>
          <a:ln/>
        </p:spPr>
        <p:txBody>
          <a:bodyPr/>
          <a:lstStyle/>
          <a:p>
            <a:fld id="{B5349D16-D506-0742-AEB6-D27FD3B62A0D}" type="slidenum">
              <a:rPr lang="en-US" altLang="en-US"/>
              <a:pPr/>
              <a:t>24</a:t>
            </a:fld>
            <a:endParaRPr lang="en-US" altLang="en-US"/>
          </a:p>
        </p:txBody>
      </p:sp>
      <p:sp>
        <p:nvSpPr>
          <p:cNvPr id="254978" name="Rectangle 2">
            <a:extLst>
              <a:ext uri="{FF2B5EF4-FFF2-40B4-BE49-F238E27FC236}">
                <a16:creationId xmlns:a16="http://schemas.microsoft.com/office/drawing/2014/main" id="{8B868E66-BE14-0900-B01B-5A98A920089A}"/>
              </a:ext>
            </a:extLst>
          </p:cNvPr>
          <p:cNvSpPr>
            <a:spLocks noChangeArrowheads="1" noTextEdit="1"/>
          </p:cNvSpPr>
          <p:nvPr>
            <p:ph type="sldImg"/>
          </p:nvPr>
        </p:nvSpPr>
        <p:spPr bwMode="auto">
          <a:xfrm>
            <a:off x="1263650" y="688975"/>
            <a:ext cx="4648200" cy="3590925"/>
          </a:xfrm>
          <a:prstGeom prst="rect">
            <a:avLst/>
          </a:prstGeom>
          <a:solidFill>
            <a:srgbClr val="FFFFFF"/>
          </a:solidFill>
          <a:ln>
            <a:solidFill>
              <a:srgbClr val="000000"/>
            </a:solidFill>
            <a:miter lim="800000"/>
            <a:headEnd/>
            <a:tailEnd/>
          </a:ln>
        </p:spPr>
      </p:sp>
      <p:sp>
        <p:nvSpPr>
          <p:cNvPr id="254979" name="Rectangle 3">
            <a:extLst>
              <a:ext uri="{FF2B5EF4-FFF2-40B4-BE49-F238E27FC236}">
                <a16:creationId xmlns:a16="http://schemas.microsoft.com/office/drawing/2014/main" id="{FEA44F35-505B-6B84-C0DA-454ED50FF15B}"/>
              </a:ext>
            </a:extLst>
          </p:cNvPr>
          <p:cNvSpPr>
            <a:spLocks noChangeArrowheads="1"/>
          </p:cNvSpPr>
          <p:nvPr>
            <p:ph type="body" idx="1"/>
          </p:nvPr>
        </p:nvSpPr>
        <p:spPr bwMode="auto">
          <a:xfrm>
            <a:off x="915988" y="4508500"/>
            <a:ext cx="5268912" cy="4202113"/>
          </a:xfrm>
          <a:prstGeom prst="rect">
            <a:avLst/>
          </a:prstGeom>
          <a:solidFill>
            <a:srgbClr val="FFFFFF"/>
          </a:solidFill>
          <a:ln>
            <a:solidFill>
              <a:srgbClr val="000000"/>
            </a:solidFill>
            <a:miter lim="800000"/>
            <a:headEnd/>
            <a:tailEnd/>
          </a:ln>
        </p:spPr>
        <p:txBody>
          <a:bodyPr lIns="91563" tIns="45782" rIns="91563" bIns="45782"/>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BB10877-A806-09F4-D56D-F205E5E3F683}"/>
              </a:ext>
            </a:extLst>
          </p:cNvPr>
          <p:cNvSpPr>
            <a:spLocks noGrp="1" noChangeArrowheads="1"/>
          </p:cNvSpPr>
          <p:nvPr>
            <p:ph type="sldNum" sz="quarter" idx="5"/>
          </p:nvPr>
        </p:nvSpPr>
        <p:spPr>
          <a:ln/>
        </p:spPr>
        <p:txBody>
          <a:bodyPr/>
          <a:lstStyle/>
          <a:p>
            <a:fld id="{9C948627-DF74-9A48-9380-197D525D3373}" type="slidenum">
              <a:rPr lang="en-US" altLang="en-US"/>
              <a:pPr/>
              <a:t>25</a:t>
            </a:fld>
            <a:endParaRPr lang="en-US" altLang="en-US"/>
          </a:p>
        </p:txBody>
      </p:sp>
      <p:sp>
        <p:nvSpPr>
          <p:cNvPr id="292866" name="Rectangle 2">
            <a:extLst>
              <a:ext uri="{FF2B5EF4-FFF2-40B4-BE49-F238E27FC236}">
                <a16:creationId xmlns:a16="http://schemas.microsoft.com/office/drawing/2014/main" id="{4B9CF311-6168-13E2-8527-FEFEB1309CC5}"/>
              </a:ext>
            </a:extLst>
          </p:cNvPr>
          <p:cNvSpPr>
            <a:spLocks noChangeArrowheads="1" noTextEdit="1"/>
          </p:cNvSpPr>
          <p:nvPr>
            <p:ph type="sldImg"/>
          </p:nvPr>
        </p:nvSpPr>
        <p:spPr>
          <a:xfrm>
            <a:off x="1263650" y="688975"/>
            <a:ext cx="4649788" cy="3592513"/>
          </a:xfrm>
          <a:ln/>
        </p:spPr>
      </p:sp>
      <p:sp>
        <p:nvSpPr>
          <p:cNvPr id="292867" name="Rectangle 3">
            <a:extLst>
              <a:ext uri="{FF2B5EF4-FFF2-40B4-BE49-F238E27FC236}">
                <a16:creationId xmlns:a16="http://schemas.microsoft.com/office/drawing/2014/main" id="{D28E7DFF-F2B5-D2A4-69D4-F50796973C14}"/>
              </a:ext>
            </a:extLst>
          </p:cNvPr>
          <p:cNvSpPr>
            <a:spLocks noGrp="1" noChangeArrowheads="1"/>
          </p:cNvSpPr>
          <p:nvPr>
            <p:ph type="body" idx="1"/>
          </p:nvPr>
        </p:nvSpPr>
        <p:spPr>
          <a:xfrm>
            <a:off x="915988" y="4506913"/>
            <a:ext cx="5268912" cy="4205287"/>
          </a:xfrm>
        </p:spPr>
        <p:txBody>
          <a:bodyPr lIns="91410" tIns="45705" rIns="91410" bIns="45705"/>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4CDC52F-85C1-9BF1-FDA9-409541F18375}"/>
              </a:ext>
            </a:extLst>
          </p:cNvPr>
          <p:cNvSpPr>
            <a:spLocks noGrp="1" noChangeArrowheads="1"/>
          </p:cNvSpPr>
          <p:nvPr>
            <p:ph type="sldNum" sz="quarter" idx="5"/>
          </p:nvPr>
        </p:nvSpPr>
        <p:spPr>
          <a:ln/>
        </p:spPr>
        <p:txBody>
          <a:bodyPr/>
          <a:lstStyle/>
          <a:p>
            <a:fld id="{0EAFF565-13BB-F34A-A7BB-D18D998E7142}" type="slidenum">
              <a:rPr lang="en-US" altLang="en-US"/>
              <a:pPr/>
              <a:t>28</a:t>
            </a:fld>
            <a:endParaRPr lang="en-US" altLang="en-US"/>
          </a:p>
        </p:txBody>
      </p:sp>
      <p:sp>
        <p:nvSpPr>
          <p:cNvPr id="258050" name="Rectangle 2">
            <a:extLst>
              <a:ext uri="{FF2B5EF4-FFF2-40B4-BE49-F238E27FC236}">
                <a16:creationId xmlns:a16="http://schemas.microsoft.com/office/drawing/2014/main" id="{1E3BBA31-59D9-62B4-48B2-D832729AE346}"/>
              </a:ext>
            </a:extLst>
          </p:cNvPr>
          <p:cNvSpPr>
            <a:spLocks noChangeArrowheads="1" noTextEdit="1"/>
          </p:cNvSpPr>
          <p:nvPr>
            <p:ph type="sldImg"/>
          </p:nvPr>
        </p:nvSpPr>
        <p:spPr bwMode="auto">
          <a:xfrm>
            <a:off x="1263650" y="688975"/>
            <a:ext cx="4648200" cy="3590925"/>
          </a:xfrm>
          <a:prstGeom prst="rect">
            <a:avLst/>
          </a:prstGeom>
          <a:solidFill>
            <a:srgbClr val="FFFFFF"/>
          </a:solidFill>
          <a:ln>
            <a:solidFill>
              <a:srgbClr val="000000"/>
            </a:solidFill>
            <a:miter lim="800000"/>
            <a:headEnd/>
            <a:tailEnd/>
          </a:ln>
        </p:spPr>
      </p:sp>
      <p:sp>
        <p:nvSpPr>
          <p:cNvPr id="258051" name="Rectangle 3">
            <a:extLst>
              <a:ext uri="{FF2B5EF4-FFF2-40B4-BE49-F238E27FC236}">
                <a16:creationId xmlns:a16="http://schemas.microsoft.com/office/drawing/2014/main" id="{5D53B601-F09C-5852-98B8-FFEAE0906151}"/>
              </a:ext>
            </a:extLst>
          </p:cNvPr>
          <p:cNvSpPr>
            <a:spLocks noChangeArrowheads="1"/>
          </p:cNvSpPr>
          <p:nvPr>
            <p:ph type="body" idx="1"/>
          </p:nvPr>
        </p:nvSpPr>
        <p:spPr bwMode="auto">
          <a:xfrm>
            <a:off x="915988" y="4508500"/>
            <a:ext cx="5268912" cy="4202113"/>
          </a:xfrm>
          <a:prstGeom prst="rect">
            <a:avLst/>
          </a:prstGeom>
          <a:solidFill>
            <a:srgbClr val="FFFFFF"/>
          </a:solidFill>
          <a:ln>
            <a:solidFill>
              <a:srgbClr val="000000"/>
            </a:solidFill>
            <a:miter lim="800000"/>
            <a:headEnd/>
            <a:tailEnd/>
          </a:ln>
        </p:spPr>
        <p:txBody>
          <a:bodyPr lIns="91563" tIns="45782" rIns="91563" bIns="45782"/>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711E66F-9670-4061-78FA-53A566740D81}"/>
              </a:ext>
            </a:extLst>
          </p:cNvPr>
          <p:cNvSpPr>
            <a:spLocks noGrp="1" noChangeArrowheads="1"/>
          </p:cNvSpPr>
          <p:nvPr>
            <p:ph type="sldNum" sz="quarter" idx="5"/>
          </p:nvPr>
        </p:nvSpPr>
        <p:spPr>
          <a:ln/>
        </p:spPr>
        <p:txBody>
          <a:bodyPr/>
          <a:lstStyle/>
          <a:p>
            <a:fld id="{7199ACDE-63C9-ED43-88D7-6CAB1E4C92DA}" type="slidenum">
              <a:rPr lang="en-US" altLang="en-US"/>
              <a:pPr/>
              <a:t>32</a:t>
            </a:fld>
            <a:endParaRPr lang="en-US" altLang="en-US"/>
          </a:p>
        </p:txBody>
      </p:sp>
      <p:sp>
        <p:nvSpPr>
          <p:cNvPr id="296962" name="Rectangle 2">
            <a:extLst>
              <a:ext uri="{FF2B5EF4-FFF2-40B4-BE49-F238E27FC236}">
                <a16:creationId xmlns:a16="http://schemas.microsoft.com/office/drawing/2014/main" id="{9F5835C6-79AE-27FF-5D6F-2F3E8E584245}"/>
              </a:ext>
            </a:extLst>
          </p:cNvPr>
          <p:cNvSpPr>
            <a:spLocks noChangeArrowheads="1" noTextEdit="1"/>
          </p:cNvSpPr>
          <p:nvPr>
            <p:ph type="sldImg"/>
          </p:nvPr>
        </p:nvSpPr>
        <p:spPr>
          <a:xfrm>
            <a:off x="1263650" y="688975"/>
            <a:ext cx="4648200" cy="3590925"/>
          </a:xfrm>
          <a:ln/>
        </p:spPr>
      </p:sp>
      <p:sp>
        <p:nvSpPr>
          <p:cNvPr id="296963" name="Rectangle 3">
            <a:extLst>
              <a:ext uri="{FF2B5EF4-FFF2-40B4-BE49-F238E27FC236}">
                <a16:creationId xmlns:a16="http://schemas.microsoft.com/office/drawing/2014/main" id="{7E79A1D4-702B-36F9-4BD0-D6B6BEE87B6E}"/>
              </a:ext>
            </a:extLst>
          </p:cNvPr>
          <p:cNvSpPr>
            <a:spLocks noGrp="1" noChangeArrowheads="1"/>
          </p:cNvSpPr>
          <p:nvPr>
            <p:ph type="body" idx="1"/>
          </p:nvPr>
        </p:nvSpPr>
        <p:spPr>
          <a:xfrm>
            <a:off x="915988" y="4506913"/>
            <a:ext cx="5268912" cy="4205287"/>
          </a:xfrm>
        </p:spPr>
        <p:txBody>
          <a:bodyPr lIns="93109" tIns="46554" rIns="93109" bIns="46554"/>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EF25F62-4CCC-6F7E-A89B-218C117CF0CE}"/>
              </a:ext>
            </a:extLst>
          </p:cNvPr>
          <p:cNvSpPr>
            <a:spLocks noGrp="1" noChangeArrowheads="1"/>
          </p:cNvSpPr>
          <p:nvPr>
            <p:ph type="sldNum" sz="quarter" idx="5"/>
          </p:nvPr>
        </p:nvSpPr>
        <p:spPr>
          <a:ln/>
        </p:spPr>
        <p:txBody>
          <a:bodyPr/>
          <a:lstStyle/>
          <a:p>
            <a:fld id="{9665CBE3-D04B-3944-B17D-198CAD28098E}" type="slidenum">
              <a:rPr lang="en-US" altLang="en-US"/>
              <a:pPr/>
              <a:t>36</a:t>
            </a:fld>
            <a:endParaRPr lang="en-US" altLang="en-US"/>
          </a:p>
        </p:txBody>
      </p:sp>
      <p:sp>
        <p:nvSpPr>
          <p:cNvPr id="262146" name="Rectangle 2">
            <a:extLst>
              <a:ext uri="{FF2B5EF4-FFF2-40B4-BE49-F238E27FC236}">
                <a16:creationId xmlns:a16="http://schemas.microsoft.com/office/drawing/2014/main" id="{C3DCE69E-0DDC-7D97-1FAF-D289D7697F65}"/>
              </a:ext>
            </a:extLst>
          </p:cNvPr>
          <p:cNvSpPr>
            <a:spLocks noChangeArrowheads="1" noTextEdit="1"/>
          </p:cNvSpPr>
          <p:nvPr>
            <p:ph type="sldImg"/>
          </p:nvPr>
        </p:nvSpPr>
        <p:spPr bwMode="auto">
          <a:xfrm>
            <a:off x="1263650" y="688975"/>
            <a:ext cx="4648200" cy="3590925"/>
          </a:xfrm>
          <a:prstGeom prst="rect">
            <a:avLst/>
          </a:prstGeom>
          <a:solidFill>
            <a:srgbClr val="FFFFFF"/>
          </a:solidFill>
          <a:ln>
            <a:solidFill>
              <a:srgbClr val="000000"/>
            </a:solidFill>
            <a:miter lim="800000"/>
            <a:headEnd/>
            <a:tailEnd/>
          </a:ln>
        </p:spPr>
      </p:sp>
      <p:sp>
        <p:nvSpPr>
          <p:cNvPr id="262147" name="Rectangle 3">
            <a:extLst>
              <a:ext uri="{FF2B5EF4-FFF2-40B4-BE49-F238E27FC236}">
                <a16:creationId xmlns:a16="http://schemas.microsoft.com/office/drawing/2014/main" id="{9324AD93-4365-659E-506B-A90C7C688C05}"/>
              </a:ext>
            </a:extLst>
          </p:cNvPr>
          <p:cNvSpPr>
            <a:spLocks noChangeArrowheads="1"/>
          </p:cNvSpPr>
          <p:nvPr>
            <p:ph type="body" idx="1"/>
          </p:nvPr>
        </p:nvSpPr>
        <p:spPr bwMode="auto">
          <a:xfrm>
            <a:off x="915988" y="4508500"/>
            <a:ext cx="5268912" cy="4202113"/>
          </a:xfrm>
          <a:prstGeom prst="rect">
            <a:avLst/>
          </a:prstGeom>
          <a:solidFill>
            <a:srgbClr val="FFFFFF"/>
          </a:solidFill>
          <a:ln>
            <a:solidFill>
              <a:srgbClr val="000000"/>
            </a:solidFill>
            <a:miter lim="800000"/>
            <a:headEnd/>
            <a:tailEnd/>
          </a:ln>
        </p:spPr>
        <p:txBody>
          <a:bodyPr lIns="91563" tIns="45782" rIns="91563" bIns="45782"/>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4BAC1AD-A8AB-B804-D355-0075F31D992A}"/>
              </a:ext>
            </a:extLst>
          </p:cNvPr>
          <p:cNvSpPr>
            <a:spLocks noGrp="1" noChangeArrowheads="1"/>
          </p:cNvSpPr>
          <p:nvPr>
            <p:ph type="sldNum" sz="quarter" idx="5"/>
          </p:nvPr>
        </p:nvSpPr>
        <p:spPr>
          <a:ln/>
        </p:spPr>
        <p:txBody>
          <a:bodyPr/>
          <a:lstStyle/>
          <a:p>
            <a:fld id="{6C003120-8BCF-904B-B858-058377F35946}" type="slidenum">
              <a:rPr lang="en-US" altLang="en-US"/>
              <a:pPr/>
              <a:t>41</a:t>
            </a:fld>
            <a:endParaRPr lang="en-US" altLang="en-US"/>
          </a:p>
        </p:txBody>
      </p:sp>
      <p:sp>
        <p:nvSpPr>
          <p:cNvPr id="266242" name="Rectangle 2">
            <a:extLst>
              <a:ext uri="{FF2B5EF4-FFF2-40B4-BE49-F238E27FC236}">
                <a16:creationId xmlns:a16="http://schemas.microsoft.com/office/drawing/2014/main" id="{D9F7BCE5-BF6C-AD1B-6C4B-199143B3592E}"/>
              </a:ext>
            </a:extLst>
          </p:cNvPr>
          <p:cNvSpPr>
            <a:spLocks noChangeArrowheads="1" noTextEdit="1"/>
          </p:cNvSpPr>
          <p:nvPr>
            <p:ph type="sldImg"/>
          </p:nvPr>
        </p:nvSpPr>
        <p:spPr bwMode="auto">
          <a:xfrm>
            <a:off x="1263650" y="688975"/>
            <a:ext cx="4648200" cy="3590925"/>
          </a:xfrm>
          <a:prstGeom prst="rect">
            <a:avLst/>
          </a:prstGeom>
          <a:solidFill>
            <a:srgbClr val="FFFFFF"/>
          </a:solidFill>
          <a:ln>
            <a:solidFill>
              <a:srgbClr val="000000"/>
            </a:solidFill>
            <a:miter lim="800000"/>
            <a:headEnd/>
            <a:tailEnd/>
          </a:ln>
        </p:spPr>
      </p:sp>
      <p:sp>
        <p:nvSpPr>
          <p:cNvPr id="266243" name="Rectangle 3">
            <a:extLst>
              <a:ext uri="{FF2B5EF4-FFF2-40B4-BE49-F238E27FC236}">
                <a16:creationId xmlns:a16="http://schemas.microsoft.com/office/drawing/2014/main" id="{4731CEFC-150A-9402-27A5-B21A4209D11E}"/>
              </a:ext>
            </a:extLst>
          </p:cNvPr>
          <p:cNvSpPr>
            <a:spLocks noChangeArrowheads="1"/>
          </p:cNvSpPr>
          <p:nvPr>
            <p:ph type="body" idx="1"/>
          </p:nvPr>
        </p:nvSpPr>
        <p:spPr bwMode="auto">
          <a:xfrm>
            <a:off x="915988" y="4508500"/>
            <a:ext cx="5268912" cy="4202113"/>
          </a:xfrm>
          <a:prstGeom prst="rect">
            <a:avLst/>
          </a:prstGeom>
          <a:solidFill>
            <a:srgbClr val="FFFFFF"/>
          </a:solidFill>
          <a:ln>
            <a:solidFill>
              <a:srgbClr val="000000"/>
            </a:solidFill>
            <a:miter lim="800000"/>
            <a:headEnd/>
            <a:tailEnd/>
          </a:ln>
        </p:spPr>
        <p:txBody>
          <a:bodyPr lIns="91563" tIns="45782" rIns="91563" bIns="45782"/>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67F503D-BB58-1241-8184-ED06ED7FC96D}"/>
              </a:ext>
            </a:extLst>
          </p:cNvPr>
          <p:cNvSpPr>
            <a:spLocks noGrp="1" noChangeArrowheads="1"/>
          </p:cNvSpPr>
          <p:nvPr>
            <p:ph type="sldNum" sz="quarter" idx="5"/>
          </p:nvPr>
        </p:nvSpPr>
        <p:spPr>
          <a:ln/>
        </p:spPr>
        <p:txBody>
          <a:bodyPr/>
          <a:lstStyle/>
          <a:p>
            <a:fld id="{0F573A0F-34FF-674F-B59C-64C8D86E491B}" type="slidenum">
              <a:rPr lang="en-US" altLang="en-US"/>
              <a:pPr/>
              <a:t>54</a:t>
            </a:fld>
            <a:endParaRPr lang="en-US" altLang="en-US"/>
          </a:p>
        </p:txBody>
      </p:sp>
      <p:sp>
        <p:nvSpPr>
          <p:cNvPr id="313346" name="Rectangle 2">
            <a:extLst>
              <a:ext uri="{FF2B5EF4-FFF2-40B4-BE49-F238E27FC236}">
                <a16:creationId xmlns:a16="http://schemas.microsoft.com/office/drawing/2014/main" id="{FD61449C-8623-8214-A0E5-B460765F9C2A}"/>
              </a:ext>
            </a:extLst>
          </p:cNvPr>
          <p:cNvSpPr>
            <a:spLocks noChangeArrowheads="1" noTextEdit="1"/>
          </p:cNvSpPr>
          <p:nvPr>
            <p:ph type="sldImg"/>
          </p:nvPr>
        </p:nvSpPr>
        <p:spPr>
          <a:ln/>
        </p:spPr>
      </p:sp>
      <p:sp>
        <p:nvSpPr>
          <p:cNvPr id="313347" name="Rectangle 3">
            <a:extLst>
              <a:ext uri="{FF2B5EF4-FFF2-40B4-BE49-F238E27FC236}">
                <a16:creationId xmlns:a16="http://schemas.microsoft.com/office/drawing/2014/main" id="{2CB9B1F3-EACB-B395-5583-DA93ACFD77CF}"/>
              </a:ext>
            </a:extLst>
          </p:cNvPr>
          <p:cNvSpPr>
            <a:spLocks noGrp="1" noChangeArrowheads="1"/>
          </p:cNvSpPr>
          <p:nvPr>
            <p:ph type="body" idx="1"/>
          </p:nvPr>
        </p:nvSpPr>
        <p:spPr/>
        <p:txBody>
          <a:bodyPr lIns="91435" tIns="45717" rIns="91435" bIns="45717"/>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3EEEB26-6226-8A1D-031F-62A423069FE8}"/>
              </a:ext>
            </a:extLst>
          </p:cNvPr>
          <p:cNvSpPr>
            <a:spLocks noGrp="1" noChangeArrowheads="1"/>
          </p:cNvSpPr>
          <p:nvPr>
            <p:ph type="sldNum" sz="quarter" idx="5"/>
          </p:nvPr>
        </p:nvSpPr>
        <p:spPr>
          <a:ln/>
        </p:spPr>
        <p:txBody>
          <a:bodyPr/>
          <a:lstStyle/>
          <a:p>
            <a:fld id="{8E9D856B-F0D7-454D-890F-2F6FAAEB08EA}" type="slidenum">
              <a:rPr lang="en-US" altLang="en-US"/>
              <a:pPr/>
              <a:t>55</a:t>
            </a:fld>
            <a:endParaRPr lang="en-US" altLang="en-US"/>
          </a:p>
        </p:txBody>
      </p:sp>
      <p:sp>
        <p:nvSpPr>
          <p:cNvPr id="317442" name="Rectangle 2">
            <a:extLst>
              <a:ext uri="{FF2B5EF4-FFF2-40B4-BE49-F238E27FC236}">
                <a16:creationId xmlns:a16="http://schemas.microsoft.com/office/drawing/2014/main" id="{C465AEFD-2E54-4752-2028-3C66B6E29A28}"/>
              </a:ext>
            </a:extLst>
          </p:cNvPr>
          <p:cNvSpPr>
            <a:spLocks noChangeArrowheads="1" noTextEdit="1"/>
          </p:cNvSpPr>
          <p:nvPr>
            <p:ph type="sldImg"/>
          </p:nvPr>
        </p:nvSpPr>
        <p:spPr>
          <a:xfrm>
            <a:off x="1263650" y="687388"/>
            <a:ext cx="4649788" cy="3592512"/>
          </a:xfrm>
          <a:ln/>
        </p:spPr>
      </p:sp>
      <p:sp>
        <p:nvSpPr>
          <p:cNvPr id="317443" name="Rectangle 3">
            <a:extLst>
              <a:ext uri="{FF2B5EF4-FFF2-40B4-BE49-F238E27FC236}">
                <a16:creationId xmlns:a16="http://schemas.microsoft.com/office/drawing/2014/main" id="{C4A17B53-C202-712A-2A8A-B12F2C593C3F}"/>
              </a:ext>
            </a:extLst>
          </p:cNvPr>
          <p:cNvSpPr>
            <a:spLocks noGrp="1" noChangeArrowheads="1"/>
          </p:cNvSpPr>
          <p:nvPr>
            <p:ph type="body" idx="1"/>
          </p:nvPr>
        </p:nvSpPr>
        <p:spPr>
          <a:xfrm>
            <a:off x="915988" y="4510088"/>
            <a:ext cx="5268912" cy="4200525"/>
          </a:xfrm>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95303-E00B-594A-07AC-2A874B0687A6}"/>
              </a:ext>
            </a:extLst>
          </p:cNvPr>
          <p:cNvSpPr>
            <a:spLocks noGrp="1"/>
          </p:cNvSpPr>
          <p:nvPr>
            <p:ph type="ctrTitle"/>
          </p:nvPr>
        </p:nvSpPr>
        <p:spPr>
          <a:xfrm>
            <a:off x="1257300" y="1271588"/>
            <a:ext cx="7543800" cy="2706687"/>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5FC57B-59BF-CCF9-9C8E-D30ED6F77C8C}"/>
              </a:ext>
            </a:extLst>
          </p:cNvPr>
          <p:cNvSpPr>
            <a:spLocks noGrp="1"/>
          </p:cNvSpPr>
          <p:nvPr>
            <p:ph type="subTitle" idx="1"/>
          </p:nvPr>
        </p:nvSpPr>
        <p:spPr>
          <a:xfrm>
            <a:off x="1257300" y="4083050"/>
            <a:ext cx="7543800" cy="1876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828066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438BD-66AB-201D-A4F1-84EB88E7440A}"/>
              </a:ext>
            </a:extLst>
          </p:cNvPr>
          <p:cNvSpPr>
            <a:spLocks noGrp="1"/>
          </p:cNvSpPr>
          <p:nvPr>
            <p:ph type="title"/>
          </p:nvPr>
        </p:nvSpPr>
        <p:spPr>
          <a:xfrm>
            <a:off x="692150" y="414338"/>
            <a:ext cx="8674100" cy="1501775"/>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27398E56-81CD-B20C-1BF0-1E098E195BD5}"/>
              </a:ext>
            </a:extLst>
          </p:cNvPr>
          <p:cNvSpPr>
            <a:spLocks noGrp="1"/>
          </p:cNvSpPr>
          <p:nvPr>
            <p:ph idx="1"/>
          </p:nvPr>
        </p:nvSpPr>
        <p:spPr>
          <a:xfrm>
            <a:off x="692150" y="2068513"/>
            <a:ext cx="8674100" cy="49323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4781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67133-4B61-3C00-24EE-38A5CFA48422}"/>
              </a:ext>
            </a:extLst>
          </p:cNvPr>
          <p:cNvSpPr>
            <a:spLocks noGrp="1"/>
          </p:cNvSpPr>
          <p:nvPr>
            <p:ph type="title"/>
          </p:nvPr>
        </p:nvSpPr>
        <p:spPr>
          <a:xfrm>
            <a:off x="685800" y="1938338"/>
            <a:ext cx="8675688" cy="3232150"/>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1A87A76-100B-B0C4-8596-0F8F8C1848AA}"/>
              </a:ext>
            </a:extLst>
          </p:cNvPr>
          <p:cNvSpPr>
            <a:spLocks noGrp="1"/>
          </p:cNvSpPr>
          <p:nvPr>
            <p:ph type="body" idx="1"/>
          </p:nvPr>
        </p:nvSpPr>
        <p:spPr>
          <a:xfrm>
            <a:off x="685800" y="5200650"/>
            <a:ext cx="8675688" cy="1700213"/>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704259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91D5F-9A29-9D04-5CE5-B41CF5519614}"/>
              </a:ext>
            </a:extLst>
          </p:cNvPr>
          <p:cNvSpPr>
            <a:spLocks noGrp="1"/>
          </p:cNvSpPr>
          <p:nvPr>
            <p:ph type="title"/>
          </p:nvPr>
        </p:nvSpPr>
        <p:spPr>
          <a:xfrm>
            <a:off x="692150" y="414338"/>
            <a:ext cx="8674100" cy="1501775"/>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0EE7E999-928C-F856-21D7-9DFD43948344}"/>
              </a:ext>
            </a:extLst>
          </p:cNvPr>
          <p:cNvSpPr>
            <a:spLocks noGrp="1"/>
          </p:cNvSpPr>
          <p:nvPr>
            <p:ph sz="half" idx="1"/>
          </p:nvPr>
        </p:nvSpPr>
        <p:spPr>
          <a:xfrm>
            <a:off x="692150" y="2068513"/>
            <a:ext cx="4260850" cy="49323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73FF96-4C12-ADF8-718C-6097F8B12108}"/>
              </a:ext>
            </a:extLst>
          </p:cNvPr>
          <p:cNvSpPr>
            <a:spLocks noGrp="1"/>
          </p:cNvSpPr>
          <p:nvPr>
            <p:ph sz="half" idx="2"/>
          </p:nvPr>
        </p:nvSpPr>
        <p:spPr>
          <a:xfrm>
            <a:off x="5105400" y="2068513"/>
            <a:ext cx="4260850" cy="49323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8873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30AAC-CE35-21C3-1A23-5A9A148AB9A9}"/>
              </a:ext>
            </a:extLst>
          </p:cNvPr>
          <p:cNvSpPr>
            <a:spLocks noGrp="1"/>
          </p:cNvSpPr>
          <p:nvPr>
            <p:ph type="title"/>
          </p:nvPr>
        </p:nvSpPr>
        <p:spPr>
          <a:xfrm>
            <a:off x="692150" y="414338"/>
            <a:ext cx="8675688" cy="1501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4EBDEFD-E4AD-0F6D-C4C9-CE8B1D5052C2}"/>
              </a:ext>
            </a:extLst>
          </p:cNvPr>
          <p:cNvSpPr>
            <a:spLocks noGrp="1"/>
          </p:cNvSpPr>
          <p:nvPr>
            <p:ph type="body" idx="1"/>
          </p:nvPr>
        </p:nvSpPr>
        <p:spPr>
          <a:xfrm>
            <a:off x="692150" y="1905000"/>
            <a:ext cx="4256088" cy="9334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DBD85A-0F87-DF04-0B11-9766ABA426A3}"/>
              </a:ext>
            </a:extLst>
          </p:cNvPr>
          <p:cNvSpPr>
            <a:spLocks noGrp="1"/>
          </p:cNvSpPr>
          <p:nvPr>
            <p:ph sz="half" idx="2"/>
          </p:nvPr>
        </p:nvSpPr>
        <p:spPr>
          <a:xfrm>
            <a:off x="692150" y="2838450"/>
            <a:ext cx="4256088" cy="41767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2D0F2C-3E18-7CA6-EF08-58C98492AF88}"/>
              </a:ext>
            </a:extLst>
          </p:cNvPr>
          <p:cNvSpPr>
            <a:spLocks noGrp="1"/>
          </p:cNvSpPr>
          <p:nvPr>
            <p:ph type="body" sz="quarter" idx="3"/>
          </p:nvPr>
        </p:nvSpPr>
        <p:spPr>
          <a:xfrm>
            <a:off x="5092700" y="1905000"/>
            <a:ext cx="4275138" cy="9334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712DA8-1628-C626-E118-02DBB58FEC1A}"/>
              </a:ext>
            </a:extLst>
          </p:cNvPr>
          <p:cNvSpPr>
            <a:spLocks noGrp="1"/>
          </p:cNvSpPr>
          <p:nvPr>
            <p:ph sz="quarter" idx="4"/>
          </p:nvPr>
        </p:nvSpPr>
        <p:spPr>
          <a:xfrm>
            <a:off x="5092700" y="2838450"/>
            <a:ext cx="4275138" cy="41767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6375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6A70B-9E19-FA0E-89B0-1774F5885D43}"/>
              </a:ext>
            </a:extLst>
          </p:cNvPr>
          <p:cNvSpPr>
            <a:spLocks noGrp="1"/>
          </p:cNvSpPr>
          <p:nvPr>
            <p:ph type="title"/>
          </p:nvPr>
        </p:nvSpPr>
        <p:spPr>
          <a:xfrm>
            <a:off x="692150" y="414338"/>
            <a:ext cx="8674100" cy="1501775"/>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595126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6609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6A639-06F7-25EC-8DA3-0EB085417455}"/>
              </a:ext>
            </a:extLst>
          </p:cNvPr>
          <p:cNvSpPr>
            <a:spLocks noGrp="1"/>
          </p:cNvSpPr>
          <p:nvPr>
            <p:ph type="title"/>
          </p:nvPr>
        </p:nvSpPr>
        <p:spPr>
          <a:xfrm>
            <a:off x="692150" y="517525"/>
            <a:ext cx="3244850" cy="1814513"/>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60EA9A-B36E-AB3A-A612-2BC77DE5B8A2}"/>
              </a:ext>
            </a:extLst>
          </p:cNvPr>
          <p:cNvSpPr>
            <a:spLocks noGrp="1"/>
          </p:cNvSpPr>
          <p:nvPr>
            <p:ph idx="1"/>
          </p:nvPr>
        </p:nvSpPr>
        <p:spPr>
          <a:xfrm>
            <a:off x="4276725" y="1119188"/>
            <a:ext cx="5091113" cy="552291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F705D92-6CB4-12E9-8434-C30D59957C15}"/>
              </a:ext>
            </a:extLst>
          </p:cNvPr>
          <p:cNvSpPr>
            <a:spLocks noGrp="1"/>
          </p:cNvSpPr>
          <p:nvPr>
            <p:ph type="body" sz="half" idx="2"/>
          </p:nvPr>
        </p:nvSpPr>
        <p:spPr>
          <a:xfrm>
            <a:off x="692150" y="2332038"/>
            <a:ext cx="3244850" cy="4319587"/>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813558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193-3A18-047F-285D-34E535BC09ED}"/>
              </a:ext>
            </a:extLst>
          </p:cNvPr>
          <p:cNvSpPr>
            <a:spLocks noGrp="1"/>
          </p:cNvSpPr>
          <p:nvPr>
            <p:ph type="title"/>
          </p:nvPr>
        </p:nvSpPr>
        <p:spPr>
          <a:xfrm>
            <a:off x="692150" y="517525"/>
            <a:ext cx="3244850" cy="1814513"/>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8FF8B84-B6DA-1603-1C36-0998E136B09A}"/>
              </a:ext>
            </a:extLst>
          </p:cNvPr>
          <p:cNvSpPr>
            <a:spLocks noGrp="1"/>
          </p:cNvSpPr>
          <p:nvPr>
            <p:ph type="pic" idx="1"/>
          </p:nvPr>
        </p:nvSpPr>
        <p:spPr>
          <a:xfrm>
            <a:off x="4276725" y="1119188"/>
            <a:ext cx="5091113" cy="5522912"/>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994C25-34DC-4799-8647-0E2DFF541BEC}"/>
              </a:ext>
            </a:extLst>
          </p:cNvPr>
          <p:cNvSpPr>
            <a:spLocks noGrp="1"/>
          </p:cNvSpPr>
          <p:nvPr>
            <p:ph type="body" sz="half" idx="2"/>
          </p:nvPr>
        </p:nvSpPr>
        <p:spPr>
          <a:xfrm>
            <a:off x="692150" y="2332038"/>
            <a:ext cx="3244850" cy="4319587"/>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511119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852DB-73A4-876E-DB99-751902F4A7C2}"/>
              </a:ext>
            </a:extLst>
          </p:cNvPr>
          <p:cNvSpPr>
            <a:spLocks noGrp="1"/>
          </p:cNvSpPr>
          <p:nvPr>
            <p:ph type="title"/>
          </p:nvPr>
        </p:nvSpPr>
        <p:spPr>
          <a:xfrm>
            <a:off x="692150" y="414338"/>
            <a:ext cx="8674100" cy="1501775"/>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C071CEA-7516-7786-393B-08D2A26EEDA1}"/>
              </a:ext>
            </a:extLst>
          </p:cNvPr>
          <p:cNvSpPr>
            <a:spLocks noGrp="1"/>
          </p:cNvSpPr>
          <p:nvPr>
            <p:ph type="body" orient="vert" idx="1"/>
          </p:nvPr>
        </p:nvSpPr>
        <p:spPr>
          <a:xfrm>
            <a:off x="692150" y="2068513"/>
            <a:ext cx="8674100" cy="493236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70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4F51E1-F9B6-E312-F6D3-BB4AB053BBCF}"/>
              </a:ext>
            </a:extLst>
          </p:cNvPr>
          <p:cNvSpPr>
            <a:spLocks noGrp="1"/>
          </p:cNvSpPr>
          <p:nvPr>
            <p:ph type="title" orient="vert"/>
          </p:nvPr>
        </p:nvSpPr>
        <p:spPr>
          <a:xfrm>
            <a:off x="7197725" y="414338"/>
            <a:ext cx="2168525" cy="6586537"/>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473CA8-D4C6-8A25-B873-FF311D4F1EF2}"/>
              </a:ext>
            </a:extLst>
          </p:cNvPr>
          <p:cNvSpPr>
            <a:spLocks noGrp="1"/>
          </p:cNvSpPr>
          <p:nvPr>
            <p:ph type="body" orient="vert" idx="1"/>
          </p:nvPr>
        </p:nvSpPr>
        <p:spPr>
          <a:xfrm>
            <a:off x="692150" y="414338"/>
            <a:ext cx="6353175" cy="658653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601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3" name="Rectangle 39">
            <a:extLst>
              <a:ext uri="{FF2B5EF4-FFF2-40B4-BE49-F238E27FC236}">
                <a16:creationId xmlns:a16="http://schemas.microsoft.com/office/drawing/2014/main" id="{D46AAF04-925F-9698-18C1-830D69B6CC35}"/>
              </a:ext>
            </a:extLst>
          </p:cNvPr>
          <p:cNvSpPr>
            <a:spLocks noChangeArrowheads="1"/>
          </p:cNvSpPr>
          <p:nvPr userDrawn="1"/>
        </p:nvSpPr>
        <p:spPr bwMode="auto">
          <a:xfrm>
            <a:off x="9458325" y="7358063"/>
            <a:ext cx="284163"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64" tIns="46033" rIns="92064" bIns="46033" anchor="ctr"/>
          <a:lstStyle/>
          <a:p>
            <a:fld id="{80408FB0-7D5D-314A-BD3E-F8D2D4256AC0}" type="slidenum">
              <a:rPr lang="en-US" altLang="en-US" sz="1200" b="0">
                <a:latin typeface="Garamond" panose="02020404030301010803" pitchFamily="18" charset="0"/>
              </a:rPr>
              <a:pPr/>
              <a:t>‹#›</a:t>
            </a:fld>
            <a:endParaRPr lang="en-US" altLang="en-US" sz="1200" b="0">
              <a:latin typeface="Garamond" panose="02020404030301010803" pitchFamily="18" charset="0"/>
            </a:endParaRPr>
          </a:p>
        </p:txBody>
      </p:sp>
      <p:sp>
        <p:nvSpPr>
          <p:cNvPr id="1064" name="Text Box 40">
            <a:extLst>
              <a:ext uri="{FF2B5EF4-FFF2-40B4-BE49-F238E27FC236}">
                <a16:creationId xmlns:a16="http://schemas.microsoft.com/office/drawing/2014/main" id="{BD0D272B-36C7-562A-58BA-6D1AF9D770C9}"/>
              </a:ext>
            </a:extLst>
          </p:cNvPr>
          <p:cNvSpPr txBox="1">
            <a:spLocks noChangeArrowheads="1"/>
          </p:cNvSpPr>
          <p:nvPr userDrawn="1"/>
        </p:nvSpPr>
        <p:spPr bwMode="auto">
          <a:xfrm>
            <a:off x="373063" y="7248525"/>
            <a:ext cx="860425" cy="34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75000"/>
              </a:lnSpc>
            </a:pPr>
            <a:r>
              <a:rPr lang="en-US" altLang="en-US" sz="1800" b="0">
                <a:latin typeface="Times New Roman" panose="02020603050405020304" pitchFamily="18" charset="0"/>
              </a:rPr>
              <a:t>GMO</a:t>
            </a:r>
          </a:p>
          <a:p>
            <a:pPr>
              <a:lnSpc>
                <a:spcPct val="75000"/>
              </a:lnSpc>
            </a:pPr>
            <a:r>
              <a:rPr lang="en-US" altLang="en-US" sz="400" b="0">
                <a:latin typeface="Times New Roman" panose="02020603050405020304" pitchFamily="18" charset="0"/>
              </a:rPr>
              <a:t>Emerging Markets</a:t>
            </a:r>
          </a:p>
        </p:txBody>
      </p:sp>
      <p:sp>
        <p:nvSpPr>
          <p:cNvPr id="1065" name="Line 41">
            <a:extLst>
              <a:ext uri="{FF2B5EF4-FFF2-40B4-BE49-F238E27FC236}">
                <a16:creationId xmlns:a16="http://schemas.microsoft.com/office/drawing/2014/main" id="{55DEEA70-FA2E-C7BB-1440-58B5CB6C20A3}"/>
              </a:ext>
            </a:extLst>
          </p:cNvPr>
          <p:cNvSpPr>
            <a:spLocks noChangeShapeType="1"/>
          </p:cNvSpPr>
          <p:nvPr userDrawn="1"/>
        </p:nvSpPr>
        <p:spPr bwMode="auto">
          <a:xfrm>
            <a:off x="449263" y="1254125"/>
            <a:ext cx="9153525"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019175" rtl="0" eaLnBrk="0" fontAlgn="base" hangingPunct="0">
        <a:spcBef>
          <a:spcPct val="0"/>
        </a:spcBef>
        <a:spcAft>
          <a:spcPct val="0"/>
        </a:spcAft>
        <a:defRPr sz="4900" kern="1200">
          <a:solidFill>
            <a:schemeClr val="tx2"/>
          </a:solidFill>
          <a:latin typeface="+mj-lt"/>
          <a:ea typeface="+mj-ea"/>
          <a:cs typeface="+mj-cs"/>
        </a:defRPr>
      </a:lvl1pPr>
      <a:lvl2pPr algn="ctr" defTabSz="1019175" rtl="0" eaLnBrk="0" fontAlgn="base" hangingPunct="0">
        <a:spcBef>
          <a:spcPct val="0"/>
        </a:spcBef>
        <a:spcAft>
          <a:spcPct val="0"/>
        </a:spcAft>
        <a:defRPr sz="4900">
          <a:solidFill>
            <a:schemeClr val="tx2"/>
          </a:solidFill>
          <a:latin typeface="Times New Roman" panose="02020603050405020304" pitchFamily="18" charset="0"/>
        </a:defRPr>
      </a:lvl2pPr>
      <a:lvl3pPr algn="ctr" defTabSz="1019175" rtl="0" eaLnBrk="0" fontAlgn="base" hangingPunct="0">
        <a:spcBef>
          <a:spcPct val="0"/>
        </a:spcBef>
        <a:spcAft>
          <a:spcPct val="0"/>
        </a:spcAft>
        <a:defRPr sz="4900">
          <a:solidFill>
            <a:schemeClr val="tx2"/>
          </a:solidFill>
          <a:latin typeface="Times New Roman" panose="02020603050405020304" pitchFamily="18" charset="0"/>
        </a:defRPr>
      </a:lvl3pPr>
      <a:lvl4pPr algn="ctr" defTabSz="1019175" rtl="0" eaLnBrk="0" fontAlgn="base" hangingPunct="0">
        <a:spcBef>
          <a:spcPct val="0"/>
        </a:spcBef>
        <a:spcAft>
          <a:spcPct val="0"/>
        </a:spcAft>
        <a:defRPr sz="4900">
          <a:solidFill>
            <a:schemeClr val="tx2"/>
          </a:solidFill>
          <a:latin typeface="Times New Roman" panose="02020603050405020304" pitchFamily="18" charset="0"/>
        </a:defRPr>
      </a:lvl4pPr>
      <a:lvl5pPr algn="ctr" defTabSz="1019175" rtl="0" eaLnBrk="0" fontAlgn="base" hangingPunct="0">
        <a:spcBef>
          <a:spcPct val="0"/>
        </a:spcBef>
        <a:spcAft>
          <a:spcPct val="0"/>
        </a:spcAft>
        <a:defRPr sz="4900">
          <a:solidFill>
            <a:schemeClr val="tx2"/>
          </a:solidFill>
          <a:latin typeface="Times New Roman" panose="02020603050405020304" pitchFamily="18" charset="0"/>
        </a:defRPr>
      </a:lvl5pPr>
      <a:lvl6pPr marL="457200" algn="ctr" defTabSz="1019175" rtl="0" eaLnBrk="0" fontAlgn="base" hangingPunct="0">
        <a:spcBef>
          <a:spcPct val="0"/>
        </a:spcBef>
        <a:spcAft>
          <a:spcPct val="0"/>
        </a:spcAft>
        <a:defRPr sz="4900">
          <a:solidFill>
            <a:schemeClr val="tx2"/>
          </a:solidFill>
          <a:latin typeface="Times New Roman" panose="02020603050405020304" pitchFamily="18" charset="0"/>
        </a:defRPr>
      </a:lvl6pPr>
      <a:lvl7pPr marL="914400" algn="ctr" defTabSz="1019175" rtl="0" eaLnBrk="0" fontAlgn="base" hangingPunct="0">
        <a:spcBef>
          <a:spcPct val="0"/>
        </a:spcBef>
        <a:spcAft>
          <a:spcPct val="0"/>
        </a:spcAft>
        <a:defRPr sz="4900">
          <a:solidFill>
            <a:schemeClr val="tx2"/>
          </a:solidFill>
          <a:latin typeface="Times New Roman" panose="02020603050405020304" pitchFamily="18" charset="0"/>
        </a:defRPr>
      </a:lvl7pPr>
      <a:lvl8pPr marL="1371600" algn="ctr" defTabSz="1019175" rtl="0" eaLnBrk="0" fontAlgn="base" hangingPunct="0">
        <a:spcBef>
          <a:spcPct val="0"/>
        </a:spcBef>
        <a:spcAft>
          <a:spcPct val="0"/>
        </a:spcAft>
        <a:defRPr sz="4900">
          <a:solidFill>
            <a:schemeClr val="tx2"/>
          </a:solidFill>
          <a:latin typeface="Times New Roman" panose="02020603050405020304" pitchFamily="18" charset="0"/>
        </a:defRPr>
      </a:lvl8pPr>
      <a:lvl9pPr marL="1828800" algn="ctr" defTabSz="1019175" rtl="0" eaLnBrk="0" fontAlgn="base" hangingPunct="0">
        <a:spcBef>
          <a:spcPct val="0"/>
        </a:spcBef>
        <a:spcAft>
          <a:spcPct val="0"/>
        </a:spcAft>
        <a:defRPr sz="4900">
          <a:solidFill>
            <a:schemeClr val="tx2"/>
          </a:solidFill>
          <a:latin typeface="Times New Roman" panose="02020603050405020304" pitchFamily="18" charset="0"/>
        </a:defRPr>
      </a:lvl9pPr>
    </p:titleStyle>
    <p:bodyStyle>
      <a:lvl1pPr marL="382588" indent="-382588" algn="l" defTabSz="1019175" rtl="0" eaLnBrk="0" fontAlgn="base" hangingPunct="0">
        <a:spcBef>
          <a:spcPct val="20000"/>
        </a:spcBef>
        <a:spcAft>
          <a:spcPct val="0"/>
        </a:spcAft>
        <a:buChar char="•"/>
        <a:defRPr sz="3600" kern="1200">
          <a:solidFill>
            <a:schemeClr val="tx1"/>
          </a:solidFill>
          <a:latin typeface="+mn-lt"/>
          <a:ea typeface="+mn-ea"/>
          <a:cs typeface="+mn-cs"/>
        </a:defRPr>
      </a:lvl1pPr>
      <a:lvl2pPr marL="827088" indent="-317500" algn="l" defTabSz="1019175" rtl="0" eaLnBrk="0" fontAlgn="base" hangingPunct="0">
        <a:spcBef>
          <a:spcPct val="20000"/>
        </a:spcBef>
        <a:spcAft>
          <a:spcPct val="0"/>
        </a:spcAft>
        <a:buChar char="–"/>
        <a:defRPr sz="3100" kern="1200">
          <a:solidFill>
            <a:schemeClr val="tx1"/>
          </a:solidFill>
          <a:latin typeface="+mn-lt"/>
          <a:ea typeface="+mn-ea"/>
          <a:cs typeface="+mn-cs"/>
        </a:defRPr>
      </a:lvl2pPr>
      <a:lvl3pPr marL="1273175" indent="-254000" algn="l" defTabSz="1019175" rtl="0" eaLnBrk="0" fontAlgn="base" hangingPunct="0">
        <a:spcBef>
          <a:spcPct val="20000"/>
        </a:spcBef>
        <a:spcAft>
          <a:spcPct val="0"/>
        </a:spcAft>
        <a:buChar char="•"/>
        <a:defRPr sz="2700" kern="1200">
          <a:solidFill>
            <a:schemeClr val="tx1"/>
          </a:solidFill>
          <a:latin typeface="+mn-lt"/>
          <a:ea typeface="+mn-ea"/>
          <a:cs typeface="+mn-cs"/>
        </a:defRPr>
      </a:lvl3pPr>
      <a:lvl4pPr marL="1782763" indent="-254000" algn="l" defTabSz="1019175" rtl="0" eaLnBrk="0" fontAlgn="base" hangingPunct="0">
        <a:spcBef>
          <a:spcPct val="20000"/>
        </a:spcBef>
        <a:spcAft>
          <a:spcPct val="0"/>
        </a:spcAft>
        <a:buChar char="–"/>
        <a:defRPr sz="2200" kern="1200">
          <a:solidFill>
            <a:schemeClr val="tx1"/>
          </a:solidFill>
          <a:latin typeface="+mn-lt"/>
          <a:ea typeface="+mn-ea"/>
          <a:cs typeface="+mn-cs"/>
        </a:defRPr>
      </a:lvl4pPr>
      <a:lvl5pPr marL="2292350" indent="-254000" algn="l" defTabSz="1019175" rtl="0" eaLnBrk="0" fontAlgn="base" hangingPunct="0">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file:////gmo/data/Graphics/Graphics%20Shared/Int'l.%20Equities/Emerging%20Markets/Emerging%20Markets%20Bible.xls!Added%20Value%20Over%20Time!%5bEmerging%20Markets%20Bible.xls%5dAdded%20Value%20Over%20Time%20Chart%201"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file:////gmo/data/Graphics/Graphics%20Shared/Int'l.%20Equities/Emerging%20Markets/Emerging%20Markets%20Bible.xls!Value%20Philosophy%20Ver%201!R2C2:R7C4"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file:////gmo/data/Graphics/Graphics%20Shared/Int'l.%20Equities/Emerging%20Markets/Emerging%20Markets%20Bible.xls!Value%20Philosophy%20Ver%202!R2C2:R9C8"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oleObject" Target="file:////fap_bos/graphic/Graphics%20Shared/Int'l.%20Equities/Emerging%20Markets/Emerging%20Markets%20Bible.xls!Risk%20Control!%5bEmerging%20Markets%20Bible.xls%5dRisk%20Control%20Chart%205" TargetMode="External"/><Relationship Id="rId3" Type="http://schemas.openxmlformats.org/officeDocument/2006/relationships/image" Target="../media/image7.emf"/><Relationship Id="rId7" Type="http://schemas.openxmlformats.org/officeDocument/2006/relationships/image" Target="../media/image9.emf"/><Relationship Id="rId2" Type="http://schemas.openxmlformats.org/officeDocument/2006/relationships/oleObject" Target="file:////fap_bos/graphic/Graphics%20Shared/Int'l.%20Equities/Emerging%20Markets/Emerging%20Markets%20Bible.xls!Risk%20Control!Emerging%20Markets%20Bible.xls%20Chart%201" TargetMode="External"/><Relationship Id="rId1" Type="http://schemas.openxmlformats.org/officeDocument/2006/relationships/slideLayout" Target="../slideLayouts/slideLayout7.xml"/><Relationship Id="rId6" Type="http://schemas.openxmlformats.org/officeDocument/2006/relationships/oleObject" Target="file:////fap_bos/graphic/Graphics%20Shared/Int'l.%20Equities/Emerging%20Markets/Emerging%20Markets%20Bible.xls!Risk%20Control!%5bEmerging%20Markets%20Bible.xls%5dRisk%20Control%20Chart%202" TargetMode="External"/><Relationship Id="rId5" Type="http://schemas.openxmlformats.org/officeDocument/2006/relationships/image" Target="../media/image8.emf"/><Relationship Id="rId4" Type="http://schemas.openxmlformats.org/officeDocument/2006/relationships/oleObject" Target="file:////fap_bos/graphic/Graphics%20Shared/Int'l.%20Equities/Emerging%20Markets/Emerging%20Markets%20Bible.xls!Risk%20Control!Emerging%20Markets%20Bible.xls%20Chart%204" TargetMode="External"/><Relationship Id="rId9" Type="http://schemas.openxmlformats.org/officeDocument/2006/relationships/image" Target="../media/image10.emf"/></Relationships>
</file>

<file path=ppt/slides/_rels/slide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file:////gmo/data/Graphics/Graphics%20Shared/Int'l.%20Equities/Emerging%20Markets/Emerging%20Markets%20Bible.xls!Country%20Emphasis!%5bEmerging%20Markets%20Bible.xls%5dCountry%20Emphasis%20Chart%201"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file:////fap_bos/graphic/Graphics%20Shared/Int'l.%20Equities/Emerging%20Markets/Emerging%20Markets%20Bible.xls!EMF%20Process!%5bEmerging%20Markets%20Bible.xls%5dEMF%20Process%20Chart%201" TargetMode="External"/><Relationship Id="rId1" Type="http://schemas.openxmlformats.org/officeDocument/2006/relationships/slideLayout" Target="../slideLayouts/slideLayout7.xml"/><Relationship Id="rId5" Type="http://schemas.openxmlformats.org/officeDocument/2006/relationships/image" Target="../media/image13.emf"/><Relationship Id="rId4" Type="http://schemas.openxmlformats.org/officeDocument/2006/relationships/oleObject" Target="file:////gmo/data/Graphics/Graphics%20Shared/Int'l.%20Equities/Emerging%20Markets/Emerging%20Markets%20Bible.xls!EMF%20Process!%5bEmerging%20Markets%20Bible.xls%5dEMF%20Process%20Chart%202"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file:////gmo/data/Graphics/Graphics%20Shared/Int'l.%20Equities/Emerging%20Markets/Emerging%20Markets%20Bible.xls!Country%20Allocation!R2C1:R11C4"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file:////gmo/data/Graphics/Graphics%20Shared/Int'l.%20Equities/Emerging%20Markets/Emerging%20Markets%20Bible.xls!Mexico%20Cty%20Selection!%5bEmerging%20Markets%20Bible.xls%5dMexico%20Cty%20Selection%20Chart%201"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file:////fap_bos/graphic/Graphics%20Shared/Int'l.%20Equities/Emerging%20Markets/Emerging%20Markets%20Bible.xls!History%20Rhymes%20Mexico!Emerging%20Markets%20Bible.xls%20Chart%201"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file:////gmo/data/Graphics/Graphics%20Shared/Int'l.%20Equities/Emerging%20Markets/Emerging%20Markets%20Bible.xls!But%20It%20Rhymes!%5bEmerging%20Markets%20Bible.xls%5dBut%20It%20Rhymes%20Chart%201"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oleObject" Target="file:////fap_bos/graphic/Graphics%20Shared/Int'l.%20Equities/Emerging%20Markets/Emerging%20Markets%20Bible.xls!$%20Vulnerability%20Frame!R1C4:R28C16"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8.emf"/></Relationships>
</file>

<file path=ppt/slides/_rels/slide22.xml.rels><?xml version="1.0" encoding="UTF-8" standalone="yes"?>
<Relationships xmlns="http://schemas.openxmlformats.org/package/2006/relationships"><Relationship Id="rId3" Type="http://schemas.openxmlformats.org/officeDocument/2006/relationships/oleObject" Target="file:////gmo/data/Graphics/Graphics%20Shared/Int'l.%20Equities/Emerging%20Markets/Emerging%20Markets%20Bible.xls!Mexico%20Currency%20Situation%209-01!R2C7:R28C18"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9.emf"/></Relationships>
</file>

<file path=ppt/slides/_rels/slide2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file:////fap_bos/graphic/Graphics%20Shared/Int'l.%20Equities/Emerging%20Markets/Emerging%20Markets%20Bible.xls!Currency%20Vulnerability%20Top!R1C5:R24C12" TargetMode="External"/><Relationship Id="rId1" Type="http://schemas.openxmlformats.org/officeDocument/2006/relationships/slideLayout" Target="../slideLayouts/slideLayout7.xml"/><Relationship Id="rId5" Type="http://schemas.openxmlformats.org/officeDocument/2006/relationships/image" Target="../media/image21.emf"/><Relationship Id="rId4" Type="http://schemas.openxmlformats.org/officeDocument/2006/relationships/oleObject" Target="file:////fap_bos/graphic/Graphics%20Shared/Int'l.%20Equities/Emerging%20Markets/Emerging%20Markets%20Bible.xls!Currency%20Vulnerability%20Bottom!R3C4:R26C11"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file:////gmo/data/Graphics/Graphics%20Shared/Int'l.%20Equities/Emerging%20Markets/Emerging%20Markets%20Bible.xls!Currency%20Vulnerability%201-02!R1C7:R26C18"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oleObject" Target="file:////gmo/data/Graphics/Graphics%20Shared/Int'l.%20Equities/Emerging%20Markets/Emerging%20Markets%20Bible.xls!Stock%20Sel%20Val%20&amp;%20Mom!%5bEmerging%20Markets%20Bible.xls%5dStock%20Sel%20Val%20&amp;%20Mom%20Chart%201"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file:////C:/Documents%20and%20Settings/RGilkey/Local%20Settings/Temporary%20Internet%20Files/OLK28/stock%20selection%20exhibit.xls!Sheet1!R3C1:R27C9"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file:////gmo/data/Graphics/Graphics%20Shared/Int'l.%20Equities/Emerging%20Markets/Emerging%20Markets%20Bible.xls!Proprietary%20Risk%20Control!%5bEmerging%20Markets%20Bible.xls%5dProprietary%20Risk%20Control%20Chart%201"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file:////gmo/data/Graphics/Graphics%20Shared/Int'l.%20Equities/Emerging%20Markets/Emerging%20Markets%20Bible.xls!Modeling%20Risk!%5bEmerging%20Markets%20Bible.xls%5dModeling%20Risk%20Chart%201" TargetMode="Externa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oleObject" Target="file:////gmo/data/Graphics/Graphics%20Shared/Int'l.%20Equities/Emerging%20Markets/Emerging%20Markets%20Bible.xls!Portfolio%20Postioning!R1C1:R6C7"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7.emf"/></Relationships>
</file>

<file path=ppt/slides/_rels/slide3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oleObject" Target="file:////gmo/data/Graphics/Graphics%20Shared/Int'l.%20Equities/Emerging%20Markets/Emerging%20Markets%20Bible.xls!Main%20Sheet!R1C34:R40C44" TargetMode="Externa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file:////gmo/data/Graphics/Graphics%20Shared/Int'l.%20Equities/Emerging%20Markets/Emerging%20Markets%20Bible.xls!Positioning%20Value%20&amp;%20Small!%5bEmerging%20Markets%20Bible.xls%5dPositioning%20Value%20&amp;%20Small%20Chart%202" TargetMode="External"/><Relationship Id="rId1" Type="http://schemas.openxmlformats.org/officeDocument/2006/relationships/slideLayout" Target="../slideLayouts/slideLayout7.xml"/><Relationship Id="rId5" Type="http://schemas.openxmlformats.org/officeDocument/2006/relationships/image" Target="../media/image30.emf"/><Relationship Id="rId4" Type="http://schemas.openxmlformats.org/officeDocument/2006/relationships/oleObject" Target="file:////gmo/data/Graphics/Graphics%20Shared/Int'l.%20Equities/Emerging%20Markets/Emerging%20Markets%20Bible.xls!Positioning%20Value%20&amp;%20Small!%5bEmerging%20Markets%20Bible.xls%5dPositioning%20Value%20&amp;%20Small%20Chart%203"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31.emf"/><Relationship Id="rId7" Type="http://schemas.openxmlformats.org/officeDocument/2006/relationships/image" Target="../media/image33.emf"/><Relationship Id="rId2" Type="http://schemas.openxmlformats.org/officeDocument/2006/relationships/oleObject" Target="file:////gmo/data/Graphics/Graphics%20Shared/Int'l.%20Equities/Emerging%20Markets/Emerging%20Markets%20Bible.xls!Cap%20Size%20Allocation!%5bEmerging%20Markets%20Bible.xls%5dCap%20Size%20Allocation%20Chart%202" TargetMode="External"/><Relationship Id="rId1" Type="http://schemas.openxmlformats.org/officeDocument/2006/relationships/slideLayout" Target="../slideLayouts/slideLayout7.xml"/><Relationship Id="rId6" Type="http://schemas.openxmlformats.org/officeDocument/2006/relationships/oleObject" Target="file:////gmo/data/Graphics/Graphics%20Shared/Int'l.%20Equities/Emerging%20Markets/Emerging%20Markets%20Bible.xls!Regional%20Allocation!%5bEmerging%20Markets%20Bible.xls%5dRegional%20Allocation%20Chart%201" TargetMode="External"/><Relationship Id="rId5" Type="http://schemas.openxmlformats.org/officeDocument/2006/relationships/image" Target="../media/image32.emf"/><Relationship Id="rId4" Type="http://schemas.openxmlformats.org/officeDocument/2006/relationships/oleObject" Target="file:////gmo/data/Graphics/Graphics%20Shared/Int'l.%20Equities/Emerging%20Markets/Emerging%20Markets%20Bible.xls!Valuation%20Measures!R7C2:R12C6"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file:////gmobosfap01/clientserv/Consultants/Rpuw20/Quarter%20End%20Charts/EMF_New.cha" TargetMode="External"/><Relationship Id="rId1" Type="http://schemas.openxmlformats.org/officeDocument/2006/relationships/slideLayout" Target="../slideLayouts/slideLayout7.xml"/><Relationship Id="rId5" Type="http://schemas.openxmlformats.org/officeDocument/2006/relationships/image" Target="../media/image35.emf"/><Relationship Id="rId4" Type="http://schemas.openxmlformats.org/officeDocument/2006/relationships/oleObject" Target="file:////gmo/data/Graphics/Graphics%20Shared/FrankRussell/Frank%20Russell%20Charts%202001/Frank%20Russell%203Q-01.xls!EMF!R7C2:R18C9"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file:////gmo/data/Graphics/Graphics%20Shared/Int'l.%20Equities/Emerging%20Markets/Emerging%20Markets%20Bible.xls!Performance%20Attrib%20Analysis!R4C1:R28C13" TargetMode="Externa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oleObject" Target="file:////fap_bos/graphic/Graphics%20Shared/Appendix/Appendix%20Land.xls!Representative%20Clients%205-01!R31C1:R48C4" TargetMode="External"/><Relationship Id="rId3" Type="http://schemas.openxmlformats.org/officeDocument/2006/relationships/image" Target="../media/image37.emf"/><Relationship Id="rId7" Type="http://schemas.openxmlformats.org/officeDocument/2006/relationships/image" Target="../media/image39.emf"/><Relationship Id="rId2" Type="http://schemas.openxmlformats.org/officeDocument/2006/relationships/oleObject" Target="file:////fap_bos/graphic/Graphics%20Shared/Appendix/Appendix%20Land.xls!Representative%20Clients%203-01!R1C1:R2C4" TargetMode="External"/><Relationship Id="rId1" Type="http://schemas.openxmlformats.org/officeDocument/2006/relationships/slideLayout" Target="../slideLayouts/slideLayout7.xml"/><Relationship Id="rId6" Type="http://schemas.openxmlformats.org/officeDocument/2006/relationships/oleObject" Target="file:////fap_bos/graphic/Graphics%20Shared/Appendix/Appendix%20Land.xls!Representative%20Clients%203-01!R50C1:R60C4" TargetMode="External"/><Relationship Id="rId11" Type="http://schemas.openxmlformats.org/officeDocument/2006/relationships/image" Target="../media/image41.emf"/><Relationship Id="rId5" Type="http://schemas.openxmlformats.org/officeDocument/2006/relationships/image" Target="../media/image38.emf"/><Relationship Id="rId10" Type="http://schemas.openxmlformats.org/officeDocument/2006/relationships/oleObject" Target="file:////fap_bos/graphic/Graphics%20Shared/Appendix/Appendix%20Land.xls!Representative%20Clients%203-01!R63C1:R88C4" TargetMode="External"/><Relationship Id="rId4" Type="http://schemas.openxmlformats.org/officeDocument/2006/relationships/oleObject" Target="file:////fap_bos/graphic/Graphics%20Shared/Appendix/Appendix%20Land.xls!Representative%20Clients%203-01!R5C1:R29C4" TargetMode="External"/><Relationship Id="rId9" Type="http://schemas.openxmlformats.org/officeDocument/2006/relationships/image" Target="../media/image40.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oleObject" Target="file:////gmo/data/Graphics/Graphics%20Shared/Int'l.%20Equities/Emerging%20Markets/Emerging%20Markets%20Bible.xls!Don't%20Fire!%5bEmerging%20Markets%20Bible.xls%5dDon't%20Fire%20Chart%201" TargetMode="Externa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oleObject" Target="file:////fap_bos/graphic/Graphics%20Shared/Int'l.%20Equities/Emerging%20Markets/Emerging%20Markets%20Bible.xls!Economic%20Risk%20Regresses!%5bEmerging%20Markets%20Bible.xls%5dEconomic%20Risk%20Regresses%20Chart%201" TargetMode="Externa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oleObject" Target="file:////gmo/data/Graphics/Graphics%20Shared/Int'l.%20Equities/Emerging%20Markets/Emerging%20Markets%20Bible.xls!Growth%20Regresses%20Quickly!%5bEmerging%20Markets%20Bible.xls%5dGrowth%20Regresses%20Quickly%20Chart%201" TargetMode="Externa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oleObject" Target="file:////fap_bos/graphic/Graphics%20Shared/Int'l.%20Equities/Emerging%20Markets/EMF%20Supplemental%20Matls.xls!Adj%20Price%20Earnings!R2C1:R9C6" TargetMode="Externa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oleObject" Target="file:////fap_bos/graphic/Graphics%20Shared/Int'l.%20Equities/Emerging%20Markets/EMF%20Supplemental%20Matls.xls!Simulated%20Adj%20PE%20Model!%5bEMF%20Supplemental%20Matls.xls%5dSimulated%20Adj%20PE%20Model%20Chart%203" TargetMode="External"/><Relationship Id="rId3" Type="http://schemas.openxmlformats.org/officeDocument/2006/relationships/image" Target="../media/image46.emf"/><Relationship Id="rId7" Type="http://schemas.openxmlformats.org/officeDocument/2006/relationships/image" Target="../media/image48.emf"/><Relationship Id="rId2" Type="http://schemas.openxmlformats.org/officeDocument/2006/relationships/oleObject" Target="file:////fap_bos/graphic/Graphics%20Shared/Int'l.%20Equities/Emerging%20Markets/EMF%20Supplemental%20Matls.xls!Simulated%20Adj%20PE%20Model!R40C20:R49C22" TargetMode="External"/><Relationship Id="rId1" Type="http://schemas.openxmlformats.org/officeDocument/2006/relationships/slideLayout" Target="../slideLayouts/slideLayout7.xml"/><Relationship Id="rId6" Type="http://schemas.openxmlformats.org/officeDocument/2006/relationships/oleObject" Target="file:////fap_bos/graphic/Graphics%20Shared/Int'l.%20Equities/Emerging%20Markets/EMF%20Supplemental%20Matls.xls!Simulated%20Adj%20PE%20Model!%5bEMF%20Supplemental%20Matls.xls%5dSimulated%20Adj%20PE%20Model%20Chart%202" TargetMode="External"/><Relationship Id="rId11" Type="http://schemas.openxmlformats.org/officeDocument/2006/relationships/image" Target="../media/image50.emf"/><Relationship Id="rId5" Type="http://schemas.openxmlformats.org/officeDocument/2006/relationships/image" Target="../media/image47.emf"/><Relationship Id="rId10" Type="http://schemas.openxmlformats.org/officeDocument/2006/relationships/oleObject" Target="file:////fap_bos/graphic/Graphics%20Shared/Int'l.%20Equities/Emerging%20Markets/EMF%20Supplemental%20Matls.xls!Simulated%20Adj%20PE%20Model!%5bEMF%20Supplemental%20Matls.xls%5dSimulated%20Adj%20PE%20Model%20Chart%204" TargetMode="External"/><Relationship Id="rId4" Type="http://schemas.openxmlformats.org/officeDocument/2006/relationships/oleObject" Target="file:////fap_bos/graphic/Graphics%20Shared/Int'l.%20Equities/Emerging%20Markets/EMF%20Supplemental%20Matls.xls!Simulated%20Adj%20PE%20Model!%5bEMF%20Supplemental%20Matls.xls%5dSimulated%20Adj%20PE%20Model%20Chart%201" TargetMode="External"/><Relationship Id="rId9" Type="http://schemas.openxmlformats.org/officeDocument/2006/relationships/image" Target="../media/image49.emf"/></Relationships>
</file>

<file path=ppt/slides/_rels/slide48.xml.rels><?xml version="1.0" encoding="UTF-8" standalone="yes"?>
<Relationships xmlns="http://schemas.openxmlformats.org/package/2006/relationships"><Relationship Id="rId3" Type="http://schemas.openxmlformats.org/officeDocument/2006/relationships/image" Target="../media/image51.emf"/><Relationship Id="rId7" Type="http://schemas.openxmlformats.org/officeDocument/2006/relationships/image" Target="../media/image53.emf"/><Relationship Id="rId2" Type="http://schemas.openxmlformats.org/officeDocument/2006/relationships/oleObject" Target="file:////fap_bos/graphic/Graphics%20Shared/Int'l.%20Equities/Emerging%20Markets/EMF%20Supplemental%20Matls.xls!Price%20Momentum%20Mexico!%5bEMF%20Supplemental%20Matls.xls%5dPrice%20Momentum%20Mexico%20Chart%201" TargetMode="External"/><Relationship Id="rId1" Type="http://schemas.openxmlformats.org/officeDocument/2006/relationships/slideLayout" Target="../slideLayouts/slideLayout7.xml"/><Relationship Id="rId6" Type="http://schemas.openxmlformats.org/officeDocument/2006/relationships/oleObject" Target="file:////fap_bos/graphic/Graphics%20Shared/Int'l.%20Equities/Emerging%20Markets/EMF%20Supplemental%20Matls.xls!Price%20Momentum%20Mexico!%5bEMF%20Supplemental%20Matls.xls%5dPrice%20Momentum%20Mexico%20Chart%203" TargetMode="External"/><Relationship Id="rId5" Type="http://schemas.openxmlformats.org/officeDocument/2006/relationships/image" Target="../media/image52.emf"/><Relationship Id="rId4" Type="http://schemas.openxmlformats.org/officeDocument/2006/relationships/oleObject" Target="file:////fap_bos/graphic/Graphics%20Shared/Int'l.%20Equities/Emerging%20Markets/EMF%20Supplemental%20Matls.xls!Price%20Momentum%20Mexico!%5bEMF%20Supplemental%20Matls.xls%5dPrice%20Momentum%20Mexico%20Chart%202"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oleObject" Target="file:////gmo/data/Graphics/Graphics%20Shared/Int'l.%20Equities/Emerging%20Markets/Emerging%20Markets%20Bible.xls!Value%20Burns%20Slowly!%5bEmerging%20Markets%20Bible.xls%5dValue%20Burns%20Slowly%20Chart%201" TargetMode="Externa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oleObject" Target="file:////gmo/data/Graphics/Graphics%20Shared/Int'l.%20Equities/Emerging%20Markets/Emerging%20Markets%20Bible.xls!Momentum%20Burns%20Quickly!%5bEmerging%20Markets%20Bible.xls%5dMomentum%20Burns%20Quickly%20Chart%201" TargetMode="Externa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oleObject" Target="file:////gmo/data/Graphics/Graphics%20Shared/Int'l.%20Equities/Emerging%20Markets/Emerging%20Markets%20Bible.xls!EMF%201,3,5,ITD%20Perf%20Gross!Emerging%20Markets%20Bible.xls%20Chart%201"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57.emf"/><Relationship Id="rId5" Type="http://schemas.openxmlformats.org/officeDocument/2006/relationships/oleObject" Target="file:////gmo/data/Graphics/Graphics%20Shared/Int'l.%20Equities/Emerging%20Markets/Emerging%20Markets%20Bible.xls!EMF%201,3,5,ITD%20Perf%20Gross!R6C2:R8C6" TargetMode="External"/><Relationship Id="rId4" Type="http://schemas.openxmlformats.org/officeDocument/2006/relationships/image" Target="../media/image56.emf"/></Relationships>
</file>

<file path=ppt/slides/_rels/slide56.xml.rels><?xml version="1.0" encoding="UTF-8" standalone="yes"?>
<Relationships xmlns="http://schemas.openxmlformats.org/package/2006/relationships"><Relationship Id="rId3" Type="http://schemas.openxmlformats.org/officeDocument/2006/relationships/oleObject" Target="file:////Users/corona2020/Dropbox/GMO/GMO%20Historical%20Stuff/NewMexicoStateEndow_1-02.xls!EMF%2015%20Holdings!R3C1:R21C5" TargetMode="External"/><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58.emf"/></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7811" name="Rectangle 3">
            <a:extLst>
              <a:ext uri="{FF2B5EF4-FFF2-40B4-BE49-F238E27FC236}">
                <a16:creationId xmlns:a16="http://schemas.microsoft.com/office/drawing/2014/main" id="{306D498C-21E8-7A99-1B76-FF8F62D8DE84}"/>
              </a:ext>
            </a:extLst>
          </p:cNvPr>
          <p:cNvSpPr>
            <a:spLocks noChangeArrowheads="1"/>
          </p:cNvSpPr>
          <p:nvPr/>
        </p:nvSpPr>
        <p:spPr bwMode="auto">
          <a:xfrm>
            <a:off x="8445500" y="7189788"/>
            <a:ext cx="1611313" cy="5826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812" name="Text Box 4">
            <a:extLst>
              <a:ext uri="{FF2B5EF4-FFF2-40B4-BE49-F238E27FC236}">
                <a16:creationId xmlns:a16="http://schemas.microsoft.com/office/drawing/2014/main" id="{05D1D4E1-D4D8-8AE8-E4A6-4A9B3DEDA181}"/>
              </a:ext>
            </a:extLst>
          </p:cNvPr>
          <p:cNvSpPr txBox="1">
            <a:spLocks noChangeArrowheads="1"/>
          </p:cNvSpPr>
          <p:nvPr/>
        </p:nvSpPr>
        <p:spPr bwMode="auto">
          <a:xfrm>
            <a:off x="1520825" y="3413125"/>
            <a:ext cx="70231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0"/>
              <a:t>Introduction to</a:t>
            </a:r>
          </a:p>
          <a:p>
            <a:r>
              <a:rPr lang="en-US" altLang="en-US" sz="2800" b="0"/>
              <a:t>Grantham, Mayo, Van Otterloo &amp; Co. LLC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line chart&#10;&#10;Description automatically generated">
            <a:extLst>
              <a:ext uri="{FF2B5EF4-FFF2-40B4-BE49-F238E27FC236}">
                <a16:creationId xmlns:a16="http://schemas.microsoft.com/office/drawing/2014/main" id="{FE120EF2-26FF-F775-0771-91A36F605257}"/>
              </a:ext>
            </a:extLst>
          </p:cNvPr>
          <p:cNvPicPr>
            <a:picLocks noChangeAspect="1"/>
          </p:cNvPicPr>
          <p:nvPr/>
        </p:nvPicPr>
        <p:blipFill>
          <a:blip r:embed="rId2"/>
          <a:stretch>
            <a:fillRect/>
          </a:stretch>
        </p:blipFill>
        <p:spPr>
          <a:xfrm>
            <a:off x="696686" y="589115"/>
            <a:ext cx="7772400" cy="5448785"/>
          </a:xfrm>
          <a:prstGeom prst="rect">
            <a:avLst/>
          </a:prstGeom>
        </p:spPr>
      </p:pic>
    </p:spTree>
    <p:extLst>
      <p:ext uri="{BB962C8B-B14F-4D97-AF65-F5344CB8AC3E}">
        <p14:creationId xmlns:p14="http://schemas.microsoft.com/office/powerpoint/2010/main" val="2346238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10;&#10;Description automatically generated with medium confidence">
            <a:extLst>
              <a:ext uri="{FF2B5EF4-FFF2-40B4-BE49-F238E27FC236}">
                <a16:creationId xmlns:a16="http://schemas.microsoft.com/office/drawing/2014/main" id="{08E83181-E934-4FA4-3272-B945254D644A}"/>
              </a:ext>
            </a:extLst>
          </p:cNvPr>
          <p:cNvPicPr>
            <a:picLocks noChangeAspect="1"/>
          </p:cNvPicPr>
          <p:nvPr/>
        </p:nvPicPr>
        <p:blipFill>
          <a:blip r:embed="rId3"/>
          <a:stretch>
            <a:fillRect/>
          </a:stretch>
        </p:blipFill>
        <p:spPr>
          <a:xfrm>
            <a:off x="1142999" y="1832774"/>
            <a:ext cx="8037629" cy="4589797"/>
          </a:xfrm>
          <a:prstGeom prst="rect">
            <a:avLst/>
          </a:prstGeom>
        </p:spPr>
      </p:pic>
      <p:sp>
        <p:nvSpPr>
          <p:cNvPr id="6" name="TextBox 5">
            <a:extLst>
              <a:ext uri="{FF2B5EF4-FFF2-40B4-BE49-F238E27FC236}">
                <a16:creationId xmlns:a16="http://schemas.microsoft.com/office/drawing/2014/main" id="{CF9BC6D0-A4B2-C164-ED11-F934B84620D0}"/>
              </a:ext>
            </a:extLst>
          </p:cNvPr>
          <p:cNvSpPr txBox="1"/>
          <p:nvPr/>
        </p:nvSpPr>
        <p:spPr>
          <a:xfrm>
            <a:off x="3774652" y="870857"/>
            <a:ext cx="2095446" cy="307777"/>
          </a:xfrm>
          <a:prstGeom prst="rect">
            <a:avLst/>
          </a:prstGeom>
          <a:noFill/>
        </p:spPr>
        <p:txBody>
          <a:bodyPr wrap="none" rtlCol="0">
            <a:spAutoFit/>
          </a:bodyPr>
          <a:lstStyle/>
          <a:p>
            <a:r>
              <a:rPr lang="en-US" dirty="0"/>
              <a:t>MSCI EM Index Return</a:t>
            </a:r>
          </a:p>
        </p:txBody>
      </p:sp>
      <p:sp>
        <p:nvSpPr>
          <p:cNvPr id="7" name="Rectangle 6">
            <a:extLst>
              <a:ext uri="{FF2B5EF4-FFF2-40B4-BE49-F238E27FC236}">
                <a16:creationId xmlns:a16="http://schemas.microsoft.com/office/drawing/2014/main" id="{D8903B67-25E2-9B16-1477-F5B28ADC8D06}"/>
              </a:ext>
            </a:extLst>
          </p:cNvPr>
          <p:cNvSpPr/>
          <p:nvPr/>
        </p:nvSpPr>
        <p:spPr bwMode="auto">
          <a:xfrm>
            <a:off x="2917371" y="1832774"/>
            <a:ext cx="1600200" cy="4393855"/>
          </a:xfrm>
          <a:prstGeom prst="rect">
            <a:avLst/>
          </a:prstGeom>
          <a:solidFill>
            <a:schemeClr val="bg1">
              <a:alpha val="23244"/>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18545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ine chart&#10;&#10;Description automatically generated">
            <a:extLst>
              <a:ext uri="{FF2B5EF4-FFF2-40B4-BE49-F238E27FC236}">
                <a16:creationId xmlns:a16="http://schemas.microsoft.com/office/drawing/2014/main" id="{0E8556A6-6C98-C1AB-547C-C82C7D35DC6C}"/>
              </a:ext>
            </a:extLst>
          </p:cNvPr>
          <p:cNvPicPr>
            <a:picLocks noChangeAspect="1"/>
          </p:cNvPicPr>
          <p:nvPr/>
        </p:nvPicPr>
        <p:blipFill>
          <a:blip r:embed="rId3"/>
          <a:stretch>
            <a:fillRect/>
          </a:stretch>
        </p:blipFill>
        <p:spPr>
          <a:xfrm>
            <a:off x="511628" y="1571518"/>
            <a:ext cx="9035143" cy="5384454"/>
          </a:xfrm>
          <a:prstGeom prst="rect">
            <a:avLst/>
          </a:prstGeom>
        </p:spPr>
      </p:pic>
      <p:sp>
        <p:nvSpPr>
          <p:cNvPr id="4" name="TextBox 3">
            <a:extLst>
              <a:ext uri="{FF2B5EF4-FFF2-40B4-BE49-F238E27FC236}">
                <a16:creationId xmlns:a16="http://schemas.microsoft.com/office/drawing/2014/main" id="{C149F84B-5945-835F-E001-B0E3AD586D0F}"/>
              </a:ext>
            </a:extLst>
          </p:cNvPr>
          <p:cNvSpPr txBox="1"/>
          <p:nvPr/>
        </p:nvSpPr>
        <p:spPr>
          <a:xfrm>
            <a:off x="3656452" y="838200"/>
            <a:ext cx="1896418" cy="307777"/>
          </a:xfrm>
          <a:prstGeom prst="rect">
            <a:avLst/>
          </a:prstGeom>
          <a:noFill/>
        </p:spPr>
        <p:txBody>
          <a:bodyPr wrap="none" rtlCol="0">
            <a:spAutoFit/>
          </a:bodyPr>
          <a:lstStyle/>
          <a:p>
            <a:r>
              <a:rPr lang="en-US" dirty="0"/>
              <a:t>EM Value vs Growth</a:t>
            </a:r>
          </a:p>
        </p:txBody>
      </p:sp>
      <p:sp>
        <p:nvSpPr>
          <p:cNvPr id="5" name="Rectangle 4">
            <a:extLst>
              <a:ext uri="{FF2B5EF4-FFF2-40B4-BE49-F238E27FC236}">
                <a16:creationId xmlns:a16="http://schemas.microsoft.com/office/drawing/2014/main" id="{447978FB-F435-ED86-6B5B-7BE9BBDA6810}"/>
              </a:ext>
            </a:extLst>
          </p:cNvPr>
          <p:cNvSpPr/>
          <p:nvPr/>
        </p:nvSpPr>
        <p:spPr bwMode="auto">
          <a:xfrm>
            <a:off x="2503714" y="1571517"/>
            <a:ext cx="2013857" cy="5286483"/>
          </a:xfrm>
          <a:prstGeom prst="rect">
            <a:avLst/>
          </a:prstGeom>
          <a:solidFill>
            <a:schemeClr val="bg1">
              <a:alpha val="2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98952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Text Box 2">
            <a:extLst>
              <a:ext uri="{FF2B5EF4-FFF2-40B4-BE49-F238E27FC236}">
                <a16:creationId xmlns:a16="http://schemas.microsoft.com/office/drawing/2014/main" id="{A7BF679F-0DDF-E9BE-3A86-63ED5374FFDC}"/>
              </a:ext>
            </a:extLst>
          </p:cNvPr>
          <p:cNvSpPr txBox="1">
            <a:spLocks noChangeArrowheads="1"/>
          </p:cNvSpPr>
          <p:nvPr/>
        </p:nvSpPr>
        <p:spPr bwMode="auto">
          <a:xfrm>
            <a:off x="574675" y="750888"/>
            <a:ext cx="87042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2800" b="0"/>
              <a:t>Grantham, Mayo, Van Otterloo &amp; Co. LLC</a:t>
            </a:r>
          </a:p>
        </p:txBody>
      </p:sp>
      <p:sp>
        <p:nvSpPr>
          <p:cNvPr id="281603" name="Text Box 3">
            <a:extLst>
              <a:ext uri="{FF2B5EF4-FFF2-40B4-BE49-F238E27FC236}">
                <a16:creationId xmlns:a16="http://schemas.microsoft.com/office/drawing/2014/main" id="{1E80FF9D-3A90-8E26-C02B-880CCDCD5766}"/>
              </a:ext>
            </a:extLst>
          </p:cNvPr>
          <p:cNvSpPr txBox="1">
            <a:spLocks noChangeArrowheads="1"/>
          </p:cNvSpPr>
          <p:nvPr/>
        </p:nvSpPr>
        <p:spPr bwMode="auto">
          <a:xfrm>
            <a:off x="1230313" y="5800725"/>
            <a:ext cx="6781800" cy="160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8600" indent="-228600" algn="l">
              <a:defRPr sz="2400">
                <a:solidFill>
                  <a:schemeClr val="tx1"/>
                </a:solidFill>
                <a:latin typeface="Times New Roman" panose="02020603050405020304" pitchFamily="18" charset="0"/>
              </a:defRPr>
            </a:lvl1pPr>
            <a:lvl2pPr marL="515938" indent="-173038" algn="l">
              <a:defRPr sz="2400">
                <a:solidFill>
                  <a:schemeClr val="tx1"/>
                </a:solidFill>
                <a:latin typeface="Times New Roman" panose="02020603050405020304" pitchFamily="18" charset="0"/>
              </a:defRPr>
            </a:lvl2pPr>
            <a:lvl3pPr algn="l">
              <a:defRPr sz="2400">
                <a:solidFill>
                  <a:schemeClr val="tx1"/>
                </a:solidFill>
                <a:latin typeface="Times New Roman" panose="02020603050405020304" pitchFamily="18" charset="0"/>
              </a:defRPr>
            </a:lvl3pPr>
            <a:lvl4pPr algn="l">
              <a:defRPr sz="2400">
                <a:solidFill>
                  <a:schemeClr val="tx1"/>
                </a:solidFill>
                <a:latin typeface="Times New Roman" panose="02020603050405020304" pitchFamily="18" charset="0"/>
              </a:defRPr>
            </a:lvl4pPr>
            <a:lvl5pPr algn="l">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buFont typeface="Wingdings" pitchFamily="2" charset="2"/>
              <a:buNone/>
            </a:pPr>
            <a:endParaRPr lang="en-US" altLang="en-US" sz="1200"/>
          </a:p>
          <a:p>
            <a:pPr>
              <a:spcBef>
                <a:spcPts val="500"/>
              </a:spcBef>
              <a:buSzPct val="75000"/>
              <a:buFont typeface="Wingdings" pitchFamily="2" charset="2"/>
              <a:buChar char="n"/>
            </a:pPr>
            <a:r>
              <a:rPr lang="en-US" altLang="en-US" sz="1800"/>
              <a:t>$22 Billion in assets under management</a:t>
            </a:r>
          </a:p>
          <a:p>
            <a:pPr lvl="1">
              <a:lnSpc>
                <a:spcPct val="125000"/>
              </a:lnSpc>
              <a:spcBef>
                <a:spcPts val="500"/>
              </a:spcBef>
              <a:buSzPct val="75000"/>
              <a:buFont typeface="Wingdings" pitchFamily="2" charset="2"/>
              <a:buChar char="n"/>
            </a:pPr>
            <a:r>
              <a:rPr lang="en-US" altLang="en-US" sz="1400"/>
              <a:t> $12 Billion: International Equities</a:t>
            </a:r>
          </a:p>
          <a:p>
            <a:pPr lvl="1">
              <a:lnSpc>
                <a:spcPct val="125000"/>
              </a:lnSpc>
              <a:spcBef>
                <a:spcPts val="500"/>
              </a:spcBef>
              <a:buSzPct val="75000"/>
              <a:buFont typeface="Wingdings" pitchFamily="2" charset="2"/>
              <a:buChar char="n"/>
            </a:pPr>
            <a:r>
              <a:rPr lang="en-US" altLang="en-US" sz="1400"/>
              <a:t> $7 Billion: U.S. Equities</a:t>
            </a:r>
          </a:p>
          <a:p>
            <a:pPr lvl="1">
              <a:lnSpc>
                <a:spcPct val="125000"/>
              </a:lnSpc>
              <a:spcBef>
                <a:spcPts val="500"/>
              </a:spcBef>
              <a:buSzPct val="75000"/>
              <a:buFont typeface="Wingdings" pitchFamily="2" charset="2"/>
              <a:buChar char="n"/>
            </a:pPr>
            <a:r>
              <a:rPr lang="en-US" altLang="en-US" sz="1400"/>
              <a:t> $3 Billion: Global Fixed Income</a:t>
            </a:r>
          </a:p>
        </p:txBody>
      </p:sp>
      <p:grpSp>
        <p:nvGrpSpPr>
          <p:cNvPr id="281604" name="Group 4">
            <a:extLst>
              <a:ext uri="{FF2B5EF4-FFF2-40B4-BE49-F238E27FC236}">
                <a16:creationId xmlns:a16="http://schemas.microsoft.com/office/drawing/2014/main" id="{ADC66E19-6E6F-E0E8-C183-489E3AF0DB4F}"/>
              </a:ext>
            </a:extLst>
          </p:cNvPr>
          <p:cNvGrpSpPr>
            <a:grpSpLocks/>
          </p:cNvGrpSpPr>
          <p:nvPr/>
        </p:nvGrpSpPr>
        <p:grpSpPr bwMode="auto">
          <a:xfrm>
            <a:off x="842963" y="1690688"/>
            <a:ext cx="8264525" cy="3944937"/>
            <a:chOff x="1146" y="1512"/>
            <a:chExt cx="5206" cy="2485"/>
          </a:xfrm>
        </p:grpSpPr>
        <p:sp>
          <p:nvSpPr>
            <p:cNvPr id="281605" name="Freeform 5">
              <a:extLst>
                <a:ext uri="{FF2B5EF4-FFF2-40B4-BE49-F238E27FC236}">
                  <a16:creationId xmlns:a16="http://schemas.microsoft.com/office/drawing/2014/main" id="{0A56C6CF-F37F-1E46-F2DB-93B21D938F55}"/>
                </a:ext>
              </a:extLst>
            </p:cNvPr>
            <p:cNvSpPr>
              <a:spLocks noChangeAspect="1"/>
            </p:cNvSpPr>
            <p:nvPr/>
          </p:nvSpPr>
          <p:spPr bwMode="auto">
            <a:xfrm>
              <a:off x="1584" y="2056"/>
              <a:ext cx="4393" cy="1941"/>
            </a:xfrm>
            <a:custGeom>
              <a:avLst/>
              <a:gdLst>
                <a:gd name="T0" fmla="*/ 131 w 477"/>
                <a:gd name="T1" fmla="*/ 187 h 216"/>
                <a:gd name="T2" fmla="*/ 103 w 477"/>
                <a:gd name="T3" fmla="*/ 213 h 216"/>
                <a:gd name="T4" fmla="*/ 108 w 477"/>
                <a:gd name="T5" fmla="*/ 171 h 216"/>
                <a:gd name="T6" fmla="*/ 98 w 477"/>
                <a:gd name="T7" fmla="*/ 136 h 216"/>
                <a:gd name="T8" fmla="*/ 111 w 477"/>
                <a:gd name="T9" fmla="*/ 105 h 216"/>
                <a:gd name="T10" fmla="*/ 143 w 477"/>
                <a:gd name="T11" fmla="*/ 123 h 216"/>
                <a:gd name="T12" fmla="*/ 97 w 477"/>
                <a:gd name="T13" fmla="*/ 108 h 216"/>
                <a:gd name="T14" fmla="*/ 59 w 477"/>
                <a:gd name="T15" fmla="*/ 84 h 216"/>
                <a:gd name="T16" fmla="*/ 40 w 477"/>
                <a:gd name="T17" fmla="*/ 58 h 216"/>
                <a:gd name="T18" fmla="*/ 28 w 477"/>
                <a:gd name="T19" fmla="*/ 21 h 216"/>
                <a:gd name="T20" fmla="*/ 20 w 477"/>
                <a:gd name="T21" fmla="*/ 9 h 216"/>
                <a:gd name="T22" fmla="*/ 69 w 477"/>
                <a:gd name="T23" fmla="*/ 12 h 216"/>
                <a:gd name="T24" fmla="*/ 81 w 477"/>
                <a:gd name="T25" fmla="*/ 29 h 216"/>
                <a:gd name="T26" fmla="*/ 112 w 477"/>
                <a:gd name="T27" fmla="*/ 24 h 216"/>
                <a:gd name="T28" fmla="*/ 119 w 477"/>
                <a:gd name="T29" fmla="*/ 43 h 216"/>
                <a:gd name="T30" fmla="*/ 96 w 477"/>
                <a:gd name="T31" fmla="*/ 67 h 216"/>
                <a:gd name="T32" fmla="*/ 96 w 477"/>
                <a:gd name="T33" fmla="*/ 106 h 216"/>
                <a:gd name="T34" fmla="*/ 127 w 477"/>
                <a:gd name="T35" fmla="*/ 1 h 216"/>
                <a:gd name="T36" fmla="*/ 122 w 477"/>
                <a:gd name="T37" fmla="*/ 16 h 216"/>
                <a:gd name="T38" fmla="*/ 107 w 477"/>
                <a:gd name="T39" fmla="*/ 18 h 216"/>
                <a:gd name="T40" fmla="*/ 89 w 477"/>
                <a:gd name="T41" fmla="*/ 16 h 216"/>
                <a:gd name="T42" fmla="*/ 109 w 477"/>
                <a:gd name="T43" fmla="*/ 88 h 216"/>
                <a:gd name="T44" fmla="*/ 284 w 477"/>
                <a:gd name="T45" fmla="*/ 127 h 216"/>
                <a:gd name="T46" fmla="*/ 269 w 477"/>
                <a:gd name="T47" fmla="*/ 164 h 216"/>
                <a:gd name="T48" fmla="*/ 234 w 477"/>
                <a:gd name="T49" fmla="*/ 153 h 216"/>
                <a:gd name="T50" fmla="*/ 225 w 477"/>
                <a:gd name="T51" fmla="*/ 116 h 216"/>
                <a:gd name="T52" fmla="*/ 194 w 477"/>
                <a:gd name="T53" fmla="*/ 104 h 216"/>
                <a:gd name="T54" fmla="*/ 224 w 477"/>
                <a:gd name="T55" fmla="*/ 60 h 216"/>
                <a:gd name="T56" fmla="*/ 275 w 477"/>
                <a:gd name="T57" fmla="*/ 83 h 216"/>
                <a:gd name="T58" fmla="*/ 234 w 477"/>
                <a:gd name="T59" fmla="*/ 33 h 216"/>
                <a:gd name="T60" fmla="*/ 239 w 477"/>
                <a:gd name="T61" fmla="*/ 34 h 216"/>
                <a:gd name="T62" fmla="*/ 440 w 477"/>
                <a:gd name="T63" fmla="*/ 199 h 216"/>
                <a:gd name="T64" fmla="*/ 454 w 477"/>
                <a:gd name="T65" fmla="*/ 177 h 216"/>
                <a:gd name="T66" fmla="*/ 430 w 477"/>
                <a:gd name="T67" fmla="*/ 158 h 216"/>
                <a:gd name="T68" fmla="*/ 405 w 477"/>
                <a:gd name="T69" fmla="*/ 168 h 216"/>
                <a:gd name="T70" fmla="*/ 446 w 477"/>
                <a:gd name="T71" fmla="*/ 206 h 216"/>
                <a:gd name="T72" fmla="*/ 389 w 477"/>
                <a:gd name="T73" fmla="*/ 128 h 216"/>
                <a:gd name="T74" fmla="*/ 393 w 477"/>
                <a:gd name="T75" fmla="*/ 124 h 216"/>
                <a:gd name="T76" fmla="*/ 430 w 477"/>
                <a:gd name="T77" fmla="*/ 136 h 216"/>
                <a:gd name="T78" fmla="*/ 430 w 477"/>
                <a:gd name="T79" fmla="*/ 133 h 216"/>
                <a:gd name="T80" fmla="*/ 474 w 477"/>
                <a:gd name="T81" fmla="*/ 206 h 216"/>
                <a:gd name="T82" fmla="*/ 286 w 477"/>
                <a:gd name="T83" fmla="*/ 173 h 216"/>
                <a:gd name="T84" fmla="*/ 424 w 477"/>
                <a:gd name="T85" fmla="*/ 58 h 216"/>
                <a:gd name="T86" fmla="*/ 63 w 477"/>
                <a:gd name="T87" fmla="*/ 9 h 216"/>
                <a:gd name="T88" fmla="*/ 312 w 477"/>
                <a:gd name="T89" fmla="*/ 86 h 216"/>
                <a:gd name="T90" fmla="*/ 288 w 477"/>
                <a:gd name="T91" fmla="*/ 100 h 216"/>
                <a:gd name="T92" fmla="*/ 276 w 477"/>
                <a:gd name="T93" fmla="*/ 67 h 216"/>
                <a:gd name="T94" fmla="*/ 261 w 477"/>
                <a:gd name="T95" fmla="*/ 53 h 216"/>
                <a:gd name="T96" fmla="*/ 243 w 477"/>
                <a:gd name="T97" fmla="*/ 48 h 216"/>
                <a:gd name="T98" fmla="*/ 228 w 477"/>
                <a:gd name="T99" fmla="*/ 47 h 216"/>
                <a:gd name="T100" fmla="*/ 263 w 477"/>
                <a:gd name="T101" fmla="*/ 33 h 216"/>
                <a:gd name="T102" fmla="*/ 269 w 477"/>
                <a:gd name="T103" fmla="*/ 19 h 216"/>
                <a:gd name="T104" fmla="*/ 294 w 477"/>
                <a:gd name="T105" fmla="*/ 17 h 216"/>
                <a:gd name="T106" fmla="*/ 331 w 477"/>
                <a:gd name="T107" fmla="*/ 11 h 216"/>
                <a:gd name="T108" fmla="*/ 402 w 477"/>
                <a:gd name="T109" fmla="*/ 16 h 216"/>
                <a:gd name="T110" fmla="*/ 435 w 477"/>
                <a:gd name="T111" fmla="*/ 39 h 216"/>
                <a:gd name="T112" fmla="*/ 404 w 477"/>
                <a:gd name="T113" fmla="*/ 29 h 216"/>
                <a:gd name="T114" fmla="*/ 410 w 477"/>
                <a:gd name="T115" fmla="*/ 65 h 216"/>
                <a:gd name="T116" fmla="*/ 404 w 477"/>
                <a:gd name="T117" fmla="*/ 75 h 216"/>
                <a:gd name="T118" fmla="*/ 380 w 477"/>
                <a:gd name="T119" fmla="*/ 126 h 216"/>
                <a:gd name="T120" fmla="*/ 345 w 477"/>
                <a:gd name="T121" fmla="*/ 10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77" h="216">
                  <a:moveTo>
                    <a:pt x="169" y="134"/>
                  </a:moveTo>
                  <a:lnTo>
                    <a:pt x="169" y="140"/>
                  </a:lnTo>
                  <a:lnTo>
                    <a:pt x="166" y="142"/>
                  </a:lnTo>
                  <a:lnTo>
                    <a:pt x="166" y="144"/>
                  </a:lnTo>
                  <a:lnTo>
                    <a:pt x="164" y="145"/>
                  </a:lnTo>
                  <a:lnTo>
                    <a:pt x="163" y="146"/>
                  </a:lnTo>
                  <a:lnTo>
                    <a:pt x="163" y="146"/>
                  </a:lnTo>
                  <a:lnTo>
                    <a:pt x="163" y="147"/>
                  </a:lnTo>
                  <a:lnTo>
                    <a:pt x="162" y="148"/>
                  </a:lnTo>
                  <a:lnTo>
                    <a:pt x="162" y="149"/>
                  </a:lnTo>
                  <a:lnTo>
                    <a:pt x="161" y="149"/>
                  </a:lnTo>
                  <a:lnTo>
                    <a:pt x="161" y="150"/>
                  </a:lnTo>
                  <a:lnTo>
                    <a:pt x="161" y="151"/>
                  </a:lnTo>
                  <a:lnTo>
                    <a:pt x="162" y="154"/>
                  </a:lnTo>
                  <a:lnTo>
                    <a:pt x="156" y="161"/>
                  </a:lnTo>
                  <a:lnTo>
                    <a:pt x="155" y="163"/>
                  </a:lnTo>
                  <a:lnTo>
                    <a:pt x="154" y="164"/>
                  </a:lnTo>
                  <a:lnTo>
                    <a:pt x="151" y="165"/>
                  </a:lnTo>
                  <a:lnTo>
                    <a:pt x="145" y="170"/>
                  </a:lnTo>
                  <a:lnTo>
                    <a:pt x="143" y="171"/>
                  </a:lnTo>
                  <a:lnTo>
                    <a:pt x="144" y="175"/>
                  </a:lnTo>
                  <a:lnTo>
                    <a:pt x="140" y="178"/>
                  </a:lnTo>
                  <a:lnTo>
                    <a:pt x="138" y="182"/>
                  </a:lnTo>
                  <a:lnTo>
                    <a:pt x="136" y="184"/>
                  </a:lnTo>
                  <a:lnTo>
                    <a:pt x="136" y="183"/>
                  </a:lnTo>
                  <a:lnTo>
                    <a:pt x="137" y="180"/>
                  </a:lnTo>
                  <a:lnTo>
                    <a:pt x="135" y="182"/>
                  </a:lnTo>
                  <a:lnTo>
                    <a:pt x="135" y="186"/>
                  </a:lnTo>
                  <a:lnTo>
                    <a:pt x="131" y="187"/>
                  </a:lnTo>
                  <a:lnTo>
                    <a:pt x="128" y="187"/>
                  </a:lnTo>
                  <a:lnTo>
                    <a:pt x="125" y="185"/>
                  </a:lnTo>
                  <a:lnTo>
                    <a:pt x="126" y="188"/>
                  </a:lnTo>
                  <a:lnTo>
                    <a:pt x="128" y="189"/>
                  </a:lnTo>
                  <a:lnTo>
                    <a:pt x="126" y="192"/>
                  </a:lnTo>
                  <a:lnTo>
                    <a:pt x="125" y="192"/>
                  </a:lnTo>
                  <a:lnTo>
                    <a:pt x="124" y="193"/>
                  </a:lnTo>
                  <a:lnTo>
                    <a:pt x="123" y="193"/>
                  </a:lnTo>
                  <a:lnTo>
                    <a:pt x="123" y="193"/>
                  </a:lnTo>
                  <a:lnTo>
                    <a:pt x="122" y="193"/>
                  </a:lnTo>
                  <a:lnTo>
                    <a:pt x="121" y="193"/>
                  </a:lnTo>
                  <a:lnTo>
                    <a:pt x="120" y="194"/>
                  </a:lnTo>
                  <a:lnTo>
                    <a:pt x="119" y="194"/>
                  </a:lnTo>
                  <a:lnTo>
                    <a:pt x="117" y="197"/>
                  </a:lnTo>
                  <a:lnTo>
                    <a:pt x="117" y="198"/>
                  </a:lnTo>
                  <a:lnTo>
                    <a:pt x="115" y="197"/>
                  </a:lnTo>
                  <a:lnTo>
                    <a:pt x="114" y="198"/>
                  </a:lnTo>
                  <a:lnTo>
                    <a:pt x="115" y="200"/>
                  </a:lnTo>
                  <a:lnTo>
                    <a:pt x="113" y="200"/>
                  </a:lnTo>
                  <a:lnTo>
                    <a:pt x="112" y="203"/>
                  </a:lnTo>
                  <a:lnTo>
                    <a:pt x="110" y="205"/>
                  </a:lnTo>
                  <a:lnTo>
                    <a:pt x="110" y="207"/>
                  </a:lnTo>
                  <a:lnTo>
                    <a:pt x="109" y="208"/>
                  </a:lnTo>
                  <a:lnTo>
                    <a:pt x="107" y="208"/>
                  </a:lnTo>
                  <a:lnTo>
                    <a:pt x="106" y="209"/>
                  </a:lnTo>
                  <a:lnTo>
                    <a:pt x="105" y="210"/>
                  </a:lnTo>
                  <a:lnTo>
                    <a:pt x="104" y="211"/>
                  </a:lnTo>
                  <a:lnTo>
                    <a:pt x="104" y="212"/>
                  </a:lnTo>
                  <a:lnTo>
                    <a:pt x="103" y="213"/>
                  </a:lnTo>
                  <a:lnTo>
                    <a:pt x="102" y="214"/>
                  </a:lnTo>
                  <a:lnTo>
                    <a:pt x="101" y="211"/>
                  </a:lnTo>
                  <a:lnTo>
                    <a:pt x="100" y="211"/>
                  </a:lnTo>
                  <a:lnTo>
                    <a:pt x="101" y="206"/>
                  </a:lnTo>
                  <a:lnTo>
                    <a:pt x="102" y="205"/>
                  </a:lnTo>
                  <a:lnTo>
                    <a:pt x="103" y="203"/>
                  </a:lnTo>
                  <a:lnTo>
                    <a:pt x="104" y="199"/>
                  </a:lnTo>
                  <a:lnTo>
                    <a:pt x="103" y="197"/>
                  </a:lnTo>
                  <a:lnTo>
                    <a:pt x="103" y="196"/>
                  </a:lnTo>
                  <a:lnTo>
                    <a:pt x="103" y="195"/>
                  </a:lnTo>
                  <a:lnTo>
                    <a:pt x="103" y="194"/>
                  </a:lnTo>
                  <a:lnTo>
                    <a:pt x="103" y="193"/>
                  </a:lnTo>
                  <a:lnTo>
                    <a:pt x="103" y="192"/>
                  </a:lnTo>
                  <a:lnTo>
                    <a:pt x="103" y="191"/>
                  </a:lnTo>
                  <a:lnTo>
                    <a:pt x="104" y="190"/>
                  </a:lnTo>
                  <a:lnTo>
                    <a:pt x="104" y="189"/>
                  </a:lnTo>
                  <a:lnTo>
                    <a:pt x="106" y="187"/>
                  </a:lnTo>
                  <a:lnTo>
                    <a:pt x="106" y="185"/>
                  </a:lnTo>
                  <a:lnTo>
                    <a:pt x="107" y="184"/>
                  </a:lnTo>
                  <a:lnTo>
                    <a:pt x="107" y="182"/>
                  </a:lnTo>
                  <a:lnTo>
                    <a:pt x="107" y="181"/>
                  </a:lnTo>
                  <a:lnTo>
                    <a:pt x="107" y="180"/>
                  </a:lnTo>
                  <a:lnTo>
                    <a:pt x="108" y="178"/>
                  </a:lnTo>
                  <a:lnTo>
                    <a:pt x="108" y="177"/>
                  </a:lnTo>
                  <a:lnTo>
                    <a:pt x="107" y="175"/>
                  </a:lnTo>
                  <a:lnTo>
                    <a:pt x="108" y="174"/>
                  </a:lnTo>
                  <a:lnTo>
                    <a:pt x="108" y="173"/>
                  </a:lnTo>
                  <a:lnTo>
                    <a:pt x="108" y="172"/>
                  </a:lnTo>
                  <a:lnTo>
                    <a:pt x="108" y="171"/>
                  </a:lnTo>
                  <a:lnTo>
                    <a:pt x="108" y="170"/>
                  </a:lnTo>
                  <a:lnTo>
                    <a:pt x="109" y="169"/>
                  </a:lnTo>
                  <a:lnTo>
                    <a:pt x="109" y="168"/>
                  </a:lnTo>
                  <a:lnTo>
                    <a:pt x="109" y="167"/>
                  </a:lnTo>
                  <a:lnTo>
                    <a:pt x="109" y="166"/>
                  </a:lnTo>
                  <a:lnTo>
                    <a:pt x="110" y="165"/>
                  </a:lnTo>
                  <a:lnTo>
                    <a:pt x="110" y="164"/>
                  </a:lnTo>
                  <a:lnTo>
                    <a:pt x="110" y="163"/>
                  </a:lnTo>
                  <a:lnTo>
                    <a:pt x="110" y="162"/>
                  </a:lnTo>
                  <a:lnTo>
                    <a:pt x="111" y="161"/>
                  </a:lnTo>
                  <a:lnTo>
                    <a:pt x="111" y="160"/>
                  </a:lnTo>
                  <a:lnTo>
                    <a:pt x="111" y="158"/>
                  </a:lnTo>
                  <a:lnTo>
                    <a:pt x="111" y="156"/>
                  </a:lnTo>
                  <a:lnTo>
                    <a:pt x="110" y="155"/>
                  </a:lnTo>
                  <a:lnTo>
                    <a:pt x="110" y="154"/>
                  </a:lnTo>
                  <a:lnTo>
                    <a:pt x="109" y="153"/>
                  </a:lnTo>
                  <a:lnTo>
                    <a:pt x="109" y="153"/>
                  </a:lnTo>
                  <a:lnTo>
                    <a:pt x="108" y="152"/>
                  </a:lnTo>
                  <a:lnTo>
                    <a:pt x="107" y="152"/>
                  </a:lnTo>
                  <a:lnTo>
                    <a:pt x="107" y="151"/>
                  </a:lnTo>
                  <a:lnTo>
                    <a:pt x="106" y="151"/>
                  </a:lnTo>
                  <a:lnTo>
                    <a:pt x="102" y="147"/>
                  </a:lnTo>
                  <a:lnTo>
                    <a:pt x="102" y="144"/>
                  </a:lnTo>
                  <a:lnTo>
                    <a:pt x="101" y="142"/>
                  </a:lnTo>
                  <a:lnTo>
                    <a:pt x="100" y="141"/>
                  </a:lnTo>
                  <a:lnTo>
                    <a:pt x="99" y="140"/>
                  </a:lnTo>
                  <a:lnTo>
                    <a:pt x="99" y="139"/>
                  </a:lnTo>
                  <a:lnTo>
                    <a:pt x="98" y="138"/>
                  </a:lnTo>
                  <a:lnTo>
                    <a:pt x="98" y="136"/>
                  </a:lnTo>
                  <a:lnTo>
                    <a:pt x="97" y="135"/>
                  </a:lnTo>
                  <a:lnTo>
                    <a:pt x="96" y="134"/>
                  </a:lnTo>
                  <a:lnTo>
                    <a:pt x="95" y="133"/>
                  </a:lnTo>
                  <a:lnTo>
                    <a:pt x="94" y="131"/>
                  </a:lnTo>
                  <a:lnTo>
                    <a:pt x="97" y="128"/>
                  </a:lnTo>
                  <a:lnTo>
                    <a:pt x="96" y="127"/>
                  </a:lnTo>
                  <a:lnTo>
                    <a:pt x="96" y="124"/>
                  </a:lnTo>
                  <a:lnTo>
                    <a:pt x="96" y="122"/>
                  </a:lnTo>
                  <a:lnTo>
                    <a:pt x="99" y="119"/>
                  </a:lnTo>
                  <a:lnTo>
                    <a:pt x="102" y="117"/>
                  </a:lnTo>
                  <a:lnTo>
                    <a:pt x="101" y="116"/>
                  </a:lnTo>
                  <a:lnTo>
                    <a:pt x="101" y="115"/>
                  </a:lnTo>
                  <a:lnTo>
                    <a:pt x="102" y="114"/>
                  </a:lnTo>
                  <a:lnTo>
                    <a:pt x="102" y="113"/>
                  </a:lnTo>
                  <a:lnTo>
                    <a:pt x="102" y="112"/>
                  </a:lnTo>
                  <a:lnTo>
                    <a:pt x="101" y="111"/>
                  </a:lnTo>
                  <a:lnTo>
                    <a:pt x="101" y="110"/>
                  </a:lnTo>
                  <a:lnTo>
                    <a:pt x="101" y="109"/>
                  </a:lnTo>
                  <a:lnTo>
                    <a:pt x="101" y="108"/>
                  </a:lnTo>
                  <a:lnTo>
                    <a:pt x="102" y="106"/>
                  </a:lnTo>
                  <a:lnTo>
                    <a:pt x="103" y="107"/>
                  </a:lnTo>
                  <a:lnTo>
                    <a:pt x="104" y="105"/>
                  </a:lnTo>
                  <a:lnTo>
                    <a:pt x="108" y="103"/>
                  </a:lnTo>
                  <a:lnTo>
                    <a:pt x="110" y="102"/>
                  </a:lnTo>
                  <a:lnTo>
                    <a:pt x="109" y="105"/>
                  </a:lnTo>
                  <a:lnTo>
                    <a:pt x="110" y="106"/>
                  </a:lnTo>
                  <a:lnTo>
                    <a:pt x="111" y="107"/>
                  </a:lnTo>
                  <a:lnTo>
                    <a:pt x="111" y="107"/>
                  </a:lnTo>
                  <a:lnTo>
                    <a:pt x="111" y="105"/>
                  </a:lnTo>
                  <a:lnTo>
                    <a:pt x="112" y="103"/>
                  </a:lnTo>
                  <a:lnTo>
                    <a:pt x="117" y="103"/>
                  </a:lnTo>
                  <a:lnTo>
                    <a:pt x="118" y="105"/>
                  </a:lnTo>
                  <a:lnTo>
                    <a:pt x="119" y="104"/>
                  </a:lnTo>
                  <a:lnTo>
                    <a:pt x="120" y="104"/>
                  </a:lnTo>
                  <a:lnTo>
                    <a:pt x="121" y="104"/>
                  </a:lnTo>
                  <a:lnTo>
                    <a:pt x="122" y="104"/>
                  </a:lnTo>
                  <a:lnTo>
                    <a:pt x="123" y="104"/>
                  </a:lnTo>
                  <a:lnTo>
                    <a:pt x="124" y="103"/>
                  </a:lnTo>
                  <a:lnTo>
                    <a:pt x="125" y="103"/>
                  </a:lnTo>
                  <a:lnTo>
                    <a:pt x="126" y="103"/>
                  </a:lnTo>
                  <a:lnTo>
                    <a:pt x="128" y="106"/>
                  </a:lnTo>
                  <a:lnTo>
                    <a:pt x="128" y="108"/>
                  </a:lnTo>
                  <a:lnTo>
                    <a:pt x="129" y="108"/>
                  </a:lnTo>
                  <a:lnTo>
                    <a:pt x="131" y="110"/>
                  </a:lnTo>
                  <a:lnTo>
                    <a:pt x="131" y="111"/>
                  </a:lnTo>
                  <a:lnTo>
                    <a:pt x="132" y="113"/>
                  </a:lnTo>
                  <a:lnTo>
                    <a:pt x="135" y="114"/>
                  </a:lnTo>
                  <a:lnTo>
                    <a:pt x="137" y="114"/>
                  </a:lnTo>
                  <a:lnTo>
                    <a:pt x="138" y="114"/>
                  </a:lnTo>
                  <a:lnTo>
                    <a:pt x="140" y="114"/>
                  </a:lnTo>
                  <a:lnTo>
                    <a:pt x="141" y="115"/>
                  </a:lnTo>
                  <a:lnTo>
                    <a:pt x="142" y="115"/>
                  </a:lnTo>
                  <a:lnTo>
                    <a:pt x="143" y="116"/>
                  </a:lnTo>
                  <a:lnTo>
                    <a:pt x="143" y="117"/>
                  </a:lnTo>
                  <a:lnTo>
                    <a:pt x="144" y="119"/>
                  </a:lnTo>
                  <a:lnTo>
                    <a:pt x="145" y="119"/>
                  </a:lnTo>
                  <a:lnTo>
                    <a:pt x="145" y="121"/>
                  </a:lnTo>
                  <a:lnTo>
                    <a:pt x="143" y="123"/>
                  </a:lnTo>
                  <a:lnTo>
                    <a:pt x="143" y="124"/>
                  </a:lnTo>
                  <a:lnTo>
                    <a:pt x="142" y="126"/>
                  </a:lnTo>
                  <a:lnTo>
                    <a:pt x="144" y="126"/>
                  </a:lnTo>
                  <a:lnTo>
                    <a:pt x="145" y="125"/>
                  </a:lnTo>
                  <a:lnTo>
                    <a:pt x="147" y="125"/>
                  </a:lnTo>
                  <a:lnTo>
                    <a:pt x="154" y="127"/>
                  </a:lnTo>
                  <a:lnTo>
                    <a:pt x="154" y="128"/>
                  </a:lnTo>
                  <a:lnTo>
                    <a:pt x="155" y="128"/>
                  </a:lnTo>
                  <a:lnTo>
                    <a:pt x="156" y="129"/>
                  </a:lnTo>
                  <a:lnTo>
                    <a:pt x="157" y="129"/>
                  </a:lnTo>
                  <a:lnTo>
                    <a:pt x="158" y="129"/>
                  </a:lnTo>
                  <a:lnTo>
                    <a:pt x="159" y="129"/>
                  </a:lnTo>
                  <a:lnTo>
                    <a:pt x="160" y="129"/>
                  </a:lnTo>
                  <a:lnTo>
                    <a:pt x="161" y="129"/>
                  </a:lnTo>
                  <a:lnTo>
                    <a:pt x="162" y="129"/>
                  </a:lnTo>
                  <a:lnTo>
                    <a:pt x="163" y="129"/>
                  </a:lnTo>
                  <a:lnTo>
                    <a:pt x="164" y="130"/>
                  </a:lnTo>
                  <a:lnTo>
                    <a:pt x="164" y="131"/>
                  </a:lnTo>
                  <a:lnTo>
                    <a:pt x="165" y="131"/>
                  </a:lnTo>
                  <a:lnTo>
                    <a:pt x="166" y="132"/>
                  </a:lnTo>
                  <a:lnTo>
                    <a:pt x="167" y="132"/>
                  </a:lnTo>
                  <a:lnTo>
                    <a:pt x="168" y="133"/>
                  </a:lnTo>
                  <a:lnTo>
                    <a:pt x="168" y="133"/>
                  </a:lnTo>
                  <a:lnTo>
                    <a:pt x="169" y="134"/>
                  </a:lnTo>
                  <a:lnTo>
                    <a:pt x="169" y="134"/>
                  </a:lnTo>
                  <a:close/>
                  <a:moveTo>
                    <a:pt x="103" y="108"/>
                  </a:moveTo>
                  <a:lnTo>
                    <a:pt x="101" y="109"/>
                  </a:lnTo>
                  <a:lnTo>
                    <a:pt x="100" y="107"/>
                  </a:lnTo>
                  <a:lnTo>
                    <a:pt x="97" y="108"/>
                  </a:lnTo>
                  <a:lnTo>
                    <a:pt x="97" y="109"/>
                  </a:lnTo>
                  <a:lnTo>
                    <a:pt x="96" y="108"/>
                  </a:lnTo>
                  <a:lnTo>
                    <a:pt x="95" y="108"/>
                  </a:lnTo>
                  <a:lnTo>
                    <a:pt x="94" y="107"/>
                  </a:lnTo>
                  <a:lnTo>
                    <a:pt x="92" y="106"/>
                  </a:lnTo>
                  <a:lnTo>
                    <a:pt x="91" y="106"/>
                  </a:lnTo>
                  <a:lnTo>
                    <a:pt x="90" y="105"/>
                  </a:lnTo>
                  <a:lnTo>
                    <a:pt x="89" y="104"/>
                  </a:lnTo>
                  <a:lnTo>
                    <a:pt x="88" y="103"/>
                  </a:lnTo>
                  <a:lnTo>
                    <a:pt x="87" y="101"/>
                  </a:lnTo>
                  <a:lnTo>
                    <a:pt x="87" y="99"/>
                  </a:lnTo>
                  <a:lnTo>
                    <a:pt x="85" y="99"/>
                  </a:lnTo>
                  <a:lnTo>
                    <a:pt x="81" y="97"/>
                  </a:lnTo>
                  <a:lnTo>
                    <a:pt x="78" y="96"/>
                  </a:lnTo>
                  <a:lnTo>
                    <a:pt x="77" y="94"/>
                  </a:lnTo>
                  <a:lnTo>
                    <a:pt x="75" y="93"/>
                  </a:lnTo>
                  <a:lnTo>
                    <a:pt x="73" y="94"/>
                  </a:lnTo>
                  <a:lnTo>
                    <a:pt x="71" y="93"/>
                  </a:lnTo>
                  <a:lnTo>
                    <a:pt x="70" y="93"/>
                  </a:lnTo>
                  <a:lnTo>
                    <a:pt x="69" y="92"/>
                  </a:lnTo>
                  <a:lnTo>
                    <a:pt x="68" y="92"/>
                  </a:lnTo>
                  <a:lnTo>
                    <a:pt x="67" y="91"/>
                  </a:lnTo>
                  <a:lnTo>
                    <a:pt x="66" y="91"/>
                  </a:lnTo>
                  <a:lnTo>
                    <a:pt x="65" y="90"/>
                  </a:lnTo>
                  <a:lnTo>
                    <a:pt x="64" y="90"/>
                  </a:lnTo>
                  <a:lnTo>
                    <a:pt x="60" y="87"/>
                  </a:lnTo>
                  <a:lnTo>
                    <a:pt x="60" y="86"/>
                  </a:lnTo>
                  <a:lnTo>
                    <a:pt x="59" y="85"/>
                  </a:lnTo>
                  <a:lnTo>
                    <a:pt x="59" y="84"/>
                  </a:lnTo>
                  <a:lnTo>
                    <a:pt x="59" y="83"/>
                  </a:lnTo>
                  <a:lnTo>
                    <a:pt x="58" y="82"/>
                  </a:lnTo>
                  <a:lnTo>
                    <a:pt x="58" y="81"/>
                  </a:lnTo>
                  <a:lnTo>
                    <a:pt x="58" y="81"/>
                  </a:lnTo>
                  <a:lnTo>
                    <a:pt x="57" y="80"/>
                  </a:lnTo>
                  <a:lnTo>
                    <a:pt x="55" y="77"/>
                  </a:lnTo>
                  <a:lnTo>
                    <a:pt x="53" y="73"/>
                  </a:lnTo>
                  <a:lnTo>
                    <a:pt x="51" y="71"/>
                  </a:lnTo>
                  <a:lnTo>
                    <a:pt x="50" y="70"/>
                  </a:lnTo>
                  <a:lnTo>
                    <a:pt x="49" y="67"/>
                  </a:lnTo>
                  <a:lnTo>
                    <a:pt x="48" y="64"/>
                  </a:lnTo>
                  <a:lnTo>
                    <a:pt x="47" y="67"/>
                  </a:lnTo>
                  <a:lnTo>
                    <a:pt x="48" y="69"/>
                  </a:lnTo>
                  <a:lnTo>
                    <a:pt x="50" y="73"/>
                  </a:lnTo>
                  <a:lnTo>
                    <a:pt x="51" y="74"/>
                  </a:lnTo>
                  <a:lnTo>
                    <a:pt x="51" y="76"/>
                  </a:lnTo>
                  <a:lnTo>
                    <a:pt x="53" y="78"/>
                  </a:lnTo>
                  <a:lnTo>
                    <a:pt x="53" y="80"/>
                  </a:lnTo>
                  <a:lnTo>
                    <a:pt x="51" y="78"/>
                  </a:lnTo>
                  <a:lnTo>
                    <a:pt x="48" y="73"/>
                  </a:lnTo>
                  <a:lnTo>
                    <a:pt x="45" y="71"/>
                  </a:lnTo>
                  <a:lnTo>
                    <a:pt x="46" y="70"/>
                  </a:lnTo>
                  <a:lnTo>
                    <a:pt x="45" y="67"/>
                  </a:lnTo>
                  <a:lnTo>
                    <a:pt x="43" y="63"/>
                  </a:lnTo>
                  <a:lnTo>
                    <a:pt x="43" y="62"/>
                  </a:lnTo>
                  <a:lnTo>
                    <a:pt x="42" y="61"/>
                  </a:lnTo>
                  <a:lnTo>
                    <a:pt x="41" y="60"/>
                  </a:lnTo>
                  <a:lnTo>
                    <a:pt x="40" y="59"/>
                  </a:lnTo>
                  <a:lnTo>
                    <a:pt x="40" y="58"/>
                  </a:lnTo>
                  <a:lnTo>
                    <a:pt x="39" y="57"/>
                  </a:lnTo>
                  <a:lnTo>
                    <a:pt x="39" y="56"/>
                  </a:lnTo>
                  <a:lnTo>
                    <a:pt x="39" y="54"/>
                  </a:lnTo>
                  <a:lnTo>
                    <a:pt x="38" y="53"/>
                  </a:lnTo>
                  <a:lnTo>
                    <a:pt x="38" y="52"/>
                  </a:lnTo>
                  <a:lnTo>
                    <a:pt x="37" y="51"/>
                  </a:lnTo>
                  <a:lnTo>
                    <a:pt x="37" y="50"/>
                  </a:lnTo>
                  <a:lnTo>
                    <a:pt x="37" y="49"/>
                  </a:lnTo>
                  <a:lnTo>
                    <a:pt x="37" y="48"/>
                  </a:lnTo>
                  <a:lnTo>
                    <a:pt x="37" y="47"/>
                  </a:lnTo>
                  <a:lnTo>
                    <a:pt x="38" y="46"/>
                  </a:lnTo>
                  <a:lnTo>
                    <a:pt x="38" y="45"/>
                  </a:lnTo>
                  <a:lnTo>
                    <a:pt x="38" y="44"/>
                  </a:lnTo>
                  <a:lnTo>
                    <a:pt x="39" y="43"/>
                  </a:lnTo>
                  <a:lnTo>
                    <a:pt x="39" y="42"/>
                  </a:lnTo>
                  <a:lnTo>
                    <a:pt x="39" y="41"/>
                  </a:lnTo>
                  <a:lnTo>
                    <a:pt x="40" y="40"/>
                  </a:lnTo>
                  <a:lnTo>
                    <a:pt x="40" y="39"/>
                  </a:lnTo>
                  <a:lnTo>
                    <a:pt x="41" y="38"/>
                  </a:lnTo>
                  <a:lnTo>
                    <a:pt x="42" y="37"/>
                  </a:lnTo>
                  <a:lnTo>
                    <a:pt x="39" y="33"/>
                  </a:lnTo>
                  <a:lnTo>
                    <a:pt x="35" y="29"/>
                  </a:lnTo>
                  <a:lnTo>
                    <a:pt x="35" y="27"/>
                  </a:lnTo>
                  <a:lnTo>
                    <a:pt x="34" y="23"/>
                  </a:lnTo>
                  <a:lnTo>
                    <a:pt x="33" y="23"/>
                  </a:lnTo>
                  <a:lnTo>
                    <a:pt x="32" y="22"/>
                  </a:lnTo>
                  <a:lnTo>
                    <a:pt x="30" y="22"/>
                  </a:lnTo>
                  <a:lnTo>
                    <a:pt x="29" y="22"/>
                  </a:lnTo>
                  <a:lnTo>
                    <a:pt x="28" y="21"/>
                  </a:lnTo>
                  <a:lnTo>
                    <a:pt x="27" y="20"/>
                  </a:lnTo>
                  <a:lnTo>
                    <a:pt x="26" y="20"/>
                  </a:lnTo>
                  <a:lnTo>
                    <a:pt x="25" y="19"/>
                  </a:lnTo>
                  <a:lnTo>
                    <a:pt x="23" y="21"/>
                  </a:lnTo>
                  <a:lnTo>
                    <a:pt x="21" y="22"/>
                  </a:lnTo>
                  <a:lnTo>
                    <a:pt x="19" y="22"/>
                  </a:lnTo>
                  <a:lnTo>
                    <a:pt x="15" y="24"/>
                  </a:lnTo>
                  <a:lnTo>
                    <a:pt x="13" y="25"/>
                  </a:lnTo>
                  <a:lnTo>
                    <a:pt x="5" y="28"/>
                  </a:lnTo>
                  <a:lnTo>
                    <a:pt x="2" y="29"/>
                  </a:lnTo>
                  <a:lnTo>
                    <a:pt x="0" y="28"/>
                  </a:lnTo>
                  <a:lnTo>
                    <a:pt x="4" y="26"/>
                  </a:lnTo>
                  <a:lnTo>
                    <a:pt x="7" y="25"/>
                  </a:lnTo>
                  <a:lnTo>
                    <a:pt x="8" y="24"/>
                  </a:lnTo>
                  <a:lnTo>
                    <a:pt x="10" y="23"/>
                  </a:lnTo>
                  <a:lnTo>
                    <a:pt x="11" y="22"/>
                  </a:lnTo>
                  <a:lnTo>
                    <a:pt x="10" y="22"/>
                  </a:lnTo>
                  <a:lnTo>
                    <a:pt x="8" y="22"/>
                  </a:lnTo>
                  <a:lnTo>
                    <a:pt x="7" y="20"/>
                  </a:lnTo>
                  <a:lnTo>
                    <a:pt x="10" y="19"/>
                  </a:lnTo>
                  <a:lnTo>
                    <a:pt x="12" y="18"/>
                  </a:lnTo>
                  <a:lnTo>
                    <a:pt x="14" y="17"/>
                  </a:lnTo>
                  <a:lnTo>
                    <a:pt x="13" y="15"/>
                  </a:lnTo>
                  <a:lnTo>
                    <a:pt x="12" y="14"/>
                  </a:lnTo>
                  <a:lnTo>
                    <a:pt x="13" y="12"/>
                  </a:lnTo>
                  <a:lnTo>
                    <a:pt x="15" y="11"/>
                  </a:lnTo>
                  <a:lnTo>
                    <a:pt x="17" y="12"/>
                  </a:lnTo>
                  <a:lnTo>
                    <a:pt x="20" y="11"/>
                  </a:lnTo>
                  <a:lnTo>
                    <a:pt x="20" y="9"/>
                  </a:lnTo>
                  <a:lnTo>
                    <a:pt x="22" y="7"/>
                  </a:lnTo>
                  <a:lnTo>
                    <a:pt x="25" y="7"/>
                  </a:lnTo>
                  <a:lnTo>
                    <a:pt x="28" y="6"/>
                  </a:lnTo>
                  <a:lnTo>
                    <a:pt x="30" y="6"/>
                  </a:lnTo>
                  <a:lnTo>
                    <a:pt x="31" y="6"/>
                  </a:lnTo>
                  <a:lnTo>
                    <a:pt x="32" y="6"/>
                  </a:lnTo>
                  <a:lnTo>
                    <a:pt x="33" y="6"/>
                  </a:lnTo>
                  <a:lnTo>
                    <a:pt x="35" y="6"/>
                  </a:lnTo>
                  <a:lnTo>
                    <a:pt x="36" y="7"/>
                  </a:lnTo>
                  <a:lnTo>
                    <a:pt x="37" y="7"/>
                  </a:lnTo>
                  <a:lnTo>
                    <a:pt x="39" y="7"/>
                  </a:lnTo>
                  <a:lnTo>
                    <a:pt x="40" y="7"/>
                  </a:lnTo>
                  <a:lnTo>
                    <a:pt x="41" y="7"/>
                  </a:lnTo>
                  <a:lnTo>
                    <a:pt x="42" y="8"/>
                  </a:lnTo>
                  <a:lnTo>
                    <a:pt x="44" y="8"/>
                  </a:lnTo>
                  <a:lnTo>
                    <a:pt x="45" y="8"/>
                  </a:lnTo>
                  <a:lnTo>
                    <a:pt x="46" y="8"/>
                  </a:lnTo>
                  <a:lnTo>
                    <a:pt x="48" y="9"/>
                  </a:lnTo>
                  <a:lnTo>
                    <a:pt x="49" y="9"/>
                  </a:lnTo>
                  <a:lnTo>
                    <a:pt x="51" y="9"/>
                  </a:lnTo>
                  <a:lnTo>
                    <a:pt x="54" y="8"/>
                  </a:lnTo>
                  <a:lnTo>
                    <a:pt x="55" y="7"/>
                  </a:lnTo>
                  <a:lnTo>
                    <a:pt x="56" y="10"/>
                  </a:lnTo>
                  <a:lnTo>
                    <a:pt x="62" y="9"/>
                  </a:lnTo>
                  <a:lnTo>
                    <a:pt x="64" y="10"/>
                  </a:lnTo>
                  <a:lnTo>
                    <a:pt x="63" y="12"/>
                  </a:lnTo>
                  <a:lnTo>
                    <a:pt x="66" y="13"/>
                  </a:lnTo>
                  <a:lnTo>
                    <a:pt x="67" y="13"/>
                  </a:lnTo>
                  <a:lnTo>
                    <a:pt x="69" y="12"/>
                  </a:lnTo>
                  <a:lnTo>
                    <a:pt x="73" y="13"/>
                  </a:lnTo>
                  <a:lnTo>
                    <a:pt x="76" y="12"/>
                  </a:lnTo>
                  <a:lnTo>
                    <a:pt x="80" y="12"/>
                  </a:lnTo>
                  <a:lnTo>
                    <a:pt x="79" y="10"/>
                  </a:lnTo>
                  <a:lnTo>
                    <a:pt x="80" y="9"/>
                  </a:lnTo>
                  <a:lnTo>
                    <a:pt x="81" y="7"/>
                  </a:lnTo>
                  <a:lnTo>
                    <a:pt x="82" y="9"/>
                  </a:lnTo>
                  <a:lnTo>
                    <a:pt x="83" y="11"/>
                  </a:lnTo>
                  <a:lnTo>
                    <a:pt x="84" y="12"/>
                  </a:lnTo>
                  <a:lnTo>
                    <a:pt x="85" y="10"/>
                  </a:lnTo>
                  <a:lnTo>
                    <a:pt x="86" y="12"/>
                  </a:lnTo>
                  <a:lnTo>
                    <a:pt x="88" y="12"/>
                  </a:lnTo>
                  <a:lnTo>
                    <a:pt x="89" y="10"/>
                  </a:lnTo>
                  <a:lnTo>
                    <a:pt x="91" y="12"/>
                  </a:lnTo>
                  <a:lnTo>
                    <a:pt x="90" y="14"/>
                  </a:lnTo>
                  <a:lnTo>
                    <a:pt x="89" y="13"/>
                  </a:lnTo>
                  <a:lnTo>
                    <a:pt x="88" y="15"/>
                  </a:lnTo>
                  <a:lnTo>
                    <a:pt x="86" y="15"/>
                  </a:lnTo>
                  <a:lnTo>
                    <a:pt x="85" y="17"/>
                  </a:lnTo>
                  <a:lnTo>
                    <a:pt x="84" y="18"/>
                  </a:lnTo>
                  <a:lnTo>
                    <a:pt x="81" y="18"/>
                  </a:lnTo>
                  <a:lnTo>
                    <a:pt x="79" y="17"/>
                  </a:lnTo>
                  <a:lnTo>
                    <a:pt x="78" y="18"/>
                  </a:lnTo>
                  <a:lnTo>
                    <a:pt x="81" y="19"/>
                  </a:lnTo>
                  <a:lnTo>
                    <a:pt x="81" y="22"/>
                  </a:lnTo>
                  <a:lnTo>
                    <a:pt x="79" y="24"/>
                  </a:lnTo>
                  <a:lnTo>
                    <a:pt x="80" y="25"/>
                  </a:lnTo>
                  <a:lnTo>
                    <a:pt x="80" y="27"/>
                  </a:lnTo>
                  <a:lnTo>
                    <a:pt x="81" y="29"/>
                  </a:lnTo>
                  <a:lnTo>
                    <a:pt x="83" y="29"/>
                  </a:lnTo>
                  <a:lnTo>
                    <a:pt x="87" y="30"/>
                  </a:lnTo>
                  <a:lnTo>
                    <a:pt x="92" y="30"/>
                  </a:lnTo>
                  <a:lnTo>
                    <a:pt x="92" y="33"/>
                  </a:lnTo>
                  <a:lnTo>
                    <a:pt x="93" y="33"/>
                  </a:lnTo>
                  <a:lnTo>
                    <a:pt x="96" y="35"/>
                  </a:lnTo>
                  <a:lnTo>
                    <a:pt x="98" y="35"/>
                  </a:lnTo>
                  <a:lnTo>
                    <a:pt x="97" y="33"/>
                  </a:lnTo>
                  <a:lnTo>
                    <a:pt x="97" y="30"/>
                  </a:lnTo>
                  <a:lnTo>
                    <a:pt x="98" y="28"/>
                  </a:lnTo>
                  <a:lnTo>
                    <a:pt x="97" y="25"/>
                  </a:lnTo>
                  <a:lnTo>
                    <a:pt x="96" y="25"/>
                  </a:lnTo>
                  <a:lnTo>
                    <a:pt x="97" y="22"/>
                  </a:lnTo>
                  <a:lnTo>
                    <a:pt x="96" y="19"/>
                  </a:lnTo>
                  <a:lnTo>
                    <a:pt x="96" y="19"/>
                  </a:lnTo>
                  <a:lnTo>
                    <a:pt x="98" y="19"/>
                  </a:lnTo>
                  <a:lnTo>
                    <a:pt x="99" y="19"/>
                  </a:lnTo>
                  <a:lnTo>
                    <a:pt x="100" y="19"/>
                  </a:lnTo>
                  <a:lnTo>
                    <a:pt x="101" y="20"/>
                  </a:lnTo>
                  <a:lnTo>
                    <a:pt x="102" y="20"/>
                  </a:lnTo>
                  <a:lnTo>
                    <a:pt x="103" y="21"/>
                  </a:lnTo>
                  <a:lnTo>
                    <a:pt x="104" y="21"/>
                  </a:lnTo>
                  <a:lnTo>
                    <a:pt x="105" y="22"/>
                  </a:lnTo>
                  <a:lnTo>
                    <a:pt x="105" y="24"/>
                  </a:lnTo>
                  <a:lnTo>
                    <a:pt x="107" y="25"/>
                  </a:lnTo>
                  <a:lnTo>
                    <a:pt x="108" y="26"/>
                  </a:lnTo>
                  <a:lnTo>
                    <a:pt x="109" y="24"/>
                  </a:lnTo>
                  <a:lnTo>
                    <a:pt x="110" y="23"/>
                  </a:lnTo>
                  <a:lnTo>
                    <a:pt x="112" y="24"/>
                  </a:lnTo>
                  <a:lnTo>
                    <a:pt x="112" y="25"/>
                  </a:lnTo>
                  <a:lnTo>
                    <a:pt x="113" y="26"/>
                  </a:lnTo>
                  <a:lnTo>
                    <a:pt x="114" y="27"/>
                  </a:lnTo>
                  <a:lnTo>
                    <a:pt x="115" y="28"/>
                  </a:lnTo>
                  <a:lnTo>
                    <a:pt x="116" y="28"/>
                  </a:lnTo>
                  <a:lnTo>
                    <a:pt x="117" y="29"/>
                  </a:lnTo>
                  <a:lnTo>
                    <a:pt x="117" y="29"/>
                  </a:lnTo>
                  <a:lnTo>
                    <a:pt x="119" y="30"/>
                  </a:lnTo>
                  <a:lnTo>
                    <a:pt x="119" y="30"/>
                  </a:lnTo>
                  <a:lnTo>
                    <a:pt x="119" y="31"/>
                  </a:lnTo>
                  <a:lnTo>
                    <a:pt x="118" y="33"/>
                  </a:lnTo>
                  <a:lnTo>
                    <a:pt x="119" y="33"/>
                  </a:lnTo>
                  <a:lnTo>
                    <a:pt x="121" y="31"/>
                  </a:lnTo>
                  <a:lnTo>
                    <a:pt x="122" y="32"/>
                  </a:lnTo>
                  <a:lnTo>
                    <a:pt x="123" y="32"/>
                  </a:lnTo>
                  <a:lnTo>
                    <a:pt x="124" y="33"/>
                  </a:lnTo>
                  <a:lnTo>
                    <a:pt x="122" y="35"/>
                  </a:lnTo>
                  <a:lnTo>
                    <a:pt x="121" y="36"/>
                  </a:lnTo>
                  <a:lnTo>
                    <a:pt x="119" y="36"/>
                  </a:lnTo>
                  <a:lnTo>
                    <a:pt x="117" y="36"/>
                  </a:lnTo>
                  <a:lnTo>
                    <a:pt x="113" y="36"/>
                  </a:lnTo>
                  <a:lnTo>
                    <a:pt x="112" y="36"/>
                  </a:lnTo>
                  <a:lnTo>
                    <a:pt x="110" y="39"/>
                  </a:lnTo>
                  <a:lnTo>
                    <a:pt x="107" y="42"/>
                  </a:lnTo>
                  <a:lnTo>
                    <a:pt x="112" y="39"/>
                  </a:lnTo>
                  <a:lnTo>
                    <a:pt x="114" y="39"/>
                  </a:lnTo>
                  <a:lnTo>
                    <a:pt x="115" y="41"/>
                  </a:lnTo>
                  <a:lnTo>
                    <a:pt x="117" y="43"/>
                  </a:lnTo>
                  <a:lnTo>
                    <a:pt x="119" y="43"/>
                  </a:lnTo>
                  <a:lnTo>
                    <a:pt x="116" y="46"/>
                  </a:lnTo>
                  <a:lnTo>
                    <a:pt x="115" y="47"/>
                  </a:lnTo>
                  <a:lnTo>
                    <a:pt x="115" y="46"/>
                  </a:lnTo>
                  <a:lnTo>
                    <a:pt x="116" y="44"/>
                  </a:lnTo>
                  <a:lnTo>
                    <a:pt x="114" y="44"/>
                  </a:lnTo>
                  <a:lnTo>
                    <a:pt x="112" y="44"/>
                  </a:lnTo>
                  <a:lnTo>
                    <a:pt x="110" y="46"/>
                  </a:lnTo>
                  <a:lnTo>
                    <a:pt x="110" y="47"/>
                  </a:lnTo>
                  <a:lnTo>
                    <a:pt x="106" y="50"/>
                  </a:lnTo>
                  <a:lnTo>
                    <a:pt x="104" y="52"/>
                  </a:lnTo>
                  <a:lnTo>
                    <a:pt x="104" y="54"/>
                  </a:lnTo>
                  <a:lnTo>
                    <a:pt x="103" y="55"/>
                  </a:lnTo>
                  <a:lnTo>
                    <a:pt x="102" y="52"/>
                  </a:lnTo>
                  <a:lnTo>
                    <a:pt x="102" y="55"/>
                  </a:lnTo>
                  <a:lnTo>
                    <a:pt x="102" y="56"/>
                  </a:lnTo>
                  <a:lnTo>
                    <a:pt x="102" y="56"/>
                  </a:lnTo>
                  <a:lnTo>
                    <a:pt x="101" y="57"/>
                  </a:lnTo>
                  <a:lnTo>
                    <a:pt x="101" y="58"/>
                  </a:lnTo>
                  <a:lnTo>
                    <a:pt x="101" y="59"/>
                  </a:lnTo>
                  <a:lnTo>
                    <a:pt x="100" y="60"/>
                  </a:lnTo>
                  <a:lnTo>
                    <a:pt x="100" y="60"/>
                  </a:lnTo>
                  <a:lnTo>
                    <a:pt x="99" y="61"/>
                  </a:lnTo>
                  <a:lnTo>
                    <a:pt x="99" y="62"/>
                  </a:lnTo>
                  <a:lnTo>
                    <a:pt x="98" y="63"/>
                  </a:lnTo>
                  <a:lnTo>
                    <a:pt x="98" y="64"/>
                  </a:lnTo>
                  <a:lnTo>
                    <a:pt x="97" y="64"/>
                  </a:lnTo>
                  <a:lnTo>
                    <a:pt x="97" y="65"/>
                  </a:lnTo>
                  <a:lnTo>
                    <a:pt x="97" y="66"/>
                  </a:lnTo>
                  <a:lnTo>
                    <a:pt x="96" y="67"/>
                  </a:lnTo>
                  <a:lnTo>
                    <a:pt x="96" y="68"/>
                  </a:lnTo>
                  <a:lnTo>
                    <a:pt x="97" y="75"/>
                  </a:lnTo>
                  <a:lnTo>
                    <a:pt x="96" y="76"/>
                  </a:lnTo>
                  <a:lnTo>
                    <a:pt x="94" y="71"/>
                  </a:lnTo>
                  <a:lnTo>
                    <a:pt x="93" y="67"/>
                  </a:lnTo>
                  <a:lnTo>
                    <a:pt x="86" y="66"/>
                  </a:lnTo>
                  <a:lnTo>
                    <a:pt x="83" y="68"/>
                  </a:lnTo>
                  <a:lnTo>
                    <a:pt x="75" y="68"/>
                  </a:lnTo>
                  <a:lnTo>
                    <a:pt x="72" y="71"/>
                  </a:lnTo>
                  <a:lnTo>
                    <a:pt x="72" y="75"/>
                  </a:lnTo>
                  <a:lnTo>
                    <a:pt x="72" y="80"/>
                  </a:lnTo>
                  <a:lnTo>
                    <a:pt x="73" y="87"/>
                  </a:lnTo>
                  <a:lnTo>
                    <a:pt x="75" y="89"/>
                  </a:lnTo>
                  <a:lnTo>
                    <a:pt x="80" y="88"/>
                  </a:lnTo>
                  <a:lnTo>
                    <a:pt x="82" y="85"/>
                  </a:lnTo>
                  <a:lnTo>
                    <a:pt x="87" y="83"/>
                  </a:lnTo>
                  <a:lnTo>
                    <a:pt x="86" y="84"/>
                  </a:lnTo>
                  <a:lnTo>
                    <a:pt x="86" y="86"/>
                  </a:lnTo>
                  <a:lnTo>
                    <a:pt x="86" y="87"/>
                  </a:lnTo>
                  <a:lnTo>
                    <a:pt x="85" y="89"/>
                  </a:lnTo>
                  <a:lnTo>
                    <a:pt x="85" y="90"/>
                  </a:lnTo>
                  <a:lnTo>
                    <a:pt x="85" y="92"/>
                  </a:lnTo>
                  <a:lnTo>
                    <a:pt x="85" y="93"/>
                  </a:lnTo>
                  <a:lnTo>
                    <a:pt x="85" y="95"/>
                  </a:lnTo>
                  <a:lnTo>
                    <a:pt x="91" y="94"/>
                  </a:lnTo>
                  <a:lnTo>
                    <a:pt x="92" y="95"/>
                  </a:lnTo>
                  <a:lnTo>
                    <a:pt x="92" y="99"/>
                  </a:lnTo>
                  <a:lnTo>
                    <a:pt x="92" y="104"/>
                  </a:lnTo>
                  <a:lnTo>
                    <a:pt x="96" y="106"/>
                  </a:lnTo>
                  <a:lnTo>
                    <a:pt x="100" y="106"/>
                  </a:lnTo>
                  <a:lnTo>
                    <a:pt x="104" y="107"/>
                  </a:lnTo>
                  <a:lnTo>
                    <a:pt x="103" y="108"/>
                  </a:lnTo>
                  <a:lnTo>
                    <a:pt x="103" y="108"/>
                  </a:lnTo>
                  <a:close/>
                  <a:moveTo>
                    <a:pt x="134" y="23"/>
                  </a:moveTo>
                  <a:lnTo>
                    <a:pt x="132" y="20"/>
                  </a:lnTo>
                  <a:lnTo>
                    <a:pt x="132" y="16"/>
                  </a:lnTo>
                  <a:lnTo>
                    <a:pt x="134" y="14"/>
                  </a:lnTo>
                  <a:lnTo>
                    <a:pt x="135" y="12"/>
                  </a:lnTo>
                  <a:lnTo>
                    <a:pt x="138" y="11"/>
                  </a:lnTo>
                  <a:lnTo>
                    <a:pt x="139" y="10"/>
                  </a:lnTo>
                  <a:lnTo>
                    <a:pt x="136" y="10"/>
                  </a:lnTo>
                  <a:lnTo>
                    <a:pt x="134" y="8"/>
                  </a:lnTo>
                  <a:lnTo>
                    <a:pt x="136" y="9"/>
                  </a:lnTo>
                  <a:lnTo>
                    <a:pt x="138" y="9"/>
                  </a:lnTo>
                  <a:lnTo>
                    <a:pt x="138" y="8"/>
                  </a:lnTo>
                  <a:lnTo>
                    <a:pt x="136" y="7"/>
                  </a:lnTo>
                  <a:lnTo>
                    <a:pt x="134" y="7"/>
                  </a:lnTo>
                  <a:lnTo>
                    <a:pt x="135" y="5"/>
                  </a:lnTo>
                  <a:lnTo>
                    <a:pt x="134" y="5"/>
                  </a:lnTo>
                  <a:lnTo>
                    <a:pt x="134" y="4"/>
                  </a:lnTo>
                  <a:lnTo>
                    <a:pt x="133" y="3"/>
                  </a:lnTo>
                  <a:lnTo>
                    <a:pt x="133" y="3"/>
                  </a:lnTo>
                  <a:lnTo>
                    <a:pt x="132" y="2"/>
                  </a:lnTo>
                  <a:lnTo>
                    <a:pt x="132" y="2"/>
                  </a:lnTo>
                  <a:lnTo>
                    <a:pt x="131" y="2"/>
                  </a:lnTo>
                  <a:lnTo>
                    <a:pt x="131" y="1"/>
                  </a:lnTo>
                  <a:lnTo>
                    <a:pt x="129" y="2"/>
                  </a:lnTo>
                  <a:lnTo>
                    <a:pt x="127" y="1"/>
                  </a:lnTo>
                  <a:lnTo>
                    <a:pt x="126" y="0"/>
                  </a:lnTo>
                  <a:lnTo>
                    <a:pt x="96" y="0"/>
                  </a:lnTo>
                  <a:lnTo>
                    <a:pt x="98" y="1"/>
                  </a:lnTo>
                  <a:lnTo>
                    <a:pt x="98" y="3"/>
                  </a:lnTo>
                  <a:lnTo>
                    <a:pt x="99" y="3"/>
                  </a:lnTo>
                  <a:lnTo>
                    <a:pt x="100" y="3"/>
                  </a:lnTo>
                  <a:lnTo>
                    <a:pt x="101" y="3"/>
                  </a:lnTo>
                  <a:lnTo>
                    <a:pt x="102" y="3"/>
                  </a:lnTo>
                  <a:lnTo>
                    <a:pt x="103" y="3"/>
                  </a:lnTo>
                  <a:lnTo>
                    <a:pt x="104" y="3"/>
                  </a:lnTo>
                  <a:lnTo>
                    <a:pt x="105" y="3"/>
                  </a:lnTo>
                  <a:lnTo>
                    <a:pt x="106" y="4"/>
                  </a:lnTo>
                  <a:lnTo>
                    <a:pt x="106" y="4"/>
                  </a:lnTo>
                  <a:lnTo>
                    <a:pt x="107" y="4"/>
                  </a:lnTo>
                  <a:lnTo>
                    <a:pt x="108" y="5"/>
                  </a:lnTo>
                  <a:lnTo>
                    <a:pt x="109" y="5"/>
                  </a:lnTo>
                  <a:lnTo>
                    <a:pt x="110" y="5"/>
                  </a:lnTo>
                  <a:lnTo>
                    <a:pt x="110" y="6"/>
                  </a:lnTo>
                  <a:lnTo>
                    <a:pt x="111" y="6"/>
                  </a:lnTo>
                  <a:lnTo>
                    <a:pt x="112" y="7"/>
                  </a:lnTo>
                  <a:lnTo>
                    <a:pt x="113" y="8"/>
                  </a:lnTo>
                  <a:lnTo>
                    <a:pt x="113" y="7"/>
                  </a:lnTo>
                  <a:lnTo>
                    <a:pt x="115" y="10"/>
                  </a:lnTo>
                  <a:lnTo>
                    <a:pt x="117" y="11"/>
                  </a:lnTo>
                  <a:lnTo>
                    <a:pt x="119" y="11"/>
                  </a:lnTo>
                  <a:lnTo>
                    <a:pt x="118" y="13"/>
                  </a:lnTo>
                  <a:lnTo>
                    <a:pt x="119" y="14"/>
                  </a:lnTo>
                  <a:lnTo>
                    <a:pt x="120" y="15"/>
                  </a:lnTo>
                  <a:lnTo>
                    <a:pt x="122" y="16"/>
                  </a:lnTo>
                  <a:lnTo>
                    <a:pt x="123" y="17"/>
                  </a:lnTo>
                  <a:lnTo>
                    <a:pt x="124" y="18"/>
                  </a:lnTo>
                  <a:lnTo>
                    <a:pt x="125" y="19"/>
                  </a:lnTo>
                  <a:lnTo>
                    <a:pt x="126" y="20"/>
                  </a:lnTo>
                  <a:lnTo>
                    <a:pt x="127" y="21"/>
                  </a:lnTo>
                  <a:lnTo>
                    <a:pt x="130" y="22"/>
                  </a:lnTo>
                  <a:lnTo>
                    <a:pt x="134" y="23"/>
                  </a:lnTo>
                  <a:close/>
                  <a:moveTo>
                    <a:pt x="86" y="8"/>
                  </a:moveTo>
                  <a:lnTo>
                    <a:pt x="88" y="9"/>
                  </a:lnTo>
                  <a:lnTo>
                    <a:pt x="89" y="8"/>
                  </a:lnTo>
                  <a:lnTo>
                    <a:pt x="92" y="9"/>
                  </a:lnTo>
                  <a:lnTo>
                    <a:pt x="94" y="10"/>
                  </a:lnTo>
                  <a:lnTo>
                    <a:pt x="97" y="11"/>
                  </a:lnTo>
                  <a:lnTo>
                    <a:pt x="97" y="13"/>
                  </a:lnTo>
                  <a:lnTo>
                    <a:pt x="99" y="14"/>
                  </a:lnTo>
                  <a:lnTo>
                    <a:pt x="99" y="15"/>
                  </a:lnTo>
                  <a:lnTo>
                    <a:pt x="97" y="15"/>
                  </a:lnTo>
                  <a:lnTo>
                    <a:pt x="96" y="16"/>
                  </a:lnTo>
                  <a:lnTo>
                    <a:pt x="97" y="17"/>
                  </a:lnTo>
                  <a:lnTo>
                    <a:pt x="99" y="16"/>
                  </a:lnTo>
                  <a:lnTo>
                    <a:pt x="100" y="16"/>
                  </a:lnTo>
                  <a:lnTo>
                    <a:pt x="102" y="18"/>
                  </a:lnTo>
                  <a:lnTo>
                    <a:pt x="103" y="18"/>
                  </a:lnTo>
                  <a:lnTo>
                    <a:pt x="104" y="18"/>
                  </a:lnTo>
                  <a:lnTo>
                    <a:pt x="107" y="19"/>
                  </a:lnTo>
                  <a:lnTo>
                    <a:pt x="107" y="19"/>
                  </a:lnTo>
                  <a:lnTo>
                    <a:pt x="106" y="18"/>
                  </a:lnTo>
                  <a:lnTo>
                    <a:pt x="105" y="18"/>
                  </a:lnTo>
                  <a:lnTo>
                    <a:pt x="107" y="18"/>
                  </a:lnTo>
                  <a:lnTo>
                    <a:pt x="108" y="18"/>
                  </a:lnTo>
                  <a:lnTo>
                    <a:pt x="108" y="18"/>
                  </a:lnTo>
                  <a:lnTo>
                    <a:pt x="106" y="16"/>
                  </a:lnTo>
                  <a:lnTo>
                    <a:pt x="104" y="15"/>
                  </a:lnTo>
                  <a:lnTo>
                    <a:pt x="104" y="14"/>
                  </a:lnTo>
                  <a:lnTo>
                    <a:pt x="106" y="15"/>
                  </a:lnTo>
                  <a:lnTo>
                    <a:pt x="107" y="15"/>
                  </a:lnTo>
                  <a:lnTo>
                    <a:pt x="108" y="15"/>
                  </a:lnTo>
                  <a:lnTo>
                    <a:pt x="108" y="14"/>
                  </a:lnTo>
                  <a:lnTo>
                    <a:pt x="105" y="13"/>
                  </a:lnTo>
                  <a:lnTo>
                    <a:pt x="102" y="11"/>
                  </a:lnTo>
                  <a:lnTo>
                    <a:pt x="101" y="9"/>
                  </a:lnTo>
                  <a:lnTo>
                    <a:pt x="97" y="7"/>
                  </a:lnTo>
                  <a:lnTo>
                    <a:pt x="94" y="7"/>
                  </a:lnTo>
                  <a:lnTo>
                    <a:pt x="92" y="6"/>
                  </a:lnTo>
                  <a:lnTo>
                    <a:pt x="89" y="5"/>
                  </a:lnTo>
                  <a:lnTo>
                    <a:pt x="88" y="5"/>
                  </a:lnTo>
                  <a:lnTo>
                    <a:pt x="86" y="5"/>
                  </a:lnTo>
                  <a:lnTo>
                    <a:pt x="86" y="6"/>
                  </a:lnTo>
                  <a:lnTo>
                    <a:pt x="86" y="8"/>
                  </a:lnTo>
                  <a:lnTo>
                    <a:pt x="86" y="8"/>
                  </a:lnTo>
                  <a:close/>
                  <a:moveTo>
                    <a:pt x="86" y="19"/>
                  </a:moveTo>
                  <a:lnTo>
                    <a:pt x="88" y="19"/>
                  </a:lnTo>
                  <a:lnTo>
                    <a:pt x="90" y="18"/>
                  </a:lnTo>
                  <a:lnTo>
                    <a:pt x="91" y="19"/>
                  </a:lnTo>
                  <a:lnTo>
                    <a:pt x="92" y="18"/>
                  </a:lnTo>
                  <a:lnTo>
                    <a:pt x="91" y="18"/>
                  </a:lnTo>
                  <a:lnTo>
                    <a:pt x="90" y="17"/>
                  </a:lnTo>
                  <a:lnTo>
                    <a:pt x="89" y="16"/>
                  </a:lnTo>
                  <a:lnTo>
                    <a:pt x="88" y="17"/>
                  </a:lnTo>
                  <a:lnTo>
                    <a:pt x="86" y="19"/>
                  </a:lnTo>
                  <a:lnTo>
                    <a:pt x="86" y="19"/>
                  </a:lnTo>
                  <a:close/>
                  <a:moveTo>
                    <a:pt x="91" y="83"/>
                  </a:moveTo>
                  <a:lnTo>
                    <a:pt x="93" y="81"/>
                  </a:lnTo>
                  <a:lnTo>
                    <a:pt x="96" y="81"/>
                  </a:lnTo>
                  <a:lnTo>
                    <a:pt x="99" y="82"/>
                  </a:lnTo>
                  <a:lnTo>
                    <a:pt x="102" y="83"/>
                  </a:lnTo>
                  <a:lnTo>
                    <a:pt x="104" y="85"/>
                  </a:lnTo>
                  <a:lnTo>
                    <a:pt x="105" y="86"/>
                  </a:lnTo>
                  <a:lnTo>
                    <a:pt x="103" y="87"/>
                  </a:lnTo>
                  <a:lnTo>
                    <a:pt x="102" y="88"/>
                  </a:lnTo>
                  <a:lnTo>
                    <a:pt x="100" y="88"/>
                  </a:lnTo>
                  <a:lnTo>
                    <a:pt x="101" y="87"/>
                  </a:lnTo>
                  <a:lnTo>
                    <a:pt x="101" y="85"/>
                  </a:lnTo>
                  <a:lnTo>
                    <a:pt x="98" y="84"/>
                  </a:lnTo>
                  <a:lnTo>
                    <a:pt x="96" y="83"/>
                  </a:lnTo>
                  <a:lnTo>
                    <a:pt x="95" y="83"/>
                  </a:lnTo>
                  <a:lnTo>
                    <a:pt x="92" y="83"/>
                  </a:lnTo>
                  <a:lnTo>
                    <a:pt x="91" y="83"/>
                  </a:lnTo>
                  <a:lnTo>
                    <a:pt x="91" y="83"/>
                  </a:lnTo>
                  <a:close/>
                  <a:moveTo>
                    <a:pt x="105" y="91"/>
                  </a:moveTo>
                  <a:lnTo>
                    <a:pt x="108" y="91"/>
                  </a:lnTo>
                  <a:lnTo>
                    <a:pt x="111" y="92"/>
                  </a:lnTo>
                  <a:lnTo>
                    <a:pt x="113" y="90"/>
                  </a:lnTo>
                  <a:lnTo>
                    <a:pt x="115" y="90"/>
                  </a:lnTo>
                  <a:lnTo>
                    <a:pt x="113" y="89"/>
                  </a:lnTo>
                  <a:lnTo>
                    <a:pt x="111" y="88"/>
                  </a:lnTo>
                  <a:lnTo>
                    <a:pt x="109" y="88"/>
                  </a:lnTo>
                  <a:lnTo>
                    <a:pt x="108" y="89"/>
                  </a:lnTo>
                  <a:lnTo>
                    <a:pt x="109" y="90"/>
                  </a:lnTo>
                  <a:lnTo>
                    <a:pt x="108" y="90"/>
                  </a:lnTo>
                  <a:lnTo>
                    <a:pt x="107" y="90"/>
                  </a:lnTo>
                  <a:lnTo>
                    <a:pt x="106" y="91"/>
                  </a:lnTo>
                  <a:lnTo>
                    <a:pt x="106" y="92"/>
                  </a:lnTo>
                  <a:lnTo>
                    <a:pt x="105" y="91"/>
                  </a:lnTo>
                  <a:close/>
                  <a:moveTo>
                    <a:pt x="241" y="16"/>
                  </a:moveTo>
                  <a:lnTo>
                    <a:pt x="239" y="17"/>
                  </a:lnTo>
                  <a:lnTo>
                    <a:pt x="239" y="18"/>
                  </a:lnTo>
                  <a:lnTo>
                    <a:pt x="238" y="18"/>
                  </a:lnTo>
                  <a:lnTo>
                    <a:pt x="241" y="20"/>
                  </a:lnTo>
                  <a:lnTo>
                    <a:pt x="243" y="19"/>
                  </a:lnTo>
                  <a:lnTo>
                    <a:pt x="245" y="18"/>
                  </a:lnTo>
                  <a:lnTo>
                    <a:pt x="246" y="17"/>
                  </a:lnTo>
                  <a:lnTo>
                    <a:pt x="248" y="16"/>
                  </a:lnTo>
                  <a:lnTo>
                    <a:pt x="248" y="16"/>
                  </a:lnTo>
                  <a:lnTo>
                    <a:pt x="247" y="16"/>
                  </a:lnTo>
                  <a:lnTo>
                    <a:pt x="244" y="15"/>
                  </a:lnTo>
                  <a:lnTo>
                    <a:pt x="242" y="16"/>
                  </a:lnTo>
                  <a:lnTo>
                    <a:pt x="242" y="15"/>
                  </a:lnTo>
                  <a:lnTo>
                    <a:pt x="238" y="18"/>
                  </a:lnTo>
                  <a:lnTo>
                    <a:pt x="241" y="16"/>
                  </a:lnTo>
                  <a:close/>
                  <a:moveTo>
                    <a:pt x="299" y="106"/>
                  </a:moveTo>
                  <a:lnTo>
                    <a:pt x="297" y="111"/>
                  </a:lnTo>
                  <a:lnTo>
                    <a:pt x="294" y="114"/>
                  </a:lnTo>
                  <a:lnTo>
                    <a:pt x="293" y="119"/>
                  </a:lnTo>
                  <a:lnTo>
                    <a:pt x="290" y="122"/>
                  </a:lnTo>
                  <a:lnTo>
                    <a:pt x="284" y="127"/>
                  </a:lnTo>
                  <a:lnTo>
                    <a:pt x="284" y="128"/>
                  </a:lnTo>
                  <a:lnTo>
                    <a:pt x="283" y="129"/>
                  </a:lnTo>
                  <a:lnTo>
                    <a:pt x="282" y="130"/>
                  </a:lnTo>
                  <a:lnTo>
                    <a:pt x="281" y="131"/>
                  </a:lnTo>
                  <a:lnTo>
                    <a:pt x="280" y="132"/>
                  </a:lnTo>
                  <a:lnTo>
                    <a:pt x="279" y="132"/>
                  </a:lnTo>
                  <a:lnTo>
                    <a:pt x="279" y="133"/>
                  </a:lnTo>
                  <a:lnTo>
                    <a:pt x="278" y="134"/>
                  </a:lnTo>
                  <a:lnTo>
                    <a:pt x="276" y="138"/>
                  </a:lnTo>
                  <a:lnTo>
                    <a:pt x="278" y="144"/>
                  </a:lnTo>
                  <a:lnTo>
                    <a:pt x="280" y="146"/>
                  </a:lnTo>
                  <a:lnTo>
                    <a:pt x="280" y="147"/>
                  </a:lnTo>
                  <a:lnTo>
                    <a:pt x="279" y="149"/>
                  </a:lnTo>
                  <a:lnTo>
                    <a:pt x="279" y="150"/>
                  </a:lnTo>
                  <a:lnTo>
                    <a:pt x="279" y="151"/>
                  </a:lnTo>
                  <a:lnTo>
                    <a:pt x="278" y="152"/>
                  </a:lnTo>
                  <a:lnTo>
                    <a:pt x="278" y="153"/>
                  </a:lnTo>
                  <a:lnTo>
                    <a:pt x="277" y="154"/>
                  </a:lnTo>
                  <a:lnTo>
                    <a:pt x="277" y="155"/>
                  </a:lnTo>
                  <a:lnTo>
                    <a:pt x="276" y="156"/>
                  </a:lnTo>
                  <a:lnTo>
                    <a:pt x="276" y="157"/>
                  </a:lnTo>
                  <a:lnTo>
                    <a:pt x="275" y="157"/>
                  </a:lnTo>
                  <a:lnTo>
                    <a:pt x="274" y="158"/>
                  </a:lnTo>
                  <a:lnTo>
                    <a:pt x="273" y="159"/>
                  </a:lnTo>
                  <a:lnTo>
                    <a:pt x="272" y="160"/>
                  </a:lnTo>
                  <a:lnTo>
                    <a:pt x="271" y="160"/>
                  </a:lnTo>
                  <a:lnTo>
                    <a:pt x="269" y="161"/>
                  </a:lnTo>
                  <a:lnTo>
                    <a:pt x="269" y="163"/>
                  </a:lnTo>
                  <a:lnTo>
                    <a:pt x="269" y="164"/>
                  </a:lnTo>
                  <a:lnTo>
                    <a:pt x="269" y="165"/>
                  </a:lnTo>
                  <a:lnTo>
                    <a:pt x="269" y="166"/>
                  </a:lnTo>
                  <a:lnTo>
                    <a:pt x="269" y="167"/>
                  </a:lnTo>
                  <a:lnTo>
                    <a:pt x="269" y="168"/>
                  </a:lnTo>
                  <a:lnTo>
                    <a:pt x="269" y="170"/>
                  </a:lnTo>
                  <a:lnTo>
                    <a:pt x="268" y="171"/>
                  </a:lnTo>
                  <a:lnTo>
                    <a:pt x="266" y="173"/>
                  </a:lnTo>
                  <a:lnTo>
                    <a:pt x="265" y="173"/>
                  </a:lnTo>
                  <a:lnTo>
                    <a:pt x="264" y="178"/>
                  </a:lnTo>
                  <a:lnTo>
                    <a:pt x="261" y="183"/>
                  </a:lnTo>
                  <a:lnTo>
                    <a:pt x="258" y="184"/>
                  </a:lnTo>
                  <a:lnTo>
                    <a:pt x="256" y="187"/>
                  </a:lnTo>
                  <a:lnTo>
                    <a:pt x="251" y="187"/>
                  </a:lnTo>
                  <a:lnTo>
                    <a:pt x="247" y="188"/>
                  </a:lnTo>
                  <a:lnTo>
                    <a:pt x="244" y="187"/>
                  </a:lnTo>
                  <a:lnTo>
                    <a:pt x="244" y="185"/>
                  </a:lnTo>
                  <a:lnTo>
                    <a:pt x="241" y="180"/>
                  </a:lnTo>
                  <a:lnTo>
                    <a:pt x="240" y="176"/>
                  </a:lnTo>
                  <a:lnTo>
                    <a:pt x="238" y="173"/>
                  </a:lnTo>
                  <a:lnTo>
                    <a:pt x="237" y="166"/>
                  </a:lnTo>
                  <a:lnTo>
                    <a:pt x="235" y="160"/>
                  </a:lnTo>
                  <a:lnTo>
                    <a:pt x="235" y="159"/>
                  </a:lnTo>
                  <a:lnTo>
                    <a:pt x="235" y="158"/>
                  </a:lnTo>
                  <a:lnTo>
                    <a:pt x="234" y="157"/>
                  </a:lnTo>
                  <a:lnTo>
                    <a:pt x="234" y="157"/>
                  </a:lnTo>
                  <a:lnTo>
                    <a:pt x="234" y="156"/>
                  </a:lnTo>
                  <a:lnTo>
                    <a:pt x="234" y="155"/>
                  </a:lnTo>
                  <a:lnTo>
                    <a:pt x="234" y="154"/>
                  </a:lnTo>
                  <a:lnTo>
                    <a:pt x="234" y="153"/>
                  </a:lnTo>
                  <a:lnTo>
                    <a:pt x="234" y="152"/>
                  </a:lnTo>
                  <a:lnTo>
                    <a:pt x="234" y="152"/>
                  </a:lnTo>
                  <a:lnTo>
                    <a:pt x="234" y="151"/>
                  </a:lnTo>
                  <a:lnTo>
                    <a:pt x="235" y="150"/>
                  </a:lnTo>
                  <a:lnTo>
                    <a:pt x="235" y="149"/>
                  </a:lnTo>
                  <a:lnTo>
                    <a:pt x="235" y="148"/>
                  </a:lnTo>
                  <a:lnTo>
                    <a:pt x="235" y="147"/>
                  </a:lnTo>
                  <a:lnTo>
                    <a:pt x="236" y="147"/>
                  </a:lnTo>
                  <a:lnTo>
                    <a:pt x="236" y="143"/>
                  </a:lnTo>
                  <a:lnTo>
                    <a:pt x="236" y="142"/>
                  </a:lnTo>
                  <a:lnTo>
                    <a:pt x="235" y="141"/>
                  </a:lnTo>
                  <a:lnTo>
                    <a:pt x="235" y="139"/>
                  </a:lnTo>
                  <a:lnTo>
                    <a:pt x="235" y="138"/>
                  </a:lnTo>
                  <a:lnTo>
                    <a:pt x="235" y="137"/>
                  </a:lnTo>
                  <a:lnTo>
                    <a:pt x="235" y="136"/>
                  </a:lnTo>
                  <a:lnTo>
                    <a:pt x="234" y="135"/>
                  </a:lnTo>
                  <a:lnTo>
                    <a:pt x="234" y="133"/>
                  </a:lnTo>
                  <a:lnTo>
                    <a:pt x="233" y="132"/>
                  </a:lnTo>
                  <a:lnTo>
                    <a:pt x="231" y="129"/>
                  </a:lnTo>
                  <a:lnTo>
                    <a:pt x="229" y="125"/>
                  </a:lnTo>
                  <a:lnTo>
                    <a:pt x="230" y="124"/>
                  </a:lnTo>
                  <a:lnTo>
                    <a:pt x="231" y="122"/>
                  </a:lnTo>
                  <a:lnTo>
                    <a:pt x="231" y="121"/>
                  </a:lnTo>
                  <a:lnTo>
                    <a:pt x="231" y="119"/>
                  </a:lnTo>
                  <a:lnTo>
                    <a:pt x="231" y="118"/>
                  </a:lnTo>
                  <a:lnTo>
                    <a:pt x="230" y="117"/>
                  </a:lnTo>
                  <a:lnTo>
                    <a:pt x="228" y="116"/>
                  </a:lnTo>
                  <a:lnTo>
                    <a:pt x="227" y="116"/>
                  </a:lnTo>
                  <a:lnTo>
                    <a:pt x="225" y="116"/>
                  </a:lnTo>
                  <a:lnTo>
                    <a:pt x="223" y="114"/>
                  </a:lnTo>
                  <a:lnTo>
                    <a:pt x="221" y="113"/>
                  </a:lnTo>
                  <a:lnTo>
                    <a:pt x="220" y="114"/>
                  </a:lnTo>
                  <a:lnTo>
                    <a:pt x="219" y="114"/>
                  </a:lnTo>
                  <a:lnTo>
                    <a:pt x="218" y="114"/>
                  </a:lnTo>
                  <a:lnTo>
                    <a:pt x="217" y="114"/>
                  </a:lnTo>
                  <a:lnTo>
                    <a:pt x="216" y="115"/>
                  </a:lnTo>
                  <a:lnTo>
                    <a:pt x="214" y="115"/>
                  </a:lnTo>
                  <a:lnTo>
                    <a:pt x="213" y="115"/>
                  </a:lnTo>
                  <a:lnTo>
                    <a:pt x="212" y="116"/>
                  </a:lnTo>
                  <a:lnTo>
                    <a:pt x="211" y="116"/>
                  </a:lnTo>
                  <a:lnTo>
                    <a:pt x="209" y="116"/>
                  </a:lnTo>
                  <a:lnTo>
                    <a:pt x="208" y="116"/>
                  </a:lnTo>
                  <a:lnTo>
                    <a:pt x="207" y="116"/>
                  </a:lnTo>
                  <a:lnTo>
                    <a:pt x="206" y="116"/>
                  </a:lnTo>
                  <a:lnTo>
                    <a:pt x="205" y="116"/>
                  </a:lnTo>
                  <a:lnTo>
                    <a:pt x="204" y="115"/>
                  </a:lnTo>
                  <a:lnTo>
                    <a:pt x="203" y="115"/>
                  </a:lnTo>
                  <a:lnTo>
                    <a:pt x="199" y="113"/>
                  </a:lnTo>
                  <a:lnTo>
                    <a:pt x="199" y="112"/>
                  </a:lnTo>
                  <a:lnTo>
                    <a:pt x="199" y="111"/>
                  </a:lnTo>
                  <a:lnTo>
                    <a:pt x="198" y="110"/>
                  </a:lnTo>
                  <a:lnTo>
                    <a:pt x="198" y="110"/>
                  </a:lnTo>
                  <a:lnTo>
                    <a:pt x="197" y="109"/>
                  </a:lnTo>
                  <a:lnTo>
                    <a:pt x="197" y="108"/>
                  </a:lnTo>
                  <a:lnTo>
                    <a:pt x="196" y="107"/>
                  </a:lnTo>
                  <a:lnTo>
                    <a:pt x="195" y="106"/>
                  </a:lnTo>
                  <a:lnTo>
                    <a:pt x="195" y="105"/>
                  </a:lnTo>
                  <a:lnTo>
                    <a:pt x="194" y="104"/>
                  </a:lnTo>
                  <a:lnTo>
                    <a:pt x="194" y="103"/>
                  </a:lnTo>
                  <a:lnTo>
                    <a:pt x="193" y="102"/>
                  </a:lnTo>
                  <a:lnTo>
                    <a:pt x="193" y="102"/>
                  </a:lnTo>
                  <a:lnTo>
                    <a:pt x="193" y="101"/>
                  </a:lnTo>
                  <a:lnTo>
                    <a:pt x="192" y="100"/>
                  </a:lnTo>
                  <a:lnTo>
                    <a:pt x="192" y="100"/>
                  </a:lnTo>
                  <a:lnTo>
                    <a:pt x="192" y="98"/>
                  </a:lnTo>
                  <a:lnTo>
                    <a:pt x="193" y="95"/>
                  </a:lnTo>
                  <a:lnTo>
                    <a:pt x="196" y="91"/>
                  </a:lnTo>
                  <a:lnTo>
                    <a:pt x="197" y="86"/>
                  </a:lnTo>
                  <a:lnTo>
                    <a:pt x="199" y="81"/>
                  </a:lnTo>
                  <a:lnTo>
                    <a:pt x="200" y="80"/>
                  </a:lnTo>
                  <a:lnTo>
                    <a:pt x="202" y="78"/>
                  </a:lnTo>
                  <a:lnTo>
                    <a:pt x="203" y="77"/>
                  </a:lnTo>
                  <a:lnTo>
                    <a:pt x="204" y="75"/>
                  </a:lnTo>
                  <a:lnTo>
                    <a:pt x="205" y="74"/>
                  </a:lnTo>
                  <a:lnTo>
                    <a:pt x="207" y="72"/>
                  </a:lnTo>
                  <a:lnTo>
                    <a:pt x="208" y="70"/>
                  </a:lnTo>
                  <a:lnTo>
                    <a:pt x="209" y="69"/>
                  </a:lnTo>
                  <a:lnTo>
                    <a:pt x="211" y="67"/>
                  </a:lnTo>
                  <a:lnTo>
                    <a:pt x="212" y="66"/>
                  </a:lnTo>
                  <a:lnTo>
                    <a:pt x="214" y="65"/>
                  </a:lnTo>
                  <a:lnTo>
                    <a:pt x="215" y="63"/>
                  </a:lnTo>
                  <a:lnTo>
                    <a:pt x="217" y="62"/>
                  </a:lnTo>
                  <a:lnTo>
                    <a:pt x="218" y="61"/>
                  </a:lnTo>
                  <a:lnTo>
                    <a:pt x="220" y="60"/>
                  </a:lnTo>
                  <a:lnTo>
                    <a:pt x="222" y="59"/>
                  </a:lnTo>
                  <a:lnTo>
                    <a:pt x="223" y="59"/>
                  </a:lnTo>
                  <a:lnTo>
                    <a:pt x="224" y="60"/>
                  </a:lnTo>
                  <a:lnTo>
                    <a:pt x="232" y="59"/>
                  </a:lnTo>
                  <a:lnTo>
                    <a:pt x="237" y="59"/>
                  </a:lnTo>
                  <a:lnTo>
                    <a:pt x="239" y="59"/>
                  </a:lnTo>
                  <a:lnTo>
                    <a:pt x="244" y="59"/>
                  </a:lnTo>
                  <a:lnTo>
                    <a:pt x="246" y="60"/>
                  </a:lnTo>
                  <a:lnTo>
                    <a:pt x="244" y="62"/>
                  </a:lnTo>
                  <a:lnTo>
                    <a:pt x="247" y="64"/>
                  </a:lnTo>
                  <a:lnTo>
                    <a:pt x="251" y="66"/>
                  </a:lnTo>
                  <a:lnTo>
                    <a:pt x="255" y="68"/>
                  </a:lnTo>
                  <a:lnTo>
                    <a:pt x="258" y="67"/>
                  </a:lnTo>
                  <a:lnTo>
                    <a:pt x="261" y="66"/>
                  </a:lnTo>
                  <a:lnTo>
                    <a:pt x="266" y="67"/>
                  </a:lnTo>
                  <a:lnTo>
                    <a:pt x="270" y="67"/>
                  </a:lnTo>
                  <a:lnTo>
                    <a:pt x="274" y="67"/>
                  </a:lnTo>
                  <a:lnTo>
                    <a:pt x="274" y="72"/>
                  </a:lnTo>
                  <a:lnTo>
                    <a:pt x="274" y="72"/>
                  </a:lnTo>
                  <a:lnTo>
                    <a:pt x="274" y="73"/>
                  </a:lnTo>
                  <a:lnTo>
                    <a:pt x="274" y="74"/>
                  </a:lnTo>
                  <a:lnTo>
                    <a:pt x="274" y="75"/>
                  </a:lnTo>
                  <a:lnTo>
                    <a:pt x="274" y="76"/>
                  </a:lnTo>
                  <a:lnTo>
                    <a:pt x="274" y="76"/>
                  </a:lnTo>
                  <a:lnTo>
                    <a:pt x="274" y="77"/>
                  </a:lnTo>
                  <a:lnTo>
                    <a:pt x="275" y="78"/>
                  </a:lnTo>
                  <a:lnTo>
                    <a:pt x="275" y="79"/>
                  </a:lnTo>
                  <a:lnTo>
                    <a:pt x="275" y="80"/>
                  </a:lnTo>
                  <a:lnTo>
                    <a:pt x="275" y="80"/>
                  </a:lnTo>
                  <a:lnTo>
                    <a:pt x="275" y="81"/>
                  </a:lnTo>
                  <a:lnTo>
                    <a:pt x="275" y="82"/>
                  </a:lnTo>
                  <a:lnTo>
                    <a:pt x="275" y="83"/>
                  </a:lnTo>
                  <a:lnTo>
                    <a:pt x="275" y="83"/>
                  </a:lnTo>
                  <a:lnTo>
                    <a:pt x="275" y="84"/>
                  </a:lnTo>
                  <a:lnTo>
                    <a:pt x="278" y="90"/>
                  </a:lnTo>
                  <a:lnTo>
                    <a:pt x="278" y="91"/>
                  </a:lnTo>
                  <a:lnTo>
                    <a:pt x="279" y="93"/>
                  </a:lnTo>
                  <a:lnTo>
                    <a:pt x="279" y="94"/>
                  </a:lnTo>
                  <a:lnTo>
                    <a:pt x="280" y="96"/>
                  </a:lnTo>
                  <a:lnTo>
                    <a:pt x="280" y="97"/>
                  </a:lnTo>
                  <a:lnTo>
                    <a:pt x="281" y="98"/>
                  </a:lnTo>
                  <a:lnTo>
                    <a:pt x="282" y="100"/>
                  </a:lnTo>
                  <a:lnTo>
                    <a:pt x="283" y="101"/>
                  </a:lnTo>
                  <a:lnTo>
                    <a:pt x="283" y="102"/>
                  </a:lnTo>
                  <a:lnTo>
                    <a:pt x="284" y="103"/>
                  </a:lnTo>
                  <a:lnTo>
                    <a:pt x="285" y="104"/>
                  </a:lnTo>
                  <a:lnTo>
                    <a:pt x="287" y="104"/>
                  </a:lnTo>
                  <a:lnTo>
                    <a:pt x="288" y="105"/>
                  </a:lnTo>
                  <a:lnTo>
                    <a:pt x="290" y="106"/>
                  </a:lnTo>
                  <a:lnTo>
                    <a:pt x="292" y="106"/>
                  </a:lnTo>
                  <a:lnTo>
                    <a:pt x="294" y="106"/>
                  </a:lnTo>
                  <a:lnTo>
                    <a:pt x="299" y="106"/>
                  </a:lnTo>
                  <a:close/>
                  <a:moveTo>
                    <a:pt x="232" y="35"/>
                  </a:moveTo>
                  <a:lnTo>
                    <a:pt x="234" y="36"/>
                  </a:lnTo>
                  <a:lnTo>
                    <a:pt x="237" y="35"/>
                  </a:lnTo>
                  <a:lnTo>
                    <a:pt x="238" y="33"/>
                  </a:lnTo>
                  <a:lnTo>
                    <a:pt x="241" y="31"/>
                  </a:lnTo>
                  <a:lnTo>
                    <a:pt x="239" y="30"/>
                  </a:lnTo>
                  <a:lnTo>
                    <a:pt x="237" y="31"/>
                  </a:lnTo>
                  <a:lnTo>
                    <a:pt x="236" y="31"/>
                  </a:lnTo>
                  <a:lnTo>
                    <a:pt x="234" y="33"/>
                  </a:lnTo>
                  <a:lnTo>
                    <a:pt x="235" y="33"/>
                  </a:lnTo>
                  <a:lnTo>
                    <a:pt x="233" y="34"/>
                  </a:lnTo>
                  <a:lnTo>
                    <a:pt x="232" y="35"/>
                  </a:lnTo>
                  <a:close/>
                  <a:moveTo>
                    <a:pt x="236" y="37"/>
                  </a:moveTo>
                  <a:lnTo>
                    <a:pt x="238" y="37"/>
                  </a:lnTo>
                  <a:lnTo>
                    <a:pt x="239" y="36"/>
                  </a:lnTo>
                  <a:lnTo>
                    <a:pt x="241" y="37"/>
                  </a:lnTo>
                  <a:lnTo>
                    <a:pt x="244" y="36"/>
                  </a:lnTo>
                  <a:lnTo>
                    <a:pt x="244" y="36"/>
                  </a:lnTo>
                  <a:lnTo>
                    <a:pt x="245" y="35"/>
                  </a:lnTo>
                  <a:lnTo>
                    <a:pt x="246" y="34"/>
                  </a:lnTo>
                  <a:lnTo>
                    <a:pt x="245" y="33"/>
                  </a:lnTo>
                  <a:lnTo>
                    <a:pt x="246" y="31"/>
                  </a:lnTo>
                  <a:lnTo>
                    <a:pt x="245" y="29"/>
                  </a:lnTo>
                  <a:lnTo>
                    <a:pt x="246" y="29"/>
                  </a:lnTo>
                  <a:lnTo>
                    <a:pt x="248" y="28"/>
                  </a:lnTo>
                  <a:lnTo>
                    <a:pt x="247" y="27"/>
                  </a:lnTo>
                  <a:lnTo>
                    <a:pt x="248" y="26"/>
                  </a:lnTo>
                  <a:lnTo>
                    <a:pt x="246" y="26"/>
                  </a:lnTo>
                  <a:lnTo>
                    <a:pt x="245" y="26"/>
                  </a:lnTo>
                  <a:lnTo>
                    <a:pt x="244" y="27"/>
                  </a:lnTo>
                  <a:lnTo>
                    <a:pt x="243" y="28"/>
                  </a:lnTo>
                  <a:lnTo>
                    <a:pt x="243" y="29"/>
                  </a:lnTo>
                  <a:lnTo>
                    <a:pt x="243" y="30"/>
                  </a:lnTo>
                  <a:lnTo>
                    <a:pt x="242" y="32"/>
                  </a:lnTo>
                  <a:lnTo>
                    <a:pt x="241" y="33"/>
                  </a:lnTo>
                  <a:lnTo>
                    <a:pt x="241" y="33"/>
                  </a:lnTo>
                  <a:lnTo>
                    <a:pt x="240" y="33"/>
                  </a:lnTo>
                  <a:lnTo>
                    <a:pt x="239" y="34"/>
                  </a:lnTo>
                  <a:lnTo>
                    <a:pt x="238" y="34"/>
                  </a:lnTo>
                  <a:lnTo>
                    <a:pt x="239" y="35"/>
                  </a:lnTo>
                  <a:lnTo>
                    <a:pt x="238" y="36"/>
                  </a:lnTo>
                  <a:lnTo>
                    <a:pt x="237" y="36"/>
                  </a:lnTo>
                  <a:lnTo>
                    <a:pt x="236" y="37"/>
                  </a:lnTo>
                  <a:lnTo>
                    <a:pt x="236" y="37"/>
                  </a:lnTo>
                  <a:close/>
                  <a:moveTo>
                    <a:pt x="402" y="193"/>
                  </a:moveTo>
                  <a:lnTo>
                    <a:pt x="405" y="195"/>
                  </a:lnTo>
                  <a:lnTo>
                    <a:pt x="411" y="192"/>
                  </a:lnTo>
                  <a:lnTo>
                    <a:pt x="414" y="192"/>
                  </a:lnTo>
                  <a:lnTo>
                    <a:pt x="417" y="190"/>
                  </a:lnTo>
                  <a:lnTo>
                    <a:pt x="418" y="190"/>
                  </a:lnTo>
                  <a:lnTo>
                    <a:pt x="419" y="189"/>
                  </a:lnTo>
                  <a:lnTo>
                    <a:pt x="424" y="189"/>
                  </a:lnTo>
                  <a:lnTo>
                    <a:pt x="428" y="190"/>
                  </a:lnTo>
                  <a:lnTo>
                    <a:pt x="430" y="192"/>
                  </a:lnTo>
                  <a:lnTo>
                    <a:pt x="431" y="192"/>
                  </a:lnTo>
                  <a:lnTo>
                    <a:pt x="431" y="193"/>
                  </a:lnTo>
                  <a:lnTo>
                    <a:pt x="434" y="191"/>
                  </a:lnTo>
                  <a:lnTo>
                    <a:pt x="435" y="190"/>
                  </a:lnTo>
                  <a:lnTo>
                    <a:pt x="433" y="195"/>
                  </a:lnTo>
                  <a:lnTo>
                    <a:pt x="435" y="195"/>
                  </a:lnTo>
                  <a:lnTo>
                    <a:pt x="436" y="196"/>
                  </a:lnTo>
                  <a:lnTo>
                    <a:pt x="436" y="198"/>
                  </a:lnTo>
                  <a:lnTo>
                    <a:pt x="435" y="198"/>
                  </a:lnTo>
                  <a:lnTo>
                    <a:pt x="437" y="199"/>
                  </a:lnTo>
                  <a:lnTo>
                    <a:pt x="438" y="199"/>
                  </a:lnTo>
                  <a:lnTo>
                    <a:pt x="439" y="199"/>
                  </a:lnTo>
                  <a:lnTo>
                    <a:pt x="440" y="199"/>
                  </a:lnTo>
                  <a:lnTo>
                    <a:pt x="441" y="199"/>
                  </a:lnTo>
                  <a:lnTo>
                    <a:pt x="442" y="199"/>
                  </a:lnTo>
                  <a:lnTo>
                    <a:pt x="444" y="199"/>
                  </a:lnTo>
                  <a:lnTo>
                    <a:pt x="445" y="199"/>
                  </a:lnTo>
                  <a:lnTo>
                    <a:pt x="446" y="198"/>
                  </a:lnTo>
                  <a:lnTo>
                    <a:pt x="449" y="197"/>
                  </a:lnTo>
                  <a:lnTo>
                    <a:pt x="450" y="196"/>
                  </a:lnTo>
                  <a:lnTo>
                    <a:pt x="451" y="196"/>
                  </a:lnTo>
                  <a:lnTo>
                    <a:pt x="451" y="195"/>
                  </a:lnTo>
                  <a:lnTo>
                    <a:pt x="452" y="194"/>
                  </a:lnTo>
                  <a:lnTo>
                    <a:pt x="453" y="193"/>
                  </a:lnTo>
                  <a:lnTo>
                    <a:pt x="453" y="192"/>
                  </a:lnTo>
                  <a:lnTo>
                    <a:pt x="454" y="191"/>
                  </a:lnTo>
                  <a:lnTo>
                    <a:pt x="454" y="190"/>
                  </a:lnTo>
                  <a:lnTo>
                    <a:pt x="455" y="190"/>
                  </a:lnTo>
                  <a:lnTo>
                    <a:pt x="455" y="189"/>
                  </a:lnTo>
                  <a:lnTo>
                    <a:pt x="456" y="188"/>
                  </a:lnTo>
                  <a:lnTo>
                    <a:pt x="456" y="187"/>
                  </a:lnTo>
                  <a:lnTo>
                    <a:pt x="456" y="186"/>
                  </a:lnTo>
                  <a:lnTo>
                    <a:pt x="457" y="185"/>
                  </a:lnTo>
                  <a:lnTo>
                    <a:pt x="457" y="184"/>
                  </a:lnTo>
                  <a:lnTo>
                    <a:pt x="457" y="182"/>
                  </a:lnTo>
                  <a:lnTo>
                    <a:pt x="457" y="181"/>
                  </a:lnTo>
                  <a:lnTo>
                    <a:pt x="456" y="181"/>
                  </a:lnTo>
                  <a:lnTo>
                    <a:pt x="456" y="180"/>
                  </a:lnTo>
                  <a:lnTo>
                    <a:pt x="456" y="179"/>
                  </a:lnTo>
                  <a:lnTo>
                    <a:pt x="455" y="178"/>
                  </a:lnTo>
                  <a:lnTo>
                    <a:pt x="455" y="178"/>
                  </a:lnTo>
                  <a:lnTo>
                    <a:pt x="454" y="177"/>
                  </a:lnTo>
                  <a:lnTo>
                    <a:pt x="454" y="176"/>
                  </a:lnTo>
                  <a:lnTo>
                    <a:pt x="454" y="174"/>
                  </a:lnTo>
                  <a:lnTo>
                    <a:pt x="451" y="173"/>
                  </a:lnTo>
                  <a:lnTo>
                    <a:pt x="449" y="169"/>
                  </a:lnTo>
                  <a:lnTo>
                    <a:pt x="449" y="168"/>
                  </a:lnTo>
                  <a:lnTo>
                    <a:pt x="448" y="167"/>
                  </a:lnTo>
                  <a:lnTo>
                    <a:pt x="447" y="165"/>
                  </a:lnTo>
                  <a:lnTo>
                    <a:pt x="447" y="164"/>
                  </a:lnTo>
                  <a:lnTo>
                    <a:pt x="446" y="162"/>
                  </a:lnTo>
                  <a:lnTo>
                    <a:pt x="446" y="161"/>
                  </a:lnTo>
                  <a:lnTo>
                    <a:pt x="446" y="159"/>
                  </a:lnTo>
                  <a:lnTo>
                    <a:pt x="446" y="158"/>
                  </a:lnTo>
                  <a:lnTo>
                    <a:pt x="444" y="158"/>
                  </a:lnTo>
                  <a:lnTo>
                    <a:pt x="443" y="154"/>
                  </a:lnTo>
                  <a:lnTo>
                    <a:pt x="441" y="151"/>
                  </a:lnTo>
                  <a:lnTo>
                    <a:pt x="442" y="153"/>
                  </a:lnTo>
                  <a:lnTo>
                    <a:pt x="441" y="154"/>
                  </a:lnTo>
                  <a:lnTo>
                    <a:pt x="441" y="155"/>
                  </a:lnTo>
                  <a:lnTo>
                    <a:pt x="441" y="156"/>
                  </a:lnTo>
                  <a:lnTo>
                    <a:pt x="440" y="157"/>
                  </a:lnTo>
                  <a:lnTo>
                    <a:pt x="440" y="159"/>
                  </a:lnTo>
                  <a:lnTo>
                    <a:pt x="440" y="160"/>
                  </a:lnTo>
                  <a:lnTo>
                    <a:pt x="440" y="161"/>
                  </a:lnTo>
                  <a:lnTo>
                    <a:pt x="439" y="162"/>
                  </a:lnTo>
                  <a:lnTo>
                    <a:pt x="438" y="163"/>
                  </a:lnTo>
                  <a:lnTo>
                    <a:pt x="437" y="163"/>
                  </a:lnTo>
                  <a:lnTo>
                    <a:pt x="435" y="161"/>
                  </a:lnTo>
                  <a:lnTo>
                    <a:pt x="432" y="159"/>
                  </a:lnTo>
                  <a:lnTo>
                    <a:pt x="430" y="158"/>
                  </a:lnTo>
                  <a:lnTo>
                    <a:pt x="430" y="158"/>
                  </a:lnTo>
                  <a:lnTo>
                    <a:pt x="431" y="156"/>
                  </a:lnTo>
                  <a:lnTo>
                    <a:pt x="431" y="155"/>
                  </a:lnTo>
                  <a:lnTo>
                    <a:pt x="431" y="154"/>
                  </a:lnTo>
                  <a:lnTo>
                    <a:pt x="431" y="153"/>
                  </a:lnTo>
                  <a:lnTo>
                    <a:pt x="426" y="152"/>
                  </a:lnTo>
                  <a:lnTo>
                    <a:pt x="425" y="151"/>
                  </a:lnTo>
                  <a:lnTo>
                    <a:pt x="425" y="152"/>
                  </a:lnTo>
                  <a:lnTo>
                    <a:pt x="423" y="152"/>
                  </a:lnTo>
                  <a:lnTo>
                    <a:pt x="422" y="153"/>
                  </a:lnTo>
                  <a:lnTo>
                    <a:pt x="421" y="155"/>
                  </a:lnTo>
                  <a:lnTo>
                    <a:pt x="421" y="156"/>
                  </a:lnTo>
                  <a:lnTo>
                    <a:pt x="420" y="158"/>
                  </a:lnTo>
                  <a:lnTo>
                    <a:pt x="420" y="159"/>
                  </a:lnTo>
                  <a:lnTo>
                    <a:pt x="419" y="159"/>
                  </a:lnTo>
                  <a:lnTo>
                    <a:pt x="418" y="157"/>
                  </a:lnTo>
                  <a:lnTo>
                    <a:pt x="417" y="155"/>
                  </a:lnTo>
                  <a:lnTo>
                    <a:pt x="415" y="158"/>
                  </a:lnTo>
                  <a:lnTo>
                    <a:pt x="414" y="159"/>
                  </a:lnTo>
                  <a:lnTo>
                    <a:pt x="413" y="161"/>
                  </a:lnTo>
                  <a:lnTo>
                    <a:pt x="412" y="162"/>
                  </a:lnTo>
                  <a:lnTo>
                    <a:pt x="412" y="162"/>
                  </a:lnTo>
                  <a:lnTo>
                    <a:pt x="411" y="162"/>
                  </a:lnTo>
                  <a:lnTo>
                    <a:pt x="411" y="164"/>
                  </a:lnTo>
                  <a:lnTo>
                    <a:pt x="410" y="165"/>
                  </a:lnTo>
                  <a:lnTo>
                    <a:pt x="409" y="166"/>
                  </a:lnTo>
                  <a:lnTo>
                    <a:pt x="408" y="167"/>
                  </a:lnTo>
                  <a:lnTo>
                    <a:pt x="406" y="168"/>
                  </a:lnTo>
                  <a:lnTo>
                    <a:pt x="405" y="168"/>
                  </a:lnTo>
                  <a:lnTo>
                    <a:pt x="404" y="169"/>
                  </a:lnTo>
                  <a:lnTo>
                    <a:pt x="403" y="170"/>
                  </a:lnTo>
                  <a:lnTo>
                    <a:pt x="402" y="171"/>
                  </a:lnTo>
                  <a:lnTo>
                    <a:pt x="400" y="172"/>
                  </a:lnTo>
                  <a:lnTo>
                    <a:pt x="400" y="173"/>
                  </a:lnTo>
                  <a:lnTo>
                    <a:pt x="400" y="173"/>
                  </a:lnTo>
                  <a:lnTo>
                    <a:pt x="400" y="174"/>
                  </a:lnTo>
                  <a:lnTo>
                    <a:pt x="400" y="175"/>
                  </a:lnTo>
                  <a:lnTo>
                    <a:pt x="400" y="176"/>
                  </a:lnTo>
                  <a:lnTo>
                    <a:pt x="400" y="176"/>
                  </a:lnTo>
                  <a:lnTo>
                    <a:pt x="400" y="177"/>
                  </a:lnTo>
                  <a:lnTo>
                    <a:pt x="400" y="178"/>
                  </a:lnTo>
                  <a:lnTo>
                    <a:pt x="400" y="178"/>
                  </a:lnTo>
                  <a:lnTo>
                    <a:pt x="400" y="179"/>
                  </a:lnTo>
                  <a:lnTo>
                    <a:pt x="399" y="180"/>
                  </a:lnTo>
                  <a:lnTo>
                    <a:pt x="400" y="181"/>
                  </a:lnTo>
                  <a:lnTo>
                    <a:pt x="400" y="183"/>
                  </a:lnTo>
                  <a:lnTo>
                    <a:pt x="401" y="184"/>
                  </a:lnTo>
                  <a:lnTo>
                    <a:pt x="401" y="185"/>
                  </a:lnTo>
                  <a:lnTo>
                    <a:pt x="402" y="187"/>
                  </a:lnTo>
                  <a:lnTo>
                    <a:pt x="402" y="188"/>
                  </a:lnTo>
                  <a:lnTo>
                    <a:pt x="403" y="190"/>
                  </a:lnTo>
                  <a:lnTo>
                    <a:pt x="403" y="191"/>
                  </a:lnTo>
                  <a:lnTo>
                    <a:pt x="402" y="193"/>
                  </a:lnTo>
                  <a:lnTo>
                    <a:pt x="402" y="193"/>
                  </a:lnTo>
                  <a:close/>
                  <a:moveTo>
                    <a:pt x="442" y="205"/>
                  </a:moveTo>
                  <a:lnTo>
                    <a:pt x="442" y="205"/>
                  </a:lnTo>
                  <a:lnTo>
                    <a:pt x="445" y="205"/>
                  </a:lnTo>
                  <a:lnTo>
                    <a:pt x="446" y="206"/>
                  </a:lnTo>
                  <a:lnTo>
                    <a:pt x="445" y="207"/>
                  </a:lnTo>
                  <a:lnTo>
                    <a:pt x="443" y="208"/>
                  </a:lnTo>
                  <a:lnTo>
                    <a:pt x="442" y="206"/>
                  </a:lnTo>
                  <a:lnTo>
                    <a:pt x="441" y="205"/>
                  </a:lnTo>
                  <a:lnTo>
                    <a:pt x="442" y="205"/>
                  </a:lnTo>
                  <a:close/>
                  <a:moveTo>
                    <a:pt x="367" y="119"/>
                  </a:moveTo>
                  <a:lnTo>
                    <a:pt x="372" y="120"/>
                  </a:lnTo>
                  <a:lnTo>
                    <a:pt x="375" y="122"/>
                  </a:lnTo>
                  <a:lnTo>
                    <a:pt x="378" y="126"/>
                  </a:lnTo>
                  <a:lnTo>
                    <a:pt x="380" y="127"/>
                  </a:lnTo>
                  <a:lnTo>
                    <a:pt x="380" y="129"/>
                  </a:lnTo>
                  <a:lnTo>
                    <a:pt x="382" y="130"/>
                  </a:lnTo>
                  <a:lnTo>
                    <a:pt x="384" y="133"/>
                  </a:lnTo>
                  <a:lnTo>
                    <a:pt x="384" y="137"/>
                  </a:lnTo>
                  <a:lnTo>
                    <a:pt x="382" y="137"/>
                  </a:lnTo>
                  <a:lnTo>
                    <a:pt x="380" y="137"/>
                  </a:lnTo>
                  <a:lnTo>
                    <a:pt x="378" y="134"/>
                  </a:lnTo>
                  <a:lnTo>
                    <a:pt x="375" y="131"/>
                  </a:lnTo>
                  <a:lnTo>
                    <a:pt x="373" y="128"/>
                  </a:lnTo>
                  <a:lnTo>
                    <a:pt x="372" y="124"/>
                  </a:lnTo>
                  <a:lnTo>
                    <a:pt x="370" y="122"/>
                  </a:lnTo>
                  <a:lnTo>
                    <a:pt x="368" y="120"/>
                  </a:lnTo>
                  <a:lnTo>
                    <a:pt x="367" y="120"/>
                  </a:lnTo>
                  <a:lnTo>
                    <a:pt x="367" y="119"/>
                  </a:lnTo>
                  <a:close/>
                  <a:moveTo>
                    <a:pt x="389" y="125"/>
                  </a:moveTo>
                  <a:lnTo>
                    <a:pt x="389" y="126"/>
                  </a:lnTo>
                  <a:lnTo>
                    <a:pt x="389" y="126"/>
                  </a:lnTo>
                  <a:lnTo>
                    <a:pt x="389" y="127"/>
                  </a:lnTo>
                  <a:lnTo>
                    <a:pt x="389" y="128"/>
                  </a:lnTo>
                  <a:lnTo>
                    <a:pt x="389" y="128"/>
                  </a:lnTo>
                  <a:lnTo>
                    <a:pt x="389" y="129"/>
                  </a:lnTo>
                  <a:lnTo>
                    <a:pt x="389" y="130"/>
                  </a:lnTo>
                  <a:lnTo>
                    <a:pt x="389" y="131"/>
                  </a:lnTo>
                  <a:lnTo>
                    <a:pt x="391" y="131"/>
                  </a:lnTo>
                  <a:lnTo>
                    <a:pt x="391" y="133"/>
                  </a:lnTo>
                  <a:lnTo>
                    <a:pt x="394" y="134"/>
                  </a:lnTo>
                  <a:lnTo>
                    <a:pt x="398" y="135"/>
                  </a:lnTo>
                  <a:lnTo>
                    <a:pt x="399" y="135"/>
                  </a:lnTo>
                  <a:lnTo>
                    <a:pt x="401" y="131"/>
                  </a:lnTo>
                  <a:lnTo>
                    <a:pt x="402" y="130"/>
                  </a:lnTo>
                  <a:lnTo>
                    <a:pt x="405" y="127"/>
                  </a:lnTo>
                  <a:lnTo>
                    <a:pt x="404" y="123"/>
                  </a:lnTo>
                  <a:lnTo>
                    <a:pt x="404" y="122"/>
                  </a:lnTo>
                  <a:lnTo>
                    <a:pt x="404" y="120"/>
                  </a:lnTo>
                  <a:lnTo>
                    <a:pt x="403" y="118"/>
                  </a:lnTo>
                  <a:lnTo>
                    <a:pt x="401" y="116"/>
                  </a:lnTo>
                  <a:lnTo>
                    <a:pt x="400" y="118"/>
                  </a:lnTo>
                  <a:lnTo>
                    <a:pt x="400" y="119"/>
                  </a:lnTo>
                  <a:lnTo>
                    <a:pt x="399" y="120"/>
                  </a:lnTo>
                  <a:lnTo>
                    <a:pt x="399" y="120"/>
                  </a:lnTo>
                  <a:lnTo>
                    <a:pt x="398" y="121"/>
                  </a:lnTo>
                  <a:lnTo>
                    <a:pt x="398" y="122"/>
                  </a:lnTo>
                  <a:lnTo>
                    <a:pt x="397" y="122"/>
                  </a:lnTo>
                  <a:lnTo>
                    <a:pt x="396" y="123"/>
                  </a:lnTo>
                  <a:lnTo>
                    <a:pt x="396" y="123"/>
                  </a:lnTo>
                  <a:lnTo>
                    <a:pt x="395" y="124"/>
                  </a:lnTo>
                  <a:lnTo>
                    <a:pt x="394" y="124"/>
                  </a:lnTo>
                  <a:lnTo>
                    <a:pt x="393" y="124"/>
                  </a:lnTo>
                  <a:lnTo>
                    <a:pt x="393" y="124"/>
                  </a:lnTo>
                  <a:lnTo>
                    <a:pt x="392" y="124"/>
                  </a:lnTo>
                  <a:lnTo>
                    <a:pt x="391" y="124"/>
                  </a:lnTo>
                  <a:lnTo>
                    <a:pt x="390" y="124"/>
                  </a:lnTo>
                  <a:lnTo>
                    <a:pt x="390" y="125"/>
                  </a:lnTo>
                  <a:lnTo>
                    <a:pt x="389" y="125"/>
                  </a:lnTo>
                  <a:lnTo>
                    <a:pt x="388" y="126"/>
                  </a:lnTo>
                  <a:lnTo>
                    <a:pt x="388" y="126"/>
                  </a:lnTo>
                  <a:lnTo>
                    <a:pt x="388" y="127"/>
                  </a:lnTo>
                  <a:lnTo>
                    <a:pt x="388" y="128"/>
                  </a:lnTo>
                  <a:lnTo>
                    <a:pt x="388" y="129"/>
                  </a:lnTo>
                  <a:lnTo>
                    <a:pt x="388" y="130"/>
                  </a:lnTo>
                  <a:lnTo>
                    <a:pt x="388" y="131"/>
                  </a:lnTo>
                  <a:lnTo>
                    <a:pt x="389" y="125"/>
                  </a:lnTo>
                  <a:close/>
                  <a:moveTo>
                    <a:pt x="435" y="133"/>
                  </a:moveTo>
                  <a:lnTo>
                    <a:pt x="433" y="134"/>
                  </a:lnTo>
                  <a:lnTo>
                    <a:pt x="431" y="134"/>
                  </a:lnTo>
                  <a:lnTo>
                    <a:pt x="430" y="133"/>
                  </a:lnTo>
                  <a:lnTo>
                    <a:pt x="429" y="132"/>
                  </a:lnTo>
                  <a:lnTo>
                    <a:pt x="428" y="131"/>
                  </a:lnTo>
                  <a:lnTo>
                    <a:pt x="426" y="130"/>
                  </a:lnTo>
                  <a:lnTo>
                    <a:pt x="424" y="131"/>
                  </a:lnTo>
                  <a:lnTo>
                    <a:pt x="425" y="132"/>
                  </a:lnTo>
                  <a:lnTo>
                    <a:pt x="426" y="133"/>
                  </a:lnTo>
                  <a:lnTo>
                    <a:pt x="426" y="133"/>
                  </a:lnTo>
                  <a:lnTo>
                    <a:pt x="426" y="135"/>
                  </a:lnTo>
                  <a:lnTo>
                    <a:pt x="427" y="136"/>
                  </a:lnTo>
                  <a:lnTo>
                    <a:pt x="428" y="135"/>
                  </a:lnTo>
                  <a:lnTo>
                    <a:pt x="430" y="136"/>
                  </a:lnTo>
                  <a:lnTo>
                    <a:pt x="432" y="137"/>
                  </a:lnTo>
                  <a:lnTo>
                    <a:pt x="433" y="138"/>
                  </a:lnTo>
                  <a:lnTo>
                    <a:pt x="434" y="138"/>
                  </a:lnTo>
                  <a:lnTo>
                    <a:pt x="434" y="139"/>
                  </a:lnTo>
                  <a:lnTo>
                    <a:pt x="435" y="140"/>
                  </a:lnTo>
                  <a:lnTo>
                    <a:pt x="436" y="141"/>
                  </a:lnTo>
                  <a:lnTo>
                    <a:pt x="436" y="142"/>
                  </a:lnTo>
                  <a:lnTo>
                    <a:pt x="437" y="143"/>
                  </a:lnTo>
                  <a:lnTo>
                    <a:pt x="438" y="144"/>
                  </a:lnTo>
                  <a:lnTo>
                    <a:pt x="443" y="145"/>
                  </a:lnTo>
                  <a:lnTo>
                    <a:pt x="443" y="143"/>
                  </a:lnTo>
                  <a:lnTo>
                    <a:pt x="444" y="143"/>
                  </a:lnTo>
                  <a:lnTo>
                    <a:pt x="447" y="145"/>
                  </a:lnTo>
                  <a:lnTo>
                    <a:pt x="449" y="146"/>
                  </a:lnTo>
                  <a:lnTo>
                    <a:pt x="450" y="147"/>
                  </a:lnTo>
                  <a:lnTo>
                    <a:pt x="451" y="149"/>
                  </a:lnTo>
                  <a:lnTo>
                    <a:pt x="456" y="150"/>
                  </a:lnTo>
                  <a:lnTo>
                    <a:pt x="452" y="144"/>
                  </a:lnTo>
                  <a:lnTo>
                    <a:pt x="450" y="142"/>
                  </a:lnTo>
                  <a:lnTo>
                    <a:pt x="452" y="142"/>
                  </a:lnTo>
                  <a:lnTo>
                    <a:pt x="451" y="140"/>
                  </a:lnTo>
                  <a:lnTo>
                    <a:pt x="449" y="138"/>
                  </a:lnTo>
                  <a:lnTo>
                    <a:pt x="446" y="136"/>
                  </a:lnTo>
                  <a:lnTo>
                    <a:pt x="441" y="133"/>
                  </a:lnTo>
                  <a:lnTo>
                    <a:pt x="439" y="133"/>
                  </a:lnTo>
                  <a:lnTo>
                    <a:pt x="436" y="132"/>
                  </a:lnTo>
                  <a:lnTo>
                    <a:pt x="433" y="134"/>
                  </a:lnTo>
                  <a:lnTo>
                    <a:pt x="431" y="135"/>
                  </a:lnTo>
                  <a:lnTo>
                    <a:pt x="430" y="133"/>
                  </a:lnTo>
                  <a:lnTo>
                    <a:pt x="430" y="133"/>
                  </a:lnTo>
                  <a:lnTo>
                    <a:pt x="428" y="130"/>
                  </a:lnTo>
                  <a:lnTo>
                    <a:pt x="435" y="133"/>
                  </a:lnTo>
                  <a:close/>
                  <a:moveTo>
                    <a:pt x="384" y="140"/>
                  </a:moveTo>
                  <a:lnTo>
                    <a:pt x="386" y="138"/>
                  </a:lnTo>
                  <a:lnTo>
                    <a:pt x="388" y="138"/>
                  </a:lnTo>
                  <a:lnTo>
                    <a:pt x="389" y="139"/>
                  </a:lnTo>
                  <a:lnTo>
                    <a:pt x="392" y="138"/>
                  </a:lnTo>
                  <a:lnTo>
                    <a:pt x="395" y="140"/>
                  </a:lnTo>
                  <a:lnTo>
                    <a:pt x="397" y="142"/>
                  </a:lnTo>
                  <a:lnTo>
                    <a:pt x="396" y="142"/>
                  </a:lnTo>
                  <a:lnTo>
                    <a:pt x="394" y="141"/>
                  </a:lnTo>
                  <a:lnTo>
                    <a:pt x="393" y="141"/>
                  </a:lnTo>
                  <a:lnTo>
                    <a:pt x="391" y="141"/>
                  </a:lnTo>
                  <a:lnTo>
                    <a:pt x="389" y="141"/>
                  </a:lnTo>
                  <a:lnTo>
                    <a:pt x="386" y="140"/>
                  </a:lnTo>
                  <a:lnTo>
                    <a:pt x="384" y="139"/>
                  </a:lnTo>
                  <a:lnTo>
                    <a:pt x="384" y="140"/>
                  </a:lnTo>
                  <a:close/>
                  <a:moveTo>
                    <a:pt x="463" y="215"/>
                  </a:moveTo>
                  <a:lnTo>
                    <a:pt x="467" y="216"/>
                  </a:lnTo>
                  <a:lnTo>
                    <a:pt x="471" y="211"/>
                  </a:lnTo>
                  <a:lnTo>
                    <a:pt x="473" y="211"/>
                  </a:lnTo>
                  <a:lnTo>
                    <a:pt x="473" y="210"/>
                  </a:lnTo>
                  <a:lnTo>
                    <a:pt x="473" y="210"/>
                  </a:lnTo>
                  <a:lnTo>
                    <a:pt x="473" y="209"/>
                  </a:lnTo>
                  <a:lnTo>
                    <a:pt x="474" y="208"/>
                  </a:lnTo>
                  <a:lnTo>
                    <a:pt x="474" y="208"/>
                  </a:lnTo>
                  <a:lnTo>
                    <a:pt x="474" y="207"/>
                  </a:lnTo>
                  <a:lnTo>
                    <a:pt x="474" y="206"/>
                  </a:lnTo>
                  <a:lnTo>
                    <a:pt x="474" y="206"/>
                  </a:lnTo>
                  <a:lnTo>
                    <a:pt x="471" y="207"/>
                  </a:lnTo>
                  <a:lnTo>
                    <a:pt x="469" y="209"/>
                  </a:lnTo>
                  <a:lnTo>
                    <a:pt x="468" y="211"/>
                  </a:lnTo>
                  <a:lnTo>
                    <a:pt x="465" y="212"/>
                  </a:lnTo>
                  <a:lnTo>
                    <a:pt x="463" y="216"/>
                  </a:lnTo>
                  <a:lnTo>
                    <a:pt x="463" y="215"/>
                  </a:lnTo>
                  <a:close/>
                  <a:moveTo>
                    <a:pt x="476" y="200"/>
                  </a:moveTo>
                  <a:lnTo>
                    <a:pt x="477" y="201"/>
                  </a:lnTo>
                  <a:lnTo>
                    <a:pt x="475" y="204"/>
                  </a:lnTo>
                  <a:lnTo>
                    <a:pt x="474" y="203"/>
                  </a:lnTo>
                  <a:lnTo>
                    <a:pt x="473" y="202"/>
                  </a:lnTo>
                  <a:lnTo>
                    <a:pt x="475" y="200"/>
                  </a:lnTo>
                  <a:lnTo>
                    <a:pt x="476" y="198"/>
                  </a:lnTo>
                  <a:lnTo>
                    <a:pt x="477" y="199"/>
                  </a:lnTo>
                  <a:lnTo>
                    <a:pt x="476" y="200"/>
                  </a:lnTo>
                  <a:close/>
                  <a:moveTo>
                    <a:pt x="292" y="147"/>
                  </a:moveTo>
                  <a:lnTo>
                    <a:pt x="295" y="152"/>
                  </a:lnTo>
                  <a:lnTo>
                    <a:pt x="293" y="153"/>
                  </a:lnTo>
                  <a:lnTo>
                    <a:pt x="292" y="155"/>
                  </a:lnTo>
                  <a:lnTo>
                    <a:pt x="292" y="158"/>
                  </a:lnTo>
                  <a:lnTo>
                    <a:pt x="292" y="160"/>
                  </a:lnTo>
                  <a:lnTo>
                    <a:pt x="291" y="162"/>
                  </a:lnTo>
                  <a:lnTo>
                    <a:pt x="291" y="163"/>
                  </a:lnTo>
                  <a:lnTo>
                    <a:pt x="290" y="165"/>
                  </a:lnTo>
                  <a:lnTo>
                    <a:pt x="290" y="167"/>
                  </a:lnTo>
                  <a:lnTo>
                    <a:pt x="289" y="168"/>
                  </a:lnTo>
                  <a:lnTo>
                    <a:pt x="288" y="172"/>
                  </a:lnTo>
                  <a:lnTo>
                    <a:pt x="286" y="173"/>
                  </a:lnTo>
                  <a:lnTo>
                    <a:pt x="284" y="173"/>
                  </a:lnTo>
                  <a:lnTo>
                    <a:pt x="282" y="172"/>
                  </a:lnTo>
                  <a:lnTo>
                    <a:pt x="283" y="170"/>
                  </a:lnTo>
                  <a:lnTo>
                    <a:pt x="282" y="168"/>
                  </a:lnTo>
                  <a:lnTo>
                    <a:pt x="282" y="166"/>
                  </a:lnTo>
                  <a:lnTo>
                    <a:pt x="283" y="164"/>
                  </a:lnTo>
                  <a:lnTo>
                    <a:pt x="285" y="162"/>
                  </a:lnTo>
                  <a:lnTo>
                    <a:pt x="285" y="160"/>
                  </a:lnTo>
                  <a:lnTo>
                    <a:pt x="285" y="158"/>
                  </a:lnTo>
                  <a:lnTo>
                    <a:pt x="285" y="155"/>
                  </a:lnTo>
                  <a:lnTo>
                    <a:pt x="287" y="154"/>
                  </a:lnTo>
                  <a:lnTo>
                    <a:pt x="289" y="153"/>
                  </a:lnTo>
                  <a:lnTo>
                    <a:pt x="291" y="151"/>
                  </a:lnTo>
                  <a:lnTo>
                    <a:pt x="291" y="150"/>
                  </a:lnTo>
                  <a:lnTo>
                    <a:pt x="292" y="148"/>
                  </a:lnTo>
                  <a:lnTo>
                    <a:pt x="293" y="147"/>
                  </a:lnTo>
                  <a:lnTo>
                    <a:pt x="292" y="147"/>
                  </a:lnTo>
                  <a:close/>
                  <a:moveTo>
                    <a:pt x="417" y="67"/>
                  </a:moveTo>
                  <a:lnTo>
                    <a:pt x="421" y="66"/>
                  </a:lnTo>
                  <a:lnTo>
                    <a:pt x="423" y="66"/>
                  </a:lnTo>
                  <a:lnTo>
                    <a:pt x="425" y="66"/>
                  </a:lnTo>
                  <a:lnTo>
                    <a:pt x="427" y="65"/>
                  </a:lnTo>
                  <a:lnTo>
                    <a:pt x="427" y="64"/>
                  </a:lnTo>
                  <a:lnTo>
                    <a:pt x="426" y="63"/>
                  </a:lnTo>
                  <a:lnTo>
                    <a:pt x="426" y="62"/>
                  </a:lnTo>
                  <a:lnTo>
                    <a:pt x="426" y="61"/>
                  </a:lnTo>
                  <a:lnTo>
                    <a:pt x="425" y="60"/>
                  </a:lnTo>
                  <a:lnTo>
                    <a:pt x="425" y="59"/>
                  </a:lnTo>
                  <a:lnTo>
                    <a:pt x="424" y="58"/>
                  </a:lnTo>
                  <a:lnTo>
                    <a:pt x="423" y="57"/>
                  </a:lnTo>
                  <a:lnTo>
                    <a:pt x="423" y="56"/>
                  </a:lnTo>
                  <a:lnTo>
                    <a:pt x="422" y="56"/>
                  </a:lnTo>
                  <a:lnTo>
                    <a:pt x="422" y="59"/>
                  </a:lnTo>
                  <a:lnTo>
                    <a:pt x="422" y="60"/>
                  </a:lnTo>
                  <a:lnTo>
                    <a:pt x="422" y="61"/>
                  </a:lnTo>
                  <a:lnTo>
                    <a:pt x="420" y="61"/>
                  </a:lnTo>
                  <a:lnTo>
                    <a:pt x="419" y="61"/>
                  </a:lnTo>
                  <a:lnTo>
                    <a:pt x="420" y="63"/>
                  </a:lnTo>
                  <a:lnTo>
                    <a:pt x="420" y="65"/>
                  </a:lnTo>
                  <a:lnTo>
                    <a:pt x="418" y="65"/>
                  </a:lnTo>
                  <a:lnTo>
                    <a:pt x="416" y="66"/>
                  </a:lnTo>
                  <a:lnTo>
                    <a:pt x="417" y="67"/>
                  </a:lnTo>
                  <a:lnTo>
                    <a:pt x="417" y="67"/>
                  </a:lnTo>
                  <a:close/>
                  <a:moveTo>
                    <a:pt x="343" y="112"/>
                  </a:moveTo>
                  <a:lnTo>
                    <a:pt x="344" y="112"/>
                  </a:lnTo>
                  <a:lnTo>
                    <a:pt x="346" y="114"/>
                  </a:lnTo>
                  <a:lnTo>
                    <a:pt x="346" y="117"/>
                  </a:lnTo>
                  <a:lnTo>
                    <a:pt x="344" y="117"/>
                  </a:lnTo>
                  <a:lnTo>
                    <a:pt x="342" y="114"/>
                  </a:lnTo>
                  <a:lnTo>
                    <a:pt x="343" y="113"/>
                  </a:lnTo>
                  <a:lnTo>
                    <a:pt x="344" y="112"/>
                  </a:lnTo>
                  <a:lnTo>
                    <a:pt x="343" y="112"/>
                  </a:lnTo>
                  <a:close/>
                  <a:moveTo>
                    <a:pt x="67" y="5"/>
                  </a:moveTo>
                  <a:lnTo>
                    <a:pt x="65" y="5"/>
                  </a:lnTo>
                  <a:lnTo>
                    <a:pt x="64" y="7"/>
                  </a:lnTo>
                  <a:lnTo>
                    <a:pt x="66" y="7"/>
                  </a:lnTo>
                  <a:lnTo>
                    <a:pt x="66" y="8"/>
                  </a:lnTo>
                  <a:lnTo>
                    <a:pt x="63" y="9"/>
                  </a:lnTo>
                  <a:lnTo>
                    <a:pt x="65" y="10"/>
                  </a:lnTo>
                  <a:lnTo>
                    <a:pt x="67" y="11"/>
                  </a:lnTo>
                  <a:lnTo>
                    <a:pt x="68" y="10"/>
                  </a:lnTo>
                  <a:lnTo>
                    <a:pt x="69" y="10"/>
                  </a:lnTo>
                  <a:lnTo>
                    <a:pt x="72" y="10"/>
                  </a:lnTo>
                  <a:lnTo>
                    <a:pt x="74" y="10"/>
                  </a:lnTo>
                  <a:lnTo>
                    <a:pt x="75" y="9"/>
                  </a:lnTo>
                  <a:lnTo>
                    <a:pt x="74" y="7"/>
                  </a:lnTo>
                  <a:lnTo>
                    <a:pt x="73" y="7"/>
                  </a:lnTo>
                  <a:lnTo>
                    <a:pt x="72" y="6"/>
                  </a:lnTo>
                  <a:lnTo>
                    <a:pt x="71" y="7"/>
                  </a:lnTo>
                  <a:lnTo>
                    <a:pt x="69" y="6"/>
                  </a:lnTo>
                  <a:lnTo>
                    <a:pt x="68" y="6"/>
                  </a:lnTo>
                  <a:lnTo>
                    <a:pt x="67" y="6"/>
                  </a:lnTo>
                  <a:lnTo>
                    <a:pt x="67" y="5"/>
                  </a:lnTo>
                  <a:lnTo>
                    <a:pt x="64" y="5"/>
                  </a:lnTo>
                  <a:lnTo>
                    <a:pt x="67" y="5"/>
                  </a:lnTo>
                  <a:close/>
                  <a:moveTo>
                    <a:pt x="297" y="71"/>
                  </a:moveTo>
                  <a:lnTo>
                    <a:pt x="297" y="76"/>
                  </a:lnTo>
                  <a:lnTo>
                    <a:pt x="298" y="79"/>
                  </a:lnTo>
                  <a:lnTo>
                    <a:pt x="299" y="81"/>
                  </a:lnTo>
                  <a:lnTo>
                    <a:pt x="300" y="79"/>
                  </a:lnTo>
                  <a:lnTo>
                    <a:pt x="301" y="83"/>
                  </a:lnTo>
                  <a:lnTo>
                    <a:pt x="306" y="83"/>
                  </a:lnTo>
                  <a:lnTo>
                    <a:pt x="306" y="80"/>
                  </a:lnTo>
                  <a:lnTo>
                    <a:pt x="308" y="79"/>
                  </a:lnTo>
                  <a:lnTo>
                    <a:pt x="308" y="82"/>
                  </a:lnTo>
                  <a:lnTo>
                    <a:pt x="310" y="85"/>
                  </a:lnTo>
                  <a:lnTo>
                    <a:pt x="312" y="86"/>
                  </a:lnTo>
                  <a:lnTo>
                    <a:pt x="312" y="88"/>
                  </a:lnTo>
                  <a:lnTo>
                    <a:pt x="309" y="92"/>
                  </a:lnTo>
                  <a:lnTo>
                    <a:pt x="309" y="92"/>
                  </a:lnTo>
                  <a:lnTo>
                    <a:pt x="308" y="93"/>
                  </a:lnTo>
                  <a:lnTo>
                    <a:pt x="307" y="94"/>
                  </a:lnTo>
                  <a:lnTo>
                    <a:pt x="306" y="94"/>
                  </a:lnTo>
                  <a:lnTo>
                    <a:pt x="306" y="95"/>
                  </a:lnTo>
                  <a:lnTo>
                    <a:pt x="305" y="95"/>
                  </a:lnTo>
                  <a:lnTo>
                    <a:pt x="304" y="96"/>
                  </a:lnTo>
                  <a:lnTo>
                    <a:pt x="303" y="97"/>
                  </a:lnTo>
                  <a:lnTo>
                    <a:pt x="303" y="97"/>
                  </a:lnTo>
                  <a:lnTo>
                    <a:pt x="302" y="97"/>
                  </a:lnTo>
                  <a:lnTo>
                    <a:pt x="301" y="97"/>
                  </a:lnTo>
                  <a:lnTo>
                    <a:pt x="300" y="98"/>
                  </a:lnTo>
                  <a:lnTo>
                    <a:pt x="299" y="98"/>
                  </a:lnTo>
                  <a:lnTo>
                    <a:pt x="298" y="98"/>
                  </a:lnTo>
                  <a:lnTo>
                    <a:pt x="297" y="99"/>
                  </a:lnTo>
                  <a:lnTo>
                    <a:pt x="296" y="99"/>
                  </a:lnTo>
                  <a:lnTo>
                    <a:pt x="296" y="100"/>
                  </a:lnTo>
                  <a:lnTo>
                    <a:pt x="295" y="100"/>
                  </a:lnTo>
                  <a:lnTo>
                    <a:pt x="294" y="101"/>
                  </a:lnTo>
                  <a:lnTo>
                    <a:pt x="293" y="101"/>
                  </a:lnTo>
                  <a:lnTo>
                    <a:pt x="292" y="102"/>
                  </a:lnTo>
                  <a:lnTo>
                    <a:pt x="291" y="102"/>
                  </a:lnTo>
                  <a:lnTo>
                    <a:pt x="290" y="103"/>
                  </a:lnTo>
                  <a:lnTo>
                    <a:pt x="290" y="103"/>
                  </a:lnTo>
                  <a:lnTo>
                    <a:pt x="288" y="102"/>
                  </a:lnTo>
                  <a:lnTo>
                    <a:pt x="288" y="101"/>
                  </a:lnTo>
                  <a:lnTo>
                    <a:pt x="288" y="100"/>
                  </a:lnTo>
                  <a:lnTo>
                    <a:pt x="287" y="99"/>
                  </a:lnTo>
                  <a:lnTo>
                    <a:pt x="287" y="98"/>
                  </a:lnTo>
                  <a:lnTo>
                    <a:pt x="286" y="97"/>
                  </a:lnTo>
                  <a:lnTo>
                    <a:pt x="286" y="96"/>
                  </a:lnTo>
                  <a:lnTo>
                    <a:pt x="285" y="95"/>
                  </a:lnTo>
                  <a:lnTo>
                    <a:pt x="285" y="94"/>
                  </a:lnTo>
                  <a:lnTo>
                    <a:pt x="285" y="93"/>
                  </a:lnTo>
                  <a:lnTo>
                    <a:pt x="284" y="92"/>
                  </a:lnTo>
                  <a:lnTo>
                    <a:pt x="284" y="91"/>
                  </a:lnTo>
                  <a:lnTo>
                    <a:pt x="283" y="90"/>
                  </a:lnTo>
                  <a:lnTo>
                    <a:pt x="283" y="89"/>
                  </a:lnTo>
                  <a:lnTo>
                    <a:pt x="282" y="88"/>
                  </a:lnTo>
                  <a:lnTo>
                    <a:pt x="282" y="87"/>
                  </a:lnTo>
                  <a:lnTo>
                    <a:pt x="282" y="86"/>
                  </a:lnTo>
                  <a:lnTo>
                    <a:pt x="281" y="83"/>
                  </a:lnTo>
                  <a:lnTo>
                    <a:pt x="281" y="82"/>
                  </a:lnTo>
                  <a:lnTo>
                    <a:pt x="281" y="80"/>
                  </a:lnTo>
                  <a:lnTo>
                    <a:pt x="280" y="79"/>
                  </a:lnTo>
                  <a:lnTo>
                    <a:pt x="280" y="78"/>
                  </a:lnTo>
                  <a:lnTo>
                    <a:pt x="279" y="77"/>
                  </a:lnTo>
                  <a:lnTo>
                    <a:pt x="279" y="76"/>
                  </a:lnTo>
                  <a:lnTo>
                    <a:pt x="279" y="75"/>
                  </a:lnTo>
                  <a:lnTo>
                    <a:pt x="278" y="74"/>
                  </a:lnTo>
                  <a:lnTo>
                    <a:pt x="278" y="71"/>
                  </a:lnTo>
                  <a:lnTo>
                    <a:pt x="277" y="74"/>
                  </a:lnTo>
                  <a:lnTo>
                    <a:pt x="275" y="71"/>
                  </a:lnTo>
                  <a:lnTo>
                    <a:pt x="273" y="72"/>
                  </a:lnTo>
                  <a:lnTo>
                    <a:pt x="273" y="67"/>
                  </a:lnTo>
                  <a:lnTo>
                    <a:pt x="276" y="67"/>
                  </a:lnTo>
                  <a:lnTo>
                    <a:pt x="277" y="66"/>
                  </a:lnTo>
                  <a:lnTo>
                    <a:pt x="277" y="65"/>
                  </a:lnTo>
                  <a:lnTo>
                    <a:pt x="279" y="63"/>
                  </a:lnTo>
                  <a:lnTo>
                    <a:pt x="281" y="60"/>
                  </a:lnTo>
                  <a:lnTo>
                    <a:pt x="280" y="59"/>
                  </a:lnTo>
                  <a:lnTo>
                    <a:pt x="279" y="59"/>
                  </a:lnTo>
                  <a:lnTo>
                    <a:pt x="279" y="59"/>
                  </a:lnTo>
                  <a:lnTo>
                    <a:pt x="278" y="59"/>
                  </a:lnTo>
                  <a:lnTo>
                    <a:pt x="277" y="59"/>
                  </a:lnTo>
                  <a:lnTo>
                    <a:pt x="276" y="59"/>
                  </a:lnTo>
                  <a:lnTo>
                    <a:pt x="276" y="59"/>
                  </a:lnTo>
                  <a:lnTo>
                    <a:pt x="275" y="59"/>
                  </a:lnTo>
                  <a:lnTo>
                    <a:pt x="274" y="59"/>
                  </a:lnTo>
                  <a:lnTo>
                    <a:pt x="271" y="60"/>
                  </a:lnTo>
                  <a:lnTo>
                    <a:pt x="269" y="56"/>
                  </a:lnTo>
                  <a:lnTo>
                    <a:pt x="270" y="55"/>
                  </a:lnTo>
                  <a:lnTo>
                    <a:pt x="270" y="52"/>
                  </a:lnTo>
                  <a:lnTo>
                    <a:pt x="269" y="51"/>
                  </a:lnTo>
                  <a:lnTo>
                    <a:pt x="266" y="51"/>
                  </a:lnTo>
                  <a:lnTo>
                    <a:pt x="266" y="53"/>
                  </a:lnTo>
                  <a:lnTo>
                    <a:pt x="265" y="54"/>
                  </a:lnTo>
                  <a:lnTo>
                    <a:pt x="264" y="56"/>
                  </a:lnTo>
                  <a:lnTo>
                    <a:pt x="264" y="58"/>
                  </a:lnTo>
                  <a:lnTo>
                    <a:pt x="263" y="60"/>
                  </a:lnTo>
                  <a:lnTo>
                    <a:pt x="261" y="59"/>
                  </a:lnTo>
                  <a:lnTo>
                    <a:pt x="261" y="57"/>
                  </a:lnTo>
                  <a:lnTo>
                    <a:pt x="262" y="56"/>
                  </a:lnTo>
                  <a:lnTo>
                    <a:pt x="261" y="56"/>
                  </a:lnTo>
                  <a:lnTo>
                    <a:pt x="261" y="53"/>
                  </a:lnTo>
                  <a:lnTo>
                    <a:pt x="260" y="52"/>
                  </a:lnTo>
                  <a:lnTo>
                    <a:pt x="260" y="50"/>
                  </a:lnTo>
                  <a:lnTo>
                    <a:pt x="258" y="47"/>
                  </a:lnTo>
                  <a:lnTo>
                    <a:pt x="257" y="46"/>
                  </a:lnTo>
                  <a:lnTo>
                    <a:pt x="256" y="45"/>
                  </a:lnTo>
                  <a:lnTo>
                    <a:pt x="254" y="45"/>
                  </a:lnTo>
                  <a:lnTo>
                    <a:pt x="254" y="46"/>
                  </a:lnTo>
                  <a:lnTo>
                    <a:pt x="255" y="48"/>
                  </a:lnTo>
                  <a:lnTo>
                    <a:pt x="256" y="50"/>
                  </a:lnTo>
                  <a:lnTo>
                    <a:pt x="258" y="51"/>
                  </a:lnTo>
                  <a:lnTo>
                    <a:pt x="259" y="52"/>
                  </a:lnTo>
                  <a:lnTo>
                    <a:pt x="259" y="53"/>
                  </a:lnTo>
                  <a:lnTo>
                    <a:pt x="258" y="53"/>
                  </a:lnTo>
                  <a:lnTo>
                    <a:pt x="257" y="53"/>
                  </a:lnTo>
                  <a:lnTo>
                    <a:pt x="257" y="53"/>
                  </a:lnTo>
                  <a:lnTo>
                    <a:pt x="257" y="55"/>
                  </a:lnTo>
                  <a:lnTo>
                    <a:pt x="256" y="56"/>
                  </a:lnTo>
                  <a:lnTo>
                    <a:pt x="255" y="56"/>
                  </a:lnTo>
                  <a:lnTo>
                    <a:pt x="255" y="55"/>
                  </a:lnTo>
                  <a:lnTo>
                    <a:pt x="255" y="53"/>
                  </a:lnTo>
                  <a:lnTo>
                    <a:pt x="254" y="51"/>
                  </a:lnTo>
                  <a:lnTo>
                    <a:pt x="252" y="49"/>
                  </a:lnTo>
                  <a:lnTo>
                    <a:pt x="250" y="48"/>
                  </a:lnTo>
                  <a:lnTo>
                    <a:pt x="249" y="46"/>
                  </a:lnTo>
                  <a:lnTo>
                    <a:pt x="248" y="47"/>
                  </a:lnTo>
                  <a:lnTo>
                    <a:pt x="246" y="47"/>
                  </a:lnTo>
                  <a:lnTo>
                    <a:pt x="245" y="48"/>
                  </a:lnTo>
                  <a:lnTo>
                    <a:pt x="244" y="48"/>
                  </a:lnTo>
                  <a:lnTo>
                    <a:pt x="243" y="48"/>
                  </a:lnTo>
                  <a:lnTo>
                    <a:pt x="242" y="49"/>
                  </a:lnTo>
                  <a:lnTo>
                    <a:pt x="241" y="49"/>
                  </a:lnTo>
                  <a:lnTo>
                    <a:pt x="240" y="49"/>
                  </a:lnTo>
                  <a:lnTo>
                    <a:pt x="239" y="50"/>
                  </a:lnTo>
                  <a:lnTo>
                    <a:pt x="236" y="50"/>
                  </a:lnTo>
                  <a:lnTo>
                    <a:pt x="235" y="51"/>
                  </a:lnTo>
                  <a:lnTo>
                    <a:pt x="234" y="52"/>
                  </a:lnTo>
                  <a:lnTo>
                    <a:pt x="233" y="53"/>
                  </a:lnTo>
                  <a:lnTo>
                    <a:pt x="232" y="54"/>
                  </a:lnTo>
                  <a:lnTo>
                    <a:pt x="231" y="55"/>
                  </a:lnTo>
                  <a:lnTo>
                    <a:pt x="231" y="56"/>
                  </a:lnTo>
                  <a:lnTo>
                    <a:pt x="229" y="56"/>
                  </a:lnTo>
                  <a:lnTo>
                    <a:pt x="228" y="57"/>
                  </a:lnTo>
                  <a:lnTo>
                    <a:pt x="227" y="57"/>
                  </a:lnTo>
                  <a:lnTo>
                    <a:pt x="226" y="57"/>
                  </a:lnTo>
                  <a:lnTo>
                    <a:pt x="225" y="58"/>
                  </a:lnTo>
                  <a:lnTo>
                    <a:pt x="224" y="58"/>
                  </a:lnTo>
                  <a:lnTo>
                    <a:pt x="223" y="57"/>
                  </a:lnTo>
                  <a:lnTo>
                    <a:pt x="222" y="57"/>
                  </a:lnTo>
                  <a:lnTo>
                    <a:pt x="221" y="57"/>
                  </a:lnTo>
                  <a:lnTo>
                    <a:pt x="221" y="56"/>
                  </a:lnTo>
                  <a:lnTo>
                    <a:pt x="220" y="55"/>
                  </a:lnTo>
                  <a:lnTo>
                    <a:pt x="220" y="54"/>
                  </a:lnTo>
                  <a:lnTo>
                    <a:pt x="220" y="53"/>
                  </a:lnTo>
                  <a:lnTo>
                    <a:pt x="222" y="50"/>
                  </a:lnTo>
                  <a:lnTo>
                    <a:pt x="223" y="48"/>
                  </a:lnTo>
                  <a:lnTo>
                    <a:pt x="225" y="47"/>
                  </a:lnTo>
                  <a:lnTo>
                    <a:pt x="227" y="47"/>
                  </a:lnTo>
                  <a:lnTo>
                    <a:pt x="228" y="47"/>
                  </a:lnTo>
                  <a:lnTo>
                    <a:pt x="228" y="47"/>
                  </a:lnTo>
                  <a:lnTo>
                    <a:pt x="229" y="47"/>
                  </a:lnTo>
                  <a:lnTo>
                    <a:pt x="230" y="47"/>
                  </a:lnTo>
                  <a:lnTo>
                    <a:pt x="231" y="47"/>
                  </a:lnTo>
                  <a:lnTo>
                    <a:pt x="232" y="47"/>
                  </a:lnTo>
                  <a:lnTo>
                    <a:pt x="233" y="47"/>
                  </a:lnTo>
                  <a:lnTo>
                    <a:pt x="234" y="47"/>
                  </a:lnTo>
                  <a:lnTo>
                    <a:pt x="236" y="44"/>
                  </a:lnTo>
                  <a:lnTo>
                    <a:pt x="236" y="43"/>
                  </a:lnTo>
                  <a:lnTo>
                    <a:pt x="235" y="41"/>
                  </a:lnTo>
                  <a:lnTo>
                    <a:pt x="235" y="40"/>
                  </a:lnTo>
                  <a:lnTo>
                    <a:pt x="236" y="40"/>
                  </a:lnTo>
                  <a:lnTo>
                    <a:pt x="237" y="40"/>
                  </a:lnTo>
                  <a:lnTo>
                    <a:pt x="239" y="40"/>
                  </a:lnTo>
                  <a:lnTo>
                    <a:pt x="239" y="38"/>
                  </a:lnTo>
                  <a:lnTo>
                    <a:pt x="240" y="38"/>
                  </a:lnTo>
                  <a:lnTo>
                    <a:pt x="241" y="38"/>
                  </a:lnTo>
                  <a:lnTo>
                    <a:pt x="243" y="38"/>
                  </a:lnTo>
                  <a:lnTo>
                    <a:pt x="244" y="37"/>
                  </a:lnTo>
                  <a:lnTo>
                    <a:pt x="245" y="37"/>
                  </a:lnTo>
                  <a:lnTo>
                    <a:pt x="247" y="36"/>
                  </a:lnTo>
                  <a:lnTo>
                    <a:pt x="248" y="35"/>
                  </a:lnTo>
                  <a:lnTo>
                    <a:pt x="250" y="35"/>
                  </a:lnTo>
                  <a:lnTo>
                    <a:pt x="251" y="34"/>
                  </a:lnTo>
                  <a:lnTo>
                    <a:pt x="251" y="34"/>
                  </a:lnTo>
                  <a:lnTo>
                    <a:pt x="253" y="33"/>
                  </a:lnTo>
                  <a:lnTo>
                    <a:pt x="256" y="32"/>
                  </a:lnTo>
                  <a:lnTo>
                    <a:pt x="260" y="33"/>
                  </a:lnTo>
                  <a:lnTo>
                    <a:pt x="263" y="33"/>
                  </a:lnTo>
                  <a:lnTo>
                    <a:pt x="265" y="32"/>
                  </a:lnTo>
                  <a:lnTo>
                    <a:pt x="268" y="32"/>
                  </a:lnTo>
                  <a:lnTo>
                    <a:pt x="268" y="33"/>
                  </a:lnTo>
                  <a:lnTo>
                    <a:pt x="270" y="32"/>
                  </a:lnTo>
                  <a:lnTo>
                    <a:pt x="271" y="31"/>
                  </a:lnTo>
                  <a:lnTo>
                    <a:pt x="272" y="31"/>
                  </a:lnTo>
                  <a:lnTo>
                    <a:pt x="274" y="28"/>
                  </a:lnTo>
                  <a:lnTo>
                    <a:pt x="273" y="26"/>
                  </a:lnTo>
                  <a:lnTo>
                    <a:pt x="270" y="27"/>
                  </a:lnTo>
                  <a:lnTo>
                    <a:pt x="268" y="27"/>
                  </a:lnTo>
                  <a:lnTo>
                    <a:pt x="265" y="29"/>
                  </a:lnTo>
                  <a:lnTo>
                    <a:pt x="265" y="30"/>
                  </a:lnTo>
                  <a:lnTo>
                    <a:pt x="262" y="31"/>
                  </a:lnTo>
                  <a:lnTo>
                    <a:pt x="262" y="29"/>
                  </a:lnTo>
                  <a:lnTo>
                    <a:pt x="263" y="27"/>
                  </a:lnTo>
                  <a:lnTo>
                    <a:pt x="264" y="25"/>
                  </a:lnTo>
                  <a:lnTo>
                    <a:pt x="262" y="26"/>
                  </a:lnTo>
                  <a:lnTo>
                    <a:pt x="259" y="27"/>
                  </a:lnTo>
                  <a:lnTo>
                    <a:pt x="258" y="26"/>
                  </a:lnTo>
                  <a:lnTo>
                    <a:pt x="260" y="24"/>
                  </a:lnTo>
                  <a:lnTo>
                    <a:pt x="260" y="23"/>
                  </a:lnTo>
                  <a:lnTo>
                    <a:pt x="261" y="23"/>
                  </a:lnTo>
                  <a:lnTo>
                    <a:pt x="262" y="22"/>
                  </a:lnTo>
                  <a:lnTo>
                    <a:pt x="263" y="21"/>
                  </a:lnTo>
                  <a:lnTo>
                    <a:pt x="264" y="21"/>
                  </a:lnTo>
                  <a:lnTo>
                    <a:pt x="265" y="20"/>
                  </a:lnTo>
                  <a:lnTo>
                    <a:pt x="266" y="20"/>
                  </a:lnTo>
                  <a:lnTo>
                    <a:pt x="267" y="19"/>
                  </a:lnTo>
                  <a:lnTo>
                    <a:pt x="269" y="19"/>
                  </a:lnTo>
                  <a:lnTo>
                    <a:pt x="269" y="19"/>
                  </a:lnTo>
                  <a:lnTo>
                    <a:pt x="271" y="18"/>
                  </a:lnTo>
                  <a:lnTo>
                    <a:pt x="272" y="18"/>
                  </a:lnTo>
                  <a:lnTo>
                    <a:pt x="273" y="17"/>
                  </a:lnTo>
                  <a:lnTo>
                    <a:pt x="274" y="17"/>
                  </a:lnTo>
                  <a:lnTo>
                    <a:pt x="275" y="16"/>
                  </a:lnTo>
                  <a:lnTo>
                    <a:pt x="276" y="16"/>
                  </a:lnTo>
                  <a:lnTo>
                    <a:pt x="277" y="15"/>
                  </a:lnTo>
                  <a:lnTo>
                    <a:pt x="278" y="15"/>
                  </a:lnTo>
                  <a:lnTo>
                    <a:pt x="279" y="14"/>
                  </a:lnTo>
                  <a:lnTo>
                    <a:pt x="280" y="14"/>
                  </a:lnTo>
                  <a:lnTo>
                    <a:pt x="281" y="13"/>
                  </a:lnTo>
                  <a:lnTo>
                    <a:pt x="282" y="13"/>
                  </a:lnTo>
                  <a:lnTo>
                    <a:pt x="283" y="13"/>
                  </a:lnTo>
                  <a:lnTo>
                    <a:pt x="284" y="12"/>
                  </a:lnTo>
                  <a:lnTo>
                    <a:pt x="286" y="11"/>
                  </a:lnTo>
                  <a:lnTo>
                    <a:pt x="290" y="11"/>
                  </a:lnTo>
                  <a:lnTo>
                    <a:pt x="291" y="11"/>
                  </a:lnTo>
                  <a:lnTo>
                    <a:pt x="292" y="12"/>
                  </a:lnTo>
                  <a:lnTo>
                    <a:pt x="294" y="12"/>
                  </a:lnTo>
                  <a:lnTo>
                    <a:pt x="295" y="13"/>
                  </a:lnTo>
                  <a:lnTo>
                    <a:pt x="296" y="13"/>
                  </a:lnTo>
                  <a:lnTo>
                    <a:pt x="297" y="14"/>
                  </a:lnTo>
                  <a:lnTo>
                    <a:pt x="299" y="14"/>
                  </a:lnTo>
                  <a:lnTo>
                    <a:pt x="300" y="15"/>
                  </a:lnTo>
                  <a:lnTo>
                    <a:pt x="301" y="17"/>
                  </a:lnTo>
                  <a:lnTo>
                    <a:pt x="297" y="18"/>
                  </a:lnTo>
                  <a:lnTo>
                    <a:pt x="295" y="17"/>
                  </a:lnTo>
                  <a:lnTo>
                    <a:pt x="294" y="17"/>
                  </a:lnTo>
                  <a:lnTo>
                    <a:pt x="295" y="19"/>
                  </a:lnTo>
                  <a:lnTo>
                    <a:pt x="296" y="20"/>
                  </a:lnTo>
                  <a:lnTo>
                    <a:pt x="298" y="20"/>
                  </a:lnTo>
                  <a:lnTo>
                    <a:pt x="301" y="18"/>
                  </a:lnTo>
                  <a:lnTo>
                    <a:pt x="303" y="17"/>
                  </a:lnTo>
                  <a:lnTo>
                    <a:pt x="303" y="17"/>
                  </a:lnTo>
                  <a:lnTo>
                    <a:pt x="304" y="14"/>
                  </a:lnTo>
                  <a:lnTo>
                    <a:pt x="305" y="14"/>
                  </a:lnTo>
                  <a:lnTo>
                    <a:pt x="305" y="17"/>
                  </a:lnTo>
                  <a:lnTo>
                    <a:pt x="307" y="15"/>
                  </a:lnTo>
                  <a:lnTo>
                    <a:pt x="314" y="15"/>
                  </a:lnTo>
                  <a:lnTo>
                    <a:pt x="315" y="15"/>
                  </a:lnTo>
                  <a:lnTo>
                    <a:pt x="318" y="14"/>
                  </a:lnTo>
                  <a:lnTo>
                    <a:pt x="322" y="15"/>
                  </a:lnTo>
                  <a:lnTo>
                    <a:pt x="326" y="10"/>
                  </a:lnTo>
                  <a:lnTo>
                    <a:pt x="326" y="12"/>
                  </a:lnTo>
                  <a:lnTo>
                    <a:pt x="328" y="16"/>
                  </a:lnTo>
                  <a:lnTo>
                    <a:pt x="326" y="17"/>
                  </a:lnTo>
                  <a:lnTo>
                    <a:pt x="327" y="18"/>
                  </a:lnTo>
                  <a:lnTo>
                    <a:pt x="330" y="17"/>
                  </a:lnTo>
                  <a:lnTo>
                    <a:pt x="333" y="17"/>
                  </a:lnTo>
                  <a:lnTo>
                    <a:pt x="334" y="18"/>
                  </a:lnTo>
                  <a:lnTo>
                    <a:pt x="333" y="15"/>
                  </a:lnTo>
                  <a:lnTo>
                    <a:pt x="329" y="14"/>
                  </a:lnTo>
                  <a:lnTo>
                    <a:pt x="329" y="12"/>
                  </a:lnTo>
                  <a:lnTo>
                    <a:pt x="330" y="11"/>
                  </a:lnTo>
                  <a:lnTo>
                    <a:pt x="331" y="13"/>
                  </a:lnTo>
                  <a:lnTo>
                    <a:pt x="333" y="12"/>
                  </a:lnTo>
                  <a:lnTo>
                    <a:pt x="331" y="11"/>
                  </a:lnTo>
                  <a:lnTo>
                    <a:pt x="334" y="10"/>
                  </a:lnTo>
                  <a:lnTo>
                    <a:pt x="337" y="11"/>
                  </a:lnTo>
                  <a:lnTo>
                    <a:pt x="336" y="9"/>
                  </a:lnTo>
                  <a:lnTo>
                    <a:pt x="342" y="8"/>
                  </a:lnTo>
                  <a:lnTo>
                    <a:pt x="347" y="6"/>
                  </a:lnTo>
                  <a:lnTo>
                    <a:pt x="353" y="7"/>
                  </a:lnTo>
                  <a:lnTo>
                    <a:pt x="353" y="10"/>
                  </a:lnTo>
                  <a:lnTo>
                    <a:pt x="356" y="9"/>
                  </a:lnTo>
                  <a:lnTo>
                    <a:pt x="359" y="11"/>
                  </a:lnTo>
                  <a:lnTo>
                    <a:pt x="363" y="11"/>
                  </a:lnTo>
                  <a:lnTo>
                    <a:pt x="364" y="12"/>
                  </a:lnTo>
                  <a:lnTo>
                    <a:pt x="368" y="12"/>
                  </a:lnTo>
                  <a:lnTo>
                    <a:pt x="369" y="13"/>
                  </a:lnTo>
                  <a:lnTo>
                    <a:pt x="372" y="11"/>
                  </a:lnTo>
                  <a:lnTo>
                    <a:pt x="374" y="13"/>
                  </a:lnTo>
                  <a:lnTo>
                    <a:pt x="380" y="12"/>
                  </a:lnTo>
                  <a:lnTo>
                    <a:pt x="380" y="11"/>
                  </a:lnTo>
                  <a:lnTo>
                    <a:pt x="382" y="11"/>
                  </a:lnTo>
                  <a:lnTo>
                    <a:pt x="387" y="11"/>
                  </a:lnTo>
                  <a:lnTo>
                    <a:pt x="389" y="13"/>
                  </a:lnTo>
                  <a:lnTo>
                    <a:pt x="390" y="13"/>
                  </a:lnTo>
                  <a:lnTo>
                    <a:pt x="392" y="13"/>
                  </a:lnTo>
                  <a:lnTo>
                    <a:pt x="393" y="13"/>
                  </a:lnTo>
                  <a:lnTo>
                    <a:pt x="395" y="13"/>
                  </a:lnTo>
                  <a:lnTo>
                    <a:pt x="396" y="14"/>
                  </a:lnTo>
                  <a:lnTo>
                    <a:pt x="398" y="14"/>
                  </a:lnTo>
                  <a:lnTo>
                    <a:pt x="399" y="15"/>
                  </a:lnTo>
                  <a:lnTo>
                    <a:pt x="401" y="15"/>
                  </a:lnTo>
                  <a:lnTo>
                    <a:pt x="402" y="16"/>
                  </a:lnTo>
                  <a:lnTo>
                    <a:pt x="407" y="17"/>
                  </a:lnTo>
                  <a:lnTo>
                    <a:pt x="414" y="17"/>
                  </a:lnTo>
                  <a:lnTo>
                    <a:pt x="413" y="16"/>
                  </a:lnTo>
                  <a:lnTo>
                    <a:pt x="417" y="16"/>
                  </a:lnTo>
                  <a:lnTo>
                    <a:pt x="419" y="17"/>
                  </a:lnTo>
                  <a:lnTo>
                    <a:pt x="421" y="18"/>
                  </a:lnTo>
                  <a:lnTo>
                    <a:pt x="426" y="19"/>
                  </a:lnTo>
                  <a:lnTo>
                    <a:pt x="431" y="20"/>
                  </a:lnTo>
                  <a:lnTo>
                    <a:pt x="434" y="19"/>
                  </a:lnTo>
                  <a:lnTo>
                    <a:pt x="435" y="20"/>
                  </a:lnTo>
                  <a:lnTo>
                    <a:pt x="437" y="21"/>
                  </a:lnTo>
                  <a:lnTo>
                    <a:pt x="440" y="23"/>
                  </a:lnTo>
                  <a:lnTo>
                    <a:pt x="442" y="24"/>
                  </a:lnTo>
                  <a:lnTo>
                    <a:pt x="441" y="24"/>
                  </a:lnTo>
                  <a:lnTo>
                    <a:pt x="436" y="23"/>
                  </a:lnTo>
                  <a:lnTo>
                    <a:pt x="432" y="22"/>
                  </a:lnTo>
                  <a:lnTo>
                    <a:pt x="434" y="23"/>
                  </a:lnTo>
                  <a:lnTo>
                    <a:pt x="436" y="25"/>
                  </a:lnTo>
                  <a:lnTo>
                    <a:pt x="436" y="26"/>
                  </a:lnTo>
                  <a:lnTo>
                    <a:pt x="434" y="27"/>
                  </a:lnTo>
                  <a:lnTo>
                    <a:pt x="435" y="28"/>
                  </a:lnTo>
                  <a:lnTo>
                    <a:pt x="432" y="29"/>
                  </a:lnTo>
                  <a:lnTo>
                    <a:pt x="429" y="29"/>
                  </a:lnTo>
                  <a:lnTo>
                    <a:pt x="428" y="30"/>
                  </a:lnTo>
                  <a:lnTo>
                    <a:pt x="431" y="33"/>
                  </a:lnTo>
                  <a:lnTo>
                    <a:pt x="432" y="34"/>
                  </a:lnTo>
                  <a:lnTo>
                    <a:pt x="433" y="36"/>
                  </a:lnTo>
                  <a:lnTo>
                    <a:pt x="435" y="37"/>
                  </a:lnTo>
                  <a:lnTo>
                    <a:pt x="435" y="39"/>
                  </a:lnTo>
                  <a:lnTo>
                    <a:pt x="436" y="42"/>
                  </a:lnTo>
                  <a:lnTo>
                    <a:pt x="434" y="41"/>
                  </a:lnTo>
                  <a:lnTo>
                    <a:pt x="432" y="40"/>
                  </a:lnTo>
                  <a:lnTo>
                    <a:pt x="431" y="38"/>
                  </a:lnTo>
                  <a:lnTo>
                    <a:pt x="430" y="37"/>
                  </a:lnTo>
                  <a:lnTo>
                    <a:pt x="429" y="37"/>
                  </a:lnTo>
                  <a:lnTo>
                    <a:pt x="429" y="36"/>
                  </a:lnTo>
                  <a:lnTo>
                    <a:pt x="428" y="36"/>
                  </a:lnTo>
                  <a:lnTo>
                    <a:pt x="428" y="35"/>
                  </a:lnTo>
                  <a:lnTo>
                    <a:pt x="427" y="34"/>
                  </a:lnTo>
                  <a:lnTo>
                    <a:pt x="427" y="34"/>
                  </a:lnTo>
                  <a:lnTo>
                    <a:pt x="426" y="33"/>
                  </a:lnTo>
                  <a:lnTo>
                    <a:pt x="425" y="31"/>
                  </a:lnTo>
                  <a:lnTo>
                    <a:pt x="423" y="28"/>
                  </a:lnTo>
                  <a:lnTo>
                    <a:pt x="421" y="26"/>
                  </a:lnTo>
                  <a:lnTo>
                    <a:pt x="420" y="27"/>
                  </a:lnTo>
                  <a:lnTo>
                    <a:pt x="419" y="26"/>
                  </a:lnTo>
                  <a:lnTo>
                    <a:pt x="419" y="27"/>
                  </a:lnTo>
                  <a:lnTo>
                    <a:pt x="419" y="28"/>
                  </a:lnTo>
                  <a:lnTo>
                    <a:pt x="418" y="29"/>
                  </a:lnTo>
                  <a:lnTo>
                    <a:pt x="417" y="29"/>
                  </a:lnTo>
                  <a:lnTo>
                    <a:pt x="415" y="29"/>
                  </a:lnTo>
                  <a:lnTo>
                    <a:pt x="414" y="29"/>
                  </a:lnTo>
                  <a:lnTo>
                    <a:pt x="412" y="29"/>
                  </a:lnTo>
                  <a:lnTo>
                    <a:pt x="410" y="29"/>
                  </a:lnTo>
                  <a:lnTo>
                    <a:pt x="409" y="29"/>
                  </a:lnTo>
                  <a:lnTo>
                    <a:pt x="407" y="29"/>
                  </a:lnTo>
                  <a:lnTo>
                    <a:pt x="406" y="29"/>
                  </a:lnTo>
                  <a:lnTo>
                    <a:pt x="404" y="29"/>
                  </a:lnTo>
                  <a:lnTo>
                    <a:pt x="403" y="29"/>
                  </a:lnTo>
                  <a:lnTo>
                    <a:pt x="405" y="36"/>
                  </a:lnTo>
                  <a:lnTo>
                    <a:pt x="407" y="35"/>
                  </a:lnTo>
                  <a:lnTo>
                    <a:pt x="409" y="36"/>
                  </a:lnTo>
                  <a:lnTo>
                    <a:pt x="412" y="40"/>
                  </a:lnTo>
                  <a:lnTo>
                    <a:pt x="414" y="41"/>
                  </a:lnTo>
                  <a:lnTo>
                    <a:pt x="412" y="36"/>
                  </a:lnTo>
                  <a:lnTo>
                    <a:pt x="413" y="36"/>
                  </a:lnTo>
                  <a:lnTo>
                    <a:pt x="414" y="37"/>
                  </a:lnTo>
                  <a:lnTo>
                    <a:pt x="419" y="42"/>
                  </a:lnTo>
                  <a:lnTo>
                    <a:pt x="419" y="45"/>
                  </a:lnTo>
                  <a:lnTo>
                    <a:pt x="421" y="48"/>
                  </a:lnTo>
                  <a:lnTo>
                    <a:pt x="422" y="51"/>
                  </a:lnTo>
                  <a:lnTo>
                    <a:pt x="420" y="48"/>
                  </a:lnTo>
                  <a:lnTo>
                    <a:pt x="416" y="43"/>
                  </a:lnTo>
                  <a:lnTo>
                    <a:pt x="417" y="45"/>
                  </a:lnTo>
                  <a:lnTo>
                    <a:pt x="417" y="47"/>
                  </a:lnTo>
                  <a:lnTo>
                    <a:pt x="410" y="53"/>
                  </a:lnTo>
                  <a:lnTo>
                    <a:pt x="409" y="52"/>
                  </a:lnTo>
                  <a:lnTo>
                    <a:pt x="407" y="53"/>
                  </a:lnTo>
                  <a:lnTo>
                    <a:pt x="406" y="55"/>
                  </a:lnTo>
                  <a:lnTo>
                    <a:pt x="406" y="56"/>
                  </a:lnTo>
                  <a:lnTo>
                    <a:pt x="406" y="57"/>
                  </a:lnTo>
                  <a:lnTo>
                    <a:pt x="407" y="59"/>
                  </a:lnTo>
                  <a:lnTo>
                    <a:pt x="407" y="60"/>
                  </a:lnTo>
                  <a:lnTo>
                    <a:pt x="408" y="61"/>
                  </a:lnTo>
                  <a:lnTo>
                    <a:pt x="409" y="63"/>
                  </a:lnTo>
                  <a:lnTo>
                    <a:pt x="410" y="64"/>
                  </a:lnTo>
                  <a:lnTo>
                    <a:pt x="410" y="65"/>
                  </a:lnTo>
                  <a:lnTo>
                    <a:pt x="408" y="66"/>
                  </a:lnTo>
                  <a:lnTo>
                    <a:pt x="407" y="65"/>
                  </a:lnTo>
                  <a:lnTo>
                    <a:pt x="407" y="64"/>
                  </a:lnTo>
                  <a:lnTo>
                    <a:pt x="406" y="63"/>
                  </a:lnTo>
                  <a:lnTo>
                    <a:pt x="406" y="63"/>
                  </a:lnTo>
                  <a:lnTo>
                    <a:pt x="405" y="62"/>
                  </a:lnTo>
                  <a:lnTo>
                    <a:pt x="405" y="61"/>
                  </a:lnTo>
                  <a:lnTo>
                    <a:pt x="404" y="61"/>
                  </a:lnTo>
                  <a:lnTo>
                    <a:pt x="403" y="60"/>
                  </a:lnTo>
                  <a:lnTo>
                    <a:pt x="403" y="60"/>
                  </a:lnTo>
                  <a:lnTo>
                    <a:pt x="403" y="58"/>
                  </a:lnTo>
                  <a:lnTo>
                    <a:pt x="402" y="58"/>
                  </a:lnTo>
                  <a:lnTo>
                    <a:pt x="399" y="57"/>
                  </a:lnTo>
                  <a:lnTo>
                    <a:pt x="398" y="58"/>
                  </a:lnTo>
                  <a:lnTo>
                    <a:pt x="397" y="56"/>
                  </a:lnTo>
                  <a:lnTo>
                    <a:pt x="397" y="54"/>
                  </a:lnTo>
                  <a:lnTo>
                    <a:pt x="396" y="54"/>
                  </a:lnTo>
                  <a:lnTo>
                    <a:pt x="395" y="56"/>
                  </a:lnTo>
                  <a:lnTo>
                    <a:pt x="393" y="58"/>
                  </a:lnTo>
                  <a:lnTo>
                    <a:pt x="393" y="59"/>
                  </a:lnTo>
                  <a:lnTo>
                    <a:pt x="394" y="60"/>
                  </a:lnTo>
                  <a:lnTo>
                    <a:pt x="396" y="61"/>
                  </a:lnTo>
                  <a:lnTo>
                    <a:pt x="398" y="61"/>
                  </a:lnTo>
                  <a:lnTo>
                    <a:pt x="400" y="63"/>
                  </a:lnTo>
                  <a:lnTo>
                    <a:pt x="399" y="63"/>
                  </a:lnTo>
                  <a:lnTo>
                    <a:pt x="398" y="65"/>
                  </a:lnTo>
                  <a:lnTo>
                    <a:pt x="401" y="70"/>
                  </a:lnTo>
                  <a:lnTo>
                    <a:pt x="403" y="73"/>
                  </a:lnTo>
                  <a:lnTo>
                    <a:pt x="404" y="75"/>
                  </a:lnTo>
                  <a:lnTo>
                    <a:pt x="402" y="80"/>
                  </a:lnTo>
                  <a:lnTo>
                    <a:pt x="398" y="87"/>
                  </a:lnTo>
                  <a:lnTo>
                    <a:pt x="395" y="89"/>
                  </a:lnTo>
                  <a:lnTo>
                    <a:pt x="393" y="90"/>
                  </a:lnTo>
                  <a:lnTo>
                    <a:pt x="388" y="92"/>
                  </a:lnTo>
                  <a:lnTo>
                    <a:pt x="387" y="91"/>
                  </a:lnTo>
                  <a:lnTo>
                    <a:pt x="384" y="93"/>
                  </a:lnTo>
                  <a:lnTo>
                    <a:pt x="382" y="95"/>
                  </a:lnTo>
                  <a:lnTo>
                    <a:pt x="384" y="97"/>
                  </a:lnTo>
                  <a:lnTo>
                    <a:pt x="386" y="100"/>
                  </a:lnTo>
                  <a:lnTo>
                    <a:pt x="388" y="103"/>
                  </a:lnTo>
                  <a:lnTo>
                    <a:pt x="388" y="108"/>
                  </a:lnTo>
                  <a:lnTo>
                    <a:pt x="386" y="110"/>
                  </a:lnTo>
                  <a:lnTo>
                    <a:pt x="385" y="112"/>
                  </a:lnTo>
                  <a:lnTo>
                    <a:pt x="383" y="112"/>
                  </a:lnTo>
                  <a:lnTo>
                    <a:pt x="383" y="110"/>
                  </a:lnTo>
                  <a:lnTo>
                    <a:pt x="379" y="107"/>
                  </a:lnTo>
                  <a:lnTo>
                    <a:pt x="377" y="106"/>
                  </a:lnTo>
                  <a:lnTo>
                    <a:pt x="376" y="105"/>
                  </a:lnTo>
                  <a:lnTo>
                    <a:pt x="375" y="105"/>
                  </a:lnTo>
                  <a:lnTo>
                    <a:pt x="375" y="108"/>
                  </a:lnTo>
                  <a:lnTo>
                    <a:pt x="374" y="110"/>
                  </a:lnTo>
                  <a:lnTo>
                    <a:pt x="374" y="112"/>
                  </a:lnTo>
                  <a:lnTo>
                    <a:pt x="376" y="114"/>
                  </a:lnTo>
                  <a:lnTo>
                    <a:pt x="377" y="116"/>
                  </a:lnTo>
                  <a:lnTo>
                    <a:pt x="380" y="119"/>
                  </a:lnTo>
                  <a:lnTo>
                    <a:pt x="380" y="122"/>
                  </a:lnTo>
                  <a:lnTo>
                    <a:pt x="381" y="125"/>
                  </a:lnTo>
                  <a:lnTo>
                    <a:pt x="380" y="126"/>
                  </a:lnTo>
                  <a:lnTo>
                    <a:pt x="380" y="125"/>
                  </a:lnTo>
                  <a:lnTo>
                    <a:pt x="377" y="122"/>
                  </a:lnTo>
                  <a:lnTo>
                    <a:pt x="376" y="119"/>
                  </a:lnTo>
                  <a:lnTo>
                    <a:pt x="375" y="117"/>
                  </a:lnTo>
                  <a:lnTo>
                    <a:pt x="374" y="116"/>
                  </a:lnTo>
                  <a:lnTo>
                    <a:pt x="372" y="113"/>
                  </a:lnTo>
                  <a:lnTo>
                    <a:pt x="373" y="110"/>
                  </a:lnTo>
                  <a:lnTo>
                    <a:pt x="373" y="107"/>
                  </a:lnTo>
                  <a:lnTo>
                    <a:pt x="373" y="104"/>
                  </a:lnTo>
                  <a:lnTo>
                    <a:pt x="372" y="102"/>
                  </a:lnTo>
                  <a:lnTo>
                    <a:pt x="370" y="99"/>
                  </a:lnTo>
                  <a:lnTo>
                    <a:pt x="369" y="101"/>
                  </a:lnTo>
                  <a:lnTo>
                    <a:pt x="367" y="101"/>
                  </a:lnTo>
                  <a:lnTo>
                    <a:pt x="367" y="98"/>
                  </a:lnTo>
                  <a:lnTo>
                    <a:pt x="366" y="96"/>
                  </a:lnTo>
                  <a:lnTo>
                    <a:pt x="365" y="95"/>
                  </a:lnTo>
                  <a:lnTo>
                    <a:pt x="362" y="91"/>
                  </a:lnTo>
                  <a:lnTo>
                    <a:pt x="359" y="89"/>
                  </a:lnTo>
                  <a:lnTo>
                    <a:pt x="356" y="89"/>
                  </a:lnTo>
                  <a:lnTo>
                    <a:pt x="354" y="90"/>
                  </a:lnTo>
                  <a:lnTo>
                    <a:pt x="353" y="92"/>
                  </a:lnTo>
                  <a:lnTo>
                    <a:pt x="353" y="93"/>
                  </a:lnTo>
                  <a:lnTo>
                    <a:pt x="352" y="94"/>
                  </a:lnTo>
                  <a:lnTo>
                    <a:pt x="351" y="95"/>
                  </a:lnTo>
                  <a:lnTo>
                    <a:pt x="350" y="96"/>
                  </a:lnTo>
                  <a:lnTo>
                    <a:pt x="349" y="97"/>
                  </a:lnTo>
                  <a:lnTo>
                    <a:pt x="348" y="98"/>
                  </a:lnTo>
                  <a:lnTo>
                    <a:pt x="347" y="99"/>
                  </a:lnTo>
                  <a:lnTo>
                    <a:pt x="345" y="100"/>
                  </a:lnTo>
                  <a:lnTo>
                    <a:pt x="345" y="105"/>
                  </a:lnTo>
                  <a:lnTo>
                    <a:pt x="343" y="106"/>
                  </a:lnTo>
                  <a:lnTo>
                    <a:pt x="342" y="110"/>
                  </a:lnTo>
                  <a:lnTo>
                    <a:pt x="341" y="112"/>
                  </a:lnTo>
                  <a:lnTo>
                    <a:pt x="340" y="113"/>
                  </a:lnTo>
                  <a:lnTo>
                    <a:pt x="338" y="112"/>
                  </a:lnTo>
                  <a:lnTo>
                    <a:pt x="334" y="100"/>
                  </a:lnTo>
                  <a:lnTo>
                    <a:pt x="333" y="95"/>
                  </a:lnTo>
                  <a:lnTo>
                    <a:pt x="332" y="89"/>
                  </a:lnTo>
                  <a:lnTo>
                    <a:pt x="329" y="91"/>
                  </a:lnTo>
                  <a:lnTo>
                    <a:pt x="328" y="89"/>
                  </a:lnTo>
                  <a:lnTo>
                    <a:pt x="328" y="87"/>
                  </a:lnTo>
                  <a:lnTo>
                    <a:pt x="326" y="85"/>
                  </a:lnTo>
                  <a:lnTo>
                    <a:pt x="323" y="81"/>
                  </a:lnTo>
                  <a:lnTo>
                    <a:pt x="317" y="80"/>
                  </a:lnTo>
                  <a:lnTo>
                    <a:pt x="315" y="79"/>
                  </a:lnTo>
                  <a:lnTo>
                    <a:pt x="312" y="80"/>
                  </a:lnTo>
                  <a:lnTo>
                    <a:pt x="309" y="79"/>
                  </a:lnTo>
                  <a:lnTo>
                    <a:pt x="309" y="77"/>
                  </a:lnTo>
                  <a:lnTo>
                    <a:pt x="306" y="78"/>
                  </a:lnTo>
                  <a:lnTo>
                    <a:pt x="303" y="77"/>
                  </a:lnTo>
                  <a:lnTo>
                    <a:pt x="300" y="75"/>
                  </a:lnTo>
                  <a:lnTo>
                    <a:pt x="299" y="70"/>
                  </a:lnTo>
                  <a:lnTo>
                    <a:pt x="297" y="71"/>
                  </a:lnTo>
                  <a:close/>
                </a:path>
              </a:pathLst>
            </a:custGeom>
            <a:solidFill>
              <a:srgbClr val="DDDDDD"/>
            </a:solidFill>
            <a:ln w="9525" cap="rnd">
              <a:solidFill>
                <a:srgbClr val="C0C0C0"/>
              </a:solidFill>
              <a:prstDash val="solid"/>
              <a:round/>
              <a:headEnd/>
              <a:tailEnd/>
            </a:ln>
          </p:spPr>
          <p:txBody>
            <a:bodyPr lIns="0" tIns="0" rIns="0" bIns="0">
              <a:spAutoFit/>
            </a:bodyPr>
            <a:lstStyle/>
            <a:p>
              <a:endParaRPr lang="en-US"/>
            </a:p>
          </p:txBody>
        </p:sp>
        <p:sp>
          <p:nvSpPr>
            <p:cNvPr id="281606" name="Oval 6">
              <a:extLst>
                <a:ext uri="{FF2B5EF4-FFF2-40B4-BE49-F238E27FC236}">
                  <a16:creationId xmlns:a16="http://schemas.microsoft.com/office/drawing/2014/main" id="{1DC1DCF8-9616-DE8F-4D23-0041FD72D7BE}"/>
                </a:ext>
              </a:extLst>
            </p:cNvPr>
            <p:cNvSpPr>
              <a:spLocks noChangeAspect="1" noChangeArrowheads="1"/>
            </p:cNvSpPr>
            <p:nvPr/>
          </p:nvSpPr>
          <p:spPr bwMode="auto">
            <a:xfrm>
              <a:off x="1932" y="2538"/>
              <a:ext cx="49" cy="48"/>
            </a:xfrm>
            <a:prstGeom prst="ellipse">
              <a:avLst/>
            </a:prstGeom>
            <a:solidFill>
              <a:schemeClr val="tx1"/>
            </a:solidFill>
            <a:ln w="9525">
              <a:solidFill>
                <a:srgbClr val="C0C0C0"/>
              </a:solidFill>
              <a:round/>
              <a:headEnd/>
              <a:tailEnd/>
            </a:ln>
          </p:spPr>
          <p:txBody>
            <a:bodyPr lIns="0" tIns="0" rIns="0" bIns="0">
              <a:spAutoFit/>
            </a:bodyPr>
            <a:lstStyle/>
            <a:p>
              <a:endParaRPr lang="en-US"/>
            </a:p>
          </p:txBody>
        </p:sp>
        <p:sp>
          <p:nvSpPr>
            <p:cNvPr id="281607" name="Oval 7">
              <a:extLst>
                <a:ext uri="{FF2B5EF4-FFF2-40B4-BE49-F238E27FC236}">
                  <a16:creationId xmlns:a16="http://schemas.microsoft.com/office/drawing/2014/main" id="{05B2D83F-22D5-05DF-CCEF-20C023C7E2A4}"/>
                </a:ext>
              </a:extLst>
            </p:cNvPr>
            <p:cNvSpPr>
              <a:spLocks noChangeAspect="1" noChangeArrowheads="1"/>
            </p:cNvSpPr>
            <p:nvPr/>
          </p:nvSpPr>
          <p:spPr bwMode="auto">
            <a:xfrm>
              <a:off x="2530" y="2475"/>
              <a:ext cx="49" cy="51"/>
            </a:xfrm>
            <a:prstGeom prst="ellipse">
              <a:avLst/>
            </a:prstGeom>
            <a:solidFill>
              <a:schemeClr val="tx1"/>
            </a:solidFill>
            <a:ln w="9525">
              <a:solidFill>
                <a:srgbClr val="C0C0C0"/>
              </a:solidFill>
              <a:round/>
              <a:headEnd/>
              <a:tailEnd/>
            </a:ln>
          </p:spPr>
          <p:txBody>
            <a:bodyPr lIns="0" tIns="0" rIns="0" bIns="0">
              <a:spAutoFit/>
            </a:bodyPr>
            <a:lstStyle/>
            <a:p>
              <a:endParaRPr lang="en-US"/>
            </a:p>
          </p:txBody>
        </p:sp>
        <p:sp>
          <p:nvSpPr>
            <p:cNvPr id="281608" name="Oval 8">
              <a:extLst>
                <a:ext uri="{FF2B5EF4-FFF2-40B4-BE49-F238E27FC236}">
                  <a16:creationId xmlns:a16="http://schemas.microsoft.com/office/drawing/2014/main" id="{CF46C423-AAE5-6215-60F7-78AECCE7B5A4}"/>
                </a:ext>
              </a:extLst>
            </p:cNvPr>
            <p:cNvSpPr>
              <a:spLocks noChangeAspect="1" noChangeArrowheads="1"/>
            </p:cNvSpPr>
            <p:nvPr/>
          </p:nvSpPr>
          <p:spPr bwMode="auto">
            <a:xfrm>
              <a:off x="3801" y="2345"/>
              <a:ext cx="43" cy="44"/>
            </a:xfrm>
            <a:prstGeom prst="ellipse">
              <a:avLst/>
            </a:prstGeom>
            <a:solidFill>
              <a:schemeClr val="tx1"/>
            </a:solidFill>
            <a:ln w="9525">
              <a:solidFill>
                <a:srgbClr val="C0C0C0"/>
              </a:solidFill>
              <a:round/>
              <a:headEnd/>
              <a:tailEnd/>
            </a:ln>
          </p:spPr>
          <p:txBody>
            <a:bodyPr lIns="0" tIns="0" rIns="0" bIns="0">
              <a:spAutoFit/>
            </a:bodyPr>
            <a:lstStyle/>
            <a:p>
              <a:endParaRPr lang="en-US"/>
            </a:p>
          </p:txBody>
        </p:sp>
        <p:sp>
          <p:nvSpPr>
            <p:cNvPr id="281609" name="Oval 9">
              <a:extLst>
                <a:ext uri="{FF2B5EF4-FFF2-40B4-BE49-F238E27FC236}">
                  <a16:creationId xmlns:a16="http://schemas.microsoft.com/office/drawing/2014/main" id="{EFE7A9FA-46B8-7AB2-1784-EF3BF948B54D}"/>
                </a:ext>
              </a:extLst>
            </p:cNvPr>
            <p:cNvSpPr>
              <a:spLocks noChangeAspect="1" noChangeArrowheads="1"/>
            </p:cNvSpPr>
            <p:nvPr/>
          </p:nvSpPr>
          <p:spPr bwMode="auto">
            <a:xfrm>
              <a:off x="5699" y="3780"/>
              <a:ext cx="43" cy="48"/>
            </a:xfrm>
            <a:prstGeom prst="ellipse">
              <a:avLst/>
            </a:prstGeom>
            <a:solidFill>
              <a:schemeClr val="tx1"/>
            </a:solidFill>
            <a:ln w="9525">
              <a:solidFill>
                <a:srgbClr val="C0C0C0"/>
              </a:solidFill>
              <a:round/>
              <a:headEnd/>
              <a:tailEnd/>
            </a:ln>
          </p:spPr>
          <p:txBody>
            <a:bodyPr lIns="0" tIns="0" rIns="0" bIns="0">
              <a:spAutoFit/>
            </a:bodyPr>
            <a:lstStyle/>
            <a:p>
              <a:endParaRPr lang="en-US"/>
            </a:p>
          </p:txBody>
        </p:sp>
        <p:sp>
          <p:nvSpPr>
            <p:cNvPr id="281610" name="Text Box 10">
              <a:extLst>
                <a:ext uri="{FF2B5EF4-FFF2-40B4-BE49-F238E27FC236}">
                  <a16:creationId xmlns:a16="http://schemas.microsoft.com/office/drawing/2014/main" id="{5564841B-379B-2F2C-38E2-0AFA7A119632}"/>
                </a:ext>
              </a:extLst>
            </p:cNvPr>
            <p:cNvSpPr txBox="1">
              <a:spLocks noChangeAspect="1" noChangeArrowheads="1"/>
            </p:cNvSpPr>
            <p:nvPr/>
          </p:nvSpPr>
          <p:spPr bwMode="auto">
            <a:xfrm>
              <a:off x="1402" y="2507"/>
              <a:ext cx="55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800" i="1"/>
                <a:t>San Francisco</a:t>
              </a:r>
            </a:p>
          </p:txBody>
        </p:sp>
        <p:sp>
          <p:nvSpPr>
            <p:cNvPr id="281611" name="Text Box 11">
              <a:extLst>
                <a:ext uri="{FF2B5EF4-FFF2-40B4-BE49-F238E27FC236}">
                  <a16:creationId xmlns:a16="http://schemas.microsoft.com/office/drawing/2014/main" id="{A7583AFD-80A2-D56F-885F-17B2BCEF7DF4}"/>
                </a:ext>
              </a:extLst>
            </p:cNvPr>
            <p:cNvSpPr txBox="1">
              <a:spLocks noChangeAspect="1" noChangeArrowheads="1"/>
            </p:cNvSpPr>
            <p:nvPr/>
          </p:nvSpPr>
          <p:spPr bwMode="auto">
            <a:xfrm>
              <a:off x="2538" y="2473"/>
              <a:ext cx="33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i="1"/>
                <a:t>Boston</a:t>
              </a:r>
            </a:p>
          </p:txBody>
        </p:sp>
        <p:sp>
          <p:nvSpPr>
            <p:cNvPr id="281612" name="Text Box 12">
              <a:extLst>
                <a:ext uri="{FF2B5EF4-FFF2-40B4-BE49-F238E27FC236}">
                  <a16:creationId xmlns:a16="http://schemas.microsoft.com/office/drawing/2014/main" id="{60C0C047-57CC-8E3D-0388-529E1DF61AFD}"/>
                </a:ext>
              </a:extLst>
            </p:cNvPr>
            <p:cNvSpPr txBox="1">
              <a:spLocks noChangeAspect="1" noChangeArrowheads="1"/>
            </p:cNvSpPr>
            <p:nvPr/>
          </p:nvSpPr>
          <p:spPr bwMode="auto">
            <a:xfrm>
              <a:off x="3442" y="2331"/>
              <a:ext cx="350"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i="1"/>
                <a:t>London</a:t>
              </a:r>
            </a:p>
          </p:txBody>
        </p:sp>
        <p:sp>
          <p:nvSpPr>
            <p:cNvPr id="281613" name="Text Box 13">
              <a:extLst>
                <a:ext uri="{FF2B5EF4-FFF2-40B4-BE49-F238E27FC236}">
                  <a16:creationId xmlns:a16="http://schemas.microsoft.com/office/drawing/2014/main" id="{8DBF2B03-1FB2-6E72-5F42-6859EFFE491C}"/>
                </a:ext>
              </a:extLst>
            </p:cNvPr>
            <p:cNvSpPr txBox="1">
              <a:spLocks noChangeArrowheads="1"/>
            </p:cNvSpPr>
            <p:nvPr/>
          </p:nvSpPr>
          <p:spPr bwMode="auto">
            <a:xfrm>
              <a:off x="5703" y="3727"/>
              <a:ext cx="345"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i="1"/>
                <a:t>Sydney</a:t>
              </a:r>
            </a:p>
          </p:txBody>
        </p:sp>
        <p:sp>
          <p:nvSpPr>
            <p:cNvPr id="281614" name="Text Box 14">
              <a:extLst>
                <a:ext uri="{FF2B5EF4-FFF2-40B4-BE49-F238E27FC236}">
                  <a16:creationId xmlns:a16="http://schemas.microsoft.com/office/drawing/2014/main" id="{662CB2B6-9D0E-6ACF-682D-876D2EBCF9B7}"/>
                </a:ext>
              </a:extLst>
            </p:cNvPr>
            <p:cNvSpPr txBox="1">
              <a:spLocks noChangeArrowheads="1"/>
            </p:cNvSpPr>
            <p:nvPr/>
          </p:nvSpPr>
          <p:spPr bwMode="auto">
            <a:xfrm>
              <a:off x="1146" y="1512"/>
              <a:ext cx="520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800">
                  <a:solidFill>
                    <a:srgbClr val="002B7F"/>
                  </a:solidFill>
                </a:rPr>
                <a:t>Value 	           Experience 	   Independence                Stability</a:t>
              </a:r>
            </a:p>
          </p:txBody>
        </p:sp>
      </p:grpSp>
      <p:sp>
        <p:nvSpPr>
          <p:cNvPr id="281615" name="Line 15">
            <a:extLst>
              <a:ext uri="{FF2B5EF4-FFF2-40B4-BE49-F238E27FC236}">
                <a16:creationId xmlns:a16="http://schemas.microsoft.com/office/drawing/2014/main" id="{852E48DF-84CA-292B-9E7A-167AC4AAE3C6}"/>
              </a:ext>
            </a:extLst>
          </p:cNvPr>
          <p:cNvSpPr>
            <a:spLocks noChangeShapeType="1"/>
          </p:cNvSpPr>
          <p:nvPr/>
        </p:nvSpPr>
        <p:spPr bwMode="auto">
          <a:xfrm>
            <a:off x="0" y="0"/>
            <a:ext cx="10058400" cy="777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1616" name="Text Box 16">
            <a:extLst>
              <a:ext uri="{FF2B5EF4-FFF2-40B4-BE49-F238E27FC236}">
                <a16:creationId xmlns:a16="http://schemas.microsoft.com/office/drawing/2014/main" id="{D4955A3F-B568-0D5D-D620-C3CB56DC2DFE}"/>
              </a:ext>
            </a:extLst>
          </p:cNvPr>
          <p:cNvSpPr txBox="1">
            <a:spLocks noChangeArrowheads="1"/>
          </p:cNvSpPr>
          <p:nvPr/>
        </p:nvSpPr>
        <p:spPr bwMode="auto">
          <a:xfrm rot="2227025">
            <a:off x="1585913" y="3544888"/>
            <a:ext cx="6853237"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rgbClr val="A50021"/>
                </a:solidFill>
              </a:rPr>
              <a:t>PULL CURRENT EXHIBIT FROM INTRO BIBLE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Text Box 2">
            <a:extLst>
              <a:ext uri="{FF2B5EF4-FFF2-40B4-BE49-F238E27FC236}">
                <a16:creationId xmlns:a16="http://schemas.microsoft.com/office/drawing/2014/main" id="{DC14D93D-EBCA-6855-57DC-30E5B2BB3902}"/>
              </a:ext>
            </a:extLst>
          </p:cNvPr>
          <p:cNvSpPr txBox="1">
            <a:spLocks noChangeArrowheads="1"/>
          </p:cNvSpPr>
          <p:nvPr/>
        </p:nvSpPr>
        <p:spPr bwMode="auto">
          <a:xfrm>
            <a:off x="3302000" y="5275263"/>
            <a:ext cx="2227263"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1100"/>
              <a:t>Portfolio Trading &amp; Operations</a:t>
            </a:r>
          </a:p>
        </p:txBody>
      </p:sp>
      <p:sp>
        <p:nvSpPr>
          <p:cNvPr id="314371" name="Line 3">
            <a:extLst>
              <a:ext uri="{FF2B5EF4-FFF2-40B4-BE49-F238E27FC236}">
                <a16:creationId xmlns:a16="http://schemas.microsoft.com/office/drawing/2014/main" id="{CD52A84A-1FED-22F5-422A-ED3B2F54058A}"/>
              </a:ext>
            </a:extLst>
          </p:cNvPr>
          <p:cNvSpPr>
            <a:spLocks noChangeShapeType="1"/>
          </p:cNvSpPr>
          <p:nvPr/>
        </p:nvSpPr>
        <p:spPr bwMode="auto">
          <a:xfrm>
            <a:off x="3300413" y="5545138"/>
            <a:ext cx="3616325" cy="3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372" name="Line 4">
            <a:extLst>
              <a:ext uri="{FF2B5EF4-FFF2-40B4-BE49-F238E27FC236}">
                <a16:creationId xmlns:a16="http://schemas.microsoft.com/office/drawing/2014/main" id="{41ECC0F4-C9BD-A565-EAB5-A889CE191227}"/>
              </a:ext>
            </a:extLst>
          </p:cNvPr>
          <p:cNvSpPr>
            <a:spLocks noChangeShapeType="1"/>
          </p:cNvSpPr>
          <p:nvPr/>
        </p:nvSpPr>
        <p:spPr bwMode="auto">
          <a:xfrm>
            <a:off x="4621213" y="5773738"/>
            <a:ext cx="9810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373" name="Text Box 5">
            <a:extLst>
              <a:ext uri="{FF2B5EF4-FFF2-40B4-BE49-F238E27FC236}">
                <a16:creationId xmlns:a16="http://schemas.microsoft.com/office/drawing/2014/main" id="{D853069C-8D04-6C68-D708-5F724ED9DE6E}"/>
              </a:ext>
            </a:extLst>
          </p:cNvPr>
          <p:cNvSpPr txBox="1">
            <a:spLocks noChangeArrowheads="1"/>
          </p:cNvSpPr>
          <p:nvPr/>
        </p:nvSpPr>
        <p:spPr bwMode="auto">
          <a:xfrm>
            <a:off x="5805488" y="5541963"/>
            <a:ext cx="1139825"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000" b="0"/>
              <a:t>Caroline Norgeot</a:t>
            </a:r>
          </a:p>
        </p:txBody>
      </p:sp>
      <p:sp>
        <p:nvSpPr>
          <p:cNvPr id="314374" name="Text Box 6">
            <a:extLst>
              <a:ext uri="{FF2B5EF4-FFF2-40B4-BE49-F238E27FC236}">
                <a16:creationId xmlns:a16="http://schemas.microsoft.com/office/drawing/2014/main" id="{311C1F85-89E3-1E4A-BC6E-4755ADC49A34}"/>
              </a:ext>
            </a:extLst>
          </p:cNvPr>
          <p:cNvSpPr txBox="1">
            <a:spLocks noChangeArrowheads="1"/>
          </p:cNvSpPr>
          <p:nvPr/>
        </p:nvSpPr>
        <p:spPr bwMode="auto">
          <a:xfrm>
            <a:off x="4633913" y="5541963"/>
            <a:ext cx="1027112"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000" b="0"/>
              <a:t>Melanie Nason</a:t>
            </a:r>
          </a:p>
        </p:txBody>
      </p:sp>
      <p:sp>
        <p:nvSpPr>
          <p:cNvPr id="314375" name="Line 7">
            <a:extLst>
              <a:ext uri="{FF2B5EF4-FFF2-40B4-BE49-F238E27FC236}">
                <a16:creationId xmlns:a16="http://schemas.microsoft.com/office/drawing/2014/main" id="{B9D9EE6B-072B-E586-13DE-E86560970C60}"/>
              </a:ext>
            </a:extLst>
          </p:cNvPr>
          <p:cNvSpPr>
            <a:spLocks noChangeShapeType="1"/>
          </p:cNvSpPr>
          <p:nvPr/>
        </p:nvSpPr>
        <p:spPr bwMode="auto">
          <a:xfrm>
            <a:off x="5811838" y="5773738"/>
            <a:ext cx="1104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376" name="Line 8">
            <a:extLst>
              <a:ext uri="{FF2B5EF4-FFF2-40B4-BE49-F238E27FC236}">
                <a16:creationId xmlns:a16="http://schemas.microsoft.com/office/drawing/2014/main" id="{069A5B53-6E65-7126-3B26-B478FAF17443}"/>
              </a:ext>
            </a:extLst>
          </p:cNvPr>
          <p:cNvSpPr>
            <a:spLocks noChangeShapeType="1"/>
          </p:cNvSpPr>
          <p:nvPr/>
        </p:nvSpPr>
        <p:spPr bwMode="auto">
          <a:xfrm>
            <a:off x="4619625" y="5546725"/>
            <a:ext cx="0" cy="238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377" name="Text Box 9">
            <a:extLst>
              <a:ext uri="{FF2B5EF4-FFF2-40B4-BE49-F238E27FC236}">
                <a16:creationId xmlns:a16="http://schemas.microsoft.com/office/drawing/2014/main" id="{72DCFEF8-32AE-C68A-B837-C6CCF55EEA8F}"/>
              </a:ext>
            </a:extLst>
          </p:cNvPr>
          <p:cNvSpPr txBox="1">
            <a:spLocks noChangeArrowheads="1"/>
          </p:cNvSpPr>
          <p:nvPr/>
        </p:nvSpPr>
        <p:spPr bwMode="auto">
          <a:xfrm>
            <a:off x="3305175" y="5541963"/>
            <a:ext cx="1135063"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000" b="0"/>
              <a:t>Christine Ferrara</a:t>
            </a:r>
          </a:p>
        </p:txBody>
      </p:sp>
      <p:sp>
        <p:nvSpPr>
          <p:cNvPr id="314378" name="Line 10">
            <a:extLst>
              <a:ext uri="{FF2B5EF4-FFF2-40B4-BE49-F238E27FC236}">
                <a16:creationId xmlns:a16="http://schemas.microsoft.com/office/drawing/2014/main" id="{5D66B1D7-DEE9-C7B2-0375-94A23379235A}"/>
              </a:ext>
            </a:extLst>
          </p:cNvPr>
          <p:cNvSpPr>
            <a:spLocks noChangeShapeType="1"/>
          </p:cNvSpPr>
          <p:nvPr/>
        </p:nvSpPr>
        <p:spPr bwMode="auto">
          <a:xfrm>
            <a:off x="3311525" y="5773738"/>
            <a:ext cx="1104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379" name="Line 11">
            <a:extLst>
              <a:ext uri="{FF2B5EF4-FFF2-40B4-BE49-F238E27FC236}">
                <a16:creationId xmlns:a16="http://schemas.microsoft.com/office/drawing/2014/main" id="{37DBB8B3-B7D4-4C12-AB97-E8E66A2057B9}"/>
              </a:ext>
            </a:extLst>
          </p:cNvPr>
          <p:cNvSpPr>
            <a:spLocks noChangeShapeType="1"/>
          </p:cNvSpPr>
          <p:nvPr/>
        </p:nvSpPr>
        <p:spPr bwMode="auto">
          <a:xfrm>
            <a:off x="5815013" y="5546725"/>
            <a:ext cx="0" cy="238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380" name="Text Box 12">
            <a:extLst>
              <a:ext uri="{FF2B5EF4-FFF2-40B4-BE49-F238E27FC236}">
                <a16:creationId xmlns:a16="http://schemas.microsoft.com/office/drawing/2014/main" id="{5C61873A-EF00-CCEB-2C34-321ECB3D831D}"/>
              </a:ext>
            </a:extLst>
          </p:cNvPr>
          <p:cNvSpPr txBox="1">
            <a:spLocks noChangeArrowheads="1"/>
          </p:cNvSpPr>
          <p:nvPr/>
        </p:nvSpPr>
        <p:spPr bwMode="auto">
          <a:xfrm>
            <a:off x="571500" y="673100"/>
            <a:ext cx="4162425"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5000"/>
              </a:lnSpc>
            </a:pPr>
            <a:r>
              <a:rPr lang="en-US" altLang="en-US" sz="2800" b="0"/>
              <a:t>Emerging Markets Equity</a:t>
            </a:r>
          </a:p>
          <a:p>
            <a:pPr algn="l">
              <a:lnSpc>
                <a:spcPct val="125000"/>
              </a:lnSpc>
            </a:pPr>
            <a:r>
              <a:rPr lang="en-US" altLang="en-US" sz="1800" b="0" i="1"/>
              <a:t>Organization</a:t>
            </a:r>
            <a:endParaRPr lang="en-US" altLang="en-US" sz="1800" i="1"/>
          </a:p>
        </p:txBody>
      </p:sp>
      <p:sp>
        <p:nvSpPr>
          <p:cNvPr id="314381" name="Text Box 13">
            <a:extLst>
              <a:ext uri="{FF2B5EF4-FFF2-40B4-BE49-F238E27FC236}">
                <a16:creationId xmlns:a16="http://schemas.microsoft.com/office/drawing/2014/main" id="{F0D4D00D-14C3-D01A-A594-56E66BB13309}"/>
              </a:ext>
            </a:extLst>
          </p:cNvPr>
          <p:cNvSpPr txBox="1">
            <a:spLocks noChangeArrowheads="1"/>
          </p:cNvSpPr>
          <p:nvPr/>
        </p:nvSpPr>
        <p:spPr bwMode="auto">
          <a:xfrm>
            <a:off x="579438" y="1955800"/>
            <a:ext cx="21082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1200" b="0">
                <a:latin typeface="Times New Roman" panose="02020603050405020304" pitchFamily="18" charset="0"/>
              </a:rPr>
              <a:t>GMO is a privately held company that was founded in 1977.  The members share a belief in value investing.  We believe that the best way to bring a quality product to our clients is through a firm where we can control growth, attract great talent and directly share the rewards of our success.</a:t>
            </a:r>
          </a:p>
        </p:txBody>
      </p:sp>
      <p:sp>
        <p:nvSpPr>
          <p:cNvPr id="314382" name="Text Box 14">
            <a:extLst>
              <a:ext uri="{FF2B5EF4-FFF2-40B4-BE49-F238E27FC236}">
                <a16:creationId xmlns:a16="http://schemas.microsoft.com/office/drawing/2014/main" id="{F9BDF43D-493A-72F3-F6AD-97FE5BE5F2BA}"/>
              </a:ext>
            </a:extLst>
          </p:cNvPr>
          <p:cNvSpPr txBox="1">
            <a:spLocks noChangeArrowheads="1"/>
          </p:cNvSpPr>
          <p:nvPr/>
        </p:nvSpPr>
        <p:spPr bwMode="auto">
          <a:xfrm>
            <a:off x="2992438" y="2514600"/>
            <a:ext cx="1524000" cy="349250"/>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a:solidFill>
                  <a:schemeClr val="bg1"/>
                </a:solidFill>
              </a:rPr>
              <a:t>U.S. Active</a:t>
            </a:r>
          </a:p>
        </p:txBody>
      </p:sp>
      <p:sp>
        <p:nvSpPr>
          <p:cNvPr id="314383" name="Rectangle 15">
            <a:extLst>
              <a:ext uri="{FF2B5EF4-FFF2-40B4-BE49-F238E27FC236}">
                <a16:creationId xmlns:a16="http://schemas.microsoft.com/office/drawing/2014/main" id="{B9CDFF30-50EA-3BFA-5F60-0360B1FE24CD}"/>
              </a:ext>
            </a:extLst>
          </p:cNvPr>
          <p:cNvSpPr>
            <a:spLocks noChangeArrowheads="1"/>
          </p:cNvSpPr>
          <p:nvPr/>
        </p:nvSpPr>
        <p:spPr bwMode="auto">
          <a:xfrm>
            <a:off x="3006725" y="1752600"/>
            <a:ext cx="6051550" cy="457200"/>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sz="1200">
              <a:solidFill>
                <a:srgbClr val="000066"/>
              </a:solidFill>
            </a:endParaRPr>
          </a:p>
        </p:txBody>
      </p:sp>
      <p:sp>
        <p:nvSpPr>
          <p:cNvPr id="314384" name="Text Box 16">
            <a:extLst>
              <a:ext uri="{FF2B5EF4-FFF2-40B4-BE49-F238E27FC236}">
                <a16:creationId xmlns:a16="http://schemas.microsoft.com/office/drawing/2014/main" id="{04B7F095-B9F8-30B0-671A-CF246F8A7ECA}"/>
              </a:ext>
            </a:extLst>
          </p:cNvPr>
          <p:cNvSpPr txBox="1">
            <a:spLocks noChangeArrowheads="1"/>
          </p:cNvSpPr>
          <p:nvPr/>
        </p:nvSpPr>
        <p:spPr bwMode="auto">
          <a:xfrm>
            <a:off x="3627438" y="1812925"/>
            <a:ext cx="4810125" cy="336550"/>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a:solidFill>
                  <a:schemeClr val="bg1"/>
                </a:solidFill>
              </a:rPr>
              <a:t>Grantham, Mayo, Van Otterloo &amp; Co. LLC</a:t>
            </a:r>
          </a:p>
        </p:txBody>
      </p:sp>
      <p:sp>
        <p:nvSpPr>
          <p:cNvPr id="314385" name="Text Box 17">
            <a:extLst>
              <a:ext uri="{FF2B5EF4-FFF2-40B4-BE49-F238E27FC236}">
                <a16:creationId xmlns:a16="http://schemas.microsoft.com/office/drawing/2014/main" id="{FCCDF868-4785-88E6-B956-25EC3E5060A4}"/>
              </a:ext>
            </a:extLst>
          </p:cNvPr>
          <p:cNvSpPr txBox="1">
            <a:spLocks noChangeArrowheads="1"/>
          </p:cNvSpPr>
          <p:nvPr/>
        </p:nvSpPr>
        <p:spPr bwMode="auto">
          <a:xfrm>
            <a:off x="7524750" y="2514600"/>
            <a:ext cx="1524000" cy="349250"/>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a:solidFill>
                  <a:schemeClr val="bg1"/>
                </a:solidFill>
              </a:rPr>
              <a:t>Int’l. Active</a:t>
            </a:r>
          </a:p>
        </p:txBody>
      </p:sp>
      <p:sp>
        <p:nvSpPr>
          <p:cNvPr id="314386" name="Line 18">
            <a:extLst>
              <a:ext uri="{FF2B5EF4-FFF2-40B4-BE49-F238E27FC236}">
                <a16:creationId xmlns:a16="http://schemas.microsoft.com/office/drawing/2014/main" id="{CB6CA443-7E05-B611-1FFC-F96817F6A59B}"/>
              </a:ext>
            </a:extLst>
          </p:cNvPr>
          <p:cNvSpPr>
            <a:spLocks noChangeShapeType="1"/>
          </p:cNvSpPr>
          <p:nvPr/>
        </p:nvSpPr>
        <p:spPr bwMode="auto">
          <a:xfrm>
            <a:off x="3754438" y="2209800"/>
            <a:ext cx="0" cy="304800"/>
          </a:xfrm>
          <a:prstGeom prst="line">
            <a:avLst/>
          </a:prstGeom>
          <a:noFill/>
          <a:ln w="38100">
            <a:solidFill>
              <a:srgbClr val="002B7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387" name="Line 19">
            <a:extLst>
              <a:ext uri="{FF2B5EF4-FFF2-40B4-BE49-F238E27FC236}">
                <a16:creationId xmlns:a16="http://schemas.microsoft.com/office/drawing/2014/main" id="{8A8E902F-B702-55AE-02E5-0D440026B331}"/>
              </a:ext>
            </a:extLst>
          </p:cNvPr>
          <p:cNvSpPr>
            <a:spLocks noChangeShapeType="1"/>
          </p:cNvSpPr>
          <p:nvPr/>
        </p:nvSpPr>
        <p:spPr bwMode="auto">
          <a:xfrm>
            <a:off x="6030913" y="2209800"/>
            <a:ext cx="0" cy="304800"/>
          </a:xfrm>
          <a:prstGeom prst="line">
            <a:avLst/>
          </a:prstGeom>
          <a:noFill/>
          <a:ln w="38100">
            <a:solidFill>
              <a:srgbClr val="002B7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388" name="Line 20">
            <a:extLst>
              <a:ext uri="{FF2B5EF4-FFF2-40B4-BE49-F238E27FC236}">
                <a16:creationId xmlns:a16="http://schemas.microsoft.com/office/drawing/2014/main" id="{AD052095-0FFB-181E-3F8E-BB60C5F845D0}"/>
              </a:ext>
            </a:extLst>
          </p:cNvPr>
          <p:cNvSpPr>
            <a:spLocks noChangeShapeType="1"/>
          </p:cNvSpPr>
          <p:nvPr/>
        </p:nvSpPr>
        <p:spPr bwMode="auto">
          <a:xfrm>
            <a:off x="8250238" y="2209800"/>
            <a:ext cx="0" cy="304800"/>
          </a:xfrm>
          <a:prstGeom prst="line">
            <a:avLst/>
          </a:prstGeom>
          <a:noFill/>
          <a:ln w="38100">
            <a:solidFill>
              <a:srgbClr val="002B7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389" name="Text Box 21">
            <a:extLst>
              <a:ext uri="{FF2B5EF4-FFF2-40B4-BE49-F238E27FC236}">
                <a16:creationId xmlns:a16="http://schemas.microsoft.com/office/drawing/2014/main" id="{2DD72651-6110-F88A-68CA-51BBE5D32A20}"/>
              </a:ext>
            </a:extLst>
          </p:cNvPr>
          <p:cNvSpPr txBox="1">
            <a:spLocks noChangeArrowheads="1"/>
          </p:cNvSpPr>
          <p:nvPr/>
        </p:nvSpPr>
        <p:spPr bwMode="auto">
          <a:xfrm>
            <a:off x="5257800" y="2514600"/>
            <a:ext cx="1524000" cy="349250"/>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a:solidFill>
                  <a:schemeClr val="bg1"/>
                </a:solidFill>
              </a:rPr>
              <a:t>Quantitative</a:t>
            </a:r>
          </a:p>
        </p:txBody>
      </p:sp>
      <p:sp>
        <p:nvSpPr>
          <p:cNvPr id="314390" name="Text Box 22">
            <a:extLst>
              <a:ext uri="{FF2B5EF4-FFF2-40B4-BE49-F238E27FC236}">
                <a16:creationId xmlns:a16="http://schemas.microsoft.com/office/drawing/2014/main" id="{7F8E8B57-BC96-3B9B-E6BF-22FEEB24BB1D}"/>
              </a:ext>
            </a:extLst>
          </p:cNvPr>
          <p:cNvSpPr txBox="1">
            <a:spLocks noChangeArrowheads="1"/>
          </p:cNvSpPr>
          <p:nvPr/>
        </p:nvSpPr>
        <p:spPr bwMode="auto">
          <a:xfrm>
            <a:off x="3297238" y="3506788"/>
            <a:ext cx="5006975"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1100"/>
              <a:t>Portfolio Management</a:t>
            </a:r>
          </a:p>
        </p:txBody>
      </p:sp>
      <p:sp>
        <p:nvSpPr>
          <p:cNvPr id="314391" name="Line 23">
            <a:extLst>
              <a:ext uri="{FF2B5EF4-FFF2-40B4-BE49-F238E27FC236}">
                <a16:creationId xmlns:a16="http://schemas.microsoft.com/office/drawing/2014/main" id="{5766C651-6479-DFDD-2F9C-83705578C2BD}"/>
              </a:ext>
            </a:extLst>
          </p:cNvPr>
          <p:cNvSpPr>
            <a:spLocks noChangeShapeType="1"/>
          </p:cNvSpPr>
          <p:nvPr/>
        </p:nvSpPr>
        <p:spPr bwMode="auto">
          <a:xfrm flipV="1">
            <a:off x="3298825" y="3779838"/>
            <a:ext cx="5105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392" name="Text Box 24">
            <a:extLst>
              <a:ext uri="{FF2B5EF4-FFF2-40B4-BE49-F238E27FC236}">
                <a16:creationId xmlns:a16="http://schemas.microsoft.com/office/drawing/2014/main" id="{78F7CB74-756B-A726-571B-BA5782C63BD2}"/>
              </a:ext>
            </a:extLst>
          </p:cNvPr>
          <p:cNvSpPr txBox="1">
            <a:spLocks noChangeArrowheads="1"/>
          </p:cNvSpPr>
          <p:nvPr/>
        </p:nvSpPr>
        <p:spPr bwMode="auto">
          <a:xfrm>
            <a:off x="3297238" y="3789363"/>
            <a:ext cx="112395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ts val="500"/>
              </a:spcBef>
            </a:pPr>
            <a:r>
              <a:rPr lang="en-US" altLang="en-US" sz="1100"/>
              <a:t>Arjun Divecha</a:t>
            </a:r>
            <a:endParaRPr lang="en-US" altLang="en-US" sz="1000"/>
          </a:p>
          <a:p>
            <a:pPr algn="l">
              <a:spcBef>
                <a:spcPts val="500"/>
              </a:spcBef>
            </a:pPr>
            <a:r>
              <a:rPr lang="en-US" altLang="en-US" sz="1000"/>
              <a:t> Fund Manager</a:t>
            </a:r>
          </a:p>
        </p:txBody>
      </p:sp>
      <p:sp>
        <p:nvSpPr>
          <p:cNvPr id="314393" name="Line 25">
            <a:extLst>
              <a:ext uri="{FF2B5EF4-FFF2-40B4-BE49-F238E27FC236}">
                <a16:creationId xmlns:a16="http://schemas.microsoft.com/office/drawing/2014/main" id="{BDBB814A-38BF-D5D5-CD47-9A1518CBC773}"/>
              </a:ext>
            </a:extLst>
          </p:cNvPr>
          <p:cNvSpPr>
            <a:spLocks noChangeShapeType="1"/>
          </p:cNvSpPr>
          <p:nvPr/>
        </p:nvSpPr>
        <p:spPr bwMode="auto">
          <a:xfrm flipV="1">
            <a:off x="3305175" y="4022725"/>
            <a:ext cx="1320800" cy="1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394" name="Line 26">
            <a:extLst>
              <a:ext uri="{FF2B5EF4-FFF2-40B4-BE49-F238E27FC236}">
                <a16:creationId xmlns:a16="http://schemas.microsoft.com/office/drawing/2014/main" id="{572D0BD6-126D-AF0A-6BDB-73BDB7EFBF17}"/>
              </a:ext>
            </a:extLst>
          </p:cNvPr>
          <p:cNvSpPr>
            <a:spLocks noChangeShapeType="1"/>
          </p:cNvSpPr>
          <p:nvPr/>
        </p:nvSpPr>
        <p:spPr bwMode="auto">
          <a:xfrm>
            <a:off x="5468938" y="2851150"/>
            <a:ext cx="0" cy="4714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395" name="Line 27">
            <a:extLst>
              <a:ext uri="{FF2B5EF4-FFF2-40B4-BE49-F238E27FC236}">
                <a16:creationId xmlns:a16="http://schemas.microsoft.com/office/drawing/2014/main" id="{9D3775F0-B41F-BC10-037F-E1FD2EAF9635}"/>
              </a:ext>
            </a:extLst>
          </p:cNvPr>
          <p:cNvSpPr>
            <a:spLocks noChangeShapeType="1"/>
          </p:cNvSpPr>
          <p:nvPr/>
        </p:nvSpPr>
        <p:spPr bwMode="auto">
          <a:xfrm>
            <a:off x="5468938" y="3322638"/>
            <a:ext cx="83343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396" name="Line 28">
            <a:extLst>
              <a:ext uri="{FF2B5EF4-FFF2-40B4-BE49-F238E27FC236}">
                <a16:creationId xmlns:a16="http://schemas.microsoft.com/office/drawing/2014/main" id="{C2EF0721-F036-3BB4-ACE0-E84C6AAA907C}"/>
              </a:ext>
            </a:extLst>
          </p:cNvPr>
          <p:cNvSpPr>
            <a:spLocks noChangeShapeType="1"/>
          </p:cNvSpPr>
          <p:nvPr/>
        </p:nvSpPr>
        <p:spPr bwMode="auto">
          <a:xfrm>
            <a:off x="3297238" y="3475038"/>
            <a:ext cx="22733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397" name="Line 29">
            <a:extLst>
              <a:ext uri="{FF2B5EF4-FFF2-40B4-BE49-F238E27FC236}">
                <a16:creationId xmlns:a16="http://schemas.microsoft.com/office/drawing/2014/main" id="{D110AFAD-B960-79D4-3CC8-120D10654FD7}"/>
              </a:ext>
            </a:extLst>
          </p:cNvPr>
          <p:cNvSpPr>
            <a:spLocks noChangeShapeType="1"/>
          </p:cNvSpPr>
          <p:nvPr/>
        </p:nvSpPr>
        <p:spPr bwMode="auto">
          <a:xfrm>
            <a:off x="5570538" y="3321050"/>
            <a:ext cx="0" cy="1619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398" name="Line 30">
            <a:extLst>
              <a:ext uri="{FF2B5EF4-FFF2-40B4-BE49-F238E27FC236}">
                <a16:creationId xmlns:a16="http://schemas.microsoft.com/office/drawing/2014/main" id="{D78ECF2F-D0A9-8A62-9427-D6A528C1247A}"/>
              </a:ext>
            </a:extLst>
          </p:cNvPr>
          <p:cNvSpPr>
            <a:spLocks noChangeShapeType="1"/>
          </p:cNvSpPr>
          <p:nvPr/>
        </p:nvSpPr>
        <p:spPr bwMode="auto">
          <a:xfrm flipH="1">
            <a:off x="3300413" y="3475038"/>
            <a:ext cx="0" cy="27352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399" name="Text Box 31">
            <a:extLst>
              <a:ext uri="{FF2B5EF4-FFF2-40B4-BE49-F238E27FC236}">
                <a16:creationId xmlns:a16="http://schemas.microsoft.com/office/drawing/2014/main" id="{2DD62201-5037-7BED-E073-A30852659F16}"/>
              </a:ext>
            </a:extLst>
          </p:cNvPr>
          <p:cNvSpPr txBox="1">
            <a:spLocks noChangeArrowheads="1"/>
          </p:cNvSpPr>
          <p:nvPr/>
        </p:nvSpPr>
        <p:spPr bwMode="auto">
          <a:xfrm>
            <a:off x="5468938" y="2841625"/>
            <a:ext cx="947737" cy="474663"/>
          </a:xfrm>
          <a:prstGeom prst="rect">
            <a:avLst/>
          </a:prstGeom>
          <a:noFill/>
          <a:ln>
            <a:noFill/>
          </a:ln>
          <a:effectLst/>
          <a:extLst>
            <a:ext uri="{909E8E84-426E-40DD-AFC4-6F175D3DCCD1}">
              <a14:hiddenFill xmlns:a14="http://schemas.microsoft.com/office/drawing/2010/main">
                <a:solidFill>
                  <a:srgbClr val="00827F">
                    <a:alpha val="5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endParaRPr lang="en-US" altLang="en-US" sz="300"/>
          </a:p>
          <a:p>
            <a:pPr algn="l"/>
            <a:r>
              <a:rPr lang="en-US" altLang="en-US" sz="1100"/>
              <a:t>Emerging Markets</a:t>
            </a:r>
          </a:p>
        </p:txBody>
      </p:sp>
      <p:sp>
        <p:nvSpPr>
          <p:cNvPr id="314400" name="Text Box 32">
            <a:extLst>
              <a:ext uri="{FF2B5EF4-FFF2-40B4-BE49-F238E27FC236}">
                <a16:creationId xmlns:a16="http://schemas.microsoft.com/office/drawing/2014/main" id="{AE36045E-5F68-9BD5-474A-95DD6F7ABCBC}"/>
              </a:ext>
            </a:extLst>
          </p:cNvPr>
          <p:cNvSpPr txBox="1">
            <a:spLocks noChangeArrowheads="1"/>
          </p:cNvSpPr>
          <p:nvPr/>
        </p:nvSpPr>
        <p:spPr bwMode="auto">
          <a:xfrm>
            <a:off x="3297238" y="4518025"/>
            <a:ext cx="2452687"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1100"/>
              <a:t>Quantitative Investment Research</a:t>
            </a:r>
          </a:p>
        </p:txBody>
      </p:sp>
      <p:sp>
        <p:nvSpPr>
          <p:cNvPr id="314401" name="Line 33">
            <a:extLst>
              <a:ext uri="{FF2B5EF4-FFF2-40B4-BE49-F238E27FC236}">
                <a16:creationId xmlns:a16="http://schemas.microsoft.com/office/drawing/2014/main" id="{BBB07B16-5D7E-0F6B-5988-8CCC1520FC1F}"/>
              </a:ext>
            </a:extLst>
          </p:cNvPr>
          <p:cNvSpPr>
            <a:spLocks noChangeShapeType="1"/>
          </p:cNvSpPr>
          <p:nvPr/>
        </p:nvSpPr>
        <p:spPr bwMode="auto">
          <a:xfrm>
            <a:off x="3297238" y="4778375"/>
            <a:ext cx="5283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402" name="Text Box 34">
            <a:extLst>
              <a:ext uri="{FF2B5EF4-FFF2-40B4-BE49-F238E27FC236}">
                <a16:creationId xmlns:a16="http://schemas.microsoft.com/office/drawing/2014/main" id="{47334457-B358-DF21-BDAB-F29AD4D382D1}"/>
              </a:ext>
            </a:extLst>
          </p:cNvPr>
          <p:cNvSpPr txBox="1">
            <a:spLocks noChangeArrowheads="1"/>
          </p:cNvSpPr>
          <p:nvPr/>
        </p:nvSpPr>
        <p:spPr bwMode="auto">
          <a:xfrm>
            <a:off x="579438" y="4427538"/>
            <a:ext cx="2247900" cy="266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1450" indent="-171450" algn="l">
              <a:defRPr sz="2400">
                <a:solidFill>
                  <a:schemeClr val="tx1"/>
                </a:solidFill>
                <a:latin typeface="Times New Roman" panose="02020603050405020304" pitchFamily="18" charset="0"/>
              </a:defRPr>
            </a:lvl1pPr>
            <a:lvl2pPr marL="400050" indent="-114300" algn="l">
              <a:defRPr sz="2400">
                <a:solidFill>
                  <a:schemeClr val="tx1"/>
                </a:solidFill>
                <a:latin typeface="Times New Roman" panose="02020603050405020304" pitchFamily="18" charset="0"/>
              </a:defRPr>
            </a:lvl2pPr>
            <a:lvl3pPr algn="l">
              <a:defRPr sz="2400">
                <a:solidFill>
                  <a:schemeClr val="tx1"/>
                </a:solidFill>
                <a:latin typeface="Times New Roman" panose="02020603050405020304" pitchFamily="18" charset="0"/>
              </a:defRPr>
            </a:lvl3pPr>
            <a:lvl4pPr algn="l">
              <a:defRPr sz="2400">
                <a:solidFill>
                  <a:schemeClr val="tx1"/>
                </a:solidFill>
                <a:latin typeface="Times New Roman" panose="02020603050405020304" pitchFamily="18" charset="0"/>
              </a:defRPr>
            </a:lvl4pPr>
            <a:lvl5pPr algn="l">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buSzPct val="75000"/>
              <a:buFont typeface="Wingdings" pitchFamily="2" charset="2"/>
              <a:buChar char="n"/>
            </a:pPr>
            <a:r>
              <a:rPr lang="en-US" altLang="en-US" sz="1200" b="0"/>
              <a:t>Committed to investment research and performance</a:t>
            </a:r>
          </a:p>
          <a:p>
            <a:pPr>
              <a:spcBef>
                <a:spcPts val="700"/>
              </a:spcBef>
              <a:buSzPct val="75000"/>
              <a:buFont typeface="Wingdings" pitchFamily="2" charset="2"/>
              <a:buChar char="n"/>
            </a:pPr>
            <a:r>
              <a:rPr lang="en-US" altLang="en-US" sz="1200" b="0"/>
              <a:t>Exceptionally low turnover of investment personnel</a:t>
            </a:r>
          </a:p>
          <a:p>
            <a:pPr>
              <a:spcBef>
                <a:spcPts val="700"/>
              </a:spcBef>
              <a:buSzPct val="75000"/>
              <a:buFont typeface="Wingdings" pitchFamily="2" charset="2"/>
              <a:buChar char="n"/>
            </a:pPr>
            <a:r>
              <a:rPr lang="en-US" altLang="en-US" sz="1200" b="0"/>
              <a:t>81 investment professionals</a:t>
            </a:r>
          </a:p>
          <a:p>
            <a:pPr>
              <a:spcBef>
                <a:spcPts val="700"/>
              </a:spcBef>
              <a:buSzPct val="75000"/>
              <a:buFont typeface="Wingdings" pitchFamily="2" charset="2"/>
              <a:buChar char="n"/>
            </a:pPr>
            <a:r>
              <a:rPr lang="en-US" altLang="en-US" sz="1200" b="0"/>
              <a:t>More than 200 associates worldwide</a:t>
            </a:r>
          </a:p>
          <a:p>
            <a:pPr>
              <a:spcBef>
                <a:spcPts val="700"/>
              </a:spcBef>
              <a:buSzPct val="75000"/>
              <a:buFont typeface="Wingdings" pitchFamily="2" charset="2"/>
              <a:buChar char="n"/>
            </a:pPr>
            <a:r>
              <a:rPr lang="en-US" altLang="en-US" sz="1200" b="0"/>
              <a:t>$22 billion in assets under management:</a:t>
            </a:r>
          </a:p>
          <a:p>
            <a:pPr lvl="1">
              <a:spcBef>
                <a:spcPts val="300"/>
              </a:spcBef>
              <a:buFont typeface="Wingdings" pitchFamily="2" charset="2"/>
              <a:buChar char="§"/>
            </a:pPr>
            <a:r>
              <a:rPr lang="en-US" altLang="en-US" sz="1000" b="0"/>
              <a:t>$11 billion in foreign equities</a:t>
            </a:r>
          </a:p>
          <a:p>
            <a:pPr lvl="1">
              <a:spcBef>
                <a:spcPts val="300"/>
              </a:spcBef>
              <a:buFont typeface="Wingdings" pitchFamily="2" charset="2"/>
              <a:buChar char="§"/>
            </a:pPr>
            <a:r>
              <a:rPr lang="en-US" altLang="en-US" sz="1000" b="0"/>
              <a:t>$8 billion in U.S. equities</a:t>
            </a:r>
          </a:p>
          <a:p>
            <a:pPr lvl="1">
              <a:spcBef>
                <a:spcPts val="300"/>
              </a:spcBef>
              <a:buFont typeface="Wingdings" pitchFamily="2" charset="2"/>
              <a:buChar char="§"/>
            </a:pPr>
            <a:r>
              <a:rPr lang="en-US" altLang="en-US" sz="1000" b="0"/>
              <a:t>$3 billion in fixed income</a:t>
            </a:r>
            <a:endParaRPr lang="en-US" altLang="en-US" sz="1200" b="0"/>
          </a:p>
        </p:txBody>
      </p:sp>
      <p:sp>
        <p:nvSpPr>
          <p:cNvPr id="314403" name="Text Box 35">
            <a:extLst>
              <a:ext uri="{FF2B5EF4-FFF2-40B4-BE49-F238E27FC236}">
                <a16:creationId xmlns:a16="http://schemas.microsoft.com/office/drawing/2014/main" id="{16C335B8-FBC2-01C8-F201-E4D27B3067C9}"/>
              </a:ext>
            </a:extLst>
          </p:cNvPr>
          <p:cNvSpPr txBox="1">
            <a:spLocks noChangeArrowheads="1"/>
          </p:cNvSpPr>
          <p:nvPr/>
        </p:nvSpPr>
        <p:spPr bwMode="auto">
          <a:xfrm>
            <a:off x="4386263" y="4794250"/>
            <a:ext cx="795337"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1000" b="0"/>
              <a:t>Cliff Gong</a:t>
            </a:r>
          </a:p>
        </p:txBody>
      </p:sp>
      <p:sp>
        <p:nvSpPr>
          <p:cNvPr id="314404" name="Line 36">
            <a:extLst>
              <a:ext uri="{FF2B5EF4-FFF2-40B4-BE49-F238E27FC236}">
                <a16:creationId xmlns:a16="http://schemas.microsoft.com/office/drawing/2014/main" id="{6D7C4451-1FC5-2458-535F-96B55577B2F0}"/>
              </a:ext>
            </a:extLst>
          </p:cNvPr>
          <p:cNvSpPr>
            <a:spLocks noChangeShapeType="1"/>
          </p:cNvSpPr>
          <p:nvPr/>
        </p:nvSpPr>
        <p:spPr bwMode="auto">
          <a:xfrm flipH="1">
            <a:off x="4441825" y="4775200"/>
            <a:ext cx="1588" cy="22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405" name="Line 37">
            <a:extLst>
              <a:ext uri="{FF2B5EF4-FFF2-40B4-BE49-F238E27FC236}">
                <a16:creationId xmlns:a16="http://schemas.microsoft.com/office/drawing/2014/main" id="{68E61FDA-F9B7-83CA-FC29-F298718728E0}"/>
              </a:ext>
            </a:extLst>
          </p:cNvPr>
          <p:cNvSpPr>
            <a:spLocks noChangeShapeType="1"/>
          </p:cNvSpPr>
          <p:nvPr/>
        </p:nvSpPr>
        <p:spPr bwMode="auto">
          <a:xfrm flipV="1">
            <a:off x="4441825" y="5005388"/>
            <a:ext cx="635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406" name="Text Box 38">
            <a:extLst>
              <a:ext uri="{FF2B5EF4-FFF2-40B4-BE49-F238E27FC236}">
                <a16:creationId xmlns:a16="http://schemas.microsoft.com/office/drawing/2014/main" id="{FBFC6199-6E1A-EB35-AEF3-67BE41ACE930}"/>
              </a:ext>
            </a:extLst>
          </p:cNvPr>
          <p:cNvSpPr txBox="1">
            <a:spLocks noChangeArrowheads="1"/>
          </p:cNvSpPr>
          <p:nvPr/>
        </p:nvSpPr>
        <p:spPr bwMode="auto">
          <a:xfrm>
            <a:off x="3246438" y="4789488"/>
            <a:ext cx="1138237"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000" b="0"/>
              <a:t>Jonathan Calvert</a:t>
            </a:r>
          </a:p>
        </p:txBody>
      </p:sp>
      <p:sp>
        <p:nvSpPr>
          <p:cNvPr id="314407" name="Line 39">
            <a:extLst>
              <a:ext uri="{FF2B5EF4-FFF2-40B4-BE49-F238E27FC236}">
                <a16:creationId xmlns:a16="http://schemas.microsoft.com/office/drawing/2014/main" id="{BFA9A417-83C7-24B8-5D13-1A201028E2A9}"/>
              </a:ext>
            </a:extLst>
          </p:cNvPr>
          <p:cNvSpPr>
            <a:spLocks noChangeShapeType="1"/>
          </p:cNvSpPr>
          <p:nvPr/>
        </p:nvSpPr>
        <p:spPr bwMode="auto">
          <a:xfrm>
            <a:off x="3298825" y="5002213"/>
            <a:ext cx="1030288" cy="3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408" name="Line 40">
            <a:extLst>
              <a:ext uri="{FF2B5EF4-FFF2-40B4-BE49-F238E27FC236}">
                <a16:creationId xmlns:a16="http://schemas.microsoft.com/office/drawing/2014/main" id="{1192F688-DA72-71CC-5937-869D9F0C5D2C}"/>
              </a:ext>
            </a:extLst>
          </p:cNvPr>
          <p:cNvSpPr>
            <a:spLocks noChangeShapeType="1"/>
          </p:cNvSpPr>
          <p:nvPr/>
        </p:nvSpPr>
        <p:spPr bwMode="auto">
          <a:xfrm flipH="1">
            <a:off x="5207000" y="4775200"/>
            <a:ext cx="0" cy="22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409" name="Text Box 41">
            <a:extLst>
              <a:ext uri="{FF2B5EF4-FFF2-40B4-BE49-F238E27FC236}">
                <a16:creationId xmlns:a16="http://schemas.microsoft.com/office/drawing/2014/main" id="{5531BDBA-E04E-19AF-D15B-F33806FC9A6B}"/>
              </a:ext>
            </a:extLst>
          </p:cNvPr>
          <p:cNvSpPr txBox="1">
            <a:spLocks noChangeArrowheads="1"/>
          </p:cNvSpPr>
          <p:nvPr/>
        </p:nvSpPr>
        <p:spPr bwMode="auto">
          <a:xfrm>
            <a:off x="5148263" y="4784725"/>
            <a:ext cx="1350962"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000" b="0"/>
              <a:t>Tom Hancock, Ph.D.</a:t>
            </a:r>
          </a:p>
        </p:txBody>
      </p:sp>
      <p:sp>
        <p:nvSpPr>
          <p:cNvPr id="314410" name="Line 42">
            <a:extLst>
              <a:ext uri="{FF2B5EF4-FFF2-40B4-BE49-F238E27FC236}">
                <a16:creationId xmlns:a16="http://schemas.microsoft.com/office/drawing/2014/main" id="{D30FDD9F-38D1-B377-7E26-C9FFBE1D0B92}"/>
              </a:ext>
            </a:extLst>
          </p:cNvPr>
          <p:cNvSpPr>
            <a:spLocks noChangeShapeType="1"/>
          </p:cNvSpPr>
          <p:nvPr/>
        </p:nvSpPr>
        <p:spPr bwMode="auto">
          <a:xfrm>
            <a:off x="5197475" y="5005388"/>
            <a:ext cx="12287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411" name="Text Box 43">
            <a:extLst>
              <a:ext uri="{FF2B5EF4-FFF2-40B4-BE49-F238E27FC236}">
                <a16:creationId xmlns:a16="http://schemas.microsoft.com/office/drawing/2014/main" id="{CC3FD7A3-F3C5-A806-F1FC-CE377DE11400}"/>
              </a:ext>
            </a:extLst>
          </p:cNvPr>
          <p:cNvSpPr txBox="1">
            <a:spLocks noChangeArrowheads="1"/>
          </p:cNvSpPr>
          <p:nvPr/>
        </p:nvSpPr>
        <p:spPr bwMode="auto">
          <a:xfrm>
            <a:off x="6483350" y="4787900"/>
            <a:ext cx="1090613"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1000" b="0"/>
              <a:t>Ben Inker, CFA</a:t>
            </a:r>
          </a:p>
        </p:txBody>
      </p:sp>
      <p:sp>
        <p:nvSpPr>
          <p:cNvPr id="314412" name="Line 44">
            <a:extLst>
              <a:ext uri="{FF2B5EF4-FFF2-40B4-BE49-F238E27FC236}">
                <a16:creationId xmlns:a16="http://schemas.microsoft.com/office/drawing/2014/main" id="{A6DF945F-1E59-EB1F-493A-B9441A3B0C67}"/>
              </a:ext>
            </a:extLst>
          </p:cNvPr>
          <p:cNvSpPr>
            <a:spLocks noChangeShapeType="1"/>
          </p:cNvSpPr>
          <p:nvPr/>
        </p:nvSpPr>
        <p:spPr bwMode="auto">
          <a:xfrm flipH="1">
            <a:off x="6526213" y="4775200"/>
            <a:ext cx="1587" cy="22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413" name="Line 45">
            <a:extLst>
              <a:ext uri="{FF2B5EF4-FFF2-40B4-BE49-F238E27FC236}">
                <a16:creationId xmlns:a16="http://schemas.microsoft.com/office/drawing/2014/main" id="{2DF7A2A0-65D8-8F25-140A-395AF2639E0C}"/>
              </a:ext>
            </a:extLst>
          </p:cNvPr>
          <p:cNvSpPr>
            <a:spLocks noChangeShapeType="1"/>
          </p:cNvSpPr>
          <p:nvPr/>
        </p:nvSpPr>
        <p:spPr bwMode="auto">
          <a:xfrm flipV="1">
            <a:off x="6529388" y="5005388"/>
            <a:ext cx="9302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414" name="Line 46">
            <a:extLst>
              <a:ext uri="{FF2B5EF4-FFF2-40B4-BE49-F238E27FC236}">
                <a16:creationId xmlns:a16="http://schemas.microsoft.com/office/drawing/2014/main" id="{496492B8-330A-9B38-B432-EC5AD7112371}"/>
              </a:ext>
            </a:extLst>
          </p:cNvPr>
          <p:cNvSpPr>
            <a:spLocks noChangeShapeType="1"/>
          </p:cNvSpPr>
          <p:nvPr/>
        </p:nvSpPr>
        <p:spPr bwMode="auto">
          <a:xfrm flipH="1">
            <a:off x="7564438" y="4775200"/>
            <a:ext cx="0" cy="22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415" name="Text Box 47">
            <a:extLst>
              <a:ext uri="{FF2B5EF4-FFF2-40B4-BE49-F238E27FC236}">
                <a16:creationId xmlns:a16="http://schemas.microsoft.com/office/drawing/2014/main" id="{CA7A1E59-034F-D21C-D441-09673D2476A5}"/>
              </a:ext>
            </a:extLst>
          </p:cNvPr>
          <p:cNvSpPr txBox="1">
            <a:spLocks noChangeArrowheads="1"/>
          </p:cNvSpPr>
          <p:nvPr/>
        </p:nvSpPr>
        <p:spPr bwMode="auto">
          <a:xfrm>
            <a:off x="7531100" y="4787900"/>
            <a:ext cx="933450"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1000" b="0"/>
              <a:t>Chuck Joyce</a:t>
            </a:r>
          </a:p>
        </p:txBody>
      </p:sp>
      <p:sp>
        <p:nvSpPr>
          <p:cNvPr id="314416" name="Line 48">
            <a:extLst>
              <a:ext uri="{FF2B5EF4-FFF2-40B4-BE49-F238E27FC236}">
                <a16:creationId xmlns:a16="http://schemas.microsoft.com/office/drawing/2014/main" id="{4151FAFD-704C-4573-7C5F-2DE4E427CD4E}"/>
              </a:ext>
            </a:extLst>
          </p:cNvPr>
          <p:cNvSpPr>
            <a:spLocks noChangeShapeType="1"/>
          </p:cNvSpPr>
          <p:nvPr/>
        </p:nvSpPr>
        <p:spPr bwMode="auto">
          <a:xfrm>
            <a:off x="7566025" y="5005388"/>
            <a:ext cx="81121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417" name="Text Box 49">
            <a:extLst>
              <a:ext uri="{FF2B5EF4-FFF2-40B4-BE49-F238E27FC236}">
                <a16:creationId xmlns:a16="http://schemas.microsoft.com/office/drawing/2014/main" id="{4A6B79A8-DDC0-A1B7-7B23-D47581181C82}"/>
              </a:ext>
            </a:extLst>
          </p:cNvPr>
          <p:cNvSpPr txBox="1">
            <a:spLocks noChangeArrowheads="1"/>
          </p:cNvSpPr>
          <p:nvPr/>
        </p:nvSpPr>
        <p:spPr bwMode="auto">
          <a:xfrm>
            <a:off x="4864100" y="3789363"/>
            <a:ext cx="137795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ts val="500"/>
              </a:spcBef>
            </a:pPr>
            <a:r>
              <a:rPr lang="en-US" altLang="en-US" sz="1100"/>
              <a:t>Amit Bhartia, CFA</a:t>
            </a:r>
            <a:endParaRPr lang="en-US" altLang="en-US" sz="1000"/>
          </a:p>
          <a:p>
            <a:pPr algn="l">
              <a:spcBef>
                <a:spcPts val="500"/>
              </a:spcBef>
            </a:pPr>
            <a:r>
              <a:rPr lang="en-US" altLang="en-US" sz="1000"/>
              <a:t> Portfolio Manager</a:t>
            </a:r>
          </a:p>
        </p:txBody>
      </p:sp>
      <p:sp>
        <p:nvSpPr>
          <p:cNvPr id="314418" name="Line 50">
            <a:extLst>
              <a:ext uri="{FF2B5EF4-FFF2-40B4-BE49-F238E27FC236}">
                <a16:creationId xmlns:a16="http://schemas.microsoft.com/office/drawing/2014/main" id="{CD3A7743-D36D-59FB-A39E-D475EEDB68B6}"/>
              </a:ext>
            </a:extLst>
          </p:cNvPr>
          <p:cNvSpPr>
            <a:spLocks noChangeShapeType="1"/>
          </p:cNvSpPr>
          <p:nvPr/>
        </p:nvSpPr>
        <p:spPr bwMode="auto">
          <a:xfrm flipV="1">
            <a:off x="4872038" y="4022725"/>
            <a:ext cx="1320800" cy="1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419" name="Line 51">
            <a:extLst>
              <a:ext uri="{FF2B5EF4-FFF2-40B4-BE49-F238E27FC236}">
                <a16:creationId xmlns:a16="http://schemas.microsoft.com/office/drawing/2014/main" id="{2F994974-2D21-DC89-E6A9-E3904004F28F}"/>
              </a:ext>
            </a:extLst>
          </p:cNvPr>
          <p:cNvSpPr>
            <a:spLocks noChangeShapeType="1"/>
          </p:cNvSpPr>
          <p:nvPr/>
        </p:nvSpPr>
        <p:spPr bwMode="auto">
          <a:xfrm flipH="1">
            <a:off x="4867275" y="3781425"/>
            <a:ext cx="0" cy="2524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420" name="Text Box 52">
            <a:extLst>
              <a:ext uri="{FF2B5EF4-FFF2-40B4-BE49-F238E27FC236}">
                <a16:creationId xmlns:a16="http://schemas.microsoft.com/office/drawing/2014/main" id="{97F391FC-B7DF-5E95-1AC2-7ABA2753DF32}"/>
              </a:ext>
            </a:extLst>
          </p:cNvPr>
          <p:cNvSpPr txBox="1">
            <a:spLocks noChangeArrowheads="1"/>
          </p:cNvSpPr>
          <p:nvPr/>
        </p:nvSpPr>
        <p:spPr bwMode="auto">
          <a:xfrm>
            <a:off x="6445250" y="3789363"/>
            <a:ext cx="1595438"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ts val="500"/>
              </a:spcBef>
            </a:pPr>
            <a:r>
              <a:rPr lang="en-US" altLang="en-US" sz="1100"/>
              <a:t>Sam Wilderman, CFA</a:t>
            </a:r>
            <a:endParaRPr lang="en-US" altLang="en-US" sz="1000"/>
          </a:p>
          <a:p>
            <a:pPr algn="l">
              <a:spcBef>
                <a:spcPts val="500"/>
              </a:spcBef>
            </a:pPr>
            <a:r>
              <a:rPr lang="en-US" altLang="en-US" sz="1000"/>
              <a:t> Portfolio Manager</a:t>
            </a:r>
          </a:p>
        </p:txBody>
      </p:sp>
      <p:sp>
        <p:nvSpPr>
          <p:cNvPr id="314421" name="Line 53">
            <a:extLst>
              <a:ext uri="{FF2B5EF4-FFF2-40B4-BE49-F238E27FC236}">
                <a16:creationId xmlns:a16="http://schemas.microsoft.com/office/drawing/2014/main" id="{F53A6DB1-3F25-E1B5-E337-817120F7D15D}"/>
              </a:ext>
            </a:extLst>
          </p:cNvPr>
          <p:cNvSpPr>
            <a:spLocks noChangeShapeType="1"/>
          </p:cNvSpPr>
          <p:nvPr/>
        </p:nvSpPr>
        <p:spPr bwMode="auto">
          <a:xfrm flipV="1">
            <a:off x="6453188" y="4022725"/>
            <a:ext cx="1501775" cy="1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422" name="Line 54">
            <a:extLst>
              <a:ext uri="{FF2B5EF4-FFF2-40B4-BE49-F238E27FC236}">
                <a16:creationId xmlns:a16="http://schemas.microsoft.com/office/drawing/2014/main" id="{9EACF458-67A1-04D8-6DE2-22A90B1CF2D1}"/>
              </a:ext>
            </a:extLst>
          </p:cNvPr>
          <p:cNvSpPr>
            <a:spLocks noChangeShapeType="1"/>
          </p:cNvSpPr>
          <p:nvPr/>
        </p:nvSpPr>
        <p:spPr bwMode="auto">
          <a:xfrm flipH="1">
            <a:off x="6457950" y="3781425"/>
            <a:ext cx="0" cy="2524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4423" name="Text Box 55">
            <a:extLst>
              <a:ext uri="{FF2B5EF4-FFF2-40B4-BE49-F238E27FC236}">
                <a16:creationId xmlns:a16="http://schemas.microsoft.com/office/drawing/2014/main" id="{E504F91A-C6F1-E509-5BC5-1DA9273A98AF}"/>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
        <p:nvSpPr>
          <p:cNvPr id="314424" name="Rectangle 56">
            <a:extLst>
              <a:ext uri="{FF2B5EF4-FFF2-40B4-BE49-F238E27FC236}">
                <a16:creationId xmlns:a16="http://schemas.microsoft.com/office/drawing/2014/main" id="{F6B64D75-ECEE-A3EB-A148-C1C80C689C29}"/>
              </a:ext>
            </a:extLst>
          </p:cNvPr>
          <p:cNvSpPr>
            <a:spLocks noChangeArrowheads="1"/>
          </p:cNvSpPr>
          <p:nvPr/>
        </p:nvSpPr>
        <p:spPr bwMode="auto">
          <a:xfrm>
            <a:off x="3305175" y="6197600"/>
            <a:ext cx="5251450" cy="533400"/>
          </a:xfrm>
          <a:prstGeom prst="rect">
            <a:avLst/>
          </a:prstGeom>
          <a:solidFill>
            <a:srgbClr val="AFBCDB">
              <a:alpha val="50000"/>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600"/>
              <a:t>Quantitative Research Team</a:t>
            </a:r>
          </a:p>
          <a:p>
            <a:r>
              <a:rPr lang="en-US" altLang="en-US" sz="900"/>
              <a:t>(62 Research Analysts)</a:t>
            </a:r>
            <a:endParaRPr lang="en-US" altLang="en-US" sz="900" b="0"/>
          </a:p>
        </p:txBody>
      </p:sp>
      <p:sp>
        <p:nvSpPr>
          <p:cNvPr id="2" name="Rectangle 1">
            <a:extLst>
              <a:ext uri="{FF2B5EF4-FFF2-40B4-BE49-F238E27FC236}">
                <a16:creationId xmlns:a16="http://schemas.microsoft.com/office/drawing/2014/main" id="{2672C9FA-D602-71AA-7E7F-8AB6D5BFDA35}"/>
              </a:ext>
            </a:extLst>
          </p:cNvPr>
          <p:cNvSpPr/>
          <p:nvPr/>
        </p:nvSpPr>
        <p:spPr bwMode="auto">
          <a:xfrm>
            <a:off x="3297238" y="3767138"/>
            <a:ext cx="1219200" cy="498475"/>
          </a:xfrm>
          <a:prstGeom prst="rect">
            <a:avLst/>
          </a:prstGeom>
          <a:solidFill>
            <a:srgbClr val="FFFF00">
              <a:alpha val="15362"/>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3DDD5AD0-DFFE-176F-15BF-20A5E35018BF}"/>
              </a:ext>
            </a:extLst>
          </p:cNvPr>
          <p:cNvSpPr/>
          <p:nvPr/>
        </p:nvSpPr>
        <p:spPr bwMode="auto">
          <a:xfrm>
            <a:off x="4919663" y="3788569"/>
            <a:ext cx="1219200" cy="498475"/>
          </a:xfrm>
          <a:prstGeom prst="rect">
            <a:avLst/>
          </a:prstGeom>
          <a:solidFill>
            <a:srgbClr val="FFFF00">
              <a:alpha val="15362"/>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a:ln>
                <a:noFill/>
              </a:ln>
              <a:solidFill>
                <a:schemeClr val="tx1"/>
              </a:solidFill>
              <a:effectLst/>
              <a:latin typeface="Arial" panose="020B0604020202020204" pitchFamily="34" charset="0"/>
            </a:endParaRPr>
          </a:p>
        </p:txBody>
      </p:sp>
      <p:sp>
        <p:nvSpPr>
          <p:cNvPr id="4" name="Rectangle 3">
            <a:extLst>
              <a:ext uri="{FF2B5EF4-FFF2-40B4-BE49-F238E27FC236}">
                <a16:creationId xmlns:a16="http://schemas.microsoft.com/office/drawing/2014/main" id="{747F5DFE-91E0-CC57-ED84-E6C37DAF15E9}"/>
              </a:ext>
            </a:extLst>
          </p:cNvPr>
          <p:cNvSpPr/>
          <p:nvPr/>
        </p:nvSpPr>
        <p:spPr bwMode="auto">
          <a:xfrm>
            <a:off x="6453188" y="3799797"/>
            <a:ext cx="1219200" cy="498475"/>
          </a:xfrm>
          <a:prstGeom prst="rect">
            <a:avLst/>
          </a:prstGeom>
          <a:solidFill>
            <a:srgbClr val="FFFF00">
              <a:alpha val="15362"/>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82AA5AC3-C346-72FF-0309-67D79BA08D34}"/>
              </a:ext>
            </a:extLst>
          </p:cNvPr>
          <p:cNvSpPr/>
          <p:nvPr/>
        </p:nvSpPr>
        <p:spPr bwMode="auto">
          <a:xfrm>
            <a:off x="3311525" y="5551489"/>
            <a:ext cx="1219200" cy="498475"/>
          </a:xfrm>
          <a:prstGeom prst="rect">
            <a:avLst/>
          </a:prstGeom>
          <a:solidFill>
            <a:srgbClr val="FFFF00">
              <a:alpha val="15362"/>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DFC704E9-AA3F-BAE3-EA59-FF5A764EB796}"/>
              </a:ext>
            </a:extLst>
          </p:cNvPr>
          <p:cNvSpPr/>
          <p:nvPr/>
        </p:nvSpPr>
        <p:spPr bwMode="auto">
          <a:xfrm>
            <a:off x="4527550" y="5435599"/>
            <a:ext cx="1219200" cy="498475"/>
          </a:xfrm>
          <a:prstGeom prst="rect">
            <a:avLst/>
          </a:prstGeom>
          <a:solidFill>
            <a:srgbClr val="FFFF00">
              <a:alpha val="15362"/>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a:ln>
                <a:noFill/>
              </a:ln>
              <a:solidFill>
                <a:schemeClr val="tx1"/>
              </a:solidFill>
              <a:effectLst/>
              <a:latin typeface="Arial" panose="020B0604020202020204" pitchFamily="34" charset="0"/>
            </a:endParaRPr>
          </a:p>
        </p:txBody>
      </p:sp>
      <p:sp>
        <p:nvSpPr>
          <p:cNvPr id="7" name="Rectangle 6">
            <a:extLst>
              <a:ext uri="{FF2B5EF4-FFF2-40B4-BE49-F238E27FC236}">
                <a16:creationId xmlns:a16="http://schemas.microsoft.com/office/drawing/2014/main" id="{8A33B336-5219-2A04-2D14-1D033783A678}"/>
              </a:ext>
            </a:extLst>
          </p:cNvPr>
          <p:cNvSpPr/>
          <p:nvPr/>
        </p:nvSpPr>
        <p:spPr bwMode="auto">
          <a:xfrm>
            <a:off x="5757637" y="5435599"/>
            <a:ext cx="1219200" cy="498475"/>
          </a:xfrm>
          <a:prstGeom prst="rect">
            <a:avLst/>
          </a:prstGeom>
          <a:solidFill>
            <a:srgbClr val="FFFF00">
              <a:alpha val="15362"/>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A79863CC-C4AC-5883-0870-E7A3B040A37A}"/>
              </a:ext>
            </a:extLst>
          </p:cNvPr>
          <p:cNvSpPr/>
          <p:nvPr/>
        </p:nvSpPr>
        <p:spPr bwMode="auto">
          <a:xfrm>
            <a:off x="4420624" y="4728034"/>
            <a:ext cx="804632" cy="390069"/>
          </a:xfrm>
          <a:prstGeom prst="rect">
            <a:avLst/>
          </a:prstGeom>
          <a:solidFill>
            <a:srgbClr val="FFFF00">
              <a:alpha val="15362"/>
            </a:srgb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Text Box 3074">
            <a:extLst>
              <a:ext uri="{FF2B5EF4-FFF2-40B4-BE49-F238E27FC236}">
                <a16:creationId xmlns:a16="http://schemas.microsoft.com/office/drawing/2014/main" id="{492A2B8F-BE48-050A-1F94-61E5D70F80AF}"/>
              </a:ext>
            </a:extLst>
          </p:cNvPr>
          <p:cNvSpPr txBox="1">
            <a:spLocks noChangeArrowheads="1"/>
          </p:cNvSpPr>
          <p:nvPr/>
        </p:nvSpPr>
        <p:spPr bwMode="auto">
          <a:xfrm>
            <a:off x="603250" y="442913"/>
            <a:ext cx="8929688"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85000"/>
              </a:lnSpc>
            </a:pPr>
            <a:r>
              <a:rPr lang="en-US" altLang="en-US" sz="2800" b="0"/>
              <a:t>We Have Added Value Over Every</a:t>
            </a:r>
          </a:p>
          <a:p>
            <a:pPr algn="l">
              <a:lnSpc>
                <a:spcPct val="85000"/>
              </a:lnSpc>
            </a:pPr>
            <a:r>
              <a:rPr lang="en-US" altLang="en-US" sz="2800" b="0"/>
              <a:t>Time Period Through December 31, 2001</a:t>
            </a:r>
          </a:p>
        </p:txBody>
      </p:sp>
      <p:sp>
        <p:nvSpPr>
          <p:cNvPr id="276483" name="Text Box 3075">
            <a:extLst>
              <a:ext uri="{FF2B5EF4-FFF2-40B4-BE49-F238E27FC236}">
                <a16:creationId xmlns:a16="http://schemas.microsoft.com/office/drawing/2014/main" id="{17CEC811-8CFF-2A03-7134-671528DFDB90}"/>
              </a:ext>
            </a:extLst>
          </p:cNvPr>
          <p:cNvSpPr txBox="1">
            <a:spLocks noChangeArrowheads="1"/>
          </p:cNvSpPr>
          <p:nvPr/>
        </p:nvSpPr>
        <p:spPr bwMode="auto">
          <a:xfrm>
            <a:off x="8586788" y="7085013"/>
            <a:ext cx="946150" cy="24447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000" b="0">
                <a:latin typeface="Times New Roman" panose="02020603050405020304" pitchFamily="18" charset="0"/>
              </a:rPr>
              <a:t>As of 12/31/01</a:t>
            </a:r>
          </a:p>
        </p:txBody>
      </p:sp>
      <p:sp>
        <p:nvSpPr>
          <p:cNvPr id="276485" name="Text Box 3077">
            <a:extLst>
              <a:ext uri="{FF2B5EF4-FFF2-40B4-BE49-F238E27FC236}">
                <a16:creationId xmlns:a16="http://schemas.microsoft.com/office/drawing/2014/main" id="{EA63B3AE-C9DB-C514-7A38-6DA0F95BBC3F}"/>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
        <p:nvSpPr>
          <p:cNvPr id="276490" name="Text Box 3082">
            <a:extLst>
              <a:ext uri="{FF2B5EF4-FFF2-40B4-BE49-F238E27FC236}">
                <a16:creationId xmlns:a16="http://schemas.microsoft.com/office/drawing/2014/main" id="{671D1655-5F0B-9431-733D-4FDFCECD3231}"/>
              </a:ext>
            </a:extLst>
          </p:cNvPr>
          <p:cNvSpPr txBox="1">
            <a:spLocks noChangeArrowheads="1"/>
          </p:cNvSpPr>
          <p:nvPr/>
        </p:nvSpPr>
        <p:spPr bwMode="auto">
          <a:xfrm>
            <a:off x="1336675" y="6932613"/>
            <a:ext cx="6700838" cy="39687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1000">
                <a:latin typeface="Times New Roman" panose="02020603050405020304" pitchFamily="18" charset="0"/>
              </a:rPr>
              <a:t>Note:</a:t>
            </a:r>
            <a:r>
              <a:rPr lang="en-US" altLang="en-US" sz="1000" b="0">
                <a:latin typeface="Times New Roman" panose="02020603050405020304" pitchFamily="18" charset="0"/>
              </a:rPr>
              <a:t>  Past performance does not guarantee future results.  Performance presented does not include management and other fees; if included, performance would be lower.</a:t>
            </a:r>
          </a:p>
        </p:txBody>
      </p:sp>
      <p:graphicFrame>
        <p:nvGraphicFramePr>
          <p:cNvPr id="276491" name="Object 3083">
            <a:extLst>
              <a:ext uri="{FF2B5EF4-FFF2-40B4-BE49-F238E27FC236}">
                <a16:creationId xmlns:a16="http://schemas.microsoft.com/office/drawing/2014/main" id="{B4C5DA35-90FA-A84B-8D96-BA86B6CAC550}"/>
              </a:ext>
            </a:extLst>
          </p:cNvPr>
          <p:cNvGraphicFramePr>
            <a:graphicFrameLocks noChangeAspect="1"/>
          </p:cNvGraphicFramePr>
          <p:nvPr/>
        </p:nvGraphicFramePr>
        <p:xfrm>
          <a:off x="465138" y="2005013"/>
          <a:ext cx="9097962" cy="4937125"/>
        </p:xfrm>
        <a:graphic>
          <a:graphicData uri="http://schemas.openxmlformats.org/presentationml/2006/ole">
            <mc:AlternateContent xmlns:mc="http://schemas.openxmlformats.org/markup-compatibility/2006">
              <mc:Choice xmlns:v="urn:schemas-microsoft-com:vml" Requires="v">
                <p:oleObj name="Worksheet" r:id="rId2" imgW="9575800" imgH="5740400" progId="Excel.Sheet.8">
                  <p:link updateAutomatic="1"/>
                </p:oleObj>
              </mc:Choice>
              <mc:Fallback>
                <p:oleObj name="Worksheet" r:id="rId2" imgW="9575800" imgH="5740400" progId="Excel.Sheet.8">
                  <p:link updateAutomatic="1"/>
                  <p:pic>
                    <p:nvPicPr>
                      <p:cNvPr id="0" name="Object 3083"/>
                      <p:cNvPicPr>
                        <a:picLocks noChangeAspect="1" noChangeArrowheads="1"/>
                      </p:cNvPicPr>
                      <p:nvPr/>
                    </p:nvPicPr>
                    <p:blipFill>
                      <a:blip r:embed="rId3">
                        <a:extLst>
                          <a:ext uri="{28A0092B-C50C-407E-A947-70E740481C1C}">
                            <a14:useLocalDpi xmlns:a14="http://schemas.microsoft.com/office/drawing/2010/main" val="0"/>
                          </a:ext>
                        </a:extLst>
                      </a:blip>
                      <a:srcRect l="2472" t="11911" r="2472" b="1939"/>
                      <a:stretch>
                        <a:fillRect/>
                      </a:stretch>
                    </p:blipFill>
                    <p:spPr bwMode="auto">
                      <a:xfrm>
                        <a:off x="465138" y="2005013"/>
                        <a:ext cx="9097962" cy="493712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9859" name="Rectangle 3">
            <a:extLst>
              <a:ext uri="{FF2B5EF4-FFF2-40B4-BE49-F238E27FC236}">
                <a16:creationId xmlns:a16="http://schemas.microsoft.com/office/drawing/2014/main" id="{31200C83-2BF3-94EA-FE32-81DB7F2B9DAF}"/>
              </a:ext>
            </a:extLst>
          </p:cNvPr>
          <p:cNvSpPr>
            <a:spLocks noChangeArrowheads="1"/>
          </p:cNvSpPr>
          <p:nvPr/>
        </p:nvSpPr>
        <p:spPr bwMode="auto">
          <a:xfrm>
            <a:off x="8445500" y="7189788"/>
            <a:ext cx="1611313" cy="5826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9860" name="Text Box 4">
            <a:extLst>
              <a:ext uri="{FF2B5EF4-FFF2-40B4-BE49-F238E27FC236}">
                <a16:creationId xmlns:a16="http://schemas.microsoft.com/office/drawing/2014/main" id="{6AA2EFBC-C76A-EE26-D230-48134DFC64EB}"/>
              </a:ext>
            </a:extLst>
          </p:cNvPr>
          <p:cNvSpPr txBox="1">
            <a:spLocks noChangeArrowheads="1"/>
          </p:cNvSpPr>
          <p:nvPr/>
        </p:nvSpPr>
        <p:spPr bwMode="auto">
          <a:xfrm>
            <a:off x="1506538" y="2644775"/>
            <a:ext cx="7023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0"/>
              <a:t>Core Beliefs and Competitive Advantages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408" name="Rectangle 32">
            <a:extLst>
              <a:ext uri="{FF2B5EF4-FFF2-40B4-BE49-F238E27FC236}">
                <a16:creationId xmlns:a16="http://schemas.microsoft.com/office/drawing/2014/main" id="{EA5BB2E3-BB6E-B0E2-D585-42B6D5FAA362}"/>
              </a:ext>
            </a:extLst>
          </p:cNvPr>
          <p:cNvSpPr>
            <a:spLocks noChangeArrowheads="1"/>
          </p:cNvSpPr>
          <p:nvPr/>
        </p:nvSpPr>
        <p:spPr bwMode="auto">
          <a:xfrm>
            <a:off x="325438" y="2228850"/>
            <a:ext cx="9404350" cy="304800"/>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altLang="en-US">
                <a:latin typeface="Times New Roman" panose="02020603050405020304" pitchFamily="18" charset="0"/>
              </a:rPr>
              <a:t>GMO seeks to outperform the IFC Investable Emerging Markets Index by 4% per year, net of fees, over a market cycle.</a:t>
            </a:r>
          </a:p>
        </p:txBody>
      </p:sp>
      <p:sp>
        <p:nvSpPr>
          <p:cNvPr id="101394" name="Text Box 18">
            <a:extLst>
              <a:ext uri="{FF2B5EF4-FFF2-40B4-BE49-F238E27FC236}">
                <a16:creationId xmlns:a16="http://schemas.microsoft.com/office/drawing/2014/main" id="{CCF06D6E-D233-7C6E-70C0-659F113F2628}"/>
              </a:ext>
            </a:extLst>
          </p:cNvPr>
          <p:cNvSpPr txBox="1">
            <a:spLocks noChangeArrowheads="1"/>
          </p:cNvSpPr>
          <p:nvPr/>
        </p:nvSpPr>
        <p:spPr bwMode="auto">
          <a:xfrm>
            <a:off x="3551238" y="3082925"/>
            <a:ext cx="6173787" cy="4133850"/>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altLang="en-US" b="0">
                <a:latin typeface="Times New Roman" panose="02020603050405020304" pitchFamily="18" charset="0"/>
              </a:rPr>
              <a:t>Disciplined implementation of our quantitative process allows us to </a:t>
            </a:r>
          </a:p>
          <a:p>
            <a:pPr algn="l"/>
            <a:r>
              <a:rPr lang="en-US" altLang="en-US" b="0">
                <a:latin typeface="Times New Roman" panose="02020603050405020304" pitchFamily="18" charset="0"/>
              </a:rPr>
              <a:t>consistently capture alpha</a:t>
            </a:r>
          </a:p>
          <a:p>
            <a:pPr algn="l"/>
            <a:endParaRPr lang="en-US" altLang="en-US" b="0">
              <a:latin typeface="Times New Roman" panose="02020603050405020304" pitchFamily="18" charset="0"/>
            </a:endParaRPr>
          </a:p>
          <a:p>
            <a:pPr algn="l"/>
            <a:endParaRPr lang="en-US" altLang="en-US" b="0">
              <a:latin typeface="Times New Roman" panose="02020603050405020304" pitchFamily="18" charset="0"/>
            </a:endParaRPr>
          </a:p>
          <a:p>
            <a:pPr algn="l"/>
            <a:endParaRPr lang="en-US" altLang="en-US" b="0">
              <a:latin typeface="Times New Roman" panose="02020603050405020304" pitchFamily="18" charset="0"/>
            </a:endParaRPr>
          </a:p>
          <a:p>
            <a:pPr algn="l"/>
            <a:r>
              <a:rPr lang="en-US" altLang="en-US" b="0">
                <a:latin typeface="Times New Roman" panose="02020603050405020304" pitchFamily="18" charset="0"/>
              </a:rPr>
              <a:t>We believe that “value” wins in the long run</a:t>
            </a:r>
          </a:p>
          <a:p>
            <a:pPr algn="l"/>
            <a:endParaRPr lang="en-US" altLang="en-US" b="0">
              <a:latin typeface="Times New Roman" panose="02020603050405020304" pitchFamily="18" charset="0"/>
            </a:endParaRPr>
          </a:p>
          <a:p>
            <a:pPr algn="l"/>
            <a:endParaRPr lang="en-US" altLang="en-US" b="0">
              <a:latin typeface="Times New Roman" panose="02020603050405020304" pitchFamily="18" charset="0"/>
            </a:endParaRPr>
          </a:p>
          <a:p>
            <a:pPr algn="l"/>
            <a:r>
              <a:rPr lang="en-US" altLang="en-US" b="0">
                <a:latin typeface="Times New Roman" panose="02020603050405020304" pitchFamily="18" charset="0"/>
              </a:rPr>
              <a:t>Disciplined risk management allows us to maximize intentional bets while minimizing incidental exposures</a:t>
            </a:r>
          </a:p>
          <a:p>
            <a:pPr algn="l"/>
            <a:endParaRPr lang="en-US" altLang="en-US" b="0">
              <a:latin typeface="Times New Roman" panose="02020603050405020304" pitchFamily="18" charset="0"/>
            </a:endParaRPr>
          </a:p>
          <a:p>
            <a:pPr algn="l"/>
            <a:endParaRPr lang="en-US" altLang="en-US" b="0">
              <a:latin typeface="Times New Roman" panose="02020603050405020304" pitchFamily="18" charset="0"/>
            </a:endParaRPr>
          </a:p>
          <a:p>
            <a:pPr algn="l"/>
            <a:r>
              <a:rPr lang="en-US" altLang="en-US" b="0">
                <a:latin typeface="Times New Roman" panose="02020603050405020304" pitchFamily="18" charset="0"/>
              </a:rPr>
              <a:t>Our research and experience indicate that country exposure is the primary driver of performance.  We focus approximately 80% of our effort on adding value at this level</a:t>
            </a:r>
          </a:p>
          <a:p>
            <a:pPr algn="l"/>
            <a:endParaRPr lang="en-US" altLang="en-US" b="0">
              <a:latin typeface="Times New Roman" panose="02020603050405020304" pitchFamily="18" charset="0"/>
            </a:endParaRPr>
          </a:p>
          <a:p>
            <a:pPr algn="l"/>
            <a:endParaRPr lang="en-US" altLang="en-US" b="0">
              <a:latin typeface="Times New Roman" panose="02020603050405020304" pitchFamily="18" charset="0"/>
            </a:endParaRPr>
          </a:p>
          <a:p>
            <a:pPr algn="l"/>
            <a:r>
              <a:rPr lang="en-US" altLang="en-US" b="0">
                <a:latin typeface="Times New Roman" panose="02020603050405020304" pitchFamily="18" charset="0"/>
              </a:rPr>
              <a:t>We are able to attract and retain highly talented people.  Our personnel</a:t>
            </a:r>
          </a:p>
          <a:p>
            <a:pPr algn="l"/>
            <a:r>
              <a:rPr lang="en-US" altLang="en-US" b="0">
                <a:latin typeface="Times New Roman" panose="02020603050405020304" pitchFamily="18" charset="0"/>
              </a:rPr>
              <a:t>turnover is among the lowest in the investment industry</a:t>
            </a:r>
          </a:p>
        </p:txBody>
      </p:sp>
      <p:sp>
        <p:nvSpPr>
          <p:cNvPr id="101399" name="Rectangle 23">
            <a:extLst>
              <a:ext uri="{FF2B5EF4-FFF2-40B4-BE49-F238E27FC236}">
                <a16:creationId xmlns:a16="http://schemas.microsoft.com/office/drawing/2014/main" id="{8F2712D5-CD59-8FFD-C3D6-7FC1BFBE13C0}"/>
              </a:ext>
            </a:extLst>
          </p:cNvPr>
          <p:cNvSpPr>
            <a:spLocks noChangeArrowheads="1"/>
          </p:cNvSpPr>
          <p:nvPr/>
        </p:nvSpPr>
        <p:spPr bwMode="auto">
          <a:xfrm>
            <a:off x="314325" y="3105150"/>
            <a:ext cx="2882900" cy="457200"/>
          </a:xfrm>
          <a:prstGeom prst="rect">
            <a:avLst/>
          </a:prstGeom>
          <a:solidFill>
            <a:srgbClr val="005C5A"/>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Quantitative Approach</a:t>
            </a:r>
          </a:p>
        </p:txBody>
      </p:sp>
      <p:sp>
        <p:nvSpPr>
          <p:cNvPr id="101403" name="Rectangle 27">
            <a:extLst>
              <a:ext uri="{FF2B5EF4-FFF2-40B4-BE49-F238E27FC236}">
                <a16:creationId xmlns:a16="http://schemas.microsoft.com/office/drawing/2014/main" id="{E1584764-D831-0EAB-5E59-F7C0721B37A2}"/>
              </a:ext>
            </a:extLst>
          </p:cNvPr>
          <p:cNvSpPr>
            <a:spLocks noChangeArrowheads="1"/>
          </p:cNvSpPr>
          <p:nvPr/>
        </p:nvSpPr>
        <p:spPr bwMode="auto">
          <a:xfrm>
            <a:off x="314325" y="3956050"/>
            <a:ext cx="2882900" cy="457200"/>
          </a:xfrm>
          <a:prstGeom prst="rect">
            <a:avLst/>
          </a:prstGeom>
          <a:solidFill>
            <a:srgbClr val="008F8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Value Orientation</a:t>
            </a:r>
          </a:p>
        </p:txBody>
      </p:sp>
      <p:sp>
        <p:nvSpPr>
          <p:cNvPr id="101404" name="Rectangle 28">
            <a:extLst>
              <a:ext uri="{FF2B5EF4-FFF2-40B4-BE49-F238E27FC236}">
                <a16:creationId xmlns:a16="http://schemas.microsoft.com/office/drawing/2014/main" id="{1E0A49D1-C708-8654-8D92-E84FF9764EBC}"/>
              </a:ext>
            </a:extLst>
          </p:cNvPr>
          <p:cNvSpPr>
            <a:spLocks noChangeArrowheads="1"/>
          </p:cNvSpPr>
          <p:nvPr/>
        </p:nvSpPr>
        <p:spPr bwMode="auto">
          <a:xfrm>
            <a:off x="314325" y="4832350"/>
            <a:ext cx="2882900" cy="457200"/>
          </a:xfrm>
          <a:prstGeom prst="rect">
            <a:avLst/>
          </a:prstGeom>
          <a:solidFill>
            <a:srgbClr val="3399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Controlled Risk</a:t>
            </a:r>
          </a:p>
        </p:txBody>
      </p:sp>
      <p:sp>
        <p:nvSpPr>
          <p:cNvPr id="101405" name="Rectangle 29">
            <a:extLst>
              <a:ext uri="{FF2B5EF4-FFF2-40B4-BE49-F238E27FC236}">
                <a16:creationId xmlns:a16="http://schemas.microsoft.com/office/drawing/2014/main" id="{C635BDE3-173D-AD53-5DA3-1FC5516F9724}"/>
              </a:ext>
            </a:extLst>
          </p:cNvPr>
          <p:cNvSpPr>
            <a:spLocks noChangeArrowheads="1"/>
          </p:cNvSpPr>
          <p:nvPr/>
        </p:nvSpPr>
        <p:spPr bwMode="auto">
          <a:xfrm>
            <a:off x="314325" y="5797550"/>
            <a:ext cx="2882900" cy="4572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Country Emphasis</a:t>
            </a:r>
          </a:p>
        </p:txBody>
      </p:sp>
      <p:sp>
        <p:nvSpPr>
          <p:cNvPr id="101410" name="Rectangle 34">
            <a:extLst>
              <a:ext uri="{FF2B5EF4-FFF2-40B4-BE49-F238E27FC236}">
                <a16:creationId xmlns:a16="http://schemas.microsoft.com/office/drawing/2014/main" id="{F7D4B1F2-B943-21B5-A492-875E3DF2E295}"/>
              </a:ext>
            </a:extLst>
          </p:cNvPr>
          <p:cNvSpPr>
            <a:spLocks noChangeArrowheads="1"/>
          </p:cNvSpPr>
          <p:nvPr/>
        </p:nvSpPr>
        <p:spPr bwMode="auto">
          <a:xfrm>
            <a:off x="314325" y="6721475"/>
            <a:ext cx="2882900" cy="457200"/>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100% Employee Ownership</a:t>
            </a:r>
          </a:p>
        </p:txBody>
      </p:sp>
      <p:sp>
        <p:nvSpPr>
          <p:cNvPr id="101427" name="Text Box 51">
            <a:extLst>
              <a:ext uri="{FF2B5EF4-FFF2-40B4-BE49-F238E27FC236}">
                <a16:creationId xmlns:a16="http://schemas.microsoft.com/office/drawing/2014/main" id="{9DCE2016-C0FF-D057-149E-9AE9709685DA}"/>
              </a:ext>
            </a:extLst>
          </p:cNvPr>
          <p:cNvSpPr txBox="1">
            <a:spLocks noChangeArrowheads="1"/>
          </p:cNvSpPr>
          <p:nvPr/>
        </p:nvSpPr>
        <p:spPr bwMode="auto">
          <a:xfrm>
            <a:off x="573088" y="677863"/>
            <a:ext cx="9186862"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Core Beliefs and Competitive Advantages</a:t>
            </a:r>
          </a:p>
        </p:txBody>
      </p:sp>
      <p:sp>
        <p:nvSpPr>
          <p:cNvPr id="101430" name="Text Box 54">
            <a:extLst>
              <a:ext uri="{FF2B5EF4-FFF2-40B4-BE49-F238E27FC236}">
                <a16:creationId xmlns:a16="http://schemas.microsoft.com/office/drawing/2014/main" id="{CABB69E4-77B9-D92A-F251-E068CB735065}"/>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9" name="Rectangle 3">
            <a:extLst>
              <a:ext uri="{FF2B5EF4-FFF2-40B4-BE49-F238E27FC236}">
                <a16:creationId xmlns:a16="http://schemas.microsoft.com/office/drawing/2014/main" id="{B11C800D-1695-5871-3270-8ADDA19E2EF2}"/>
              </a:ext>
            </a:extLst>
          </p:cNvPr>
          <p:cNvSpPr>
            <a:spLocks noChangeArrowheads="1"/>
          </p:cNvSpPr>
          <p:nvPr/>
        </p:nvSpPr>
        <p:spPr bwMode="auto">
          <a:xfrm>
            <a:off x="528638" y="5197475"/>
            <a:ext cx="2073275" cy="254000"/>
          </a:xfrm>
          <a:prstGeom prst="rect">
            <a:avLst/>
          </a:prstGeom>
          <a:solidFill>
            <a:srgbClr val="005C5A"/>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Quantitative Approach</a:t>
            </a:r>
          </a:p>
        </p:txBody>
      </p:sp>
      <p:sp>
        <p:nvSpPr>
          <p:cNvPr id="224260" name="Rectangle 4">
            <a:extLst>
              <a:ext uri="{FF2B5EF4-FFF2-40B4-BE49-F238E27FC236}">
                <a16:creationId xmlns:a16="http://schemas.microsoft.com/office/drawing/2014/main" id="{CA030D4B-11BB-5544-B05F-B9F1F328B93D}"/>
              </a:ext>
            </a:extLst>
          </p:cNvPr>
          <p:cNvSpPr>
            <a:spLocks noChangeArrowheads="1"/>
          </p:cNvSpPr>
          <p:nvPr/>
        </p:nvSpPr>
        <p:spPr bwMode="auto">
          <a:xfrm>
            <a:off x="528638" y="5629275"/>
            <a:ext cx="2073275" cy="254000"/>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Value Orientation</a:t>
            </a:r>
          </a:p>
        </p:txBody>
      </p:sp>
      <p:sp>
        <p:nvSpPr>
          <p:cNvPr id="224261" name="Rectangle 5">
            <a:extLst>
              <a:ext uri="{FF2B5EF4-FFF2-40B4-BE49-F238E27FC236}">
                <a16:creationId xmlns:a16="http://schemas.microsoft.com/office/drawing/2014/main" id="{13B795CD-E79F-0371-EAB3-60C217E50BE2}"/>
              </a:ext>
            </a:extLst>
          </p:cNvPr>
          <p:cNvSpPr>
            <a:spLocks noChangeArrowheads="1"/>
          </p:cNvSpPr>
          <p:nvPr/>
        </p:nvSpPr>
        <p:spPr bwMode="auto">
          <a:xfrm>
            <a:off x="528638" y="6035675"/>
            <a:ext cx="2073275" cy="254000"/>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Controlled Risk</a:t>
            </a:r>
          </a:p>
        </p:txBody>
      </p:sp>
      <p:sp>
        <p:nvSpPr>
          <p:cNvPr id="224262" name="Rectangle 6">
            <a:extLst>
              <a:ext uri="{FF2B5EF4-FFF2-40B4-BE49-F238E27FC236}">
                <a16:creationId xmlns:a16="http://schemas.microsoft.com/office/drawing/2014/main" id="{21402268-3204-1241-741A-3DB164CC194C}"/>
              </a:ext>
            </a:extLst>
          </p:cNvPr>
          <p:cNvSpPr>
            <a:spLocks noChangeArrowheads="1"/>
          </p:cNvSpPr>
          <p:nvPr/>
        </p:nvSpPr>
        <p:spPr bwMode="auto">
          <a:xfrm>
            <a:off x="528638" y="6454775"/>
            <a:ext cx="2073275" cy="254000"/>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Country Emphasis</a:t>
            </a:r>
          </a:p>
        </p:txBody>
      </p:sp>
      <p:sp>
        <p:nvSpPr>
          <p:cNvPr id="224263" name="Rectangle 7">
            <a:extLst>
              <a:ext uri="{FF2B5EF4-FFF2-40B4-BE49-F238E27FC236}">
                <a16:creationId xmlns:a16="http://schemas.microsoft.com/office/drawing/2014/main" id="{25B9ACDB-01BF-2F38-C6EC-A02A0EB90D46}"/>
              </a:ext>
            </a:extLst>
          </p:cNvPr>
          <p:cNvSpPr>
            <a:spLocks noChangeArrowheads="1"/>
          </p:cNvSpPr>
          <p:nvPr/>
        </p:nvSpPr>
        <p:spPr bwMode="auto">
          <a:xfrm>
            <a:off x="528638" y="6859588"/>
            <a:ext cx="2073275" cy="254000"/>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100% Employee Ownership</a:t>
            </a:r>
          </a:p>
        </p:txBody>
      </p:sp>
      <p:sp>
        <p:nvSpPr>
          <p:cNvPr id="224266" name="Text Box 10">
            <a:extLst>
              <a:ext uri="{FF2B5EF4-FFF2-40B4-BE49-F238E27FC236}">
                <a16:creationId xmlns:a16="http://schemas.microsoft.com/office/drawing/2014/main" id="{D03E28AE-B168-555F-C825-CBE6B680EBDB}"/>
              </a:ext>
            </a:extLst>
          </p:cNvPr>
          <p:cNvSpPr txBox="1">
            <a:spLocks noChangeArrowheads="1"/>
          </p:cNvSpPr>
          <p:nvPr/>
        </p:nvSpPr>
        <p:spPr bwMode="auto">
          <a:xfrm>
            <a:off x="588963" y="760413"/>
            <a:ext cx="30924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2800" b="0"/>
              <a:t>Why Quantitative?</a:t>
            </a:r>
          </a:p>
        </p:txBody>
      </p:sp>
      <p:sp>
        <p:nvSpPr>
          <p:cNvPr id="224270" name="Text Box 14">
            <a:extLst>
              <a:ext uri="{FF2B5EF4-FFF2-40B4-BE49-F238E27FC236}">
                <a16:creationId xmlns:a16="http://schemas.microsoft.com/office/drawing/2014/main" id="{707636D4-C264-B4C7-E0F1-38F3C0FACC9A}"/>
              </a:ext>
            </a:extLst>
          </p:cNvPr>
          <p:cNvSpPr txBox="1">
            <a:spLocks noChangeArrowheads="1"/>
          </p:cNvSpPr>
          <p:nvPr/>
        </p:nvSpPr>
        <p:spPr bwMode="auto">
          <a:xfrm>
            <a:off x="2911475" y="2003425"/>
            <a:ext cx="5178425" cy="3459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228600" indent="-228600" algn="l">
              <a:defRPr sz="24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400">
                <a:solidFill>
                  <a:schemeClr val="tx1"/>
                </a:solidFill>
                <a:latin typeface="Times New Roman" panose="02020603050405020304" pitchFamily="18" charset="0"/>
              </a:defRPr>
            </a:lvl3pPr>
            <a:lvl4pPr algn="l">
              <a:defRPr sz="2400">
                <a:solidFill>
                  <a:schemeClr val="tx1"/>
                </a:solidFill>
                <a:latin typeface="Times New Roman" panose="02020603050405020304" pitchFamily="18" charset="0"/>
              </a:defRPr>
            </a:lvl4pPr>
            <a:lvl5pPr algn="l">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spcAft>
                <a:spcPct val="25000"/>
              </a:spcAft>
              <a:buClr>
                <a:srgbClr val="005C5A"/>
              </a:buClr>
              <a:buSzPct val="110000"/>
              <a:buFont typeface="Wingdings" pitchFamily="2" charset="2"/>
              <a:buNone/>
            </a:pPr>
            <a:r>
              <a:rPr lang="en-US" altLang="en-US" sz="2000"/>
              <a:t>Power</a:t>
            </a:r>
            <a:r>
              <a:rPr lang="en-US" altLang="en-US" sz="1600"/>
              <a:t>  </a:t>
            </a:r>
          </a:p>
          <a:p>
            <a:pPr>
              <a:buClr>
                <a:srgbClr val="005C5A"/>
              </a:buClr>
              <a:buSzPct val="110000"/>
              <a:buFont typeface="Wingdings" pitchFamily="2" charset="2"/>
              <a:buNone/>
            </a:pPr>
            <a:r>
              <a:rPr lang="en-US" altLang="en-US" sz="1800" b="0"/>
              <a:t>	The ability to process more information, faster</a:t>
            </a:r>
          </a:p>
          <a:p>
            <a:pPr>
              <a:buClr>
                <a:srgbClr val="005C5A"/>
              </a:buClr>
              <a:buSzPct val="110000"/>
              <a:buFont typeface="Wingdings" pitchFamily="2" charset="2"/>
              <a:buNone/>
            </a:pPr>
            <a:endParaRPr lang="en-US" altLang="en-US" sz="1800" b="0"/>
          </a:p>
          <a:p>
            <a:pPr>
              <a:buClr>
                <a:srgbClr val="005C5A"/>
              </a:buClr>
              <a:buSzPct val="110000"/>
              <a:buFont typeface="Wingdings" pitchFamily="2" charset="2"/>
              <a:buNone/>
            </a:pPr>
            <a:endParaRPr lang="en-US" altLang="en-US" sz="1400" b="0"/>
          </a:p>
          <a:p>
            <a:pPr>
              <a:buClr>
                <a:srgbClr val="005C5A"/>
              </a:buClr>
              <a:buSzPct val="110000"/>
              <a:buFont typeface="Wingdings" pitchFamily="2" charset="2"/>
              <a:buNone/>
            </a:pPr>
            <a:endParaRPr lang="en-US" altLang="en-US" sz="1400" b="0"/>
          </a:p>
          <a:p>
            <a:pPr>
              <a:spcAft>
                <a:spcPct val="25000"/>
              </a:spcAft>
              <a:buClr>
                <a:srgbClr val="005C5A"/>
              </a:buClr>
              <a:buSzPct val="110000"/>
              <a:buFont typeface="Wingdings" pitchFamily="2" charset="2"/>
              <a:buNone/>
            </a:pPr>
            <a:r>
              <a:rPr lang="en-US" altLang="en-US" sz="2000"/>
              <a:t>Discipline</a:t>
            </a:r>
            <a:r>
              <a:rPr lang="en-US" altLang="en-US" sz="1400" b="0"/>
              <a:t> </a:t>
            </a:r>
          </a:p>
          <a:p>
            <a:pPr>
              <a:buClr>
                <a:srgbClr val="005C5A"/>
              </a:buClr>
              <a:buSzPct val="110000"/>
              <a:buFont typeface="Wingdings" pitchFamily="2" charset="2"/>
              <a:buNone/>
            </a:pPr>
            <a:r>
              <a:rPr lang="en-US" altLang="en-US" sz="1800" b="0"/>
              <a:t>	Emotion is the enemy</a:t>
            </a:r>
          </a:p>
          <a:p>
            <a:pPr>
              <a:buClr>
                <a:srgbClr val="005C5A"/>
              </a:buClr>
              <a:buSzPct val="110000"/>
              <a:buFont typeface="Wingdings" pitchFamily="2" charset="2"/>
              <a:buNone/>
            </a:pPr>
            <a:endParaRPr lang="en-US" altLang="en-US" sz="1800" b="0"/>
          </a:p>
          <a:p>
            <a:pPr>
              <a:buClr>
                <a:srgbClr val="005C5A"/>
              </a:buClr>
              <a:buSzPct val="110000"/>
              <a:buFont typeface="Wingdings" pitchFamily="2" charset="2"/>
              <a:buNone/>
            </a:pPr>
            <a:endParaRPr lang="en-US" altLang="en-US" sz="1400" b="0"/>
          </a:p>
          <a:p>
            <a:pPr>
              <a:buClr>
                <a:srgbClr val="005C5A"/>
              </a:buClr>
              <a:buSzPct val="110000"/>
              <a:buFont typeface="Wingdings" pitchFamily="2" charset="2"/>
              <a:buNone/>
            </a:pPr>
            <a:endParaRPr lang="en-US" altLang="en-US" sz="1400" b="0"/>
          </a:p>
          <a:p>
            <a:pPr>
              <a:spcAft>
                <a:spcPct val="25000"/>
              </a:spcAft>
              <a:buClr>
                <a:srgbClr val="005C5A"/>
              </a:buClr>
              <a:buSzPct val="110000"/>
              <a:buFont typeface="Wingdings" pitchFamily="2" charset="2"/>
              <a:buNone/>
            </a:pPr>
            <a:r>
              <a:rPr lang="en-US" altLang="en-US" sz="2000"/>
              <a:t>Confidence</a:t>
            </a:r>
            <a:r>
              <a:rPr lang="en-US" altLang="en-US" sz="2000" b="0"/>
              <a:t>  </a:t>
            </a:r>
          </a:p>
          <a:p>
            <a:pPr>
              <a:buClr>
                <a:srgbClr val="005C5A"/>
              </a:buClr>
              <a:buSzPct val="110000"/>
              <a:buFont typeface="Wingdings" pitchFamily="2" charset="2"/>
              <a:buNone/>
            </a:pPr>
            <a:r>
              <a:rPr lang="en-US" altLang="en-US" sz="1800" b="0"/>
              <a:t>	Backtesting helps us know what really works</a:t>
            </a:r>
          </a:p>
        </p:txBody>
      </p:sp>
      <p:sp>
        <p:nvSpPr>
          <p:cNvPr id="224271" name="Text Box 15">
            <a:extLst>
              <a:ext uri="{FF2B5EF4-FFF2-40B4-BE49-F238E27FC236}">
                <a16:creationId xmlns:a16="http://schemas.microsoft.com/office/drawing/2014/main" id="{C17E8E02-886A-8091-8689-34EE93909320}"/>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Text Box 2">
            <a:extLst>
              <a:ext uri="{FF2B5EF4-FFF2-40B4-BE49-F238E27FC236}">
                <a16:creationId xmlns:a16="http://schemas.microsoft.com/office/drawing/2014/main" id="{D49DC529-6442-27C9-B823-E0BF636B5C16}"/>
              </a:ext>
            </a:extLst>
          </p:cNvPr>
          <p:cNvSpPr txBox="1">
            <a:spLocks noChangeArrowheads="1"/>
          </p:cNvSpPr>
          <p:nvPr/>
        </p:nvSpPr>
        <p:spPr bwMode="auto">
          <a:xfrm>
            <a:off x="593725" y="2336800"/>
            <a:ext cx="224790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1200" b="0">
                <a:latin typeface="Times New Roman" panose="02020603050405020304" pitchFamily="18" charset="0"/>
              </a:rPr>
              <a:t>Value works in the long run.  The more inefficient the asset class, the better value does.</a:t>
            </a:r>
          </a:p>
        </p:txBody>
      </p:sp>
      <p:sp>
        <p:nvSpPr>
          <p:cNvPr id="305155" name="Text Box 3">
            <a:extLst>
              <a:ext uri="{FF2B5EF4-FFF2-40B4-BE49-F238E27FC236}">
                <a16:creationId xmlns:a16="http://schemas.microsoft.com/office/drawing/2014/main" id="{2796E72E-A8A4-E351-3F3E-E3FDBA09E425}"/>
              </a:ext>
            </a:extLst>
          </p:cNvPr>
          <p:cNvSpPr txBox="1">
            <a:spLocks noChangeArrowheads="1"/>
          </p:cNvSpPr>
          <p:nvPr/>
        </p:nvSpPr>
        <p:spPr bwMode="auto">
          <a:xfrm>
            <a:off x="552450" y="669925"/>
            <a:ext cx="888365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“Value Wins in the Long Run”</a:t>
            </a:r>
          </a:p>
        </p:txBody>
      </p:sp>
      <p:sp>
        <p:nvSpPr>
          <p:cNvPr id="305169" name="Rectangle 17">
            <a:extLst>
              <a:ext uri="{FF2B5EF4-FFF2-40B4-BE49-F238E27FC236}">
                <a16:creationId xmlns:a16="http://schemas.microsoft.com/office/drawing/2014/main" id="{05CCAF2A-C301-D8A6-55F7-0714C982DF61}"/>
              </a:ext>
            </a:extLst>
          </p:cNvPr>
          <p:cNvSpPr>
            <a:spLocks noChangeArrowheads="1"/>
          </p:cNvSpPr>
          <p:nvPr/>
        </p:nvSpPr>
        <p:spPr bwMode="auto">
          <a:xfrm>
            <a:off x="528638" y="5183188"/>
            <a:ext cx="2073275" cy="254000"/>
          </a:xfrm>
          <a:prstGeom prst="rect">
            <a:avLst/>
          </a:prstGeom>
          <a:solidFill>
            <a:srgbClr val="B2B2B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Quantitative Approach</a:t>
            </a:r>
          </a:p>
        </p:txBody>
      </p:sp>
      <p:sp>
        <p:nvSpPr>
          <p:cNvPr id="305170" name="Rectangle 18">
            <a:extLst>
              <a:ext uri="{FF2B5EF4-FFF2-40B4-BE49-F238E27FC236}">
                <a16:creationId xmlns:a16="http://schemas.microsoft.com/office/drawing/2014/main" id="{42339518-91AF-393D-B3A6-AACD62D08018}"/>
              </a:ext>
            </a:extLst>
          </p:cNvPr>
          <p:cNvSpPr>
            <a:spLocks noChangeArrowheads="1"/>
          </p:cNvSpPr>
          <p:nvPr/>
        </p:nvSpPr>
        <p:spPr bwMode="auto">
          <a:xfrm>
            <a:off x="528638" y="5614988"/>
            <a:ext cx="2073275" cy="254000"/>
          </a:xfrm>
          <a:prstGeom prst="rect">
            <a:avLst/>
          </a:prstGeom>
          <a:solidFill>
            <a:srgbClr val="008F8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Value Orientation</a:t>
            </a:r>
          </a:p>
        </p:txBody>
      </p:sp>
      <p:sp>
        <p:nvSpPr>
          <p:cNvPr id="305171" name="Rectangle 19">
            <a:extLst>
              <a:ext uri="{FF2B5EF4-FFF2-40B4-BE49-F238E27FC236}">
                <a16:creationId xmlns:a16="http://schemas.microsoft.com/office/drawing/2014/main" id="{F5D652D5-D873-F4F4-BC6D-0B1901CA9C10}"/>
              </a:ext>
            </a:extLst>
          </p:cNvPr>
          <p:cNvSpPr>
            <a:spLocks noChangeArrowheads="1"/>
          </p:cNvSpPr>
          <p:nvPr/>
        </p:nvSpPr>
        <p:spPr bwMode="auto">
          <a:xfrm>
            <a:off x="528638" y="6021388"/>
            <a:ext cx="2073275" cy="254000"/>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Controlled Risk</a:t>
            </a:r>
          </a:p>
        </p:txBody>
      </p:sp>
      <p:sp>
        <p:nvSpPr>
          <p:cNvPr id="305172" name="Rectangle 20">
            <a:extLst>
              <a:ext uri="{FF2B5EF4-FFF2-40B4-BE49-F238E27FC236}">
                <a16:creationId xmlns:a16="http://schemas.microsoft.com/office/drawing/2014/main" id="{AE3DE46A-1417-4096-7995-033DBFFF34E5}"/>
              </a:ext>
            </a:extLst>
          </p:cNvPr>
          <p:cNvSpPr>
            <a:spLocks noChangeArrowheads="1"/>
          </p:cNvSpPr>
          <p:nvPr/>
        </p:nvSpPr>
        <p:spPr bwMode="auto">
          <a:xfrm>
            <a:off x="528638" y="6440488"/>
            <a:ext cx="2073275" cy="254000"/>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Country Emphasis</a:t>
            </a:r>
          </a:p>
        </p:txBody>
      </p:sp>
      <p:sp>
        <p:nvSpPr>
          <p:cNvPr id="305173" name="Rectangle 21">
            <a:extLst>
              <a:ext uri="{FF2B5EF4-FFF2-40B4-BE49-F238E27FC236}">
                <a16:creationId xmlns:a16="http://schemas.microsoft.com/office/drawing/2014/main" id="{5A984082-82A1-B780-823C-5A5A297BBD2A}"/>
              </a:ext>
            </a:extLst>
          </p:cNvPr>
          <p:cNvSpPr>
            <a:spLocks noChangeArrowheads="1"/>
          </p:cNvSpPr>
          <p:nvPr/>
        </p:nvSpPr>
        <p:spPr bwMode="auto">
          <a:xfrm>
            <a:off x="528638" y="6845300"/>
            <a:ext cx="2073275" cy="254000"/>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100% Employee Ownership</a:t>
            </a:r>
          </a:p>
        </p:txBody>
      </p:sp>
      <p:sp>
        <p:nvSpPr>
          <p:cNvPr id="305174" name="Text Box 22">
            <a:extLst>
              <a:ext uri="{FF2B5EF4-FFF2-40B4-BE49-F238E27FC236}">
                <a16:creationId xmlns:a16="http://schemas.microsoft.com/office/drawing/2014/main" id="{4DFAE498-4F8F-DB37-5B79-D0E641CE0E6C}"/>
              </a:ext>
            </a:extLst>
          </p:cNvPr>
          <p:cNvSpPr txBox="1">
            <a:spLocks noChangeArrowheads="1"/>
          </p:cNvSpPr>
          <p:nvPr/>
        </p:nvSpPr>
        <p:spPr bwMode="auto">
          <a:xfrm>
            <a:off x="3910013" y="4748213"/>
            <a:ext cx="4778375" cy="39687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tabLst>
                <a:tab pos="457200" algn="l"/>
              </a:tabLst>
              <a:defRPr sz="2400">
                <a:solidFill>
                  <a:schemeClr val="tx1"/>
                </a:solidFill>
                <a:latin typeface="Times New Roman" panose="02020603050405020304" pitchFamily="18" charset="0"/>
              </a:defRPr>
            </a:lvl1pPr>
            <a:lvl2pPr marL="1714500" algn="l">
              <a:tabLst>
                <a:tab pos="457200" algn="l"/>
              </a:tabLst>
              <a:defRPr sz="2400">
                <a:solidFill>
                  <a:schemeClr val="tx1"/>
                </a:solidFill>
                <a:latin typeface="Times New Roman" panose="02020603050405020304" pitchFamily="18" charset="0"/>
              </a:defRPr>
            </a:lvl2pPr>
            <a:lvl3pPr marL="1828800" algn="l">
              <a:tabLst>
                <a:tab pos="457200" algn="l"/>
              </a:tabLst>
              <a:defRPr sz="2400">
                <a:solidFill>
                  <a:schemeClr val="tx1"/>
                </a:solidFill>
                <a:latin typeface="Times New Roman" panose="02020603050405020304" pitchFamily="18" charset="0"/>
              </a:defRPr>
            </a:lvl3pPr>
            <a:lvl4pPr marL="1943100" algn="l">
              <a:tabLst>
                <a:tab pos="457200" algn="l"/>
              </a:tabLst>
              <a:defRPr sz="2400">
                <a:solidFill>
                  <a:schemeClr val="tx1"/>
                </a:solidFill>
                <a:latin typeface="Times New Roman" panose="02020603050405020304" pitchFamily="18" charset="0"/>
              </a:defRPr>
            </a:lvl4pPr>
            <a:lvl5pPr marL="2057400" algn="l">
              <a:tabLst>
                <a:tab pos="457200" algn="l"/>
              </a:tabLst>
              <a:defRPr sz="2400">
                <a:solidFill>
                  <a:schemeClr val="tx1"/>
                </a:solidFill>
                <a:latin typeface="Times New Roman" panose="02020603050405020304" pitchFamily="18" charset="0"/>
              </a:defRPr>
            </a:lvl5pPr>
            <a:lvl6pPr marL="2514600" eaLnBrk="0" fontAlgn="base" hangingPunct="0">
              <a:spcBef>
                <a:spcPct val="0"/>
              </a:spcBef>
              <a:spcAft>
                <a:spcPct val="0"/>
              </a:spcAft>
              <a:tabLst>
                <a:tab pos="457200" algn="l"/>
              </a:tabLst>
              <a:defRPr sz="2400">
                <a:solidFill>
                  <a:schemeClr val="tx1"/>
                </a:solidFill>
                <a:latin typeface="Times New Roman" panose="02020603050405020304" pitchFamily="18" charset="0"/>
              </a:defRPr>
            </a:lvl6pPr>
            <a:lvl7pPr marL="2971800" eaLnBrk="0" fontAlgn="base" hangingPunct="0">
              <a:spcBef>
                <a:spcPct val="0"/>
              </a:spcBef>
              <a:spcAft>
                <a:spcPct val="0"/>
              </a:spcAft>
              <a:tabLst>
                <a:tab pos="457200" algn="l"/>
              </a:tabLst>
              <a:defRPr sz="2400">
                <a:solidFill>
                  <a:schemeClr val="tx1"/>
                </a:solidFill>
                <a:latin typeface="Times New Roman" panose="02020603050405020304" pitchFamily="18" charset="0"/>
              </a:defRPr>
            </a:lvl7pPr>
            <a:lvl8pPr marL="3429000" eaLnBrk="0" fontAlgn="base" hangingPunct="0">
              <a:spcBef>
                <a:spcPct val="0"/>
              </a:spcBef>
              <a:spcAft>
                <a:spcPct val="0"/>
              </a:spcAft>
              <a:tabLst>
                <a:tab pos="457200" algn="l"/>
              </a:tabLst>
              <a:defRPr sz="2400">
                <a:solidFill>
                  <a:schemeClr val="tx1"/>
                </a:solidFill>
                <a:latin typeface="Times New Roman" panose="02020603050405020304" pitchFamily="18" charset="0"/>
              </a:defRPr>
            </a:lvl8pPr>
            <a:lvl9pPr marL="3886200" eaLnBrk="0" fontAlgn="base" hangingPunct="0">
              <a:spcBef>
                <a:spcPct val="0"/>
              </a:spcBef>
              <a:spcAft>
                <a:spcPct val="0"/>
              </a:spcAft>
              <a:tabLst>
                <a:tab pos="457200" algn="l"/>
              </a:tabLst>
              <a:defRPr sz="2400">
                <a:solidFill>
                  <a:schemeClr val="tx1"/>
                </a:solidFill>
                <a:latin typeface="Times New Roman" panose="02020603050405020304" pitchFamily="18" charset="0"/>
              </a:defRPr>
            </a:lvl9pPr>
          </a:lstStyle>
          <a:p>
            <a:r>
              <a:rPr lang="en-US" altLang="en-US" sz="1000"/>
              <a:t>Notes:	</a:t>
            </a:r>
            <a:r>
              <a:rPr lang="en-US" altLang="en-US" sz="1000" b="0"/>
              <a:t>Emerging Markets data starts in 1987, International data starts in 1975 and United States data starts in 1960.  Portfolios rebalanced annually.</a:t>
            </a:r>
          </a:p>
        </p:txBody>
      </p:sp>
      <p:sp>
        <p:nvSpPr>
          <p:cNvPr id="305175" name="Text Box 23">
            <a:extLst>
              <a:ext uri="{FF2B5EF4-FFF2-40B4-BE49-F238E27FC236}">
                <a16:creationId xmlns:a16="http://schemas.microsoft.com/office/drawing/2014/main" id="{52B8A03C-992F-FB75-CB34-94EC40FDDC9C}"/>
              </a:ext>
            </a:extLst>
          </p:cNvPr>
          <p:cNvSpPr txBox="1">
            <a:spLocks noChangeArrowheads="1"/>
          </p:cNvSpPr>
          <p:nvPr/>
        </p:nvSpPr>
        <p:spPr bwMode="auto">
          <a:xfrm>
            <a:off x="7924800" y="7038975"/>
            <a:ext cx="160813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en-US" sz="1000" b="0">
                <a:latin typeface="Times New Roman" panose="02020603050405020304" pitchFamily="18" charset="0"/>
              </a:rPr>
              <a:t>As of 12/31/01</a:t>
            </a:r>
          </a:p>
        </p:txBody>
      </p:sp>
      <p:graphicFrame>
        <p:nvGraphicFramePr>
          <p:cNvPr id="305177" name="Object 25">
            <a:extLst>
              <a:ext uri="{FF2B5EF4-FFF2-40B4-BE49-F238E27FC236}">
                <a16:creationId xmlns:a16="http://schemas.microsoft.com/office/drawing/2014/main" id="{A1445A07-1CAE-1A65-439D-3716E95DDADA}"/>
              </a:ext>
            </a:extLst>
          </p:cNvPr>
          <p:cNvGraphicFramePr>
            <a:graphicFrameLocks noChangeAspect="1"/>
          </p:cNvGraphicFramePr>
          <p:nvPr/>
        </p:nvGraphicFramePr>
        <p:xfrm>
          <a:off x="3902075" y="2347913"/>
          <a:ext cx="4572000" cy="2003425"/>
        </p:xfrm>
        <a:graphic>
          <a:graphicData uri="http://schemas.openxmlformats.org/presentationml/2006/ole">
            <mc:AlternateContent xmlns:mc="http://schemas.openxmlformats.org/markup-compatibility/2006">
              <mc:Choice xmlns:v="urn:schemas-microsoft-com:vml" Requires="v">
                <p:oleObj name="Worksheet" r:id="rId2" imgW="4584700" imgH="2006600" progId="Excel.Sheet.8">
                  <p:link updateAutomatic="1"/>
                </p:oleObj>
              </mc:Choice>
              <mc:Fallback>
                <p:oleObj name="Worksheet" r:id="rId2" imgW="4584700" imgH="2006600" progId="Excel.Sheet.8">
                  <p:link updateAutomatic="1"/>
                  <p:pic>
                    <p:nvPicPr>
                      <p:cNvPr id="0" name="Object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2075" y="2347913"/>
                        <a:ext cx="4572000" cy="200342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5178" name="Text Box 26">
            <a:extLst>
              <a:ext uri="{FF2B5EF4-FFF2-40B4-BE49-F238E27FC236}">
                <a16:creationId xmlns:a16="http://schemas.microsoft.com/office/drawing/2014/main" id="{AFB61A8B-DCD4-619A-9CF4-D769C4B0B22B}"/>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Text Box 2">
            <a:extLst>
              <a:ext uri="{FF2B5EF4-FFF2-40B4-BE49-F238E27FC236}">
                <a16:creationId xmlns:a16="http://schemas.microsoft.com/office/drawing/2014/main" id="{E47F7A8F-3F72-2662-4B41-BA1FD6ACDCB2}"/>
              </a:ext>
            </a:extLst>
          </p:cNvPr>
          <p:cNvSpPr txBox="1">
            <a:spLocks noChangeArrowheads="1"/>
          </p:cNvSpPr>
          <p:nvPr/>
        </p:nvSpPr>
        <p:spPr bwMode="auto">
          <a:xfrm>
            <a:off x="593725" y="2336800"/>
            <a:ext cx="224790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1200" b="0">
                <a:latin typeface="Times New Roman" panose="02020603050405020304" pitchFamily="18" charset="0"/>
              </a:rPr>
              <a:t>Value works in the long run.  The more inefficient the asset class, the better value does.</a:t>
            </a:r>
          </a:p>
        </p:txBody>
      </p:sp>
      <p:sp>
        <p:nvSpPr>
          <p:cNvPr id="311299" name="Text Box 3">
            <a:extLst>
              <a:ext uri="{FF2B5EF4-FFF2-40B4-BE49-F238E27FC236}">
                <a16:creationId xmlns:a16="http://schemas.microsoft.com/office/drawing/2014/main" id="{D2830245-890C-0EAA-BA39-459FE7B40CD1}"/>
              </a:ext>
            </a:extLst>
          </p:cNvPr>
          <p:cNvSpPr txBox="1">
            <a:spLocks noChangeArrowheads="1"/>
          </p:cNvSpPr>
          <p:nvPr/>
        </p:nvSpPr>
        <p:spPr bwMode="auto">
          <a:xfrm>
            <a:off x="552450" y="669925"/>
            <a:ext cx="888365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“Value Wins in the Long Run”</a:t>
            </a:r>
          </a:p>
        </p:txBody>
      </p:sp>
      <p:sp>
        <p:nvSpPr>
          <p:cNvPr id="311300" name="Rectangle 4">
            <a:extLst>
              <a:ext uri="{FF2B5EF4-FFF2-40B4-BE49-F238E27FC236}">
                <a16:creationId xmlns:a16="http://schemas.microsoft.com/office/drawing/2014/main" id="{24109851-DC8E-FEFB-D503-45CFA5DECA62}"/>
              </a:ext>
            </a:extLst>
          </p:cNvPr>
          <p:cNvSpPr>
            <a:spLocks noChangeArrowheads="1"/>
          </p:cNvSpPr>
          <p:nvPr/>
        </p:nvSpPr>
        <p:spPr bwMode="auto">
          <a:xfrm>
            <a:off x="528638" y="5183188"/>
            <a:ext cx="2073275" cy="254000"/>
          </a:xfrm>
          <a:prstGeom prst="rect">
            <a:avLst/>
          </a:prstGeom>
          <a:solidFill>
            <a:srgbClr val="B2B2B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Quantitative Approach</a:t>
            </a:r>
          </a:p>
        </p:txBody>
      </p:sp>
      <p:sp>
        <p:nvSpPr>
          <p:cNvPr id="311301" name="Rectangle 5">
            <a:extLst>
              <a:ext uri="{FF2B5EF4-FFF2-40B4-BE49-F238E27FC236}">
                <a16:creationId xmlns:a16="http://schemas.microsoft.com/office/drawing/2014/main" id="{6263EC49-4D3F-F69C-A847-88BD8F0583A8}"/>
              </a:ext>
            </a:extLst>
          </p:cNvPr>
          <p:cNvSpPr>
            <a:spLocks noChangeArrowheads="1"/>
          </p:cNvSpPr>
          <p:nvPr/>
        </p:nvSpPr>
        <p:spPr bwMode="auto">
          <a:xfrm>
            <a:off x="528638" y="5614988"/>
            <a:ext cx="2073275" cy="254000"/>
          </a:xfrm>
          <a:prstGeom prst="rect">
            <a:avLst/>
          </a:prstGeom>
          <a:solidFill>
            <a:srgbClr val="008F8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Value Orientation</a:t>
            </a:r>
          </a:p>
        </p:txBody>
      </p:sp>
      <p:sp>
        <p:nvSpPr>
          <p:cNvPr id="311302" name="Rectangle 6">
            <a:extLst>
              <a:ext uri="{FF2B5EF4-FFF2-40B4-BE49-F238E27FC236}">
                <a16:creationId xmlns:a16="http://schemas.microsoft.com/office/drawing/2014/main" id="{B631DA67-E311-24F8-CCAC-59A9520A35CC}"/>
              </a:ext>
            </a:extLst>
          </p:cNvPr>
          <p:cNvSpPr>
            <a:spLocks noChangeArrowheads="1"/>
          </p:cNvSpPr>
          <p:nvPr/>
        </p:nvSpPr>
        <p:spPr bwMode="auto">
          <a:xfrm>
            <a:off x="528638" y="6021388"/>
            <a:ext cx="2073275" cy="254000"/>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Controlled Risk</a:t>
            </a:r>
          </a:p>
        </p:txBody>
      </p:sp>
      <p:sp>
        <p:nvSpPr>
          <p:cNvPr id="311303" name="Rectangle 7">
            <a:extLst>
              <a:ext uri="{FF2B5EF4-FFF2-40B4-BE49-F238E27FC236}">
                <a16:creationId xmlns:a16="http://schemas.microsoft.com/office/drawing/2014/main" id="{21FDDC4D-B869-32EB-0427-57989EF7733C}"/>
              </a:ext>
            </a:extLst>
          </p:cNvPr>
          <p:cNvSpPr>
            <a:spLocks noChangeArrowheads="1"/>
          </p:cNvSpPr>
          <p:nvPr/>
        </p:nvSpPr>
        <p:spPr bwMode="auto">
          <a:xfrm>
            <a:off x="528638" y="6440488"/>
            <a:ext cx="2073275" cy="254000"/>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Country Emphasis</a:t>
            </a:r>
          </a:p>
        </p:txBody>
      </p:sp>
      <p:sp>
        <p:nvSpPr>
          <p:cNvPr id="311304" name="Rectangle 8">
            <a:extLst>
              <a:ext uri="{FF2B5EF4-FFF2-40B4-BE49-F238E27FC236}">
                <a16:creationId xmlns:a16="http://schemas.microsoft.com/office/drawing/2014/main" id="{B4A582B8-9DA6-2895-3AC7-D5B4E3CFFB61}"/>
              </a:ext>
            </a:extLst>
          </p:cNvPr>
          <p:cNvSpPr>
            <a:spLocks noChangeArrowheads="1"/>
          </p:cNvSpPr>
          <p:nvPr/>
        </p:nvSpPr>
        <p:spPr bwMode="auto">
          <a:xfrm>
            <a:off x="528638" y="6845300"/>
            <a:ext cx="2073275" cy="254000"/>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100% Employee Ownership</a:t>
            </a:r>
          </a:p>
        </p:txBody>
      </p:sp>
      <p:sp>
        <p:nvSpPr>
          <p:cNvPr id="311305" name="Text Box 9">
            <a:extLst>
              <a:ext uri="{FF2B5EF4-FFF2-40B4-BE49-F238E27FC236}">
                <a16:creationId xmlns:a16="http://schemas.microsoft.com/office/drawing/2014/main" id="{CFC0F29D-0326-C877-9C20-9013E91E89BE}"/>
              </a:ext>
            </a:extLst>
          </p:cNvPr>
          <p:cNvSpPr txBox="1">
            <a:spLocks noChangeArrowheads="1"/>
          </p:cNvSpPr>
          <p:nvPr/>
        </p:nvSpPr>
        <p:spPr bwMode="auto">
          <a:xfrm>
            <a:off x="3910013" y="4748213"/>
            <a:ext cx="4778375" cy="39687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tabLst>
                <a:tab pos="457200" algn="l"/>
              </a:tabLst>
              <a:defRPr sz="2400">
                <a:solidFill>
                  <a:schemeClr val="tx1"/>
                </a:solidFill>
                <a:latin typeface="Times New Roman" panose="02020603050405020304" pitchFamily="18" charset="0"/>
              </a:defRPr>
            </a:lvl1pPr>
            <a:lvl2pPr marL="1714500" algn="l">
              <a:tabLst>
                <a:tab pos="457200" algn="l"/>
              </a:tabLst>
              <a:defRPr sz="2400">
                <a:solidFill>
                  <a:schemeClr val="tx1"/>
                </a:solidFill>
                <a:latin typeface="Times New Roman" panose="02020603050405020304" pitchFamily="18" charset="0"/>
              </a:defRPr>
            </a:lvl2pPr>
            <a:lvl3pPr marL="1828800" algn="l">
              <a:tabLst>
                <a:tab pos="457200" algn="l"/>
              </a:tabLst>
              <a:defRPr sz="2400">
                <a:solidFill>
                  <a:schemeClr val="tx1"/>
                </a:solidFill>
                <a:latin typeface="Times New Roman" panose="02020603050405020304" pitchFamily="18" charset="0"/>
              </a:defRPr>
            </a:lvl3pPr>
            <a:lvl4pPr marL="1943100" algn="l">
              <a:tabLst>
                <a:tab pos="457200" algn="l"/>
              </a:tabLst>
              <a:defRPr sz="2400">
                <a:solidFill>
                  <a:schemeClr val="tx1"/>
                </a:solidFill>
                <a:latin typeface="Times New Roman" panose="02020603050405020304" pitchFamily="18" charset="0"/>
              </a:defRPr>
            </a:lvl4pPr>
            <a:lvl5pPr marL="2057400" algn="l">
              <a:tabLst>
                <a:tab pos="457200" algn="l"/>
              </a:tabLst>
              <a:defRPr sz="2400">
                <a:solidFill>
                  <a:schemeClr val="tx1"/>
                </a:solidFill>
                <a:latin typeface="Times New Roman" panose="02020603050405020304" pitchFamily="18" charset="0"/>
              </a:defRPr>
            </a:lvl5pPr>
            <a:lvl6pPr marL="2514600" eaLnBrk="0" fontAlgn="base" hangingPunct="0">
              <a:spcBef>
                <a:spcPct val="0"/>
              </a:spcBef>
              <a:spcAft>
                <a:spcPct val="0"/>
              </a:spcAft>
              <a:tabLst>
                <a:tab pos="457200" algn="l"/>
              </a:tabLst>
              <a:defRPr sz="2400">
                <a:solidFill>
                  <a:schemeClr val="tx1"/>
                </a:solidFill>
                <a:latin typeface="Times New Roman" panose="02020603050405020304" pitchFamily="18" charset="0"/>
              </a:defRPr>
            </a:lvl6pPr>
            <a:lvl7pPr marL="2971800" eaLnBrk="0" fontAlgn="base" hangingPunct="0">
              <a:spcBef>
                <a:spcPct val="0"/>
              </a:spcBef>
              <a:spcAft>
                <a:spcPct val="0"/>
              </a:spcAft>
              <a:tabLst>
                <a:tab pos="457200" algn="l"/>
              </a:tabLst>
              <a:defRPr sz="2400">
                <a:solidFill>
                  <a:schemeClr val="tx1"/>
                </a:solidFill>
                <a:latin typeface="Times New Roman" panose="02020603050405020304" pitchFamily="18" charset="0"/>
              </a:defRPr>
            </a:lvl7pPr>
            <a:lvl8pPr marL="3429000" eaLnBrk="0" fontAlgn="base" hangingPunct="0">
              <a:spcBef>
                <a:spcPct val="0"/>
              </a:spcBef>
              <a:spcAft>
                <a:spcPct val="0"/>
              </a:spcAft>
              <a:tabLst>
                <a:tab pos="457200" algn="l"/>
              </a:tabLst>
              <a:defRPr sz="2400">
                <a:solidFill>
                  <a:schemeClr val="tx1"/>
                </a:solidFill>
                <a:latin typeface="Times New Roman" panose="02020603050405020304" pitchFamily="18" charset="0"/>
              </a:defRPr>
            </a:lvl8pPr>
            <a:lvl9pPr marL="3886200" eaLnBrk="0" fontAlgn="base" hangingPunct="0">
              <a:spcBef>
                <a:spcPct val="0"/>
              </a:spcBef>
              <a:spcAft>
                <a:spcPct val="0"/>
              </a:spcAft>
              <a:tabLst>
                <a:tab pos="457200" algn="l"/>
              </a:tabLst>
              <a:defRPr sz="2400">
                <a:solidFill>
                  <a:schemeClr val="tx1"/>
                </a:solidFill>
                <a:latin typeface="Times New Roman" panose="02020603050405020304" pitchFamily="18" charset="0"/>
              </a:defRPr>
            </a:lvl9pPr>
          </a:lstStyle>
          <a:p>
            <a:r>
              <a:rPr lang="en-US" altLang="en-US" sz="1000"/>
              <a:t>Notes:	</a:t>
            </a:r>
            <a:r>
              <a:rPr lang="en-US" altLang="en-US" sz="1000" b="0"/>
              <a:t>Emerging Markets data starts in 1987, International data starts in 1975 and United States data starts in 1960.  Portfolios rebalanced annually.</a:t>
            </a:r>
          </a:p>
        </p:txBody>
      </p:sp>
      <p:sp>
        <p:nvSpPr>
          <p:cNvPr id="311306" name="Text Box 10">
            <a:extLst>
              <a:ext uri="{FF2B5EF4-FFF2-40B4-BE49-F238E27FC236}">
                <a16:creationId xmlns:a16="http://schemas.microsoft.com/office/drawing/2014/main" id="{ADB84F6D-CB0F-8554-C596-ACC3CD9EFC4F}"/>
              </a:ext>
            </a:extLst>
          </p:cNvPr>
          <p:cNvSpPr txBox="1">
            <a:spLocks noChangeArrowheads="1"/>
          </p:cNvSpPr>
          <p:nvPr/>
        </p:nvSpPr>
        <p:spPr bwMode="auto">
          <a:xfrm>
            <a:off x="7924800" y="7038975"/>
            <a:ext cx="160813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en-US" sz="1000" b="0">
                <a:latin typeface="Times New Roman" panose="02020603050405020304" pitchFamily="18" charset="0"/>
              </a:rPr>
              <a:t>As of 12/31/01</a:t>
            </a:r>
          </a:p>
        </p:txBody>
      </p:sp>
      <p:graphicFrame>
        <p:nvGraphicFramePr>
          <p:cNvPr id="311308" name="Object 12">
            <a:extLst>
              <a:ext uri="{FF2B5EF4-FFF2-40B4-BE49-F238E27FC236}">
                <a16:creationId xmlns:a16="http://schemas.microsoft.com/office/drawing/2014/main" id="{0D2621CD-BE20-5843-ACB6-63ABBD8192FF}"/>
              </a:ext>
            </a:extLst>
          </p:cNvPr>
          <p:cNvGraphicFramePr>
            <a:graphicFrameLocks noChangeAspect="1"/>
          </p:cNvGraphicFramePr>
          <p:nvPr/>
        </p:nvGraphicFramePr>
        <p:xfrm>
          <a:off x="3668713" y="1949450"/>
          <a:ext cx="5257800" cy="2416175"/>
        </p:xfrm>
        <a:graphic>
          <a:graphicData uri="http://schemas.openxmlformats.org/presentationml/2006/ole">
            <mc:AlternateContent xmlns:mc="http://schemas.openxmlformats.org/markup-compatibility/2006">
              <mc:Choice xmlns:v="urn:schemas-microsoft-com:vml" Requires="v">
                <p:oleObj name="Worksheet" r:id="rId2" imgW="5270500" imgH="2425700" progId="Excel.Sheet.8">
                  <p:link updateAutomatic="1"/>
                </p:oleObj>
              </mc:Choice>
              <mc:Fallback>
                <p:oleObj name="Worksheet" r:id="rId2" imgW="5270500" imgH="2425700" progId="Excel.Sheet.8">
                  <p:link updateAutomatic="1"/>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8713" y="1949450"/>
                        <a:ext cx="5257800" cy="241617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1309" name="Text Box 13">
            <a:extLst>
              <a:ext uri="{FF2B5EF4-FFF2-40B4-BE49-F238E27FC236}">
                <a16:creationId xmlns:a16="http://schemas.microsoft.com/office/drawing/2014/main" id="{291895E6-C050-C615-00F1-7514095FE294}"/>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AutoShape 2050">
            <a:extLst>
              <a:ext uri="{FF2B5EF4-FFF2-40B4-BE49-F238E27FC236}">
                <a16:creationId xmlns:a16="http://schemas.microsoft.com/office/drawing/2014/main" id="{69C56927-AD43-ACA3-97FE-EA08796F1B80}"/>
              </a:ext>
            </a:extLst>
          </p:cNvPr>
          <p:cNvSpPr>
            <a:spLocks noChangeArrowheads="1"/>
          </p:cNvSpPr>
          <p:nvPr/>
        </p:nvSpPr>
        <p:spPr bwMode="auto">
          <a:xfrm rot="16200000" flipH="1">
            <a:off x="3837782" y="4190206"/>
            <a:ext cx="5124450" cy="769937"/>
          </a:xfrm>
          <a:custGeom>
            <a:avLst/>
            <a:gdLst>
              <a:gd name="G0" fmla="+- 0 0 0"/>
              <a:gd name="G1" fmla="+- 21600 0 0"/>
              <a:gd name="G2" fmla="*/ 0 1 2"/>
              <a:gd name="G3" fmla="+- 21600 0 G2"/>
              <a:gd name="G4" fmla="+/ 0 21600 2"/>
              <a:gd name="G5" fmla="+/ G1 0 2"/>
              <a:gd name="G6" fmla="*/ 21600 21600 0"/>
              <a:gd name="G7" fmla="*/ G6 1 2"/>
              <a:gd name="G8" fmla="+- 21600 0 G7"/>
              <a:gd name="G9" fmla="*/ 21600 1 2"/>
              <a:gd name="G10" fmla="+- 0 0 G9"/>
              <a:gd name="G11" fmla="?: G10 G8 0"/>
              <a:gd name="G12" fmla="?: G10 G7 21600"/>
              <a:gd name="T0" fmla="*/ 21600 w 21600"/>
              <a:gd name="T1" fmla="*/ 10800 h 21600"/>
              <a:gd name="T2" fmla="*/ 10800 w 21600"/>
              <a:gd name="T3" fmla="*/ 21600 h 21600"/>
              <a:gd name="T4" fmla="*/ 0 w 21600"/>
              <a:gd name="T5" fmla="*/ 10800 h 21600"/>
              <a:gd name="T6" fmla="*/ 10800 w 21600"/>
              <a:gd name="T7" fmla="*/ 0 h 21600"/>
              <a:gd name="T8" fmla="*/ 1800 w 21600"/>
              <a:gd name="T9" fmla="*/ 1800 h 21600"/>
              <a:gd name="T10" fmla="*/ 19800 w 21600"/>
              <a:gd name="T11" fmla="*/ 19800 h 21600"/>
            </a:gdLst>
            <a:ahLst/>
            <a:cxnLst>
              <a:cxn ang="0">
                <a:pos x="T0" y="T1"/>
              </a:cxn>
              <a:cxn ang="0">
                <a:pos x="T2" y="T3"/>
              </a:cxn>
              <a:cxn ang="0">
                <a:pos x="T4" y="T5"/>
              </a:cxn>
              <a:cxn ang="0">
                <a:pos x="T6" y="T7"/>
              </a:cxn>
            </a:cxnLst>
            <a:rect l="T8" t="T9" r="T10" b="T11"/>
            <a:pathLst>
              <a:path w="21600" h="21600">
                <a:moveTo>
                  <a:pt x="0" y="0"/>
                </a:moveTo>
                <a:lnTo>
                  <a:pt x="0" y="21600"/>
                </a:lnTo>
                <a:lnTo>
                  <a:pt x="21600" y="21600"/>
                </a:lnTo>
                <a:lnTo>
                  <a:pt x="21600" y="0"/>
                </a:lnTo>
                <a:close/>
              </a:path>
            </a:pathLst>
          </a:custGeom>
          <a:gradFill rotWithShape="0">
            <a:gsLst>
              <a:gs pos="0">
                <a:srgbClr val="FF0000"/>
              </a:gs>
              <a:gs pos="100000">
                <a:srgbClr val="002B7F"/>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6307" name="Rectangle 2051">
            <a:extLst>
              <a:ext uri="{FF2B5EF4-FFF2-40B4-BE49-F238E27FC236}">
                <a16:creationId xmlns:a16="http://schemas.microsoft.com/office/drawing/2014/main" id="{F46BAC33-0E7A-C249-30A8-FCD7A2803E5E}"/>
              </a:ext>
            </a:extLst>
          </p:cNvPr>
          <p:cNvSpPr>
            <a:spLocks noChangeArrowheads="1"/>
          </p:cNvSpPr>
          <p:nvPr/>
        </p:nvSpPr>
        <p:spPr bwMode="auto">
          <a:xfrm>
            <a:off x="595313" y="1841500"/>
            <a:ext cx="1846262" cy="82232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r>
              <a:rPr lang="en-US" altLang="en-US" sz="1200" b="0">
                <a:latin typeface="Times New Roman" panose="02020603050405020304" pitchFamily="18" charset="0"/>
              </a:rPr>
              <a:t>Reducing exposure to</a:t>
            </a:r>
          </a:p>
          <a:p>
            <a:pPr algn="l"/>
            <a:r>
              <a:rPr lang="en-US" altLang="en-US" sz="1200" b="0">
                <a:latin typeface="Times New Roman" panose="02020603050405020304" pitchFamily="18" charset="0"/>
              </a:rPr>
              <a:t>incidental factors leads</a:t>
            </a:r>
          </a:p>
          <a:p>
            <a:pPr algn="l"/>
            <a:r>
              <a:rPr lang="en-US" altLang="en-US" sz="1200" b="0">
                <a:latin typeface="Times New Roman" panose="02020603050405020304" pitchFamily="18" charset="0"/>
              </a:rPr>
              <a:t>to much more consistent returns.</a:t>
            </a:r>
            <a:endParaRPr lang="en-US" altLang="en-US" sz="1200">
              <a:latin typeface="Times New Roman" panose="02020603050405020304" pitchFamily="18" charset="0"/>
            </a:endParaRPr>
          </a:p>
        </p:txBody>
      </p:sp>
      <p:sp>
        <p:nvSpPr>
          <p:cNvPr id="226309" name="Rectangle 2053">
            <a:extLst>
              <a:ext uri="{FF2B5EF4-FFF2-40B4-BE49-F238E27FC236}">
                <a16:creationId xmlns:a16="http://schemas.microsoft.com/office/drawing/2014/main" id="{3CCAEE70-A41E-D5F1-89FD-03085AA2BA4F}"/>
              </a:ext>
            </a:extLst>
          </p:cNvPr>
          <p:cNvSpPr>
            <a:spLocks noChangeArrowheads="1"/>
          </p:cNvSpPr>
          <p:nvPr/>
        </p:nvSpPr>
        <p:spPr bwMode="auto">
          <a:xfrm>
            <a:off x="542925" y="5183188"/>
            <a:ext cx="2073275" cy="254000"/>
          </a:xfrm>
          <a:prstGeom prst="rect">
            <a:avLst/>
          </a:prstGeom>
          <a:solidFill>
            <a:srgbClr val="B2B2B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Quantitative Approach</a:t>
            </a:r>
          </a:p>
        </p:txBody>
      </p:sp>
      <p:sp>
        <p:nvSpPr>
          <p:cNvPr id="226310" name="Rectangle 2054">
            <a:extLst>
              <a:ext uri="{FF2B5EF4-FFF2-40B4-BE49-F238E27FC236}">
                <a16:creationId xmlns:a16="http://schemas.microsoft.com/office/drawing/2014/main" id="{78421EEC-59DA-8F94-0A1F-41447CFAFA69}"/>
              </a:ext>
            </a:extLst>
          </p:cNvPr>
          <p:cNvSpPr>
            <a:spLocks noChangeArrowheads="1"/>
          </p:cNvSpPr>
          <p:nvPr/>
        </p:nvSpPr>
        <p:spPr bwMode="auto">
          <a:xfrm>
            <a:off x="542925" y="5614988"/>
            <a:ext cx="2073275" cy="254000"/>
          </a:xfrm>
          <a:prstGeom prst="rect">
            <a:avLst/>
          </a:prstGeom>
          <a:solidFill>
            <a:srgbClr val="B2B2B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Value Orientation</a:t>
            </a:r>
          </a:p>
        </p:txBody>
      </p:sp>
      <p:sp>
        <p:nvSpPr>
          <p:cNvPr id="226311" name="Rectangle 2055">
            <a:extLst>
              <a:ext uri="{FF2B5EF4-FFF2-40B4-BE49-F238E27FC236}">
                <a16:creationId xmlns:a16="http://schemas.microsoft.com/office/drawing/2014/main" id="{7339E018-FA6B-D716-A8CB-4F077DC212B2}"/>
              </a:ext>
            </a:extLst>
          </p:cNvPr>
          <p:cNvSpPr>
            <a:spLocks noChangeArrowheads="1"/>
          </p:cNvSpPr>
          <p:nvPr/>
        </p:nvSpPr>
        <p:spPr bwMode="auto">
          <a:xfrm>
            <a:off x="542925" y="6021388"/>
            <a:ext cx="2073275" cy="254000"/>
          </a:xfrm>
          <a:prstGeom prst="rect">
            <a:avLst/>
          </a:prstGeom>
          <a:solidFill>
            <a:srgbClr val="3399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Controlled Risk</a:t>
            </a:r>
          </a:p>
        </p:txBody>
      </p:sp>
      <p:sp>
        <p:nvSpPr>
          <p:cNvPr id="226312" name="Rectangle 2056">
            <a:extLst>
              <a:ext uri="{FF2B5EF4-FFF2-40B4-BE49-F238E27FC236}">
                <a16:creationId xmlns:a16="http://schemas.microsoft.com/office/drawing/2014/main" id="{496E4A57-EB02-D450-B342-9CA7127C59C9}"/>
              </a:ext>
            </a:extLst>
          </p:cNvPr>
          <p:cNvSpPr>
            <a:spLocks noChangeArrowheads="1"/>
          </p:cNvSpPr>
          <p:nvPr/>
        </p:nvSpPr>
        <p:spPr bwMode="auto">
          <a:xfrm>
            <a:off x="542925" y="6440488"/>
            <a:ext cx="2073275" cy="254000"/>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Country Emphasis</a:t>
            </a:r>
          </a:p>
        </p:txBody>
      </p:sp>
      <p:sp>
        <p:nvSpPr>
          <p:cNvPr id="226313" name="Rectangle 2057">
            <a:extLst>
              <a:ext uri="{FF2B5EF4-FFF2-40B4-BE49-F238E27FC236}">
                <a16:creationId xmlns:a16="http://schemas.microsoft.com/office/drawing/2014/main" id="{9FE908FC-6220-4E5A-6F2F-001A58B820A5}"/>
              </a:ext>
            </a:extLst>
          </p:cNvPr>
          <p:cNvSpPr>
            <a:spLocks noChangeArrowheads="1"/>
          </p:cNvSpPr>
          <p:nvPr/>
        </p:nvSpPr>
        <p:spPr bwMode="auto">
          <a:xfrm>
            <a:off x="542925" y="6845300"/>
            <a:ext cx="2073275" cy="254000"/>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100% Employee Ownership</a:t>
            </a:r>
          </a:p>
        </p:txBody>
      </p:sp>
      <p:sp>
        <p:nvSpPr>
          <p:cNvPr id="226314" name="Text Box 2058">
            <a:extLst>
              <a:ext uri="{FF2B5EF4-FFF2-40B4-BE49-F238E27FC236}">
                <a16:creationId xmlns:a16="http://schemas.microsoft.com/office/drawing/2014/main" id="{56E2C602-AF90-CA24-DF83-3C7D1D58C7F4}"/>
              </a:ext>
            </a:extLst>
          </p:cNvPr>
          <p:cNvSpPr txBox="1">
            <a:spLocks noChangeArrowheads="1"/>
          </p:cNvSpPr>
          <p:nvPr/>
        </p:nvSpPr>
        <p:spPr bwMode="auto">
          <a:xfrm>
            <a:off x="557213" y="677863"/>
            <a:ext cx="340995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5000"/>
              </a:lnSpc>
            </a:pPr>
            <a:r>
              <a:rPr lang="en-US" altLang="en-US" sz="2800" b="0"/>
              <a:t>Emerging Equity</a:t>
            </a:r>
          </a:p>
          <a:p>
            <a:pPr algn="l">
              <a:lnSpc>
                <a:spcPct val="125000"/>
              </a:lnSpc>
            </a:pPr>
            <a:r>
              <a:rPr lang="en-US" altLang="en-US" sz="1800" b="0" i="1"/>
              <a:t>GMO Risk Control Methodology</a:t>
            </a:r>
          </a:p>
        </p:txBody>
      </p:sp>
      <p:sp>
        <p:nvSpPr>
          <p:cNvPr id="226317" name="Text Box 2061">
            <a:extLst>
              <a:ext uri="{FF2B5EF4-FFF2-40B4-BE49-F238E27FC236}">
                <a16:creationId xmlns:a16="http://schemas.microsoft.com/office/drawing/2014/main" id="{F26F3340-14DE-4CE3-6E33-C6963DB70A79}"/>
              </a:ext>
            </a:extLst>
          </p:cNvPr>
          <p:cNvSpPr txBox="1">
            <a:spLocks noChangeArrowheads="1"/>
          </p:cNvSpPr>
          <p:nvPr/>
        </p:nvSpPr>
        <p:spPr bwMode="auto">
          <a:xfrm>
            <a:off x="3911600" y="1931988"/>
            <a:ext cx="1327150" cy="304800"/>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Raw Portfolio</a:t>
            </a:r>
          </a:p>
        </p:txBody>
      </p:sp>
      <p:sp>
        <p:nvSpPr>
          <p:cNvPr id="226318" name="Text Box 2062">
            <a:extLst>
              <a:ext uri="{FF2B5EF4-FFF2-40B4-BE49-F238E27FC236}">
                <a16:creationId xmlns:a16="http://schemas.microsoft.com/office/drawing/2014/main" id="{9E59ABA0-8CBC-CF47-739B-BF1220E7123F}"/>
              </a:ext>
            </a:extLst>
          </p:cNvPr>
          <p:cNvSpPr txBox="1">
            <a:spLocks noChangeArrowheads="1"/>
          </p:cNvSpPr>
          <p:nvPr/>
        </p:nvSpPr>
        <p:spPr bwMode="auto">
          <a:xfrm>
            <a:off x="7496175" y="1931988"/>
            <a:ext cx="2271713" cy="304800"/>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Risk Controlled Portfolio</a:t>
            </a:r>
          </a:p>
        </p:txBody>
      </p:sp>
      <p:sp>
        <p:nvSpPr>
          <p:cNvPr id="226319" name="Text Box 2063">
            <a:extLst>
              <a:ext uri="{FF2B5EF4-FFF2-40B4-BE49-F238E27FC236}">
                <a16:creationId xmlns:a16="http://schemas.microsoft.com/office/drawing/2014/main" id="{EDDE9EC1-D68D-8671-40BA-54754C251490}"/>
              </a:ext>
            </a:extLst>
          </p:cNvPr>
          <p:cNvSpPr txBox="1">
            <a:spLocks noChangeArrowheads="1"/>
          </p:cNvSpPr>
          <p:nvPr/>
        </p:nvSpPr>
        <p:spPr bwMode="auto">
          <a:xfrm>
            <a:off x="5972175" y="4316413"/>
            <a:ext cx="814388" cy="5175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Risk </a:t>
            </a:r>
          </a:p>
          <a:p>
            <a:r>
              <a:rPr lang="en-US" altLang="en-US"/>
              <a:t>Control</a:t>
            </a:r>
          </a:p>
        </p:txBody>
      </p:sp>
      <p:sp>
        <p:nvSpPr>
          <p:cNvPr id="226322" name="Line 2066">
            <a:extLst>
              <a:ext uri="{FF2B5EF4-FFF2-40B4-BE49-F238E27FC236}">
                <a16:creationId xmlns:a16="http://schemas.microsoft.com/office/drawing/2014/main" id="{648762C9-C9F2-C252-328D-AB66F42E9443}"/>
              </a:ext>
            </a:extLst>
          </p:cNvPr>
          <p:cNvSpPr>
            <a:spLocks noChangeShapeType="1"/>
          </p:cNvSpPr>
          <p:nvPr/>
        </p:nvSpPr>
        <p:spPr bwMode="auto">
          <a:xfrm>
            <a:off x="5794375" y="3305175"/>
            <a:ext cx="954088" cy="0"/>
          </a:xfrm>
          <a:prstGeom prst="line">
            <a:avLst/>
          </a:prstGeom>
          <a:noFill/>
          <a:ln w="25400">
            <a:solidFill>
              <a:schemeClr val="bg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6323" name="Line 2067">
            <a:extLst>
              <a:ext uri="{FF2B5EF4-FFF2-40B4-BE49-F238E27FC236}">
                <a16:creationId xmlns:a16="http://schemas.microsoft.com/office/drawing/2014/main" id="{08F294DE-F418-B31D-5F32-3F633A82E77C}"/>
              </a:ext>
            </a:extLst>
          </p:cNvPr>
          <p:cNvSpPr>
            <a:spLocks noChangeShapeType="1"/>
          </p:cNvSpPr>
          <p:nvPr/>
        </p:nvSpPr>
        <p:spPr bwMode="auto">
          <a:xfrm>
            <a:off x="5803900" y="5846763"/>
            <a:ext cx="938213" cy="0"/>
          </a:xfrm>
          <a:prstGeom prst="line">
            <a:avLst/>
          </a:prstGeom>
          <a:noFill/>
          <a:ln w="25400">
            <a:solidFill>
              <a:schemeClr val="bg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226324" name="Object 2068">
            <a:extLst>
              <a:ext uri="{FF2B5EF4-FFF2-40B4-BE49-F238E27FC236}">
                <a16:creationId xmlns:a16="http://schemas.microsoft.com/office/drawing/2014/main" id="{0FC9C013-F2CE-590D-5C2B-FD27FE7AAF52}"/>
              </a:ext>
            </a:extLst>
          </p:cNvPr>
          <p:cNvGraphicFramePr>
            <a:graphicFrameLocks noChangeAspect="1"/>
          </p:cNvGraphicFramePr>
          <p:nvPr/>
        </p:nvGraphicFramePr>
        <p:xfrm>
          <a:off x="2647950" y="2114550"/>
          <a:ext cx="3305175" cy="2257425"/>
        </p:xfrm>
        <a:graphic>
          <a:graphicData uri="http://schemas.openxmlformats.org/presentationml/2006/ole">
            <mc:AlternateContent xmlns:mc="http://schemas.openxmlformats.org/markup-compatibility/2006">
              <mc:Choice xmlns:v="urn:schemas-microsoft-com:vml" Requires="v">
                <p:oleObj name="Worksheet" r:id="rId2" imgW="3987800" imgH="2870200" progId="Excel.Sheet.8">
                  <p:link updateAutomatic="1"/>
                </p:oleObj>
              </mc:Choice>
              <mc:Fallback>
                <p:oleObj name="Worksheet" r:id="rId2" imgW="3987800" imgH="2870200" progId="Excel.Sheet.8">
                  <p:link updateAutomatic="1"/>
                  <p:pic>
                    <p:nvPicPr>
                      <p:cNvPr id="0" name="Object 2068"/>
                      <p:cNvPicPr>
                        <a:picLocks noChangeAspect="1" noChangeArrowheads="1"/>
                      </p:cNvPicPr>
                      <p:nvPr/>
                    </p:nvPicPr>
                    <p:blipFill>
                      <a:blip r:embed="rId3">
                        <a:extLst>
                          <a:ext uri="{28A0092B-C50C-407E-A947-70E740481C1C}">
                            <a14:useLocalDpi xmlns:a14="http://schemas.microsoft.com/office/drawing/2010/main" val="0"/>
                          </a:ext>
                        </a:extLst>
                      </a:blip>
                      <a:srcRect t="787" r="1978" b="5905"/>
                      <a:stretch>
                        <a:fillRect/>
                      </a:stretch>
                    </p:blipFill>
                    <p:spPr bwMode="auto">
                      <a:xfrm>
                        <a:off x="2647950" y="2114550"/>
                        <a:ext cx="3305175" cy="225742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6325" name="Object 2069">
            <a:extLst>
              <a:ext uri="{FF2B5EF4-FFF2-40B4-BE49-F238E27FC236}">
                <a16:creationId xmlns:a16="http://schemas.microsoft.com/office/drawing/2014/main" id="{4896755C-AD78-4F56-BF28-0E2545A96F98}"/>
              </a:ext>
            </a:extLst>
          </p:cNvPr>
          <p:cNvGraphicFramePr>
            <a:graphicFrameLocks noChangeAspect="1"/>
          </p:cNvGraphicFramePr>
          <p:nvPr/>
        </p:nvGraphicFramePr>
        <p:xfrm>
          <a:off x="2747963" y="4981575"/>
          <a:ext cx="3181350" cy="2246313"/>
        </p:xfrm>
        <a:graphic>
          <a:graphicData uri="http://schemas.openxmlformats.org/presentationml/2006/ole">
            <mc:AlternateContent xmlns:mc="http://schemas.openxmlformats.org/markup-compatibility/2006">
              <mc:Choice xmlns:v="urn:schemas-microsoft-com:vml" Requires="v">
                <p:oleObj name="Worksheet" r:id="rId4" imgW="4000500" imgH="2895600" progId="Excel.Sheet.8">
                  <p:link updateAutomatic="1"/>
                </p:oleObj>
              </mc:Choice>
              <mc:Fallback>
                <p:oleObj name="Worksheet" r:id="rId4" imgW="4000500" imgH="2895600" progId="Excel.Sheet.8">
                  <p:link updateAutomatic="1"/>
                  <p:pic>
                    <p:nvPicPr>
                      <p:cNvPr id="0" name="Object 2069"/>
                      <p:cNvPicPr>
                        <a:picLocks noChangeAspect="1" noChangeArrowheads="1"/>
                      </p:cNvPicPr>
                      <p:nvPr/>
                    </p:nvPicPr>
                    <p:blipFill>
                      <a:blip r:embed="rId5">
                        <a:extLst>
                          <a:ext uri="{28A0092B-C50C-407E-A947-70E740481C1C}">
                            <a14:useLocalDpi xmlns:a14="http://schemas.microsoft.com/office/drawing/2010/main" val="0"/>
                          </a:ext>
                        </a:extLst>
                      </a:blip>
                      <a:srcRect l="3380" t="1953" r="2534" b="5925"/>
                      <a:stretch>
                        <a:fillRect/>
                      </a:stretch>
                    </p:blipFill>
                    <p:spPr bwMode="auto">
                      <a:xfrm>
                        <a:off x="2747963" y="4981575"/>
                        <a:ext cx="3181350" cy="2246313"/>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6329" name="Text Box 2073">
            <a:extLst>
              <a:ext uri="{FF2B5EF4-FFF2-40B4-BE49-F238E27FC236}">
                <a16:creationId xmlns:a16="http://schemas.microsoft.com/office/drawing/2014/main" id="{78AD74E1-CBC1-1FB5-939E-9D85F3B2D1EC}"/>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graphicFrame>
        <p:nvGraphicFramePr>
          <p:cNvPr id="226331" name="Object 2075">
            <a:extLst>
              <a:ext uri="{FF2B5EF4-FFF2-40B4-BE49-F238E27FC236}">
                <a16:creationId xmlns:a16="http://schemas.microsoft.com/office/drawing/2014/main" id="{3921F5CB-03AB-5C2B-8AAB-5EA745241B8E}"/>
              </a:ext>
            </a:extLst>
          </p:cNvPr>
          <p:cNvGraphicFramePr>
            <a:graphicFrameLocks noChangeAspect="1"/>
          </p:cNvGraphicFramePr>
          <p:nvPr/>
        </p:nvGraphicFramePr>
        <p:xfrm>
          <a:off x="6800850" y="2128838"/>
          <a:ext cx="3200400" cy="2247900"/>
        </p:xfrm>
        <a:graphic>
          <a:graphicData uri="http://schemas.openxmlformats.org/presentationml/2006/ole">
            <mc:AlternateContent xmlns:mc="http://schemas.openxmlformats.org/markup-compatibility/2006">
              <mc:Choice xmlns:v="urn:schemas-microsoft-com:vml" Requires="v">
                <p:oleObj name="Worksheet" r:id="rId6" imgW="3898900" imgH="2857500" progId="Excel.Sheet.8">
                  <p:link updateAutomatic="1"/>
                </p:oleObj>
              </mc:Choice>
              <mc:Fallback>
                <p:oleObj name="Worksheet" r:id="rId6" imgW="3898900" imgH="2857500" progId="Excel.Sheet.8">
                  <p:link updateAutomatic="1"/>
                  <p:pic>
                    <p:nvPicPr>
                      <p:cNvPr id="0" name="Object 2075"/>
                      <p:cNvPicPr>
                        <a:picLocks noChangeAspect="1" noChangeArrowheads="1"/>
                      </p:cNvPicPr>
                      <p:nvPr/>
                    </p:nvPicPr>
                    <p:blipFill>
                      <a:blip r:embed="rId7">
                        <a:extLst>
                          <a:ext uri="{28A0092B-C50C-407E-A947-70E740481C1C}">
                            <a14:useLocalDpi xmlns:a14="http://schemas.microsoft.com/office/drawing/2010/main" val="0"/>
                          </a:ext>
                        </a:extLst>
                      </a:blip>
                      <a:srcRect t="1581" r="2890" b="5138"/>
                      <a:stretch>
                        <a:fillRect/>
                      </a:stretch>
                    </p:blipFill>
                    <p:spPr bwMode="auto">
                      <a:xfrm>
                        <a:off x="6800850" y="2128838"/>
                        <a:ext cx="3200400" cy="2247900"/>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6332" name="Object 2076">
            <a:extLst>
              <a:ext uri="{FF2B5EF4-FFF2-40B4-BE49-F238E27FC236}">
                <a16:creationId xmlns:a16="http://schemas.microsoft.com/office/drawing/2014/main" id="{CF355A51-5D20-D2E3-BF95-DBF7A319A155}"/>
              </a:ext>
            </a:extLst>
          </p:cNvPr>
          <p:cNvGraphicFramePr>
            <a:graphicFrameLocks noChangeAspect="1"/>
          </p:cNvGraphicFramePr>
          <p:nvPr/>
        </p:nvGraphicFramePr>
        <p:xfrm>
          <a:off x="6796088" y="4976813"/>
          <a:ext cx="3228975" cy="2257425"/>
        </p:xfrm>
        <a:graphic>
          <a:graphicData uri="http://schemas.openxmlformats.org/presentationml/2006/ole">
            <mc:AlternateContent xmlns:mc="http://schemas.openxmlformats.org/markup-compatibility/2006">
              <mc:Choice xmlns:v="urn:schemas-microsoft-com:vml" Requires="v">
                <p:oleObj name="Worksheet" r:id="rId8" imgW="3937000" imgH="2857500" progId="Excel.Sheet.8">
                  <p:link updateAutomatic="1"/>
                </p:oleObj>
              </mc:Choice>
              <mc:Fallback>
                <p:oleObj name="Worksheet" r:id="rId8" imgW="3937000" imgH="2857500" progId="Excel.Sheet.8">
                  <p:link updateAutomatic="1"/>
                  <p:pic>
                    <p:nvPicPr>
                      <p:cNvPr id="0" name="Object 2076"/>
                      <p:cNvPicPr>
                        <a:picLocks noChangeAspect="1" noChangeArrowheads="1"/>
                      </p:cNvPicPr>
                      <p:nvPr/>
                    </p:nvPicPr>
                    <p:blipFill>
                      <a:blip r:embed="rId9">
                        <a:extLst>
                          <a:ext uri="{28A0092B-C50C-407E-A947-70E740481C1C}">
                            <a14:useLocalDpi xmlns:a14="http://schemas.microsoft.com/office/drawing/2010/main" val="0"/>
                          </a:ext>
                        </a:extLst>
                      </a:blip>
                      <a:srcRect l="2866" t="5138" b="1186"/>
                      <a:stretch>
                        <a:fillRect/>
                      </a:stretch>
                    </p:blipFill>
                    <p:spPr bwMode="auto">
                      <a:xfrm>
                        <a:off x="6796088" y="4976813"/>
                        <a:ext cx="3228975" cy="225742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Text Box 1027">
            <a:extLst>
              <a:ext uri="{FF2B5EF4-FFF2-40B4-BE49-F238E27FC236}">
                <a16:creationId xmlns:a16="http://schemas.microsoft.com/office/drawing/2014/main" id="{01B297B1-874A-ED77-C836-694073364D6F}"/>
              </a:ext>
            </a:extLst>
          </p:cNvPr>
          <p:cNvSpPr txBox="1">
            <a:spLocks noChangeArrowheads="1"/>
          </p:cNvSpPr>
          <p:nvPr/>
        </p:nvSpPr>
        <p:spPr bwMode="auto">
          <a:xfrm>
            <a:off x="600075" y="1811338"/>
            <a:ext cx="2247900" cy="246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1200" b="0">
                <a:latin typeface="Times New Roman" panose="02020603050405020304" pitchFamily="18" charset="0"/>
              </a:rPr>
              <a:t>GMO research indicates that while sector emphasis has grown in importance in the developed markets, country selection remains paramount in the Emerging Markets.</a:t>
            </a:r>
          </a:p>
          <a:p>
            <a:pPr algn="l"/>
            <a:endParaRPr lang="en-US" altLang="en-US" sz="1200" b="0">
              <a:latin typeface="Times New Roman" panose="02020603050405020304" pitchFamily="18" charset="0"/>
            </a:endParaRPr>
          </a:p>
          <a:p>
            <a:pPr algn="l"/>
            <a:endParaRPr lang="en-US" altLang="en-US" sz="1200" b="0">
              <a:latin typeface="Times New Roman" panose="02020603050405020304" pitchFamily="18" charset="0"/>
            </a:endParaRPr>
          </a:p>
          <a:p>
            <a:pPr algn="l"/>
            <a:r>
              <a:rPr lang="en-US" altLang="en-US" sz="1200" b="0">
                <a:latin typeface="Times New Roman" panose="02020603050405020304" pitchFamily="18" charset="0"/>
              </a:rPr>
              <a:t>Reasons for this disparity include: lower economic integration; greater endogenous risks; and the power of local investors.</a:t>
            </a:r>
          </a:p>
        </p:txBody>
      </p:sp>
      <p:sp>
        <p:nvSpPr>
          <p:cNvPr id="91151" name="Rectangle 1039">
            <a:extLst>
              <a:ext uri="{FF2B5EF4-FFF2-40B4-BE49-F238E27FC236}">
                <a16:creationId xmlns:a16="http://schemas.microsoft.com/office/drawing/2014/main" id="{325ABB4C-5086-295A-90BB-3D8B3D06BD47}"/>
              </a:ext>
            </a:extLst>
          </p:cNvPr>
          <p:cNvSpPr>
            <a:spLocks noChangeArrowheads="1"/>
          </p:cNvSpPr>
          <p:nvPr/>
        </p:nvSpPr>
        <p:spPr bwMode="auto">
          <a:xfrm>
            <a:off x="528638" y="5183188"/>
            <a:ext cx="2073275" cy="254000"/>
          </a:xfrm>
          <a:prstGeom prst="rect">
            <a:avLst/>
          </a:prstGeom>
          <a:solidFill>
            <a:srgbClr val="B2B2B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Quantitative Approach</a:t>
            </a:r>
          </a:p>
        </p:txBody>
      </p:sp>
      <p:sp>
        <p:nvSpPr>
          <p:cNvPr id="91152" name="Rectangle 1040">
            <a:extLst>
              <a:ext uri="{FF2B5EF4-FFF2-40B4-BE49-F238E27FC236}">
                <a16:creationId xmlns:a16="http://schemas.microsoft.com/office/drawing/2014/main" id="{932D286E-47E4-92D4-1FC6-2B7A1D7F30D4}"/>
              </a:ext>
            </a:extLst>
          </p:cNvPr>
          <p:cNvSpPr>
            <a:spLocks noChangeArrowheads="1"/>
          </p:cNvSpPr>
          <p:nvPr/>
        </p:nvSpPr>
        <p:spPr bwMode="auto">
          <a:xfrm>
            <a:off x="528638" y="5614988"/>
            <a:ext cx="2073275" cy="254000"/>
          </a:xfrm>
          <a:prstGeom prst="rect">
            <a:avLst/>
          </a:prstGeom>
          <a:solidFill>
            <a:srgbClr val="B2B2B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Value Orientation</a:t>
            </a:r>
          </a:p>
        </p:txBody>
      </p:sp>
      <p:sp>
        <p:nvSpPr>
          <p:cNvPr id="91153" name="Rectangle 1041">
            <a:extLst>
              <a:ext uri="{FF2B5EF4-FFF2-40B4-BE49-F238E27FC236}">
                <a16:creationId xmlns:a16="http://schemas.microsoft.com/office/drawing/2014/main" id="{EAFB4F60-3396-B3F5-9AE2-57532FF8BE74}"/>
              </a:ext>
            </a:extLst>
          </p:cNvPr>
          <p:cNvSpPr>
            <a:spLocks noChangeArrowheads="1"/>
          </p:cNvSpPr>
          <p:nvPr/>
        </p:nvSpPr>
        <p:spPr bwMode="auto">
          <a:xfrm>
            <a:off x="528638" y="6021388"/>
            <a:ext cx="2073275" cy="254000"/>
          </a:xfrm>
          <a:prstGeom prst="rect">
            <a:avLst/>
          </a:prstGeom>
          <a:solidFill>
            <a:srgbClr val="B2B2B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Controlled Risk</a:t>
            </a:r>
          </a:p>
        </p:txBody>
      </p:sp>
      <p:sp>
        <p:nvSpPr>
          <p:cNvPr id="91154" name="Rectangle 1042">
            <a:extLst>
              <a:ext uri="{FF2B5EF4-FFF2-40B4-BE49-F238E27FC236}">
                <a16:creationId xmlns:a16="http://schemas.microsoft.com/office/drawing/2014/main" id="{54CDB109-4FDD-2AD5-72DD-9C24E38849FE}"/>
              </a:ext>
            </a:extLst>
          </p:cNvPr>
          <p:cNvSpPr>
            <a:spLocks noChangeArrowheads="1"/>
          </p:cNvSpPr>
          <p:nvPr/>
        </p:nvSpPr>
        <p:spPr bwMode="auto">
          <a:xfrm>
            <a:off x="528638" y="6440488"/>
            <a:ext cx="2073275" cy="2540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Country Emphasis</a:t>
            </a:r>
          </a:p>
        </p:txBody>
      </p:sp>
      <p:sp>
        <p:nvSpPr>
          <p:cNvPr id="91155" name="Rectangle 1043">
            <a:extLst>
              <a:ext uri="{FF2B5EF4-FFF2-40B4-BE49-F238E27FC236}">
                <a16:creationId xmlns:a16="http://schemas.microsoft.com/office/drawing/2014/main" id="{E9CA2525-5CB2-D378-D8BE-CDBCDFD86584}"/>
              </a:ext>
            </a:extLst>
          </p:cNvPr>
          <p:cNvSpPr>
            <a:spLocks noChangeArrowheads="1"/>
          </p:cNvSpPr>
          <p:nvPr/>
        </p:nvSpPr>
        <p:spPr bwMode="auto">
          <a:xfrm>
            <a:off x="528638" y="6845300"/>
            <a:ext cx="2073275" cy="254000"/>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200">
                <a:solidFill>
                  <a:schemeClr val="bg1"/>
                </a:solidFill>
              </a:rPr>
              <a:t>100% Employee Ownership</a:t>
            </a:r>
          </a:p>
        </p:txBody>
      </p:sp>
      <p:sp>
        <p:nvSpPr>
          <p:cNvPr id="91156" name="Text Box 1044">
            <a:extLst>
              <a:ext uri="{FF2B5EF4-FFF2-40B4-BE49-F238E27FC236}">
                <a16:creationId xmlns:a16="http://schemas.microsoft.com/office/drawing/2014/main" id="{4E2557D3-0F2B-F4A6-B43C-5CB2B007FB16}"/>
              </a:ext>
            </a:extLst>
          </p:cNvPr>
          <p:cNvSpPr txBox="1">
            <a:spLocks noChangeArrowheads="1"/>
          </p:cNvSpPr>
          <p:nvPr/>
        </p:nvSpPr>
        <p:spPr bwMode="auto">
          <a:xfrm>
            <a:off x="577850" y="777875"/>
            <a:ext cx="92106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2800" b="0"/>
              <a:t>Emerging Equity</a:t>
            </a:r>
          </a:p>
        </p:txBody>
      </p:sp>
      <p:sp>
        <p:nvSpPr>
          <p:cNvPr id="91163" name="Text Box 1051">
            <a:extLst>
              <a:ext uri="{FF2B5EF4-FFF2-40B4-BE49-F238E27FC236}">
                <a16:creationId xmlns:a16="http://schemas.microsoft.com/office/drawing/2014/main" id="{8CC8322B-0BB0-F3BE-4403-F477B5B90A77}"/>
              </a:ext>
            </a:extLst>
          </p:cNvPr>
          <p:cNvSpPr txBox="1">
            <a:spLocks noChangeArrowheads="1"/>
          </p:cNvSpPr>
          <p:nvPr/>
        </p:nvSpPr>
        <p:spPr bwMode="auto">
          <a:xfrm>
            <a:off x="7924800" y="7038975"/>
            <a:ext cx="160813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en-US" sz="1000" b="0">
                <a:latin typeface="Times New Roman" panose="02020603050405020304" pitchFamily="18" charset="0"/>
              </a:rPr>
              <a:t>As of 12/31/01</a:t>
            </a:r>
          </a:p>
        </p:txBody>
      </p:sp>
      <p:sp>
        <p:nvSpPr>
          <p:cNvPr id="91164" name="Text Box 1052">
            <a:extLst>
              <a:ext uri="{FF2B5EF4-FFF2-40B4-BE49-F238E27FC236}">
                <a16:creationId xmlns:a16="http://schemas.microsoft.com/office/drawing/2014/main" id="{E18E2CCA-774D-9F85-3E02-9926CC79866A}"/>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graphicFrame>
        <p:nvGraphicFramePr>
          <p:cNvPr id="91165" name="Object 1053">
            <a:extLst>
              <a:ext uri="{FF2B5EF4-FFF2-40B4-BE49-F238E27FC236}">
                <a16:creationId xmlns:a16="http://schemas.microsoft.com/office/drawing/2014/main" id="{218C17E5-D49D-4A5E-698F-A13F12F07C3C}"/>
              </a:ext>
            </a:extLst>
          </p:cNvPr>
          <p:cNvGraphicFramePr>
            <a:graphicFrameLocks noChangeAspect="1"/>
          </p:cNvGraphicFramePr>
          <p:nvPr/>
        </p:nvGraphicFramePr>
        <p:xfrm>
          <a:off x="2805113" y="1924050"/>
          <a:ext cx="7185025" cy="4456113"/>
        </p:xfrm>
        <a:graphic>
          <a:graphicData uri="http://schemas.openxmlformats.org/presentationml/2006/ole">
            <mc:AlternateContent xmlns:mc="http://schemas.openxmlformats.org/markup-compatibility/2006">
              <mc:Choice xmlns:v="urn:schemas-microsoft-com:vml" Requires="v">
                <p:oleObj name="Worksheet" r:id="rId2" imgW="7340600" imgH="4749800" progId="Excel.Sheet.8">
                  <p:link updateAutomatic="1"/>
                </p:oleObj>
              </mc:Choice>
              <mc:Fallback>
                <p:oleObj name="Worksheet" r:id="rId2" imgW="7340600" imgH="4749800" progId="Excel.Sheet.8">
                  <p:link updateAutomatic="1"/>
                  <p:pic>
                    <p:nvPicPr>
                      <p:cNvPr id="0" name="Object 1053"/>
                      <p:cNvPicPr>
                        <a:picLocks noChangeAspect="1" noChangeArrowheads="1"/>
                      </p:cNvPicPr>
                      <p:nvPr/>
                    </p:nvPicPr>
                    <p:blipFill>
                      <a:blip r:embed="rId3">
                        <a:extLst>
                          <a:ext uri="{28A0092B-C50C-407E-A947-70E740481C1C}">
                            <a14:useLocalDpi xmlns:a14="http://schemas.microsoft.com/office/drawing/2010/main" val="0"/>
                          </a:ext>
                        </a:extLst>
                      </a:blip>
                      <a:srcRect t="6120" r="1993"/>
                      <a:stretch>
                        <a:fillRect/>
                      </a:stretch>
                    </p:blipFill>
                    <p:spPr bwMode="auto">
                      <a:xfrm>
                        <a:off x="2805113" y="1924050"/>
                        <a:ext cx="7185025" cy="4456113"/>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1907" name="Rectangle 1027">
            <a:extLst>
              <a:ext uri="{FF2B5EF4-FFF2-40B4-BE49-F238E27FC236}">
                <a16:creationId xmlns:a16="http://schemas.microsoft.com/office/drawing/2014/main" id="{2DDA5C7C-13A1-C547-777C-8D5C76412B47}"/>
              </a:ext>
            </a:extLst>
          </p:cNvPr>
          <p:cNvSpPr>
            <a:spLocks noChangeArrowheads="1"/>
          </p:cNvSpPr>
          <p:nvPr/>
        </p:nvSpPr>
        <p:spPr bwMode="auto">
          <a:xfrm>
            <a:off x="8445500" y="7189788"/>
            <a:ext cx="1611313" cy="5826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1908" name="Text Box 1028">
            <a:extLst>
              <a:ext uri="{FF2B5EF4-FFF2-40B4-BE49-F238E27FC236}">
                <a16:creationId xmlns:a16="http://schemas.microsoft.com/office/drawing/2014/main" id="{763D7E72-9ADE-AC15-063F-5F11E68FF4C1}"/>
              </a:ext>
            </a:extLst>
          </p:cNvPr>
          <p:cNvSpPr txBox="1">
            <a:spLocks noChangeArrowheads="1"/>
          </p:cNvSpPr>
          <p:nvPr/>
        </p:nvSpPr>
        <p:spPr bwMode="auto">
          <a:xfrm>
            <a:off x="1525588" y="2641600"/>
            <a:ext cx="7023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0"/>
              <a:t>GMO’s Quantitative Investment Process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a:extLst>
              <a:ext uri="{FF2B5EF4-FFF2-40B4-BE49-F238E27FC236}">
                <a16:creationId xmlns:a16="http://schemas.microsoft.com/office/drawing/2014/main" id="{6C98426B-D236-06D2-4844-0D3C2588474B}"/>
              </a:ext>
            </a:extLst>
          </p:cNvPr>
          <p:cNvSpPr txBox="1">
            <a:spLocks noChangeArrowheads="1"/>
          </p:cNvSpPr>
          <p:nvPr/>
        </p:nvSpPr>
        <p:spPr bwMode="auto">
          <a:xfrm>
            <a:off x="590550" y="1976438"/>
            <a:ext cx="22098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1200" b="0">
                <a:latin typeface="Times New Roman" panose="02020603050405020304" pitchFamily="18" charset="0"/>
              </a:rPr>
              <a:t>Experience and research have taught us that a consistent</a:t>
            </a:r>
          </a:p>
          <a:p>
            <a:pPr algn="l"/>
            <a:r>
              <a:rPr lang="en-US" altLang="en-US" sz="1200" b="0">
                <a:latin typeface="Times New Roman" panose="02020603050405020304" pitchFamily="18" charset="0"/>
              </a:rPr>
              <a:t>blend of several key factors </a:t>
            </a:r>
          </a:p>
          <a:p>
            <a:pPr algn="l"/>
            <a:r>
              <a:rPr lang="en-US" altLang="en-US" sz="1200" b="0">
                <a:latin typeface="Times New Roman" panose="02020603050405020304" pitchFamily="18" charset="0"/>
              </a:rPr>
              <a:t>leads to high risk-adjusted returns.</a:t>
            </a:r>
          </a:p>
          <a:p>
            <a:pPr algn="l"/>
            <a:r>
              <a:rPr lang="en-US" altLang="en-US" sz="1200" b="0">
                <a:latin typeface="Times New Roman" panose="02020603050405020304" pitchFamily="18" charset="0"/>
              </a:rPr>
              <a:t> </a:t>
            </a:r>
          </a:p>
          <a:p>
            <a:pPr algn="l"/>
            <a:endParaRPr lang="en-US" altLang="en-US" sz="1200" b="0">
              <a:latin typeface="Times New Roman" panose="02020603050405020304" pitchFamily="18" charset="0"/>
            </a:endParaRPr>
          </a:p>
          <a:p>
            <a:pPr algn="l"/>
            <a:r>
              <a:rPr lang="en-US" altLang="en-US" sz="1200" b="0">
                <a:latin typeface="Times New Roman" panose="02020603050405020304" pitchFamily="18" charset="0"/>
              </a:rPr>
              <a:t>Judgment plays a limited and carefully measured role.</a:t>
            </a:r>
          </a:p>
          <a:p>
            <a:pPr algn="l"/>
            <a:endParaRPr lang="en-US" altLang="en-US" sz="1200" b="0">
              <a:latin typeface="Times New Roman" panose="02020603050405020304" pitchFamily="18" charset="0"/>
            </a:endParaRPr>
          </a:p>
          <a:p>
            <a:pPr algn="l"/>
            <a:endParaRPr lang="en-US" altLang="en-US" sz="1200" b="0">
              <a:latin typeface="Times New Roman" panose="02020603050405020304" pitchFamily="18" charset="0"/>
            </a:endParaRPr>
          </a:p>
          <a:p>
            <a:pPr algn="l"/>
            <a:r>
              <a:rPr lang="en-US" altLang="en-US" sz="1200" b="0">
                <a:latin typeface="Times New Roman" panose="02020603050405020304" pitchFamily="18" charset="0"/>
              </a:rPr>
              <a:t>Our emphasis is on value </a:t>
            </a:r>
          </a:p>
          <a:p>
            <a:pPr algn="l"/>
            <a:r>
              <a:rPr lang="en-US" altLang="en-US" sz="1200" b="0">
                <a:latin typeface="Times New Roman" panose="02020603050405020304" pitchFamily="18" charset="0"/>
              </a:rPr>
              <a:t>at the country and stock</a:t>
            </a:r>
          </a:p>
          <a:p>
            <a:pPr algn="l"/>
            <a:r>
              <a:rPr lang="en-US" altLang="en-US" sz="1200" b="0">
                <a:latin typeface="Times New Roman" panose="02020603050405020304" pitchFamily="18" charset="0"/>
              </a:rPr>
              <a:t>levels.</a:t>
            </a:r>
          </a:p>
        </p:txBody>
      </p:sp>
      <p:grpSp>
        <p:nvGrpSpPr>
          <p:cNvPr id="37994" name="Group 106">
            <a:extLst>
              <a:ext uri="{FF2B5EF4-FFF2-40B4-BE49-F238E27FC236}">
                <a16:creationId xmlns:a16="http://schemas.microsoft.com/office/drawing/2014/main" id="{DE9AE592-B028-20A1-D1EF-70263449E818}"/>
              </a:ext>
            </a:extLst>
          </p:cNvPr>
          <p:cNvGrpSpPr>
            <a:grpSpLocks/>
          </p:cNvGrpSpPr>
          <p:nvPr/>
        </p:nvGrpSpPr>
        <p:grpSpPr bwMode="auto">
          <a:xfrm>
            <a:off x="533400" y="6016625"/>
            <a:ext cx="1612900" cy="1092200"/>
            <a:chOff x="336" y="3790"/>
            <a:chExt cx="1016" cy="688"/>
          </a:xfrm>
        </p:grpSpPr>
        <p:sp>
          <p:nvSpPr>
            <p:cNvPr id="37950" name="Oval 62">
              <a:extLst>
                <a:ext uri="{FF2B5EF4-FFF2-40B4-BE49-F238E27FC236}">
                  <a16:creationId xmlns:a16="http://schemas.microsoft.com/office/drawing/2014/main" id="{34E8CA78-585B-D8EA-67B0-62FBB96F8BBD}"/>
                </a:ext>
              </a:extLst>
            </p:cNvPr>
            <p:cNvSpPr>
              <a:spLocks noChangeArrowheads="1"/>
            </p:cNvSpPr>
            <p:nvPr/>
          </p:nvSpPr>
          <p:spPr bwMode="auto">
            <a:xfrm>
              <a:off x="337" y="3790"/>
              <a:ext cx="321" cy="321"/>
            </a:xfrm>
            <a:prstGeom prst="ellipse">
              <a:avLst/>
            </a:prstGeom>
            <a:solidFill>
              <a:srgbClr val="002B7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51" name="Oval 63">
              <a:extLst>
                <a:ext uri="{FF2B5EF4-FFF2-40B4-BE49-F238E27FC236}">
                  <a16:creationId xmlns:a16="http://schemas.microsoft.com/office/drawing/2014/main" id="{55F1D894-A447-F80C-44C9-7EBC1016475F}"/>
                </a:ext>
              </a:extLst>
            </p:cNvPr>
            <p:cNvSpPr>
              <a:spLocks noChangeArrowheads="1"/>
            </p:cNvSpPr>
            <p:nvPr/>
          </p:nvSpPr>
          <p:spPr bwMode="auto">
            <a:xfrm>
              <a:off x="336" y="4157"/>
              <a:ext cx="321" cy="321"/>
            </a:xfrm>
            <a:prstGeom prst="ellipse">
              <a:avLst/>
            </a:prstGeom>
            <a:solidFill>
              <a:srgbClr val="002B7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52" name="Rectangle 64">
              <a:extLst>
                <a:ext uri="{FF2B5EF4-FFF2-40B4-BE49-F238E27FC236}">
                  <a16:creationId xmlns:a16="http://schemas.microsoft.com/office/drawing/2014/main" id="{5078421C-29BB-CA02-A709-C8A55EB7E1EB}"/>
                </a:ext>
              </a:extLst>
            </p:cNvPr>
            <p:cNvSpPr>
              <a:spLocks noChangeArrowheads="1"/>
            </p:cNvSpPr>
            <p:nvPr/>
          </p:nvSpPr>
          <p:spPr bwMode="auto">
            <a:xfrm>
              <a:off x="792" y="3900"/>
              <a:ext cx="222" cy="100"/>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53" name="Rectangle 65">
              <a:extLst>
                <a:ext uri="{FF2B5EF4-FFF2-40B4-BE49-F238E27FC236}">
                  <a16:creationId xmlns:a16="http://schemas.microsoft.com/office/drawing/2014/main" id="{0B654C6A-7B00-8BE4-4EFA-185B5D45E3CB}"/>
                </a:ext>
              </a:extLst>
            </p:cNvPr>
            <p:cNvSpPr>
              <a:spLocks noChangeArrowheads="1"/>
            </p:cNvSpPr>
            <p:nvPr/>
          </p:nvSpPr>
          <p:spPr bwMode="auto">
            <a:xfrm>
              <a:off x="792" y="4266"/>
              <a:ext cx="221" cy="100"/>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54" name="Rectangle 66">
              <a:extLst>
                <a:ext uri="{FF2B5EF4-FFF2-40B4-BE49-F238E27FC236}">
                  <a16:creationId xmlns:a16="http://schemas.microsoft.com/office/drawing/2014/main" id="{33D28335-2060-5C4E-DB64-5C9656FA25B4}"/>
                </a:ext>
              </a:extLst>
            </p:cNvPr>
            <p:cNvSpPr>
              <a:spLocks noChangeArrowheads="1"/>
            </p:cNvSpPr>
            <p:nvPr/>
          </p:nvSpPr>
          <p:spPr bwMode="auto">
            <a:xfrm>
              <a:off x="1131" y="4037"/>
              <a:ext cx="221" cy="193"/>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55" name="Line 67">
              <a:extLst>
                <a:ext uri="{FF2B5EF4-FFF2-40B4-BE49-F238E27FC236}">
                  <a16:creationId xmlns:a16="http://schemas.microsoft.com/office/drawing/2014/main" id="{82C0AA8B-6A64-0B89-B960-5C80FB1296A5}"/>
                </a:ext>
              </a:extLst>
            </p:cNvPr>
            <p:cNvSpPr>
              <a:spLocks noChangeShapeType="1"/>
            </p:cNvSpPr>
            <p:nvPr/>
          </p:nvSpPr>
          <p:spPr bwMode="auto">
            <a:xfrm>
              <a:off x="659" y="3951"/>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56" name="Line 68">
              <a:extLst>
                <a:ext uri="{FF2B5EF4-FFF2-40B4-BE49-F238E27FC236}">
                  <a16:creationId xmlns:a16="http://schemas.microsoft.com/office/drawing/2014/main" id="{F3C4233F-A3F4-10D6-B3F5-F6BCA003E282}"/>
                </a:ext>
              </a:extLst>
            </p:cNvPr>
            <p:cNvSpPr>
              <a:spLocks noChangeShapeType="1"/>
            </p:cNvSpPr>
            <p:nvPr/>
          </p:nvSpPr>
          <p:spPr bwMode="auto">
            <a:xfrm>
              <a:off x="659" y="4317"/>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57" name="Line 69">
              <a:extLst>
                <a:ext uri="{FF2B5EF4-FFF2-40B4-BE49-F238E27FC236}">
                  <a16:creationId xmlns:a16="http://schemas.microsoft.com/office/drawing/2014/main" id="{20D23A2C-C90F-BC59-6501-7F5F3EA7B20E}"/>
                </a:ext>
              </a:extLst>
            </p:cNvPr>
            <p:cNvSpPr>
              <a:spLocks noChangeShapeType="1"/>
            </p:cNvSpPr>
            <p:nvPr/>
          </p:nvSpPr>
          <p:spPr bwMode="auto">
            <a:xfrm>
              <a:off x="903" y="3998"/>
              <a:ext cx="0" cy="12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58" name="Line 70">
              <a:extLst>
                <a:ext uri="{FF2B5EF4-FFF2-40B4-BE49-F238E27FC236}">
                  <a16:creationId xmlns:a16="http://schemas.microsoft.com/office/drawing/2014/main" id="{ED8A786E-6F8D-0EBC-3C13-5A234073DA68}"/>
                </a:ext>
              </a:extLst>
            </p:cNvPr>
            <p:cNvSpPr>
              <a:spLocks noChangeShapeType="1"/>
            </p:cNvSpPr>
            <p:nvPr/>
          </p:nvSpPr>
          <p:spPr bwMode="auto">
            <a:xfrm flipV="1">
              <a:off x="903" y="4142"/>
              <a:ext cx="0" cy="121"/>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59" name="Line 71">
              <a:extLst>
                <a:ext uri="{FF2B5EF4-FFF2-40B4-BE49-F238E27FC236}">
                  <a16:creationId xmlns:a16="http://schemas.microsoft.com/office/drawing/2014/main" id="{C8B4614B-D3DD-BB86-3CE6-53494845EED4}"/>
                </a:ext>
              </a:extLst>
            </p:cNvPr>
            <p:cNvSpPr>
              <a:spLocks noChangeShapeType="1"/>
            </p:cNvSpPr>
            <p:nvPr/>
          </p:nvSpPr>
          <p:spPr bwMode="auto">
            <a:xfrm>
              <a:off x="915" y="4136"/>
              <a:ext cx="2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7965" name="Text Box 77">
            <a:extLst>
              <a:ext uri="{FF2B5EF4-FFF2-40B4-BE49-F238E27FC236}">
                <a16:creationId xmlns:a16="http://schemas.microsoft.com/office/drawing/2014/main" id="{CF31A15C-A85B-6DF7-5CA5-0D8AF8997057}"/>
              </a:ext>
            </a:extLst>
          </p:cNvPr>
          <p:cNvSpPr txBox="1">
            <a:spLocks noChangeArrowheads="1"/>
          </p:cNvSpPr>
          <p:nvPr/>
        </p:nvSpPr>
        <p:spPr bwMode="auto">
          <a:xfrm>
            <a:off x="576263" y="666750"/>
            <a:ext cx="9174162"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Process</a:t>
            </a:r>
          </a:p>
        </p:txBody>
      </p:sp>
      <p:sp>
        <p:nvSpPr>
          <p:cNvPr id="37966" name="Rectangle 78">
            <a:extLst>
              <a:ext uri="{FF2B5EF4-FFF2-40B4-BE49-F238E27FC236}">
                <a16:creationId xmlns:a16="http://schemas.microsoft.com/office/drawing/2014/main" id="{22E4A4AE-A3D1-77C9-93B7-B03FE0039948}"/>
              </a:ext>
            </a:extLst>
          </p:cNvPr>
          <p:cNvSpPr>
            <a:spLocks noChangeArrowheads="1"/>
          </p:cNvSpPr>
          <p:nvPr/>
        </p:nvSpPr>
        <p:spPr bwMode="auto">
          <a:xfrm>
            <a:off x="8278813" y="4021138"/>
            <a:ext cx="1485900" cy="1244600"/>
          </a:xfrm>
          <a:prstGeom prst="rect">
            <a:avLst/>
          </a:prstGeom>
          <a:solidFill>
            <a:srgbClr val="00008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en-US"/>
          </a:p>
        </p:txBody>
      </p:sp>
      <p:sp>
        <p:nvSpPr>
          <p:cNvPr id="37967" name="Text Box 79">
            <a:extLst>
              <a:ext uri="{FF2B5EF4-FFF2-40B4-BE49-F238E27FC236}">
                <a16:creationId xmlns:a16="http://schemas.microsoft.com/office/drawing/2014/main" id="{172123A1-63BB-394C-3519-37C1E8C56B50}"/>
              </a:ext>
            </a:extLst>
          </p:cNvPr>
          <p:cNvSpPr txBox="1">
            <a:spLocks noChangeArrowheads="1"/>
          </p:cNvSpPr>
          <p:nvPr/>
        </p:nvSpPr>
        <p:spPr bwMode="auto">
          <a:xfrm>
            <a:off x="8353425" y="4186238"/>
            <a:ext cx="1336675"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800">
                <a:solidFill>
                  <a:schemeClr val="bg1"/>
                </a:solidFill>
              </a:rPr>
              <a:t>Emerging Markets Fund</a:t>
            </a:r>
          </a:p>
        </p:txBody>
      </p:sp>
      <p:sp>
        <p:nvSpPr>
          <p:cNvPr id="37969" name="Rectangle 81">
            <a:extLst>
              <a:ext uri="{FF2B5EF4-FFF2-40B4-BE49-F238E27FC236}">
                <a16:creationId xmlns:a16="http://schemas.microsoft.com/office/drawing/2014/main" id="{3876BB42-5B7F-6CED-752F-A1713DA360F2}"/>
              </a:ext>
            </a:extLst>
          </p:cNvPr>
          <p:cNvSpPr>
            <a:spLocks noChangeArrowheads="1"/>
          </p:cNvSpPr>
          <p:nvPr/>
        </p:nvSpPr>
        <p:spPr bwMode="auto">
          <a:xfrm>
            <a:off x="6276975" y="2611438"/>
            <a:ext cx="1162050" cy="619125"/>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en-US"/>
          </a:p>
        </p:txBody>
      </p:sp>
      <p:sp>
        <p:nvSpPr>
          <p:cNvPr id="37970" name="Text Box 82">
            <a:extLst>
              <a:ext uri="{FF2B5EF4-FFF2-40B4-BE49-F238E27FC236}">
                <a16:creationId xmlns:a16="http://schemas.microsoft.com/office/drawing/2014/main" id="{E9DF1AE4-19E0-1AD6-04C3-5B30D0344FF5}"/>
              </a:ext>
            </a:extLst>
          </p:cNvPr>
          <p:cNvSpPr txBox="1">
            <a:spLocks noChangeArrowheads="1"/>
          </p:cNvSpPr>
          <p:nvPr/>
        </p:nvSpPr>
        <p:spPr bwMode="auto">
          <a:xfrm>
            <a:off x="6296025" y="2752725"/>
            <a:ext cx="1123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solidFill>
                  <a:schemeClr val="bg1"/>
                </a:solidFill>
              </a:rPr>
              <a:t>Optimizer</a:t>
            </a:r>
          </a:p>
        </p:txBody>
      </p:sp>
      <p:sp>
        <p:nvSpPr>
          <p:cNvPr id="37972" name="Rectangle 84">
            <a:extLst>
              <a:ext uri="{FF2B5EF4-FFF2-40B4-BE49-F238E27FC236}">
                <a16:creationId xmlns:a16="http://schemas.microsoft.com/office/drawing/2014/main" id="{B8F32C85-C311-A051-8F06-575E1DDCF23C}"/>
              </a:ext>
            </a:extLst>
          </p:cNvPr>
          <p:cNvSpPr>
            <a:spLocks noChangeArrowheads="1"/>
          </p:cNvSpPr>
          <p:nvPr/>
        </p:nvSpPr>
        <p:spPr bwMode="auto">
          <a:xfrm>
            <a:off x="6276975" y="6059488"/>
            <a:ext cx="1162050" cy="619125"/>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en-US"/>
          </a:p>
        </p:txBody>
      </p:sp>
      <p:sp>
        <p:nvSpPr>
          <p:cNvPr id="37973" name="Text Box 85">
            <a:extLst>
              <a:ext uri="{FF2B5EF4-FFF2-40B4-BE49-F238E27FC236}">
                <a16:creationId xmlns:a16="http://schemas.microsoft.com/office/drawing/2014/main" id="{CA191493-E0E8-32C7-8B4B-ABB8A9EA85EE}"/>
              </a:ext>
            </a:extLst>
          </p:cNvPr>
          <p:cNvSpPr txBox="1">
            <a:spLocks noChangeArrowheads="1"/>
          </p:cNvSpPr>
          <p:nvPr/>
        </p:nvSpPr>
        <p:spPr bwMode="auto">
          <a:xfrm>
            <a:off x="6296025" y="6200775"/>
            <a:ext cx="1123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solidFill>
                  <a:schemeClr val="bg1"/>
                </a:solidFill>
              </a:rPr>
              <a:t>Optimizer</a:t>
            </a:r>
          </a:p>
        </p:txBody>
      </p:sp>
      <p:sp>
        <p:nvSpPr>
          <p:cNvPr id="37974" name="Text Box 86">
            <a:extLst>
              <a:ext uri="{FF2B5EF4-FFF2-40B4-BE49-F238E27FC236}">
                <a16:creationId xmlns:a16="http://schemas.microsoft.com/office/drawing/2014/main" id="{60A19D8B-59ED-3D6D-367C-39C44AFB83DF}"/>
              </a:ext>
            </a:extLst>
          </p:cNvPr>
          <p:cNvSpPr txBox="1">
            <a:spLocks noChangeArrowheads="1"/>
          </p:cNvSpPr>
          <p:nvPr/>
        </p:nvSpPr>
        <p:spPr bwMode="auto">
          <a:xfrm>
            <a:off x="3940175" y="1639888"/>
            <a:ext cx="1060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800"/>
              <a:t>Country</a:t>
            </a:r>
          </a:p>
        </p:txBody>
      </p:sp>
      <p:sp>
        <p:nvSpPr>
          <p:cNvPr id="37975" name="Text Box 87">
            <a:extLst>
              <a:ext uri="{FF2B5EF4-FFF2-40B4-BE49-F238E27FC236}">
                <a16:creationId xmlns:a16="http://schemas.microsoft.com/office/drawing/2014/main" id="{4D1C09E1-2E16-D620-0775-F2BABBC18088}"/>
              </a:ext>
            </a:extLst>
          </p:cNvPr>
          <p:cNvSpPr txBox="1">
            <a:spLocks noChangeArrowheads="1"/>
          </p:cNvSpPr>
          <p:nvPr/>
        </p:nvSpPr>
        <p:spPr bwMode="auto">
          <a:xfrm>
            <a:off x="4067175" y="5016500"/>
            <a:ext cx="806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800"/>
              <a:t>Stock</a:t>
            </a:r>
          </a:p>
        </p:txBody>
      </p:sp>
      <p:sp>
        <p:nvSpPr>
          <p:cNvPr id="37976" name="Line 88">
            <a:extLst>
              <a:ext uri="{FF2B5EF4-FFF2-40B4-BE49-F238E27FC236}">
                <a16:creationId xmlns:a16="http://schemas.microsoft.com/office/drawing/2014/main" id="{837CE5D4-2368-C697-3CCA-959E6662B2EB}"/>
              </a:ext>
            </a:extLst>
          </p:cNvPr>
          <p:cNvSpPr>
            <a:spLocks noChangeShapeType="1"/>
          </p:cNvSpPr>
          <p:nvPr/>
        </p:nvSpPr>
        <p:spPr bwMode="auto">
          <a:xfrm>
            <a:off x="6853238" y="3224213"/>
            <a:ext cx="0" cy="2838450"/>
          </a:xfrm>
          <a:prstGeom prst="line">
            <a:avLst/>
          </a:prstGeom>
          <a:noFill/>
          <a:ln w="25400">
            <a:solidFill>
              <a:srgbClr val="002B7F"/>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77" name="Line 89">
            <a:extLst>
              <a:ext uri="{FF2B5EF4-FFF2-40B4-BE49-F238E27FC236}">
                <a16:creationId xmlns:a16="http://schemas.microsoft.com/office/drawing/2014/main" id="{A3C02C91-19EA-98BB-3C75-7B281930634A}"/>
              </a:ext>
            </a:extLst>
          </p:cNvPr>
          <p:cNvSpPr>
            <a:spLocks noChangeShapeType="1"/>
          </p:cNvSpPr>
          <p:nvPr/>
        </p:nvSpPr>
        <p:spPr bwMode="auto">
          <a:xfrm>
            <a:off x="6853238" y="4643438"/>
            <a:ext cx="1428750" cy="0"/>
          </a:xfrm>
          <a:prstGeom prst="line">
            <a:avLst/>
          </a:prstGeom>
          <a:noFill/>
          <a:ln w="25400">
            <a:solidFill>
              <a:srgbClr val="00008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81" name="Line 93">
            <a:extLst>
              <a:ext uri="{FF2B5EF4-FFF2-40B4-BE49-F238E27FC236}">
                <a16:creationId xmlns:a16="http://schemas.microsoft.com/office/drawing/2014/main" id="{20039C83-A46A-4B61-EA20-96749E54F066}"/>
              </a:ext>
            </a:extLst>
          </p:cNvPr>
          <p:cNvSpPr>
            <a:spLocks noChangeShapeType="1"/>
          </p:cNvSpPr>
          <p:nvPr/>
        </p:nvSpPr>
        <p:spPr bwMode="auto">
          <a:xfrm>
            <a:off x="5435600" y="2921000"/>
            <a:ext cx="685800" cy="0"/>
          </a:xfrm>
          <a:prstGeom prst="line">
            <a:avLst/>
          </a:prstGeom>
          <a:noFill/>
          <a:ln w="25400">
            <a:solidFill>
              <a:srgbClr val="002B7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83" name="Line 95">
            <a:extLst>
              <a:ext uri="{FF2B5EF4-FFF2-40B4-BE49-F238E27FC236}">
                <a16:creationId xmlns:a16="http://schemas.microsoft.com/office/drawing/2014/main" id="{C2E0E733-242F-1244-73F0-BBC494EC5709}"/>
              </a:ext>
            </a:extLst>
          </p:cNvPr>
          <p:cNvSpPr>
            <a:spLocks noChangeShapeType="1"/>
          </p:cNvSpPr>
          <p:nvPr/>
        </p:nvSpPr>
        <p:spPr bwMode="auto">
          <a:xfrm>
            <a:off x="5435600" y="6369050"/>
            <a:ext cx="685800" cy="0"/>
          </a:xfrm>
          <a:prstGeom prst="line">
            <a:avLst/>
          </a:prstGeom>
          <a:noFill/>
          <a:ln w="25400">
            <a:solidFill>
              <a:srgbClr val="002B7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37991" name="Object 103">
            <a:extLst>
              <a:ext uri="{FF2B5EF4-FFF2-40B4-BE49-F238E27FC236}">
                <a16:creationId xmlns:a16="http://schemas.microsoft.com/office/drawing/2014/main" id="{1BEDE301-73B3-9305-1B14-8C747C4F206E}"/>
              </a:ext>
            </a:extLst>
          </p:cNvPr>
          <p:cNvGraphicFramePr>
            <a:graphicFrameLocks noChangeAspect="1"/>
          </p:cNvGraphicFramePr>
          <p:nvPr/>
        </p:nvGraphicFramePr>
        <p:xfrm>
          <a:off x="2670175" y="2024063"/>
          <a:ext cx="2914650" cy="2047875"/>
        </p:xfrm>
        <a:graphic>
          <a:graphicData uri="http://schemas.openxmlformats.org/presentationml/2006/ole">
            <mc:AlternateContent xmlns:mc="http://schemas.openxmlformats.org/markup-compatibility/2006">
              <mc:Choice xmlns:v="urn:schemas-microsoft-com:vml" Requires="v">
                <p:oleObj name="Worksheet" r:id="rId2" imgW="4876800" imgH="3073400" progId="Excel.Sheet.8">
                  <p:link updateAutomatic="1"/>
                </p:oleObj>
              </mc:Choice>
              <mc:Fallback>
                <p:oleObj name="Worksheet" r:id="rId2" imgW="4876800" imgH="3073400" progId="Excel.Sheet.8">
                  <p:link updateAutomatic="1"/>
                  <p:pic>
                    <p:nvPicPr>
                      <p:cNvPr id="0" name="Object 103"/>
                      <p:cNvPicPr>
                        <a:picLocks noChangeAspect="1" noChangeArrowheads="1"/>
                      </p:cNvPicPr>
                      <p:nvPr/>
                    </p:nvPicPr>
                    <p:blipFill>
                      <a:blip r:embed="rId3">
                        <a:extLst>
                          <a:ext uri="{28A0092B-C50C-407E-A947-70E740481C1C}">
                            <a14:useLocalDpi xmlns:a14="http://schemas.microsoft.com/office/drawing/2010/main" val="0"/>
                          </a:ext>
                        </a:extLst>
                      </a:blip>
                      <a:srcRect l="7639" t="10294" r="21527" b="10661"/>
                      <a:stretch>
                        <a:fillRect/>
                      </a:stretch>
                    </p:blipFill>
                    <p:spPr bwMode="auto">
                      <a:xfrm>
                        <a:off x="2670175" y="2024063"/>
                        <a:ext cx="2914650" cy="204787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993" name="Text Box 105">
            <a:extLst>
              <a:ext uri="{FF2B5EF4-FFF2-40B4-BE49-F238E27FC236}">
                <a16:creationId xmlns:a16="http://schemas.microsoft.com/office/drawing/2014/main" id="{6BEC0B04-47E1-A7D8-8634-C059A484ABEC}"/>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graphicFrame>
        <p:nvGraphicFramePr>
          <p:cNvPr id="37995" name="Object 107">
            <a:extLst>
              <a:ext uri="{FF2B5EF4-FFF2-40B4-BE49-F238E27FC236}">
                <a16:creationId xmlns:a16="http://schemas.microsoft.com/office/drawing/2014/main" id="{41D457FD-740A-0494-42FB-C66CF8A51153}"/>
              </a:ext>
            </a:extLst>
          </p:cNvPr>
          <p:cNvGraphicFramePr>
            <a:graphicFrameLocks noChangeAspect="1"/>
          </p:cNvGraphicFramePr>
          <p:nvPr/>
        </p:nvGraphicFramePr>
        <p:xfrm>
          <a:off x="2603500" y="5484813"/>
          <a:ext cx="2936875" cy="1831975"/>
        </p:xfrm>
        <a:graphic>
          <a:graphicData uri="http://schemas.openxmlformats.org/presentationml/2006/ole">
            <mc:AlternateContent xmlns:mc="http://schemas.openxmlformats.org/markup-compatibility/2006">
              <mc:Choice xmlns:v="urn:schemas-microsoft-com:vml" Requires="v">
                <p:oleObj name="Worksheet" r:id="rId4" imgW="3898900" imgH="2298700" progId="Excel.Sheet.8">
                  <p:link updateAutomatic="1"/>
                </p:oleObj>
              </mc:Choice>
              <mc:Fallback>
                <p:oleObj name="Worksheet" r:id="rId4" imgW="3898900" imgH="2298700" progId="Excel.Sheet.8">
                  <p:link updateAutomatic="1"/>
                  <p:pic>
                    <p:nvPicPr>
                      <p:cNvPr id="0" name="Object 107"/>
                      <p:cNvPicPr>
                        <a:picLocks noChangeAspect="1" noChangeArrowheads="1"/>
                      </p:cNvPicPr>
                      <p:nvPr/>
                    </p:nvPicPr>
                    <p:blipFill>
                      <a:blip r:embed="rId5">
                        <a:extLst>
                          <a:ext uri="{28A0092B-C50C-407E-A947-70E740481C1C}">
                            <a14:useLocalDpi xmlns:a14="http://schemas.microsoft.com/office/drawing/2010/main" val="0"/>
                          </a:ext>
                        </a:extLst>
                      </a:blip>
                      <a:srcRect l="10907" t="11249" r="17706" b="18047"/>
                      <a:stretch>
                        <a:fillRect/>
                      </a:stretch>
                    </p:blipFill>
                    <p:spPr bwMode="auto">
                      <a:xfrm>
                        <a:off x="2603500" y="5484813"/>
                        <a:ext cx="2936875" cy="183197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a:extLst>
              <a:ext uri="{FF2B5EF4-FFF2-40B4-BE49-F238E27FC236}">
                <a16:creationId xmlns:a16="http://schemas.microsoft.com/office/drawing/2014/main" id="{2B818DA8-CADA-54E6-473A-E1DFCEE0B413}"/>
              </a:ext>
            </a:extLst>
          </p:cNvPr>
          <p:cNvSpPr txBox="1">
            <a:spLocks noChangeArrowheads="1"/>
          </p:cNvSpPr>
          <p:nvPr/>
        </p:nvSpPr>
        <p:spPr bwMode="auto">
          <a:xfrm>
            <a:off x="604838" y="1963738"/>
            <a:ext cx="2209800" cy="253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Aft>
                <a:spcPts val="500"/>
              </a:spcAft>
            </a:pPr>
            <a:r>
              <a:rPr lang="en-US" altLang="en-US" sz="1600">
                <a:latin typeface="Times New Roman" panose="02020603050405020304" pitchFamily="18" charset="0"/>
              </a:rPr>
              <a:t>“Robustness”  </a:t>
            </a:r>
          </a:p>
          <a:p>
            <a:pPr algn="l"/>
            <a:r>
              <a:rPr lang="en-US" altLang="en-US" sz="1200" b="0">
                <a:latin typeface="Times New Roman" panose="02020603050405020304" pitchFamily="18" charset="0"/>
              </a:rPr>
              <a:t>We use several sub-models within each of our disciplines to maximize the power and consistency of their contributions.</a:t>
            </a:r>
          </a:p>
          <a:p>
            <a:pPr algn="l"/>
            <a:endParaRPr lang="en-US" altLang="en-US" sz="1200" b="0">
              <a:latin typeface="Times New Roman" panose="02020603050405020304" pitchFamily="18" charset="0"/>
            </a:endParaRPr>
          </a:p>
          <a:p>
            <a:pPr algn="l"/>
            <a:endParaRPr lang="en-US" altLang="en-US" sz="1200" b="0">
              <a:latin typeface="Times New Roman" panose="02020603050405020304" pitchFamily="18" charset="0"/>
            </a:endParaRPr>
          </a:p>
          <a:p>
            <a:pPr algn="l">
              <a:spcAft>
                <a:spcPts val="500"/>
              </a:spcAft>
            </a:pPr>
            <a:r>
              <a:rPr lang="en-US" altLang="en-US" sz="1600">
                <a:latin typeface="Times New Roman" panose="02020603050405020304" pitchFamily="18" charset="0"/>
              </a:rPr>
              <a:t>“Parsimony”</a:t>
            </a:r>
            <a:endParaRPr lang="en-US" altLang="en-US" sz="1200" b="0">
              <a:latin typeface="Times New Roman" panose="02020603050405020304" pitchFamily="18" charset="0"/>
            </a:endParaRPr>
          </a:p>
          <a:p>
            <a:pPr algn="l"/>
            <a:r>
              <a:rPr lang="en-US" altLang="en-US" sz="1200" b="0">
                <a:latin typeface="Times New Roman" panose="02020603050405020304" pitchFamily="18" charset="0"/>
              </a:rPr>
              <a:t>We construct models that are simple, thoughtful and justifiable. </a:t>
            </a:r>
          </a:p>
        </p:txBody>
      </p:sp>
      <p:sp>
        <p:nvSpPr>
          <p:cNvPr id="38967" name="Text Box 55">
            <a:extLst>
              <a:ext uri="{FF2B5EF4-FFF2-40B4-BE49-F238E27FC236}">
                <a16:creationId xmlns:a16="http://schemas.microsoft.com/office/drawing/2014/main" id="{EEB584FE-35D7-6D90-139C-550AD949BE6D}"/>
              </a:ext>
            </a:extLst>
          </p:cNvPr>
          <p:cNvSpPr txBox="1">
            <a:spLocks noChangeArrowheads="1"/>
          </p:cNvSpPr>
          <p:nvPr/>
        </p:nvSpPr>
        <p:spPr bwMode="auto">
          <a:xfrm>
            <a:off x="561975" y="677863"/>
            <a:ext cx="9174163"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Country Allocation</a:t>
            </a:r>
          </a:p>
        </p:txBody>
      </p:sp>
      <p:grpSp>
        <p:nvGrpSpPr>
          <p:cNvPr id="38983" name="Group 71">
            <a:extLst>
              <a:ext uri="{FF2B5EF4-FFF2-40B4-BE49-F238E27FC236}">
                <a16:creationId xmlns:a16="http://schemas.microsoft.com/office/drawing/2014/main" id="{D02AA206-8076-4C03-9095-2CB0273CAA34}"/>
              </a:ext>
            </a:extLst>
          </p:cNvPr>
          <p:cNvGrpSpPr>
            <a:grpSpLocks/>
          </p:cNvGrpSpPr>
          <p:nvPr/>
        </p:nvGrpSpPr>
        <p:grpSpPr bwMode="auto">
          <a:xfrm>
            <a:off x="533400" y="6016625"/>
            <a:ext cx="1612900" cy="1092200"/>
            <a:chOff x="336" y="3790"/>
            <a:chExt cx="1016" cy="688"/>
          </a:xfrm>
        </p:grpSpPr>
        <p:sp>
          <p:nvSpPr>
            <p:cNvPr id="38973" name="Oval 61">
              <a:extLst>
                <a:ext uri="{FF2B5EF4-FFF2-40B4-BE49-F238E27FC236}">
                  <a16:creationId xmlns:a16="http://schemas.microsoft.com/office/drawing/2014/main" id="{31A35F69-F8E1-BE0B-7236-4FDB716B221B}"/>
                </a:ext>
              </a:extLst>
            </p:cNvPr>
            <p:cNvSpPr>
              <a:spLocks noChangeArrowheads="1"/>
            </p:cNvSpPr>
            <p:nvPr/>
          </p:nvSpPr>
          <p:spPr bwMode="auto">
            <a:xfrm>
              <a:off x="337" y="3790"/>
              <a:ext cx="321" cy="321"/>
            </a:xfrm>
            <a:prstGeom prst="ellipse">
              <a:avLst/>
            </a:prstGeom>
            <a:solidFill>
              <a:srgbClr val="002B7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74" name="Oval 62">
              <a:extLst>
                <a:ext uri="{FF2B5EF4-FFF2-40B4-BE49-F238E27FC236}">
                  <a16:creationId xmlns:a16="http://schemas.microsoft.com/office/drawing/2014/main" id="{5A66FCEE-B396-C400-AEA2-5337748A2275}"/>
                </a:ext>
              </a:extLst>
            </p:cNvPr>
            <p:cNvSpPr>
              <a:spLocks noChangeArrowheads="1"/>
            </p:cNvSpPr>
            <p:nvPr/>
          </p:nvSpPr>
          <p:spPr bwMode="auto">
            <a:xfrm>
              <a:off x="336" y="4157"/>
              <a:ext cx="321" cy="321"/>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75" name="Rectangle 63">
              <a:extLst>
                <a:ext uri="{FF2B5EF4-FFF2-40B4-BE49-F238E27FC236}">
                  <a16:creationId xmlns:a16="http://schemas.microsoft.com/office/drawing/2014/main" id="{47BDE2EC-A0F2-4530-B77D-1C3AD799E348}"/>
                </a:ext>
              </a:extLst>
            </p:cNvPr>
            <p:cNvSpPr>
              <a:spLocks noChangeArrowheads="1"/>
            </p:cNvSpPr>
            <p:nvPr/>
          </p:nvSpPr>
          <p:spPr bwMode="auto">
            <a:xfrm>
              <a:off x="792" y="3900"/>
              <a:ext cx="222"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76" name="Rectangle 64">
              <a:extLst>
                <a:ext uri="{FF2B5EF4-FFF2-40B4-BE49-F238E27FC236}">
                  <a16:creationId xmlns:a16="http://schemas.microsoft.com/office/drawing/2014/main" id="{6F809BDF-0991-CED2-0E5F-13659B48515C}"/>
                </a:ext>
              </a:extLst>
            </p:cNvPr>
            <p:cNvSpPr>
              <a:spLocks noChangeArrowheads="1"/>
            </p:cNvSpPr>
            <p:nvPr/>
          </p:nvSpPr>
          <p:spPr bwMode="auto">
            <a:xfrm>
              <a:off x="792" y="4266"/>
              <a:ext cx="221"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77" name="Rectangle 65">
              <a:extLst>
                <a:ext uri="{FF2B5EF4-FFF2-40B4-BE49-F238E27FC236}">
                  <a16:creationId xmlns:a16="http://schemas.microsoft.com/office/drawing/2014/main" id="{A586424F-AF9D-D297-3CE8-4C6218DC3C14}"/>
                </a:ext>
              </a:extLst>
            </p:cNvPr>
            <p:cNvSpPr>
              <a:spLocks noChangeArrowheads="1"/>
            </p:cNvSpPr>
            <p:nvPr/>
          </p:nvSpPr>
          <p:spPr bwMode="auto">
            <a:xfrm>
              <a:off x="1131" y="4037"/>
              <a:ext cx="221" cy="193"/>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78" name="Line 66">
              <a:extLst>
                <a:ext uri="{FF2B5EF4-FFF2-40B4-BE49-F238E27FC236}">
                  <a16:creationId xmlns:a16="http://schemas.microsoft.com/office/drawing/2014/main" id="{2F22DADD-38D5-9D78-B817-1A9F60EABBA5}"/>
                </a:ext>
              </a:extLst>
            </p:cNvPr>
            <p:cNvSpPr>
              <a:spLocks noChangeShapeType="1"/>
            </p:cNvSpPr>
            <p:nvPr/>
          </p:nvSpPr>
          <p:spPr bwMode="auto">
            <a:xfrm>
              <a:off x="659" y="3951"/>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79" name="Line 67">
              <a:extLst>
                <a:ext uri="{FF2B5EF4-FFF2-40B4-BE49-F238E27FC236}">
                  <a16:creationId xmlns:a16="http://schemas.microsoft.com/office/drawing/2014/main" id="{6B9A56D6-5477-3F16-F475-C9C820B6F3CC}"/>
                </a:ext>
              </a:extLst>
            </p:cNvPr>
            <p:cNvSpPr>
              <a:spLocks noChangeShapeType="1"/>
            </p:cNvSpPr>
            <p:nvPr/>
          </p:nvSpPr>
          <p:spPr bwMode="auto">
            <a:xfrm>
              <a:off x="659" y="4317"/>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80" name="Line 68">
              <a:extLst>
                <a:ext uri="{FF2B5EF4-FFF2-40B4-BE49-F238E27FC236}">
                  <a16:creationId xmlns:a16="http://schemas.microsoft.com/office/drawing/2014/main" id="{FD5E4D4D-4339-99A4-2ACE-85524F6E6C29}"/>
                </a:ext>
              </a:extLst>
            </p:cNvPr>
            <p:cNvSpPr>
              <a:spLocks noChangeShapeType="1"/>
            </p:cNvSpPr>
            <p:nvPr/>
          </p:nvSpPr>
          <p:spPr bwMode="auto">
            <a:xfrm>
              <a:off x="903" y="3998"/>
              <a:ext cx="0" cy="12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81" name="Line 69">
              <a:extLst>
                <a:ext uri="{FF2B5EF4-FFF2-40B4-BE49-F238E27FC236}">
                  <a16:creationId xmlns:a16="http://schemas.microsoft.com/office/drawing/2014/main" id="{6EC1AE36-DE3B-658E-E4B8-8AFA732BDC8A}"/>
                </a:ext>
              </a:extLst>
            </p:cNvPr>
            <p:cNvSpPr>
              <a:spLocks noChangeShapeType="1"/>
            </p:cNvSpPr>
            <p:nvPr/>
          </p:nvSpPr>
          <p:spPr bwMode="auto">
            <a:xfrm flipV="1">
              <a:off x="903" y="4142"/>
              <a:ext cx="0" cy="121"/>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82" name="Line 70">
              <a:extLst>
                <a:ext uri="{FF2B5EF4-FFF2-40B4-BE49-F238E27FC236}">
                  <a16:creationId xmlns:a16="http://schemas.microsoft.com/office/drawing/2014/main" id="{69B1C2C9-D53A-721A-760A-C52A6AAF784F}"/>
                </a:ext>
              </a:extLst>
            </p:cNvPr>
            <p:cNvSpPr>
              <a:spLocks noChangeShapeType="1"/>
            </p:cNvSpPr>
            <p:nvPr/>
          </p:nvSpPr>
          <p:spPr bwMode="auto">
            <a:xfrm>
              <a:off x="915" y="4136"/>
              <a:ext cx="2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8984" name="Text Box 72">
            <a:extLst>
              <a:ext uri="{FF2B5EF4-FFF2-40B4-BE49-F238E27FC236}">
                <a16:creationId xmlns:a16="http://schemas.microsoft.com/office/drawing/2014/main" id="{973773C4-1835-3374-7B13-C533C5586FBB}"/>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graphicFrame>
        <p:nvGraphicFramePr>
          <p:cNvPr id="38985" name="Object 73">
            <a:extLst>
              <a:ext uri="{FF2B5EF4-FFF2-40B4-BE49-F238E27FC236}">
                <a16:creationId xmlns:a16="http://schemas.microsoft.com/office/drawing/2014/main" id="{8AD92281-DEF2-3204-ED91-646332B0B3DE}"/>
              </a:ext>
            </a:extLst>
          </p:cNvPr>
          <p:cNvGraphicFramePr>
            <a:graphicFrameLocks noChangeAspect="1"/>
          </p:cNvGraphicFramePr>
          <p:nvPr/>
        </p:nvGraphicFramePr>
        <p:xfrm>
          <a:off x="2952750" y="2043113"/>
          <a:ext cx="6572250" cy="3305175"/>
        </p:xfrm>
        <a:graphic>
          <a:graphicData uri="http://schemas.openxmlformats.org/presentationml/2006/ole">
            <mc:AlternateContent xmlns:mc="http://schemas.openxmlformats.org/markup-compatibility/2006">
              <mc:Choice xmlns:v="urn:schemas-microsoft-com:vml" Requires="v">
                <p:oleObj name="Worksheet" r:id="rId2" imgW="6223000" imgH="2933700" progId="Excel.Sheet.8">
                  <p:link updateAutomatic="1"/>
                </p:oleObj>
              </mc:Choice>
              <mc:Fallback>
                <p:oleObj name="Worksheet" r:id="rId2" imgW="6223000" imgH="2933700" progId="Excel.Sheet.8">
                  <p:link updateAutomatic="1"/>
                  <p:pic>
                    <p:nvPicPr>
                      <p:cNvPr id="0" name="Object 7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2750" y="2043113"/>
                        <a:ext cx="6572250" cy="330517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9338" name="Object 26">
            <a:extLst>
              <a:ext uri="{FF2B5EF4-FFF2-40B4-BE49-F238E27FC236}">
                <a16:creationId xmlns:a16="http://schemas.microsoft.com/office/drawing/2014/main" id="{9901671F-6ABA-0827-EB40-7C38C29B718F}"/>
              </a:ext>
            </a:extLst>
          </p:cNvPr>
          <p:cNvGraphicFramePr>
            <a:graphicFrameLocks noChangeAspect="1"/>
          </p:cNvGraphicFramePr>
          <p:nvPr/>
        </p:nvGraphicFramePr>
        <p:xfrm>
          <a:off x="2308225" y="1427163"/>
          <a:ext cx="7288213" cy="4860925"/>
        </p:xfrm>
        <a:graphic>
          <a:graphicData uri="http://schemas.openxmlformats.org/presentationml/2006/ole">
            <mc:AlternateContent xmlns:mc="http://schemas.openxmlformats.org/markup-compatibility/2006">
              <mc:Choice xmlns:v="urn:schemas-microsoft-com:vml" Requires="v">
                <p:oleObj name="Worksheet" r:id="rId2" imgW="8534400" imgH="4864100" progId="Excel.Sheet.8">
                  <p:link updateAutomatic="1"/>
                </p:oleObj>
              </mc:Choice>
              <mc:Fallback>
                <p:oleObj name="Worksheet" r:id="rId2" imgW="8534400" imgH="4864100" progId="Excel.Sheet.8">
                  <p:link updateAutomatic="1"/>
                  <p:pic>
                    <p:nvPicPr>
                      <p:cNvPr id="0" name="Object 26"/>
                      <p:cNvPicPr>
                        <a:picLocks noChangeAspect="1" noChangeArrowheads="1"/>
                      </p:cNvPicPr>
                      <p:nvPr/>
                    </p:nvPicPr>
                    <p:blipFill>
                      <a:blip r:embed="rId3">
                        <a:extLst>
                          <a:ext uri="{28A0092B-C50C-407E-A947-70E740481C1C}">
                            <a14:useLocalDpi xmlns:a14="http://schemas.microsoft.com/office/drawing/2010/main" val="0"/>
                          </a:ext>
                        </a:extLst>
                      </a:blip>
                      <a:srcRect r="14522"/>
                      <a:stretch>
                        <a:fillRect/>
                      </a:stretch>
                    </p:blipFill>
                    <p:spPr bwMode="auto">
                      <a:xfrm>
                        <a:off x="2308225" y="1427163"/>
                        <a:ext cx="7288213" cy="486092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9315" name="Text Box 3">
            <a:extLst>
              <a:ext uri="{FF2B5EF4-FFF2-40B4-BE49-F238E27FC236}">
                <a16:creationId xmlns:a16="http://schemas.microsoft.com/office/drawing/2014/main" id="{36AD01B5-131B-86A9-7C91-C6486566B8D0}"/>
              </a:ext>
            </a:extLst>
          </p:cNvPr>
          <p:cNvSpPr txBox="1">
            <a:spLocks noChangeArrowheads="1"/>
          </p:cNvSpPr>
          <p:nvPr/>
        </p:nvSpPr>
        <p:spPr bwMode="auto">
          <a:xfrm>
            <a:off x="557213" y="757238"/>
            <a:ext cx="4222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2800" b="0"/>
              <a:t>Mexico Country Selection</a:t>
            </a:r>
          </a:p>
        </p:txBody>
      </p:sp>
      <p:sp>
        <p:nvSpPr>
          <p:cNvPr id="269316" name="Text Box 4">
            <a:extLst>
              <a:ext uri="{FF2B5EF4-FFF2-40B4-BE49-F238E27FC236}">
                <a16:creationId xmlns:a16="http://schemas.microsoft.com/office/drawing/2014/main" id="{1B0498AD-22E0-D78B-05CA-593C5A343F74}"/>
              </a:ext>
            </a:extLst>
          </p:cNvPr>
          <p:cNvSpPr txBox="1">
            <a:spLocks noChangeArrowheads="1"/>
          </p:cNvSpPr>
          <p:nvPr/>
        </p:nvSpPr>
        <p:spPr bwMode="auto">
          <a:xfrm>
            <a:off x="7534275" y="7038975"/>
            <a:ext cx="19986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en-US" sz="1000" b="0">
                <a:latin typeface="Times New Roman" panose="02020603050405020304" pitchFamily="18" charset="0"/>
              </a:rPr>
              <a:t>Through 1/2/02</a:t>
            </a:r>
          </a:p>
        </p:txBody>
      </p:sp>
      <p:grpSp>
        <p:nvGrpSpPr>
          <p:cNvPr id="269323" name="Group 11">
            <a:extLst>
              <a:ext uri="{FF2B5EF4-FFF2-40B4-BE49-F238E27FC236}">
                <a16:creationId xmlns:a16="http://schemas.microsoft.com/office/drawing/2014/main" id="{F806C615-65D6-E1C3-C996-1D088B155E9A}"/>
              </a:ext>
            </a:extLst>
          </p:cNvPr>
          <p:cNvGrpSpPr>
            <a:grpSpLocks/>
          </p:cNvGrpSpPr>
          <p:nvPr/>
        </p:nvGrpSpPr>
        <p:grpSpPr bwMode="auto">
          <a:xfrm>
            <a:off x="533400" y="6016625"/>
            <a:ext cx="1612900" cy="1092200"/>
            <a:chOff x="336" y="3790"/>
            <a:chExt cx="1016" cy="688"/>
          </a:xfrm>
        </p:grpSpPr>
        <p:sp>
          <p:nvSpPr>
            <p:cNvPr id="269324" name="Oval 12">
              <a:extLst>
                <a:ext uri="{FF2B5EF4-FFF2-40B4-BE49-F238E27FC236}">
                  <a16:creationId xmlns:a16="http://schemas.microsoft.com/office/drawing/2014/main" id="{B1DEBEB2-F7EA-0CFE-5521-707910FC5EC9}"/>
                </a:ext>
              </a:extLst>
            </p:cNvPr>
            <p:cNvSpPr>
              <a:spLocks noChangeArrowheads="1"/>
            </p:cNvSpPr>
            <p:nvPr/>
          </p:nvSpPr>
          <p:spPr bwMode="auto">
            <a:xfrm>
              <a:off x="337" y="3790"/>
              <a:ext cx="321" cy="321"/>
            </a:xfrm>
            <a:prstGeom prst="ellipse">
              <a:avLst/>
            </a:prstGeom>
            <a:solidFill>
              <a:srgbClr val="002B7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9325" name="Oval 13">
              <a:extLst>
                <a:ext uri="{FF2B5EF4-FFF2-40B4-BE49-F238E27FC236}">
                  <a16:creationId xmlns:a16="http://schemas.microsoft.com/office/drawing/2014/main" id="{0832A983-60F4-27DA-C786-24B5F4C758A7}"/>
                </a:ext>
              </a:extLst>
            </p:cNvPr>
            <p:cNvSpPr>
              <a:spLocks noChangeArrowheads="1"/>
            </p:cNvSpPr>
            <p:nvPr/>
          </p:nvSpPr>
          <p:spPr bwMode="auto">
            <a:xfrm>
              <a:off x="336" y="4157"/>
              <a:ext cx="321" cy="321"/>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9326" name="Rectangle 14">
              <a:extLst>
                <a:ext uri="{FF2B5EF4-FFF2-40B4-BE49-F238E27FC236}">
                  <a16:creationId xmlns:a16="http://schemas.microsoft.com/office/drawing/2014/main" id="{409DA04F-8E98-2FA1-9285-8CE82EB484F3}"/>
                </a:ext>
              </a:extLst>
            </p:cNvPr>
            <p:cNvSpPr>
              <a:spLocks noChangeArrowheads="1"/>
            </p:cNvSpPr>
            <p:nvPr/>
          </p:nvSpPr>
          <p:spPr bwMode="auto">
            <a:xfrm>
              <a:off x="792" y="3900"/>
              <a:ext cx="222" cy="100"/>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9327" name="Rectangle 15">
              <a:extLst>
                <a:ext uri="{FF2B5EF4-FFF2-40B4-BE49-F238E27FC236}">
                  <a16:creationId xmlns:a16="http://schemas.microsoft.com/office/drawing/2014/main" id="{8BBCBC3E-D2A0-BA07-F67A-2C3CBC2080E4}"/>
                </a:ext>
              </a:extLst>
            </p:cNvPr>
            <p:cNvSpPr>
              <a:spLocks noChangeArrowheads="1"/>
            </p:cNvSpPr>
            <p:nvPr/>
          </p:nvSpPr>
          <p:spPr bwMode="auto">
            <a:xfrm>
              <a:off x="792" y="4266"/>
              <a:ext cx="221"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9328" name="Rectangle 16">
              <a:extLst>
                <a:ext uri="{FF2B5EF4-FFF2-40B4-BE49-F238E27FC236}">
                  <a16:creationId xmlns:a16="http://schemas.microsoft.com/office/drawing/2014/main" id="{B516C413-07AA-A3FF-658A-8B6C53716D68}"/>
                </a:ext>
              </a:extLst>
            </p:cNvPr>
            <p:cNvSpPr>
              <a:spLocks noChangeArrowheads="1"/>
            </p:cNvSpPr>
            <p:nvPr/>
          </p:nvSpPr>
          <p:spPr bwMode="auto">
            <a:xfrm>
              <a:off x="1131" y="4037"/>
              <a:ext cx="221" cy="193"/>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9329" name="Line 17">
              <a:extLst>
                <a:ext uri="{FF2B5EF4-FFF2-40B4-BE49-F238E27FC236}">
                  <a16:creationId xmlns:a16="http://schemas.microsoft.com/office/drawing/2014/main" id="{2E9DCE4B-3845-44BE-4AFB-AB50AF25A582}"/>
                </a:ext>
              </a:extLst>
            </p:cNvPr>
            <p:cNvSpPr>
              <a:spLocks noChangeShapeType="1"/>
            </p:cNvSpPr>
            <p:nvPr/>
          </p:nvSpPr>
          <p:spPr bwMode="auto">
            <a:xfrm>
              <a:off x="659" y="3951"/>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9330" name="Line 18">
              <a:extLst>
                <a:ext uri="{FF2B5EF4-FFF2-40B4-BE49-F238E27FC236}">
                  <a16:creationId xmlns:a16="http://schemas.microsoft.com/office/drawing/2014/main" id="{A5EE7FFE-1D64-A172-35A0-94EC0F521811}"/>
                </a:ext>
              </a:extLst>
            </p:cNvPr>
            <p:cNvSpPr>
              <a:spLocks noChangeShapeType="1"/>
            </p:cNvSpPr>
            <p:nvPr/>
          </p:nvSpPr>
          <p:spPr bwMode="auto">
            <a:xfrm>
              <a:off x="659" y="4317"/>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9331" name="Line 19">
              <a:extLst>
                <a:ext uri="{FF2B5EF4-FFF2-40B4-BE49-F238E27FC236}">
                  <a16:creationId xmlns:a16="http://schemas.microsoft.com/office/drawing/2014/main" id="{6E50F083-D68C-5A58-6FB7-C96486004398}"/>
                </a:ext>
              </a:extLst>
            </p:cNvPr>
            <p:cNvSpPr>
              <a:spLocks noChangeShapeType="1"/>
            </p:cNvSpPr>
            <p:nvPr/>
          </p:nvSpPr>
          <p:spPr bwMode="auto">
            <a:xfrm>
              <a:off x="903" y="3998"/>
              <a:ext cx="0" cy="12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9332" name="Line 20">
              <a:extLst>
                <a:ext uri="{FF2B5EF4-FFF2-40B4-BE49-F238E27FC236}">
                  <a16:creationId xmlns:a16="http://schemas.microsoft.com/office/drawing/2014/main" id="{6A53CA92-051F-636F-AFEF-654F607030C8}"/>
                </a:ext>
              </a:extLst>
            </p:cNvPr>
            <p:cNvSpPr>
              <a:spLocks noChangeShapeType="1"/>
            </p:cNvSpPr>
            <p:nvPr/>
          </p:nvSpPr>
          <p:spPr bwMode="auto">
            <a:xfrm flipV="1">
              <a:off x="903" y="4142"/>
              <a:ext cx="0" cy="121"/>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9333" name="Line 21">
              <a:extLst>
                <a:ext uri="{FF2B5EF4-FFF2-40B4-BE49-F238E27FC236}">
                  <a16:creationId xmlns:a16="http://schemas.microsoft.com/office/drawing/2014/main" id="{CC8E28CD-1074-4E44-579E-707AC03594A5}"/>
                </a:ext>
              </a:extLst>
            </p:cNvPr>
            <p:cNvSpPr>
              <a:spLocks noChangeShapeType="1"/>
            </p:cNvSpPr>
            <p:nvPr/>
          </p:nvSpPr>
          <p:spPr bwMode="auto">
            <a:xfrm>
              <a:off x="915" y="4136"/>
              <a:ext cx="2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69317" name="Rectangle 5">
            <a:extLst>
              <a:ext uri="{FF2B5EF4-FFF2-40B4-BE49-F238E27FC236}">
                <a16:creationId xmlns:a16="http://schemas.microsoft.com/office/drawing/2014/main" id="{CD0A8363-A6EA-CF96-8E41-14CC599F2A06}"/>
              </a:ext>
            </a:extLst>
          </p:cNvPr>
          <p:cNvSpPr>
            <a:spLocks noChangeArrowheads="1"/>
          </p:cNvSpPr>
          <p:nvPr/>
        </p:nvSpPr>
        <p:spPr bwMode="auto">
          <a:xfrm>
            <a:off x="2349500" y="1720850"/>
            <a:ext cx="7010400" cy="1712913"/>
          </a:xfrm>
          <a:prstGeom prst="rect">
            <a:avLst/>
          </a:prstGeom>
          <a:noFill/>
          <a:ln w="15875">
            <a:solidFill>
              <a:srgbClr val="002B7F"/>
            </a:solidFill>
            <a:miter lim="800000"/>
            <a:headEnd/>
            <a:tailEnd/>
          </a:ln>
          <a:effectLst/>
          <a:extLst>
            <a:ext uri="{909E8E84-426E-40DD-AFC4-6F175D3DCCD1}">
              <a14:hiddenFill xmlns:a14="http://schemas.microsoft.com/office/drawing/2010/main">
                <a:solidFill>
                  <a:srgbClr val="005C5A">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9318" name="Rectangle 6">
            <a:extLst>
              <a:ext uri="{FF2B5EF4-FFF2-40B4-BE49-F238E27FC236}">
                <a16:creationId xmlns:a16="http://schemas.microsoft.com/office/drawing/2014/main" id="{AB3976EF-A955-4798-D45F-11A97CC27162}"/>
              </a:ext>
            </a:extLst>
          </p:cNvPr>
          <p:cNvSpPr>
            <a:spLocks noChangeArrowheads="1"/>
          </p:cNvSpPr>
          <p:nvPr/>
        </p:nvSpPr>
        <p:spPr bwMode="auto">
          <a:xfrm>
            <a:off x="2349500" y="3433763"/>
            <a:ext cx="7010400" cy="739775"/>
          </a:xfrm>
          <a:prstGeom prst="rect">
            <a:avLst/>
          </a:prstGeom>
          <a:noFill/>
          <a:ln w="15875">
            <a:solidFill>
              <a:srgbClr val="002B7F"/>
            </a:solidFill>
            <a:miter lim="800000"/>
            <a:headEnd/>
            <a:tailEnd/>
          </a:ln>
          <a:effectLst/>
          <a:extLst>
            <a:ext uri="{909E8E84-426E-40DD-AFC4-6F175D3DCCD1}">
              <a14:hiddenFill xmlns:a14="http://schemas.microsoft.com/office/drawing/2010/main">
                <a:solidFill>
                  <a:srgbClr val="005C5A">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9319" name="Rectangle 7">
            <a:extLst>
              <a:ext uri="{FF2B5EF4-FFF2-40B4-BE49-F238E27FC236}">
                <a16:creationId xmlns:a16="http://schemas.microsoft.com/office/drawing/2014/main" id="{68AF4583-E70B-15C3-F132-0D9D7375D085}"/>
              </a:ext>
            </a:extLst>
          </p:cNvPr>
          <p:cNvSpPr>
            <a:spLocks noChangeArrowheads="1"/>
          </p:cNvSpPr>
          <p:nvPr/>
        </p:nvSpPr>
        <p:spPr bwMode="auto">
          <a:xfrm>
            <a:off x="2349500" y="4175125"/>
            <a:ext cx="7008813" cy="481013"/>
          </a:xfrm>
          <a:prstGeom prst="rect">
            <a:avLst/>
          </a:prstGeom>
          <a:noFill/>
          <a:ln w="15875">
            <a:solidFill>
              <a:srgbClr val="002B7F"/>
            </a:solidFill>
            <a:miter lim="800000"/>
            <a:headEnd/>
            <a:tailEnd/>
          </a:ln>
          <a:effectLst/>
          <a:extLst>
            <a:ext uri="{909E8E84-426E-40DD-AFC4-6F175D3DCCD1}">
              <a14:hiddenFill xmlns:a14="http://schemas.microsoft.com/office/drawing/2010/main">
                <a:solidFill>
                  <a:srgbClr val="005C5A">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9320" name="Rectangle 8">
            <a:extLst>
              <a:ext uri="{FF2B5EF4-FFF2-40B4-BE49-F238E27FC236}">
                <a16:creationId xmlns:a16="http://schemas.microsoft.com/office/drawing/2014/main" id="{1D924B61-E0E9-B0B3-A7C6-9F0487A1DFE1}"/>
              </a:ext>
            </a:extLst>
          </p:cNvPr>
          <p:cNvSpPr>
            <a:spLocks noChangeArrowheads="1"/>
          </p:cNvSpPr>
          <p:nvPr/>
        </p:nvSpPr>
        <p:spPr bwMode="auto">
          <a:xfrm>
            <a:off x="2349500" y="4656138"/>
            <a:ext cx="7008813" cy="984250"/>
          </a:xfrm>
          <a:prstGeom prst="rect">
            <a:avLst/>
          </a:prstGeom>
          <a:noFill/>
          <a:ln w="15875">
            <a:solidFill>
              <a:srgbClr val="002B7F"/>
            </a:solidFill>
            <a:miter lim="800000"/>
            <a:headEnd/>
            <a:tailEnd/>
          </a:ln>
          <a:effectLst/>
          <a:extLst>
            <a:ext uri="{909E8E84-426E-40DD-AFC4-6F175D3DCCD1}">
              <a14:hiddenFill xmlns:a14="http://schemas.microsoft.com/office/drawing/2010/main">
                <a:solidFill>
                  <a:srgbClr val="005C5A">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9321" name="Rectangle 9">
            <a:extLst>
              <a:ext uri="{FF2B5EF4-FFF2-40B4-BE49-F238E27FC236}">
                <a16:creationId xmlns:a16="http://schemas.microsoft.com/office/drawing/2014/main" id="{6B505CDE-ED13-E0C0-38F6-FE624EC490FE}"/>
              </a:ext>
            </a:extLst>
          </p:cNvPr>
          <p:cNvSpPr>
            <a:spLocks noChangeArrowheads="1"/>
          </p:cNvSpPr>
          <p:nvPr/>
        </p:nvSpPr>
        <p:spPr bwMode="auto">
          <a:xfrm>
            <a:off x="2349500" y="5635625"/>
            <a:ext cx="7008813" cy="246063"/>
          </a:xfrm>
          <a:prstGeom prst="rect">
            <a:avLst/>
          </a:prstGeom>
          <a:noFill/>
          <a:ln w="15875">
            <a:solidFill>
              <a:srgbClr val="002B7F"/>
            </a:solidFill>
            <a:miter lim="800000"/>
            <a:headEnd/>
            <a:tailEnd/>
          </a:ln>
          <a:effectLst/>
          <a:extLst>
            <a:ext uri="{909E8E84-426E-40DD-AFC4-6F175D3DCCD1}">
              <a14:hiddenFill xmlns:a14="http://schemas.microsoft.com/office/drawing/2010/main">
                <a:solidFill>
                  <a:srgbClr val="005C5A">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9335" name="Text Box 23">
            <a:extLst>
              <a:ext uri="{FF2B5EF4-FFF2-40B4-BE49-F238E27FC236}">
                <a16:creationId xmlns:a16="http://schemas.microsoft.com/office/drawing/2014/main" id="{8DD0B089-3C40-78B0-5A5B-54188E8C91A4}"/>
              </a:ext>
            </a:extLst>
          </p:cNvPr>
          <p:cNvSpPr txBox="1">
            <a:spLocks noChangeArrowheads="1"/>
          </p:cNvSpPr>
          <p:nvPr/>
        </p:nvSpPr>
        <p:spPr bwMode="auto">
          <a:xfrm>
            <a:off x="584200" y="2063750"/>
            <a:ext cx="1628775" cy="391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lnSpc>
                <a:spcPct val="120000"/>
              </a:lnSpc>
            </a:pPr>
            <a:r>
              <a:rPr lang="en-US" altLang="en-US" sz="1600">
                <a:latin typeface="Times New Roman" panose="02020603050405020304" pitchFamily="18" charset="0"/>
              </a:rPr>
              <a:t>Value</a:t>
            </a:r>
          </a:p>
          <a:p>
            <a:pPr algn="r">
              <a:lnSpc>
                <a:spcPct val="120000"/>
              </a:lnSpc>
            </a:pPr>
            <a:endParaRPr lang="en-US" altLang="en-US" sz="1600">
              <a:latin typeface="Times New Roman" panose="02020603050405020304" pitchFamily="18" charset="0"/>
            </a:endParaRPr>
          </a:p>
          <a:p>
            <a:pPr algn="r">
              <a:lnSpc>
                <a:spcPct val="120000"/>
              </a:lnSpc>
            </a:pPr>
            <a:endParaRPr lang="en-US" altLang="en-US" sz="1600">
              <a:latin typeface="Times New Roman" panose="02020603050405020304" pitchFamily="18" charset="0"/>
            </a:endParaRPr>
          </a:p>
          <a:p>
            <a:pPr algn="r">
              <a:lnSpc>
                <a:spcPct val="120000"/>
              </a:lnSpc>
            </a:pPr>
            <a:endParaRPr lang="en-US" altLang="en-US" sz="1600">
              <a:latin typeface="Times New Roman" panose="02020603050405020304" pitchFamily="18" charset="0"/>
            </a:endParaRPr>
          </a:p>
          <a:p>
            <a:pPr algn="r">
              <a:lnSpc>
                <a:spcPct val="120000"/>
              </a:lnSpc>
            </a:pPr>
            <a:endParaRPr lang="en-US" altLang="en-US" sz="1600">
              <a:latin typeface="Times New Roman" panose="02020603050405020304" pitchFamily="18" charset="0"/>
            </a:endParaRPr>
          </a:p>
          <a:p>
            <a:pPr algn="r">
              <a:lnSpc>
                <a:spcPct val="120000"/>
              </a:lnSpc>
            </a:pPr>
            <a:r>
              <a:rPr lang="en-US" altLang="en-US" sz="1600">
                <a:latin typeface="Times New Roman" panose="02020603050405020304" pitchFamily="18" charset="0"/>
              </a:rPr>
              <a:t>Momentum</a:t>
            </a:r>
          </a:p>
          <a:p>
            <a:pPr algn="r">
              <a:lnSpc>
                <a:spcPct val="120000"/>
              </a:lnSpc>
            </a:pPr>
            <a:endParaRPr lang="en-US" altLang="en-US" sz="1600">
              <a:latin typeface="Times New Roman" panose="02020603050405020304" pitchFamily="18" charset="0"/>
            </a:endParaRPr>
          </a:p>
          <a:p>
            <a:pPr algn="r">
              <a:lnSpc>
                <a:spcPct val="120000"/>
              </a:lnSpc>
            </a:pPr>
            <a:r>
              <a:rPr lang="en-US" altLang="en-US" sz="1600">
                <a:latin typeface="Times New Roman" panose="02020603050405020304" pitchFamily="18" charset="0"/>
              </a:rPr>
              <a:t>Reversal</a:t>
            </a:r>
          </a:p>
          <a:p>
            <a:pPr algn="r">
              <a:lnSpc>
                <a:spcPct val="120000"/>
              </a:lnSpc>
            </a:pPr>
            <a:endParaRPr lang="en-US" altLang="en-US" sz="1600">
              <a:latin typeface="Times New Roman" panose="02020603050405020304" pitchFamily="18" charset="0"/>
            </a:endParaRPr>
          </a:p>
          <a:p>
            <a:pPr algn="r">
              <a:lnSpc>
                <a:spcPct val="120000"/>
              </a:lnSpc>
            </a:pPr>
            <a:r>
              <a:rPr lang="en-US" altLang="en-US" sz="1600">
                <a:latin typeface="Times New Roman" panose="02020603050405020304" pitchFamily="18" charset="0"/>
              </a:rPr>
              <a:t>Macroeconomic</a:t>
            </a:r>
          </a:p>
          <a:p>
            <a:pPr algn="r">
              <a:lnSpc>
                <a:spcPct val="120000"/>
              </a:lnSpc>
            </a:pPr>
            <a:endParaRPr lang="en-US" altLang="en-US" sz="1600">
              <a:latin typeface="Times New Roman" panose="02020603050405020304" pitchFamily="18" charset="0"/>
            </a:endParaRPr>
          </a:p>
          <a:p>
            <a:pPr algn="r">
              <a:lnSpc>
                <a:spcPct val="120000"/>
              </a:lnSpc>
            </a:pPr>
            <a:endParaRPr lang="en-US" altLang="en-US" sz="1600">
              <a:latin typeface="Times New Roman" panose="02020603050405020304" pitchFamily="18" charset="0"/>
            </a:endParaRPr>
          </a:p>
          <a:p>
            <a:pPr algn="r">
              <a:lnSpc>
                <a:spcPct val="120000"/>
              </a:lnSpc>
            </a:pPr>
            <a:r>
              <a:rPr lang="en-US" altLang="en-US" sz="1600">
                <a:latin typeface="Times New Roman" panose="02020603050405020304" pitchFamily="18" charset="0"/>
              </a:rPr>
              <a:t>Judgment</a:t>
            </a:r>
            <a:endParaRPr lang="en-US" altLang="en-US" sz="1200" b="0">
              <a:latin typeface="Times New Roman" panose="02020603050405020304" pitchFamily="18" charset="0"/>
            </a:endParaRPr>
          </a:p>
        </p:txBody>
      </p:sp>
      <p:sp>
        <p:nvSpPr>
          <p:cNvPr id="269339" name="Text Box 27">
            <a:extLst>
              <a:ext uri="{FF2B5EF4-FFF2-40B4-BE49-F238E27FC236}">
                <a16:creationId xmlns:a16="http://schemas.microsoft.com/office/drawing/2014/main" id="{6D598171-9E87-5C23-8CA2-C865FE1F4E52}"/>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a:extLst>
              <a:ext uri="{FF2B5EF4-FFF2-40B4-BE49-F238E27FC236}">
                <a16:creationId xmlns:a16="http://schemas.microsoft.com/office/drawing/2014/main" id="{655DA930-956E-2D8C-65F0-9D64AA2F55D5}"/>
              </a:ext>
            </a:extLst>
          </p:cNvPr>
          <p:cNvSpPr>
            <a:spLocks noChangeArrowheads="1"/>
          </p:cNvSpPr>
          <p:nvPr/>
        </p:nvSpPr>
        <p:spPr bwMode="auto">
          <a:xfrm>
            <a:off x="6784975" y="7038975"/>
            <a:ext cx="27479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000">
                <a:latin typeface="Times New Roman" panose="02020603050405020304" pitchFamily="18" charset="0"/>
              </a:rPr>
              <a:t>Note:</a:t>
            </a:r>
            <a:r>
              <a:rPr lang="en-US" altLang="en-US" sz="1000" b="0">
                <a:latin typeface="Times New Roman" panose="02020603050405020304" pitchFamily="18" charset="0"/>
              </a:rPr>
              <a:t>  Month 0 denotes January 1995 for Mexico.</a:t>
            </a:r>
          </a:p>
        </p:txBody>
      </p:sp>
      <p:sp>
        <p:nvSpPr>
          <p:cNvPr id="283651" name="Text Box 3">
            <a:extLst>
              <a:ext uri="{FF2B5EF4-FFF2-40B4-BE49-F238E27FC236}">
                <a16:creationId xmlns:a16="http://schemas.microsoft.com/office/drawing/2014/main" id="{37AE143E-CCCD-124D-B889-E74DEF8D83B3}"/>
              </a:ext>
            </a:extLst>
          </p:cNvPr>
          <p:cNvSpPr txBox="1">
            <a:spLocks noChangeArrowheads="1"/>
          </p:cNvSpPr>
          <p:nvPr/>
        </p:nvSpPr>
        <p:spPr bwMode="auto">
          <a:xfrm>
            <a:off x="561975" y="685800"/>
            <a:ext cx="9197975"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History Doesn’t Repeat Itself…</a:t>
            </a:r>
          </a:p>
        </p:txBody>
      </p:sp>
      <p:graphicFrame>
        <p:nvGraphicFramePr>
          <p:cNvPr id="283652" name="Object 4">
            <a:extLst>
              <a:ext uri="{FF2B5EF4-FFF2-40B4-BE49-F238E27FC236}">
                <a16:creationId xmlns:a16="http://schemas.microsoft.com/office/drawing/2014/main" id="{57DA6F44-F632-7BE8-ED91-16FE8362C1E2}"/>
              </a:ext>
            </a:extLst>
          </p:cNvPr>
          <p:cNvGraphicFramePr>
            <a:graphicFrameLocks noChangeAspect="1"/>
          </p:cNvGraphicFramePr>
          <p:nvPr/>
        </p:nvGraphicFramePr>
        <p:xfrm>
          <a:off x="1425575" y="1898650"/>
          <a:ext cx="7208838" cy="4164013"/>
        </p:xfrm>
        <a:graphic>
          <a:graphicData uri="http://schemas.openxmlformats.org/presentationml/2006/ole">
            <mc:AlternateContent xmlns:mc="http://schemas.openxmlformats.org/markup-compatibility/2006">
              <mc:Choice xmlns:v="urn:schemas-microsoft-com:vml" Requires="v">
                <p:oleObj name="Worksheet" r:id="rId2" imgW="8661400" imgH="5118100" progId="Excel.Sheet.8">
                  <p:link updateAutomatic="1"/>
                </p:oleObj>
              </mc:Choice>
              <mc:Fallback>
                <p:oleObj name="Worksheet" r:id="rId2" imgW="8661400" imgH="5118100" progId="Excel.Sheet.8">
                  <p:link updateAutomatic="1"/>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l="1582" t="3708"/>
                      <a:stretch>
                        <a:fillRect/>
                      </a:stretch>
                    </p:blipFill>
                    <p:spPr bwMode="auto">
                      <a:xfrm>
                        <a:off x="1425575" y="1898650"/>
                        <a:ext cx="7208838" cy="4164013"/>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83653" name="Group 5">
            <a:extLst>
              <a:ext uri="{FF2B5EF4-FFF2-40B4-BE49-F238E27FC236}">
                <a16:creationId xmlns:a16="http://schemas.microsoft.com/office/drawing/2014/main" id="{AAF80B6B-E16F-29D0-F8FB-7D61F4794484}"/>
              </a:ext>
            </a:extLst>
          </p:cNvPr>
          <p:cNvGrpSpPr>
            <a:grpSpLocks/>
          </p:cNvGrpSpPr>
          <p:nvPr/>
        </p:nvGrpSpPr>
        <p:grpSpPr bwMode="auto">
          <a:xfrm>
            <a:off x="533400" y="6016625"/>
            <a:ext cx="1612900" cy="1092200"/>
            <a:chOff x="336" y="3790"/>
            <a:chExt cx="1016" cy="688"/>
          </a:xfrm>
        </p:grpSpPr>
        <p:sp>
          <p:nvSpPr>
            <p:cNvPr id="283654" name="Oval 6">
              <a:extLst>
                <a:ext uri="{FF2B5EF4-FFF2-40B4-BE49-F238E27FC236}">
                  <a16:creationId xmlns:a16="http://schemas.microsoft.com/office/drawing/2014/main" id="{F38EE127-DA14-B709-14C3-219B3C703709}"/>
                </a:ext>
              </a:extLst>
            </p:cNvPr>
            <p:cNvSpPr>
              <a:spLocks noChangeArrowheads="1"/>
            </p:cNvSpPr>
            <p:nvPr/>
          </p:nvSpPr>
          <p:spPr bwMode="auto">
            <a:xfrm>
              <a:off x="337" y="3790"/>
              <a:ext cx="321" cy="321"/>
            </a:xfrm>
            <a:prstGeom prst="ellipse">
              <a:avLst/>
            </a:prstGeom>
            <a:solidFill>
              <a:srgbClr val="002B7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3655" name="Oval 7">
              <a:extLst>
                <a:ext uri="{FF2B5EF4-FFF2-40B4-BE49-F238E27FC236}">
                  <a16:creationId xmlns:a16="http://schemas.microsoft.com/office/drawing/2014/main" id="{1E6FDA85-4999-969C-CA62-2D25A4CC8945}"/>
                </a:ext>
              </a:extLst>
            </p:cNvPr>
            <p:cNvSpPr>
              <a:spLocks noChangeArrowheads="1"/>
            </p:cNvSpPr>
            <p:nvPr/>
          </p:nvSpPr>
          <p:spPr bwMode="auto">
            <a:xfrm>
              <a:off x="336" y="4157"/>
              <a:ext cx="321" cy="321"/>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3656" name="Rectangle 8">
              <a:extLst>
                <a:ext uri="{FF2B5EF4-FFF2-40B4-BE49-F238E27FC236}">
                  <a16:creationId xmlns:a16="http://schemas.microsoft.com/office/drawing/2014/main" id="{BF1DF061-BAF0-B406-638F-069E7240913C}"/>
                </a:ext>
              </a:extLst>
            </p:cNvPr>
            <p:cNvSpPr>
              <a:spLocks noChangeArrowheads="1"/>
            </p:cNvSpPr>
            <p:nvPr/>
          </p:nvSpPr>
          <p:spPr bwMode="auto">
            <a:xfrm>
              <a:off x="792" y="3900"/>
              <a:ext cx="222"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3657" name="Rectangle 9">
              <a:extLst>
                <a:ext uri="{FF2B5EF4-FFF2-40B4-BE49-F238E27FC236}">
                  <a16:creationId xmlns:a16="http://schemas.microsoft.com/office/drawing/2014/main" id="{9FA1B104-B35B-CA2C-E7B3-3A000AA5CB7C}"/>
                </a:ext>
              </a:extLst>
            </p:cNvPr>
            <p:cNvSpPr>
              <a:spLocks noChangeArrowheads="1"/>
            </p:cNvSpPr>
            <p:nvPr/>
          </p:nvSpPr>
          <p:spPr bwMode="auto">
            <a:xfrm>
              <a:off x="792" y="4266"/>
              <a:ext cx="221"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3658" name="Rectangle 10">
              <a:extLst>
                <a:ext uri="{FF2B5EF4-FFF2-40B4-BE49-F238E27FC236}">
                  <a16:creationId xmlns:a16="http://schemas.microsoft.com/office/drawing/2014/main" id="{B7E6C0B1-3C08-E69C-D1A1-D1AAD8FA15EF}"/>
                </a:ext>
              </a:extLst>
            </p:cNvPr>
            <p:cNvSpPr>
              <a:spLocks noChangeArrowheads="1"/>
            </p:cNvSpPr>
            <p:nvPr/>
          </p:nvSpPr>
          <p:spPr bwMode="auto">
            <a:xfrm>
              <a:off x="1131" y="4037"/>
              <a:ext cx="221" cy="193"/>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3659" name="Line 11">
              <a:extLst>
                <a:ext uri="{FF2B5EF4-FFF2-40B4-BE49-F238E27FC236}">
                  <a16:creationId xmlns:a16="http://schemas.microsoft.com/office/drawing/2014/main" id="{C5E5439C-1578-0F2F-50A3-A66EC1B41EB7}"/>
                </a:ext>
              </a:extLst>
            </p:cNvPr>
            <p:cNvSpPr>
              <a:spLocks noChangeShapeType="1"/>
            </p:cNvSpPr>
            <p:nvPr/>
          </p:nvSpPr>
          <p:spPr bwMode="auto">
            <a:xfrm>
              <a:off x="659" y="3951"/>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3660" name="Line 12">
              <a:extLst>
                <a:ext uri="{FF2B5EF4-FFF2-40B4-BE49-F238E27FC236}">
                  <a16:creationId xmlns:a16="http://schemas.microsoft.com/office/drawing/2014/main" id="{EB6C3F11-01AA-935A-DC31-74A6F8486F18}"/>
                </a:ext>
              </a:extLst>
            </p:cNvPr>
            <p:cNvSpPr>
              <a:spLocks noChangeShapeType="1"/>
            </p:cNvSpPr>
            <p:nvPr/>
          </p:nvSpPr>
          <p:spPr bwMode="auto">
            <a:xfrm>
              <a:off x="659" y="4317"/>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3661" name="Line 13">
              <a:extLst>
                <a:ext uri="{FF2B5EF4-FFF2-40B4-BE49-F238E27FC236}">
                  <a16:creationId xmlns:a16="http://schemas.microsoft.com/office/drawing/2014/main" id="{B355831E-0B71-6942-C0CA-CB7D0F45B586}"/>
                </a:ext>
              </a:extLst>
            </p:cNvPr>
            <p:cNvSpPr>
              <a:spLocks noChangeShapeType="1"/>
            </p:cNvSpPr>
            <p:nvPr/>
          </p:nvSpPr>
          <p:spPr bwMode="auto">
            <a:xfrm>
              <a:off x="903" y="3998"/>
              <a:ext cx="0" cy="12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3662" name="Line 14">
              <a:extLst>
                <a:ext uri="{FF2B5EF4-FFF2-40B4-BE49-F238E27FC236}">
                  <a16:creationId xmlns:a16="http://schemas.microsoft.com/office/drawing/2014/main" id="{05870487-4CB0-1F25-573F-3492D79A61E5}"/>
                </a:ext>
              </a:extLst>
            </p:cNvPr>
            <p:cNvSpPr>
              <a:spLocks noChangeShapeType="1"/>
            </p:cNvSpPr>
            <p:nvPr/>
          </p:nvSpPr>
          <p:spPr bwMode="auto">
            <a:xfrm flipV="1">
              <a:off x="903" y="4142"/>
              <a:ext cx="0" cy="121"/>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3663" name="Line 15">
              <a:extLst>
                <a:ext uri="{FF2B5EF4-FFF2-40B4-BE49-F238E27FC236}">
                  <a16:creationId xmlns:a16="http://schemas.microsoft.com/office/drawing/2014/main" id="{0E79342B-168C-D439-BE7E-DE4B3FFF3ECE}"/>
                </a:ext>
              </a:extLst>
            </p:cNvPr>
            <p:cNvSpPr>
              <a:spLocks noChangeShapeType="1"/>
            </p:cNvSpPr>
            <p:nvPr/>
          </p:nvSpPr>
          <p:spPr bwMode="auto">
            <a:xfrm>
              <a:off x="915" y="4136"/>
              <a:ext cx="2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83664" name="Text Box 16">
            <a:extLst>
              <a:ext uri="{FF2B5EF4-FFF2-40B4-BE49-F238E27FC236}">
                <a16:creationId xmlns:a16="http://schemas.microsoft.com/office/drawing/2014/main" id="{B20FF732-8F1B-786C-9570-76A1F5E69374}"/>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0" name="Rectangle 10">
            <a:extLst>
              <a:ext uri="{FF2B5EF4-FFF2-40B4-BE49-F238E27FC236}">
                <a16:creationId xmlns:a16="http://schemas.microsoft.com/office/drawing/2014/main" id="{8F9614B1-49B8-03CE-2594-50E3CBF3CB34}"/>
              </a:ext>
            </a:extLst>
          </p:cNvPr>
          <p:cNvSpPr>
            <a:spLocks noChangeArrowheads="1"/>
          </p:cNvSpPr>
          <p:nvPr/>
        </p:nvSpPr>
        <p:spPr bwMode="auto">
          <a:xfrm>
            <a:off x="3128963" y="7038975"/>
            <a:ext cx="640397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000">
                <a:latin typeface="Times New Roman" panose="02020603050405020304" pitchFamily="18" charset="0"/>
              </a:rPr>
              <a:t>Note:</a:t>
            </a:r>
            <a:r>
              <a:rPr lang="en-US" altLang="en-US" sz="1000" b="0">
                <a:latin typeface="Times New Roman" panose="02020603050405020304" pitchFamily="18" charset="0"/>
              </a:rPr>
              <a:t>  Month 0 denotes January 1995 for Mexico,  January 1998 for Korea and October 1997 for Thailand and Indonesia.</a:t>
            </a:r>
          </a:p>
        </p:txBody>
      </p:sp>
      <p:sp>
        <p:nvSpPr>
          <p:cNvPr id="133164" name="Text Box 44">
            <a:extLst>
              <a:ext uri="{FF2B5EF4-FFF2-40B4-BE49-F238E27FC236}">
                <a16:creationId xmlns:a16="http://schemas.microsoft.com/office/drawing/2014/main" id="{061C2533-85C3-B839-E495-AB3F8FF1D716}"/>
              </a:ext>
            </a:extLst>
          </p:cNvPr>
          <p:cNvSpPr txBox="1">
            <a:spLocks noChangeArrowheads="1"/>
          </p:cNvSpPr>
          <p:nvPr/>
        </p:nvSpPr>
        <p:spPr bwMode="auto">
          <a:xfrm>
            <a:off x="576263" y="685800"/>
            <a:ext cx="9240837"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…But It Rhymes</a:t>
            </a:r>
          </a:p>
        </p:txBody>
      </p:sp>
      <p:grpSp>
        <p:nvGrpSpPr>
          <p:cNvPr id="133179" name="Group 59">
            <a:extLst>
              <a:ext uri="{FF2B5EF4-FFF2-40B4-BE49-F238E27FC236}">
                <a16:creationId xmlns:a16="http://schemas.microsoft.com/office/drawing/2014/main" id="{01848D3E-BA18-D4B1-E117-F1FF8773C780}"/>
              </a:ext>
            </a:extLst>
          </p:cNvPr>
          <p:cNvGrpSpPr>
            <a:grpSpLocks/>
          </p:cNvGrpSpPr>
          <p:nvPr/>
        </p:nvGrpSpPr>
        <p:grpSpPr bwMode="auto">
          <a:xfrm>
            <a:off x="533400" y="6016625"/>
            <a:ext cx="1612900" cy="1092200"/>
            <a:chOff x="336" y="3790"/>
            <a:chExt cx="1016" cy="688"/>
          </a:xfrm>
        </p:grpSpPr>
        <p:sp>
          <p:nvSpPr>
            <p:cNvPr id="133180" name="Oval 60">
              <a:extLst>
                <a:ext uri="{FF2B5EF4-FFF2-40B4-BE49-F238E27FC236}">
                  <a16:creationId xmlns:a16="http://schemas.microsoft.com/office/drawing/2014/main" id="{9FE6FF82-CA47-F285-3D22-70023D1D286B}"/>
                </a:ext>
              </a:extLst>
            </p:cNvPr>
            <p:cNvSpPr>
              <a:spLocks noChangeArrowheads="1"/>
            </p:cNvSpPr>
            <p:nvPr/>
          </p:nvSpPr>
          <p:spPr bwMode="auto">
            <a:xfrm>
              <a:off x="337" y="3790"/>
              <a:ext cx="321" cy="321"/>
            </a:xfrm>
            <a:prstGeom prst="ellipse">
              <a:avLst/>
            </a:prstGeom>
            <a:solidFill>
              <a:srgbClr val="002B7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81" name="Oval 61">
              <a:extLst>
                <a:ext uri="{FF2B5EF4-FFF2-40B4-BE49-F238E27FC236}">
                  <a16:creationId xmlns:a16="http://schemas.microsoft.com/office/drawing/2014/main" id="{7D334D2A-6475-AD92-D21F-B2A990BEC783}"/>
                </a:ext>
              </a:extLst>
            </p:cNvPr>
            <p:cNvSpPr>
              <a:spLocks noChangeArrowheads="1"/>
            </p:cNvSpPr>
            <p:nvPr/>
          </p:nvSpPr>
          <p:spPr bwMode="auto">
            <a:xfrm>
              <a:off x="336" y="4157"/>
              <a:ext cx="321" cy="321"/>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82" name="Rectangle 62">
              <a:extLst>
                <a:ext uri="{FF2B5EF4-FFF2-40B4-BE49-F238E27FC236}">
                  <a16:creationId xmlns:a16="http://schemas.microsoft.com/office/drawing/2014/main" id="{D7E695B5-42DC-21B8-7217-BB9B8DC66B4A}"/>
                </a:ext>
              </a:extLst>
            </p:cNvPr>
            <p:cNvSpPr>
              <a:spLocks noChangeArrowheads="1"/>
            </p:cNvSpPr>
            <p:nvPr/>
          </p:nvSpPr>
          <p:spPr bwMode="auto">
            <a:xfrm>
              <a:off x="792" y="3900"/>
              <a:ext cx="222"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83" name="Rectangle 63">
              <a:extLst>
                <a:ext uri="{FF2B5EF4-FFF2-40B4-BE49-F238E27FC236}">
                  <a16:creationId xmlns:a16="http://schemas.microsoft.com/office/drawing/2014/main" id="{117A2A55-5605-5795-B77B-4B6E3A2E0522}"/>
                </a:ext>
              </a:extLst>
            </p:cNvPr>
            <p:cNvSpPr>
              <a:spLocks noChangeArrowheads="1"/>
            </p:cNvSpPr>
            <p:nvPr/>
          </p:nvSpPr>
          <p:spPr bwMode="auto">
            <a:xfrm>
              <a:off x="792" y="4266"/>
              <a:ext cx="221"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84" name="Rectangle 64">
              <a:extLst>
                <a:ext uri="{FF2B5EF4-FFF2-40B4-BE49-F238E27FC236}">
                  <a16:creationId xmlns:a16="http://schemas.microsoft.com/office/drawing/2014/main" id="{3F65CD0B-F1FD-5C24-8650-EAF5B281DC37}"/>
                </a:ext>
              </a:extLst>
            </p:cNvPr>
            <p:cNvSpPr>
              <a:spLocks noChangeArrowheads="1"/>
            </p:cNvSpPr>
            <p:nvPr/>
          </p:nvSpPr>
          <p:spPr bwMode="auto">
            <a:xfrm>
              <a:off x="1131" y="4037"/>
              <a:ext cx="221" cy="193"/>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85" name="Line 65">
              <a:extLst>
                <a:ext uri="{FF2B5EF4-FFF2-40B4-BE49-F238E27FC236}">
                  <a16:creationId xmlns:a16="http://schemas.microsoft.com/office/drawing/2014/main" id="{BB202508-F0CD-C657-06EE-C0C7837635BD}"/>
                </a:ext>
              </a:extLst>
            </p:cNvPr>
            <p:cNvSpPr>
              <a:spLocks noChangeShapeType="1"/>
            </p:cNvSpPr>
            <p:nvPr/>
          </p:nvSpPr>
          <p:spPr bwMode="auto">
            <a:xfrm>
              <a:off x="659" y="3951"/>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86" name="Line 66">
              <a:extLst>
                <a:ext uri="{FF2B5EF4-FFF2-40B4-BE49-F238E27FC236}">
                  <a16:creationId xmlns:a16="http://schemas.microsoft.com/office/drawing/2014/main" id="{E7800FB0-34C6-5547-D58D-4FA0D1D2E855}"/>
                </a:ext>
              </a:extLst>
            </p:cNvPr>
            <p:cNvSpPr>
              <a:spLocks noChangeShapeType="1"/>
            </p:cNvSpPr>
            <p:nvPr/>
          </p:nvSpPr>
          <p:spPr bwMode="auto">
            <a:xfrm>
              <a:off x="659" y="4317"/>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87" name="Line 67">
              <a:extLst>
                <a:ext uri="{FF2B5EF4-FFF2-40B4-BE49-F238E27FC236}">
                  <a16:creationId xmlns:a16="http://schemas.microsoft.com/office/drawing/2014/main" id="{8B4B45B9-ACB3-458D-17F3-E83FC6150E8E}"/>
                </a:ext>
              </a:extLst>
            </p:cNvPr>
            <p:cNvSpPr>
              <a:spLocks noChangeShapeType="1"/>
            </p:cNvSpPr>
            <p:nvPr/>
          </p:nvSpPr>
          <p:spPr bwMode="auto">
            <a:xfrm>
              <a:off x="903" y="3998"/>
              <a:ext cx="0" cy="12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88" name="Line 68">
              <a:extLst>
                <a:ext uri="{FF2B5EF4-FFF2-40B4-BE49-F238E27FC236}">
                  <a16:creationId xmlns:a16="http://schemas.microsoft.com/office/drawing/2014/main" id="{649347C6-E374-3688-92AE-D9F641DD8510}"/>
                </a:ext>
              </a:extLst>
            </p:cNvPr>
            <p:cNvSpPr>
              <a:spLocks noChangeShapeType="1"/>
            </p:cNvSpPr>
            <p:nvPr/>
          </p:nvSpPr>
          <p:spPr bwMode="auto">
            <a:xfrm flipV="1">
              <a:off x="903" y="4142"/>
              <a:ext cx="0" cy="121"/>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89" name="Line 69">
              <a:extLst>
                <a:ext uri="{FF2B5EF4-FFF2-40B4-BE49-F238E27FC236}">
                  <a16:creationId xmlns:a16="http://schemas.microsoft.com/office/drawing/2014/main" id="{AA5070E4-4373-8EB3-9522-76F43F060B72}"/>
                </a:ext>
              </a:extLst>
            </p:cNvPr>
            <p:cNvSpPr>
              <a:spLocks noChangeShapeType="1"/>
            </p:cNvSpPr>
            <p:nvPr/>
          </p:nvSpPr>
          <p:spPr bwMode="auto">
            <a:xfrm>
              <a:off x="915" y="4136"/>
              <a:ext cx="2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33190" name="Text Box 70">
            <a:extLst>
              <a:ext uri="{FF2B5EF4-FFF2-40B4-BE49-F238E27FC236}">
                <a16:creationId xmlns:a16="http://schemas.microsoft.com/office/drawing/2014/main" id="{D74E8B9B-4091-DF88-E6FA-141BDB1892D9}"/>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graphicFrame>
        <p:nvGraphicFramePr>
          <p:cNvPr id="133192" name="Object 72">
            <a:extLst>
              <a:ext uri="{FF2B5EF4-FFF2-40B4-BE49-F238E27FC236}">
                <a16:creationId xmlns:a16="http://schemas.microsoft.com/office/drawing/2014/main" id="{931ACF7A-2353-590F-BFCC-CA2045B20651}"/>
              </a:ext>
            </a:extLst>
          </p:cNvPr>
          <p:cNvGraphicFramePr>
            <a:graphicFrameLocks noChangeAspect="1"/>
          </p:cNvGraphicFramePr>
          <p:nvPr/>
        </p:nvGraphicFramePr>
        <p:xfrm>
          <a:off x="1412875" y="1881188"/>
          <a:ext cx="7208838" cy="4210050"/>
        </p:xfrm>
        <a:graphic>
          <a:graphicData uri="http://schemas.openxmlformats.org/presentationml/2006/ole">
            <mc:AlternateContent xmlns:mc="http://schemas.openxmlformats.org/markup-compatibility/2006">
              <mc:Choice xmlns:v="urn:schemas-microsoft-com:vml" Requires="v">
                <p:oleObj name="Worksheet" r:id="rId2" imgW="6934200" imgH="3733800" progId="Excel.Sheet.8">
                  <p:link updateAutomatic="1"/>
                </p:oleObj>
              </mc:Choice>
              <mc:Fallback>
                <p:oleObj name="Worksheet" r:id="rId2" imgW="6934200" imgH="3733800" progId="Excel.Sheet.8">
                  <p:link updateAutomatic="1"/>
                  <p:pic>
                    <p:nvPicPr>
                      <p:cNvPr id="0" name="Object 72"/>
                      <p:cNvPicPr>
                        <a:picLocks noChangeAspect="1" noChangeArrowheads="1"/>
                      </p:cNvPicPr>
                      <p:nvPr/>
                    </p:nvPicPr>
                    <p:blipFill>
                      <a:blip r:embed="rId3">
                        <a:extLst>
                          <a:ext uri="{28A0092B-C50C-407E-A947-70E740481C1C}">
                            <a14:useLocalDpi xmlns:a14="http://schemas.microsoft.com/office/drawing/2010/main" val="0"/>
                          </a:ext>
                        </a:extLst>
                      </a:blip>
                      <a:srcRect r="1582"/>
                      <a:stretch>
                        <a:fillRect/>
                      </a:stretch>
                    </p:blipFill>
                    <p:spPr bwMode="auto">
                      <a:xfrm>
                        <a:off x="1412875" y="1881188"/>
                        <a:ext cx="7208838" cy="4210050"/>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7746" name="Object 2">
            <a:extLst>
              <a:ext uri="{FF2B5EF4-FFF2-40B4-BE49-F238E27FC236}">
                <a16:creationId xmlns:a16="http://schemas.microsoft.com/office/drawing/2014/main" id="{92AA9998-24F5-5D22-61C6-FB0095FBAF8C}"/>
              </a:ext>
            </a:extLst>
          </p:cNvPr>
          <p:cNvGraphicFramePr>
            <a:graphicFrameLocks noChangeAspect="1"/>
          </p:cNvGraphicFramePr>
          <p:nvPr/>
        </p:nvGraphicFramePr>
        <p:xfrm>
          <a:off x="2386013" y="2101850"/>
          <a:ext cx="6843712" cy="4441825"/>
        </p:xfrm>
        <a:graphic>
          <a:graphicData uri="http://schemas.openxmlformats.org/presentationml/2006/ole">
            <mc:AlternateContent xmlns:mc="http://schemas.openxmlformats.org/markup-compatibility/2006">
              <mc:Choice xmlns:v="urn:schemas-microsoft-com:vml" Requires="v">
                <p:oleObj name="Worksheet" r:id="rId3" imgW="9385300" imgH="5372100" progId="Excel.Sheet.8">
                  <p:link updateAutomatic="1"/>
                </p:oleObj>
              </mc:Choice>
              <mc:Fallback>
                <p:oleObj name="Worksheet" r:id="rId3" imgW="9385300" imgH="5372100" progId="Excel.Sheet.8">
                  <p:link updateAutomatic="1"/>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l="6963" t="2237" r="6783"/>
                      <a:stretch>
                        <a:fillRect/>
                      </a:stretch>
                    </p:blipFill>
                    <p:spPr bwMode="auto">
                      <a:xfrm>
                        <a:off x="2386013" y="2101850"/>
                        <a:ext cx="6843712" cy="444182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7747" name="Text Box 3">
            <a:extLst>
              <a:ext uri="{FF2B5EF4-FFF2-40B4-BE49-F238E27FC236}">
                <a16:creationId xmlns:a16="http://schemas.microsoft.com/office/drawing/2014/main" id="{A4884D18-7586-FA28-38BE-2F9D0E167DBB}"/>
              </a:ext>
            </a:extLst>
          </p:cNvPr>
          <p:cNvSpPr txBox="1">
            <a:spLocks noChangeArrowheads="1"/>
          </p:cNvSpPr>
          <p:nvPr/>
        </p:nvSpPr>
        <p:spPr bwMode="auto">
          <a:xfrm>
            <a:off x="8235950" y="2219325"/>
            <a:ext cx="8540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solidFill>
                  <a:srgbClr val="A50021"/>
                </a:solidFill>
              </a:rPr>
              <a:t>Low Risk</a:t>
            </a:r>
            <a:endParaRPr lang="en-US" altLang="en-US" sz="1200" b="0"/>
          </a:p>
        </p:txBody>
      </p:sp>
      <p:sp>
        <p:nvSpPr>
          <p:cNvPr id="287748" name="Text Box 4">
            <a:extLst>
              <a:ext uri="{FF2B5EF4-FFF2-40B4-BE49-F238E27FC236}">
                <a16:creationId xmlns:a16="http://schemas.microsoft.com/office/drawing/2014/main" id="{0E50876F-E73A-7480-80B4-793944B64A27}"/>
              </a:ext>
            </a:extLst>
          </p:cNvPr>
          <p:cNvSpPr txBox="1">
            <a:spLocks noChangeArrowheads="1"/>
          </p:cNvSpPr>
          <p:nvPr/>
        </p:nvSpPr>
        <p:spPr bwMode="auto">
          <a:xfrm>
            <a:off x="2500313" y="6073775"/>
            <a:ext cx="887412"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solidFill>
                  <a:srgbClr val="A50021"/>
                </a:solidFill>
              </a:rPr>
              <a:t>High Risk</a:t>
            </a:r>
            <a:endParaRPr lang="en-US" altLang="en-US" sz="1200" b="0"/>
          </a:p>
        </p:txBody>
      </p:sp>
      <p:sp>
        <p:nvSpPr>
          <p:cNvPr id="287749" name="Rectangle 5">
            <a:extLst>
              <a:ext uri="{FF2B5EF4-FFF2-40B4-BE49-F238E27FC236}">
                <a16:creationId xmlns:a16="http://schemas.microsoft.com/office/drawing/2014/main" id="{9AFF7631-14E8-281F-23C2-3CB9E68FFF19}"/>
              </a:ext>
            </a:extLst>
          </p:cNvPr>
          <p:cNvSpPr>
            <a:spLocks noChangeArrowheads="1"/>
          </p:cNvSpPr>
          <p:nvPr/>
        </p:nvSpPr>
        <p:spPr bwMode="auto">
          <a:xfrm>
            <a:off x="2959100" y="4822825"/>
            <a:ext cx="2590800" cy="1270000"/>
          </a:xfrm>
          <a:prstGeom prst="rect">
            <a:avLst/>
          </a:prstGeom>
          <a:solidFill>
            <a:srgbClr val="A50021"/>
          </a:solidFill>
          <a:ln w="9525">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750" name="Text Box 6">
            <a:extLst>
              <a:ext uri="{FF2B5EF4-FFF2-40B4-BE49-F238E27FC236}">
                <a16:creationId xmlns:a16="http://schemas.microsoft.com/office/drawing/2014/main" id="{0E95EC6D-9C42-E0DF-82C0-902701D67B71}"/>
              </a:ext>
            </a:extLst>
          </p:cNvPr>
          <p:cNvSpPr txBox="1">
            <a:spLocks noChangeArrowheads="1"/>
          </p:cNvSpPr>
          <p:nvPr/>
        </p:nvSpPr>
        <p:spPr bwMode="auto">
          <a:xfrm>
            <a:off x="3792538" y="5167313"/>
            <a:ext cx="9239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a:solidFill>
                  <a:schemeClr val="bg1"/>
                </a:solidFill>
              </a:rPr>
              <a:t>Danger Zone</a:t>
            </a:r>
            <a:endParaRPr lang="en-US" altLang="en-US" sz="1600"/>
          </a:p>
        </p:txBody>
      </p:sp>
      <p:sp>
        <p:nvSpPr>
          <p:cNvPr id="287751" name="Text Box 7">
            <a:extLst>
              <a:ext uri="{FF2B5EF4-FFF2-40B4-BE49-F238E27FC236}">
                <a16:creationId xmlns:a16="http://schemas.microsoft.com/office/drawing/2014/main" id="{1D0A74FD-3A5C-B4A7-A72A-F207AD320566}"/>
              </a:ext>
            </a:extLst>
          </p:cNvPr>
          <p:cNvSpPr txBox="1">
            <a:spLocks noChangeArrowheads="1"/>
          </p:cNvSpPr>
          <p:nvPr/>
        </p:nvSpPr>
        <p:spPr bwMode="auto">
          <a:xfrm>
            <a:off x="576263" y="685800"/>
            <a:ext cx="929005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Currency Vulnerability Framework</a:t>
            </a:r>
          </a:p>
        </p:txBody>
      </p:sp>
      <p:grpSp>
        <p:nvGrpSpPr>
          <p:cNvPr id="287752" name="Group 8">
            <a:extLst>
              <a:ext uri="{FF2B5EF4-FFF2-40B4-BE49-F238E27FC236}">
                <a16:creationId xmlns:a16="http://schemas.microsoft.com/office/drawing/2014/main" id="{9A7E5B2F-B0C4-FA65-5C24-9B74B93D20B3}"/>
              </a:ext>
            </a:extLst>
          </p:cNvPr>
          <p:cNvGrpSpPr>
            <a:grpSpLocks/>
          </p:cNvGrpSpPr>
          <p:nvPr/>
        </p:nvGrpSpPr>
        <p:grpSpPr bwMode="auto">
          <a:xfrm>
            <a:off x="533400" y="6016625"/>
            <a:ext cx="1612900" cy="1092200"/>
            <a:chOff x="336" y="3790"/>
            <a:chExt cx="1016" cy="688"/>
          </a:xfrm>
        </p:grpSpPr>
        <p:sp>
          <p:nvSpPr>
            <p:cNvPr id="287753" name="Oval 9">
              <a:extLst>
                <a:ext uri="{FF2B5EF4-FFF2-40B4-BE49-F238E27FC236}">
                  <a16:creationId xmlns:a16="http://schemas.microsoft.com/office/drawing/2014/main" id="{58789E92-3521-A89D-AABE-543D19D70D1E}"/>
                </a:ext>
              </a:extLst>
            </p:cNvPr>
            <p:cNvSpPr>
              <a:spLocks noChangeArrowheads="1"/>
            </p:cNvSpPr>
            <p:nvPr/>
          </p:nvSpPr>
          <p:spPr bwMode="auto">
            <a:xfrm>
              <a:off x="337" y="3790"/>
              <a:ext cx="321" cy="321"/>
            </a:xfrm>
            <a:prstGeom prst="ellipse">
              <a:avLst/>
            </a:prstGeom>
            <a:solidFill>
              <a:srgbClr val="002B7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754" name="Oval 10">
              <a:extLst>
                <a:ext uri="{FF2B5EF4-FFF2-40B4-BE49-F238E27FC236}">
                  <a16:creationId xmlns:a16="http://schemas.microsoft.com/office/drawing/2014/main" id="{55836C66-F8B8-6D85-31DD-2CAA042DBE7A}"/>
                </a:ext>
              </a:extLst>
            </p:cNvPr>
            <p:cNvSpPr>
              <a:spLocks noChangeArrowheads="1"/>
            </p:cNvSpPr>
            <p:nvPr/>
          </p:nvSpPr>
          <p:spPr bwMode="auto">
            <a:xfrm>
              <a:off x="336" y="4157"/>
              <a:ext cx="321" cy="321"/>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755" name="Rectangle 11">
              <a:extLst>
                <a:ext uri="{FF2B5EF4-FFF2-40B4-BE49-F238E27FC236}">
                  <a16:creationId xmlns:a16="http://schemas.microsoft.com/office/drawing/2014/main" id="{3EC648F1-BB62-D4BB-3BE4-ED8E0F6E7D6A}"/>
                </a:ext>
              </a:extLst>
            </p:cNvPr>
            <p:cNvSpPr>
              <a:spLocks noChangeArrowheads="1"/>
            </p:cNvSpPr>
            <p:nvPr/>
          </p:nvSpPr>
          <p:spPr bwMode="auto">
            <a:xfrm>
              <a:off x="792" y="3900"/>
              <a:ext cx="222"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756" name="Rectangle 12">
              <a:extLst>
                <a:ext uri="{FF2B5EF4-FFF2-40B4-BE49-F238E27FC236}">
                  <a16:creationId xmlns:a16="http://schemas.microsoft.com/office/drawing/2014/main" id="{386C5D35-E5D2-C475-7E05-997BD827071B}"/>
                </a:ext>
              </a:extLst>
            </p:cNvPr>
            <p:cNvSpPr>
              <a:spLocks noChangeArrowheads="1"/>
            </p:cNvSpPr>
            <p:nvPr/>
          </p:nvSpPr>
          <p:spPr bwMode="auto">
            <a:xfrm>
              <a:off x="792" y="4266"/>
              <a:ext cx="221"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757" name="Rectangle 13">
              <a:extLst>
                <a:ext uri="{FF2B5EF4-FFF2-40B4-BE49-F238E27FC236}">
                  <a16:creationId xmlns:a16="http://schemas.microsoft.com/office/drawing/2014/main" id="{AA4CF397-2CBD-D6FD-F07D-E68BB068E112}"/>
                </a:ext>
              </a:extLst>
            </p:cNvPr>
            <p:cNvSpPr>
              <a:spLocks noChangeArrowheads="1"/>
            </p:cNvSpPr>
            <p:nvPr/>
          </p:nvSpPr>
          <p:spPr bwMode="auto">
            <a:xfrm>
              <a:off x="1131" y="4037"/>
              <a:ext cx="221" cy="193"/>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758" name="Line 14">
              <a:extLst>
                <a:ext uri="{FF2B5EF4-FFF2-40B4-BE49-F238E27FC236}">
                  <a16:creationId xmlns:a16="http://schemas.microsoft.com/office/drawing/2014/main" id="{D6383C03-88BB-3B14-4E96-B39CAE532E1F}"/>
                </a:ext>
              </a:extLst>
            </p:cNvPr>
            <p:cNvSpPr>
              <a:spLocks noChangeShapeType="1"/>
            </p:cNvSpPr>
            <p:nvPr/>
          </p:nvSpPr>
          <p:spPr bwMode="auto">
            <a:xfrm>
              <a:off x="659" y="3951"/>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759" name="Line 15">
              <a:extLst>
                <a:ext uri="{FF2B5EF4-FFF2-40B4-BE49-F238E27FC236}">
                  <a16:creationId xmlns:a16="http://schemas.microsoft.com/office/drawing/2014/main" id="{2EB06C23-B2CB-687C-4B3F-D70BA3874B50}"/>
                </a:ext>
              </a:extLst>
            </p:cNvPr>
            <p:cNvSpPr>
              <a:spLocks noChangeShapeType="1"/>
            </p:cNvSpPr>
            <p:nvPr/>
          </p:nvSpPr>
          <p:spPr bwMode="auto">
            <a:xfrm>
              <a:off x="659" y="4317"/>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760" name="Line 16">
              <a:extLst>
                <a:ext uri="{FF2B5EF4-FFF2-40B4-BE49-F238E27FC236}">
                  <a16:creationId xmlns:a16="http://schemas.microsoft.com/office/drawing/2014/main" id="{736A8509-2B31-A765-AAE3-18E469F481C9}"/>
                </a:ext>
              </a:extLst>
            </p:cNvPr>
            <p:cNvSpPr>
              <a:spLocks noChangeShapeType="1"/>
            </p:cNvSpPr>
            <p:nvPr/>
          </p:nvSpPr>
          <p:spPr bwMode="auto">
            <a:xfrm>
              <a:off x="903" y="3998"/>
              <a:ext cx="0" cy="12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761" name="Line 17">
              <a:extLst>
                <a:ext uri="{FF2B5EF4-FFF2-40B4-BE49-F238E27FC236}">
                  <a16:creationId xmlns:a16="http://schemas.microsoft.com/office/drawing/2014/main" id="{4EE8613C-BA8C-DA28-1E96-A9FA7BA761D9}"/>
                </a:ext>
              </a:extLst>
            </p:cNvPr>
            <p:cNvSpPr>
              <a:spLocks noChangeShapeType="1"/>
            </p:cNvSpPr>
            <p:nvPr/>
          </p:nvSpPr>
          <p:spPr bwMode="auto">
            <a:xfrm flipV="1">
              <a:off x="903" y="4142"/>
              <a:ext cx="0" cy="121"/>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762" name="Line 18">
              <a:extLst>
                <a:ext uri="{FF2B5EF4-FFF2-40B4-BE49-F238E27FC236}">
                  <a16:creationId xmlns:a16="http://schemas.microsoft.com/office/drawing/2014/main" id="{345FA6ED-5730-A3D5-CB73-5C76FD457D82}"/>
                </a:ext>
              </a:extLst>
            </p:cNvPr>
            <p:cNvSpPr>
              <a:spLocks noChangeShapeType="1"/>
            </p:cNvSpPr>
            <p:nvPr/>
          </p:nvSpPr>
          <p:spPr bwMode="auto">
            <a:xfrm>
              <a:off x="915" y="4136"/>
              <a:ext cx="2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87763" name="Text Box 19">
            <a:extLst>
              <a:ext uri="{FF2B5EF4-FFF2-40B4-BE49-F238E27FC236}">
                <a16:creationId xmlns:a16="http://schemas.microsoft.com/office/drawing/2014/main" id="{2E65F112-81CF-1D7C-27EB-B95E0B9C489D}"/>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Text Box 4098">
            <a:extLst>
              <a:ext uri="{FF2B5EF4-FFF2-40B4-BE49-F238E27FC236}">
                <a16:creationId xmlns:a16="http://schemas.microsoft.com/office/drawing/2014/main" id="{71AB660A-1558-725F-2216-1F6B802C6317}"/>
              </a:ext>
            </a:extLst>
          </p:cNvPr>
          <p:cNvSpPr txBox="1">
            <a:spLocks noChangeArrowheads="1"/>
          </p:cNvSpPr>
          <p:nvPr/>
        </p:nvSpPr>
        <p:spPr bwMode="auto">
          <a:xfrm>
            <a:off x="576263" y="685800"/>
            <a:ext cx="929005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Mexico Currency Situation</a:t>
            </a:r>
          </a:p>
        </p:txBody>
      </p:sp>
      <p:sp>
        <p:nvSpPr>
          <p:cNvPr id="288771" name="Text Box 4099">
            <a:extLst>
              <a:ext uri="{FF2B5EF4-FFF2-40B4-BE49-F238E27FC236}">
                <a16:creationId xmlns:a16="http://schemas.microsoft.com/office/drawing/2014/main" id="{B96C9E71-01C4-1DE7-E1C5-EC67EDB36CC9}"/>
              </a:ext>
            </a:extLst>
          </p:cNvPr>
          <p:cNvSpPr txBox="1">
            <a:spLocks noChangeArrowheads="1"/>
          </p:cNvSpPr>
          <p:nvPr/>
        </p:nvSpPr>
        <p:spPr bwMode="auto">
          <a:xfrm>
            <a:off x="3638550" y="1855788"/>
            <a:ext cx="2765425" cy="304800"/>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January 1990 - December 2001</a:t>
            </a:r>
          </a:p>
        </p:txBody>
      </p:sp>
      <p:grpSp>
        <p:nvGrpSpPr>
          <p:cNvPr id="288772" name="Group 4100">
            <a:extLst>
              <a:ext uri="{FF2B5EF4-FFF2-40B4-BE49-F238E27FC236}">
                <a16:creationId xmlns:a16="http://schemas.microsoft.com/office/drawing/2014/main" id="{9FE14ED3-7EDE-3784-AAD8-0C6901E4FEFC}"/>
              </a:ext>
            </a:extLst>
          </p:cNvPr>
          <p:cNvGrpSpPr>
            <a:grpSpLocks/>
          </p:cNvGrpSpPr>
          <p:nvPr/>
        </p:nvGrpSpPr>
        <p:grpSpPr bwMode="auto">
          <a:xfrm>
            <a:off x="533400" y="6016625"/>
            <a:ext cx="1612900" cy="1092200"/>
            <a:chOff x="336" y="3790"/>
            <a:chExt cx="1016" cy="688"/>
          </a:xfrm>
        </p:grpSpPr>
        <p:sp>
          <p:nvSpPr>
            <p:cNvPr id="288773" name="Oval 4101">
              <a:extLst>
                <a:ext uri="{FF2B5EF4-FFF2-40B4-BE49-F238E27FC236}">
                  <a16:creationId xmlns:a16="http://schemas.microsoft.com/office/drawing/2014/main" id="{96ABD68E-C62D-AFF9-FF6B-559A6401AE31}"/>
                </a:ext>
              </a:extLst>
            </p:cNvPr>
            <p:cNvSpPr>
              <a:spLocks noChangeArrowheads="1"/>
            </p:cNvSpPr>
            <p:nvPr/>
          </p:nvSpPr>
          <p:spPr bwMode="auto">
            <a:xfrm>
              <a:off x="337" y="3790"/>
              <a:ext cx="321" cy="321"/>
            </a:xfrm>
            <a:prstGeom prst="ellipse">
              <a:avLst/>
            </a:prstGeom>
            <a:solidFill>
              <a:srgbClr val="002B7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8774" name="Oval 4102">
              <a:extLst>
                <a:ext uri="{FF2B5EF4-FFF2-40B4-BE49-F238E27FC236}">
                  <a16:creationId xmlns:a16="http://schemas.microsoft.com/office/drawing/2014/main" id="{03BB5944-A477-ABB6-8962-00964ED7F6CB}"/>
                </a:ext>
              </a:extLst>
            </p:cNvPr>
            <p:cNvSpPr>
              <a:spLocks noChangeArrowheads="1"/>
            </p:cNvSpPr>
            <p:nvPr/>
          </p:nvSpPr>
          <p:spPr bwMode="auto">
            <a:xfrm>
              <a:off x="336" y="4157"/>
              <a:ext cx="321" cy="321"/>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8775" name="Rectangle 4103">
              <a:extLst>
                <a:ext uri="{FF2B5EF4-FFF2-40B4-BE49-F238E27FC236}">
                  <a16:creationId xmlns:a16="http://schemas.microsoft.com/office/drawing/2014/main" id="{4EABD38E-5877-66FC-2CD7-0C983ED6E2C6}"/>
                </a:ext>
              </a:extLst>
            </p:cNvPr>
            <p:cNvSpPr>
              <a:spLocks noChangeArrowheads="1"/>
            </p:cNvSpPr>
            <p:nvPr/>
          </p:nvSpPr>
          <p:spPr bwMode="auto">
            <a:xfrm>
              <a:off x="792" y="3900"/>
              <a:ext cx="222"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8776" name="Rectangle 4104">
              <a:extLst>
                <a:ext uri="{FF2B5EF4-FFF2-40B4-BE49-F238E27FC236}">
                  <a16:creationId xmlns:a16="http://schemas.microsoft.com/office/drawing/2014/main" id="{C8F5EAD9-6C12-C3AD-B267-44A1867EE44A}"/>
                </a:ext>
              </a:extLst>
            </p:cNvPr>
            <p:cNvSpPr>
              <a:spLocks noChangeArrowheads="1"/>
            </p:cNvSpPr>
            <p:nvPr/>
          </p:nvSpPr>
          <p:spPr bwMode="auto">
            <a:xfrm>
              <a:off x="792" y="4266"/>
              <a:ext cx="221"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8777" name="Rectangle 4105">
              <a:extLst>
                <a:ext uri="{FF2B5EF4-FFF2-40B4-BE49-F238E27FC236}">
                  <a16:creationId xmlns:a16="http://schemas.microsoft.com/office/drawing/2014/main" id="{0A789413-1A32-6937-C27A-6D27DE59915D}"/>
                </a:ext>
              </a:extLst>
            </p:cNvPr>
            <p:cNvSpPr>
              <a:spLocks noChangeArrowheads="1"/>
            </p:cNvSpPr>
            <p:nvPr/>
          </p:nvSpPr>
          <p:spPr bwMode="auto">
            <a:xfrm>
              <a:off x="1131" y="4037"/>
              <a:ext cx="221" cy="193"/>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8778" name="Line 4106">
              <a:extLst>
                <a:ext uri="{FF2B5EF4-FFF2-40B4-BE49-F238E27FC236}">
                  <a16:creationId xmlns:a16="http://schemas.microsoft.com/office/drawing/2014/main" id="{87DF263D-72AD-A8F6-58E1-B2ECA0C4479B}"/>
                </a:ext>
              </a:extLst>
            </p:cNvPr>
            <p:cNvSpPr>
              <a:spLocks noChangeShapeType="1"/>
            </p:cNvSpPr>
            <p:nvPr/>
          </p:nvSpPr>
          <p:spPr bwMode="auto">
            <a:xfrm>
              <a:off x="659" y="3951"/>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8779" name="Line 4107">
              <a:extLst>
                <a:ext uri="{FF2B5EF4-FFF2-40B4-BE49-F238E27FC236}">
                  <a16:creationId xmlns:a16="http://schemas.microsoft.com/office/drawing/2014/main" id="{F02C6E2B-3724-0760-57D9-0F1AA3E30699}"/>
                </a:ext>
              </a:extLst>
            </p:cNvPr>
            <p:cNvSpPr>
              <a:spLocks noChangeShapeType="1"/>
            </p:cNvSpPr>
            <p:nvPr/>
          </p:nvSpPr>
          <p:spPr bwMode="auto">
            <a:xfrm>
              <a:off x="659" y="4317"/>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8780" name="Line 4108">
              <a:extLst>
                <a:ext uri="{FF2B5EF4-FFF2-40B4-BE49-F238E27FC236}">
                  <a16:creationId xmlns:a16="http://schemas.microsoft.com/office/drawing/2014/main" id="{8B75670C-DFB2-2F18-72B8-ACE81B7457FB}"/>
                </a:ext>
              </a:extLst>
            </p:cNvPr>
            <p:cNvSpPr>
              <a:spLocks noChangeShapeType="1"/>
            </p:cNvSpPr>
            <p:nvPr/>
          </p:nvSpPr>
          <p:spPr bwMode="auto">
            <a:xfrm>
              <a:off x="903" y="3998"/>
              <a:ext cx="0" cy="12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8781" name="Line 4109">
              <a:extLst>
                <a:ext uri="{FF2B5EF4-FFF2-40B4-BE49-F238E27FC236}">
                  <a16:creationId xmlns:a16="http://schemas.microsoft.com/office/drawing/2014/main" id="{B0E6242F-6332-6A49-165E-11023D3C17EA}"/>
                </a:ext>
              </a:extLst>
            </p:cNvPr>
            <p:cNvSpPr>
              <a:spLocks noChangeShapeType="1"/>
            </p:cNvSpPr>
            <p:nvPr/>
          </p:nvSpPr>
          <p:spPr bwMode="auto">
            <a:xfrm flipV="1">
              <a:off x="903" y="4142"/>
              <a:ext cx="0" cy="121"/>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8782" name="Line 4110">
              <a:extLst>
                <a:ext uri="{FF2B5EF4-FFF2-40B4-BE49-F238E27FC236}">
                  <a16:creationId xmlns:a16="http://schemas.microsoft.com/office/drawing/2014/main" id="{3D29E22B-E58C-800A-7417-60357E9B2F1E}"/>
                </a:ext>
              </a:extLst>
            </p:cNvPr>
            <p:cNvSpPr>
              <a:spLocks noChangeShapeType="1"/>
            </p:cNvSpPr>
            <p:nvPr/>
          </p:nvSpPr>
          <p:spPr bwMode="auto">
            <a:xfrm>
              <a:off x="915" y="4136"/>
              <a:ext cx="2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88783" name="Text Box 4111">
            <a:extLst>
              <a:ext uri="{FF2B5EF4-FFF2-40B4-BE49-F238E27FC236}">
                <a16:creationId xmlns:a16="http://schemas.microsoft.com/office/drawing/2014/main" id="{50E77FDE-051A-C8AE-ED83-A9435B5C4B88}"/>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
        <p:nvSpPr>
          <p:cNvPr id="288786" name="Text Box 4114">
            <a:extLst>
              <a:ext uri="{FF2B5EF4-FFF2-40B4-BE49-F238E27FC236}">
                <a16:creationId xmlns:a16="http://schemas.microsoft.com/office/drawing/2014/main" id="{297046B5-27D5-CA4F-23D4-C1CC53D2AE69}"/>
              </a:ext>
            </a:extLst>
          </p:cNvPr>
          <p:cNvSpPr txBox="1">
            <a:spLocks noChangeArrowheads="1"/>
          </p:cNvSpPr>
          <p:nvPr/>
        </p:nvSpPr>
        <p:spPr bwMode="auto">
          <a:xfrm>
            <a:off x="8575675" y="7153275"/>
            <a:ext cx="9461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000" b="0">
                <a:latin typeface="Times New Roman" panose="02020603050405020304" pitchFamily="18" charset="0"/>
              </a:rPr>
              <a:t>As of 12/31/01</a:t>
            </a:r>
          </a:p>
        </p:txBody>
      </p:sp>
      <p:graphicFrame>
        <p:nvGraphicFramePr>
          <p:cNvPr id="288788" name="Object 4116">
            <a:extLst>
              <a:ext uri="{FF2B5EF4-FFF2-40B4-BE49-F238E27FC236}">
                <a16:creationId xmlns:a16="http://schemas.microsoft.com/office/drawing/2014/main" id="{0F40BDD4-E978-830D-A68E-E867CC47E777}"/>
              </a:ext>
            </a:extLst>
          </p:cNvPr>
          <p:cNvGraphicFramePr>
            <a:graphicFrameLocks noChangeAspect="1"/>
          </p:cNvGraphicFramePr>
          <p:nvPr/>
        </p:nvGraphicFramePr>
        <p:xfrm>
          <a:off x="1747838" y="2066925"/>
          <a:ext cx="6540500" cy="4144963"/>
        </p:xfrm>
        <a:graphic>
          <a:graphicData uri="http://schemas.openxmlformats.org/presentationml/2006/ole">
            <mc:AlternateContent xmlns:mc="http://schemas.openxmlformats.org/markup-compatibility/2006">
              <mc:Choice xmlns:v="urn:schemas-microsoft-com:vml" Requires="v">
                <p:oleObj name="Worksheet" r:id="rId3" imgW="7670800" imgH="4254500" progId="Excel.Sheet.8">
                  <p:link updateAutomatic="1"/>
                </p:oleObj>
              </mc:Choice>
              <mc:Fallback>
                <p:oleObj name="Worksheet" r:id="rId3" imgW="7670800" imgH="4254500" progId="Excel.Sheet.8">
                  <p:link updateAutomatic="1"/>
                  <p:pic>
                    <p:nvPicPr>
                      <p:cNvPr id="0" name="Object 4116"/>
                      <p:cNvPicPr>
                        <a:picLocks noChangeAspect="1" noChangeArrowheads="1"/>
                      </p:cNvPicPr>
                      <p:nvPr/>
                    </p:nvPicPr>
                    <p:blipFill>
                      <a:blip r:embed="rId4">
                        <a:extLst>
                          <a:ext uri="{28A0092B-C50C-407E-A947-70E740481C1C}">
                            <a14:useLocalDpi xmlns:a14="http://schemas.microsoft.com/office/drawing/2010/main" val="0"/>
                          </a:ext>
                        </a:extLst>
                      </a:blip>
                      <a:srcRect l="7239" t="2466" r="7549"/>
                      <a:stretch>
                        <a:fillRect/>
                      </a:stretch>
                    </p:blipFill>
                    <p:spPr bwMode="auto">
                      <a:xfrm>
                        <a:off x="1747838" y="2066925"/>
                        <a:ext cx="6540500" cy="4144963"/>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9794" name="Object 2">
            <a:extLst>
              <a:ext uri="{FF2B5EF4-FFF2-40B4-BE49-F238E27FC236}">
                <a16:creationId xmlns:a16="http://schemas.microsoft.com/office/drawing/2014/main" id="{AF02E99B-F1A1-23EF-8583-BBA236198493}"/>
              </a:ext>
            </a:extLst>
          </p:cNvPr>
          <p:cNvGraphicFramePr>
            <a:graphicFrameLocks noChangeAspect="1"/>
          </p:cNvGraphicFramePr>
          <p:nvPr/>
        </p:nvGraphicFramePr>
        <p:xfrm>
          <a:off x="519113" y="2074863"/>
          <a:ext cx="4378325" cy="3735387"/>
        </p:xfrm>
        <a:graphic>
          <a:graphicData uri="http://schemas.openxmlformats.org/presentationml/2006/ole">
            <mc:AlternateContent xmlns:mc="http://schemas.openxmlformats.org/markup-compatibility/2006">
              <mc:Choice xmlns:v="urn:schemas-microsoft-com:vml" Requires="v">
                <p:oleObj name="Worksheet" r:id="rId2" imgW="5778500" imgH="4610100" progId="Excel.Sheet.8">
                  <p:link updateAutomatic="1"/>
                </p:oleObj>
              </mc:Choice>
              <mc:Fallback>
                <p:oleObj name="Worksheet" r:id="rId2" imgW="5778500" imgH="4610100" progId="Excel.Sheet.8">
                  <p:link updateAutomatic="1"/>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t="2242" r="10396" b="1874"/>
                      <a:stretch>
                        <a:fillRect/>
                      </a:stretch>
                    </p:blipFill>
                    <p:spPr bwMode="auto">
                      <a:xfrm>
                        <a:off x="519113" y="2074863"/>
                        <a:ext cx="4378325" cy="3735387"/>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9795" name="Object 3">
            <a:extLst>
              <a:ext uri="{FF2B5EF4-FFF2-40B4-BE49-F238E27FC236}">
                <a16:creationId xmlns:a16="http://schemas.microsoft.com/office/drawing/2014/main" id="{8BF48A45-6095-C63E-6CA3-06EA61602EB4}"/>
              </a:ext>
            </a:extLst>
          </p:cNvPr>
          <p:cNvGraphicFramePr>
            <a:graphicFrameLocks noChangeAspect="1"/>
          </p:cNvGraphicFramePr>
          <p:nvPr/>
        </p:nvGraphicFramePr>
        <p:xfrm>
          <a:off x="5222875" y="2060575"/>
          <a:ext cx="4343400" cy="3690938"/>
        </p:xfrm>
        <a:graphic>
          <a:graphicData uri="http://schemas.openxmlformats.org/presentationml/2006/ole">
            <mc:AlternateContent xmlns:mc="http://schemas.openxmlformats.org/markup-compatibility/2006">
              <mc:Choice xmlns:v="urn:schemas-microsoft-com:vml" Requires="v">
                <p:oleObj name="Worksheet" r:id="rId4" imgW="5778500" imgH="4610100" progId="Excel.Sheet.8">
                  <p:link updateAutomatic="1"/>
                </p:oleObj>
              </mc:Choice>
              <mc:Fallback>
                <p:oleObj name="Worksheet" r:id="rId4" imgW="5778500" imgH="4610100" progId="Excel.Sheet.8">
                  <p:link updateAutomatic="1"/>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11111" t="1508" b="3749"/>
                      <a:stretch>
                        <a:fillRect/>
                      </a:stretch>
                    </p:blipFill>
                    <p:spPr bwMode="auto">
                      <a:xfrm>
                        <a:off x="5222875" y="2060575"/>
                        <a:ext cx="4343400" cy="3690938"/>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9796" name="Text Box 4">
            <a:extLst>
              <a:ext uri="{FF2B5EF4-FFF2-40B4-BE49-F238E27FC236}">
                <a16:creationId xmlns:a16="http://schemas.microsoft.com/office/drawing/2014/main" id="{2BA1FBF3-9A66-4DE8-ADB8-7A02CE415453}"/>
              </a:ext>
            </a:extLst>
          </p:cNvPr>
          <p:cNvSpPr txBox="1">
            <a:spLocks noChangeArrowheads="1"/>
          </p:cNvSpPr>
          <p:nvPr/>
        </p:nvSpPr>
        <p:spPr bwMode="auto">
          <a:xfrm>
            <a:off x="2217738" y="1879600"/>
            <a:ext cx="9810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July 1997</a:t>
            </a:r>
          </a:p>
        </p:txBody>
      </p:sp>
      <p:sp>
        <p:nvSpPr>
          <p:cNvPr id="289797" name="Text Box 5">
            <a:extLst>
              <a:ext uri="{FF2B5EF4-FFF2-40B4-BE49-F238E27FC236}">
                <a16:creationId xmlns:a16="http://schemas.microsoft.com/office/drawing/2014/main" id="{E7498DC7-A968-8DDE-C901-B61768160F80}"/>
              </a:ext>
            </a:extLst>
          </p:cNvPr>
          <p:cNvSpPr txBox="1">
            <a:spLocks noChangeArrowheads="1"/>
          </p:cNvSpPr>
          <p:nvPr/>
        </p:nvSpPr>
        <p:spPr bwMode="auto">
          <a:xfrm>
            <a:off x="4005263" y="2227263"/>
            <a:ext cx="73977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000">
                <a:solidFill>
                  <a:srgbClr val="A50021"/>
                </a:solidFill>
              </a:rPr>
              <a:t>Low Risk</a:t>
            </a:r>
            <a:endParaRPr lang="en-US" altLang="en-US" sz="1000"/>
          </a:p>
        </p:txBody>
      </p:sp>
      <p:sp>
        <p:nvSpPr>
          <p:cNvPr id="289798" name="Text Box 6">
            <a:extLst>
              <a:ext uri="{FF2B5EF4-FFF2-40B4-BE49-F238E27FC236}">
                <a16:creationId xmlns:a16="http://schemas.microsoft.com/office/drawing/2014/main" id="{E7B97E07-FCAC-B16B-A752-C1431068583F}"/>
              </a:ext>
            </a:extLst>
          </p:cNvPr>
          <p:cNvSpPr txBox="1">
            <a:spLocks noChangeArrowheads="1"/>
          </p:cNvSpPr>
          <p:nvPr/>
        </p:nvSpPr>
        <p:spPr bwMode="auto">
          <a:xfrm>
            <a:off x="665163" y="5411788"/>
            <a:ext cx="7683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000">
                <a:solidFill>
                  <a:srgbClr val="A50021"/>
                </a:solidFill>
              </a:rPr>
              <a:t>High Risk</a:t>
            </a:r>
            <a:endParaRPr lang="en-US" altLang="en-US" sz="1000"/>
          </a:p>
        </p:txBody>
      </p:sp>
      <p:sp>
        <p:nvSpPr>
          <p:cNvPr id="289799" name="Text Box 7">
            <a:extLst>
              <a:ext uri="{FF2B5EF4-FFF2-40B4-BE49-F238E27FC236}">
                <a16:creationId xmlns:a16="http://schemas.microsoft.com/office/drawing/2014/main" id="{887C4E96-B8DD-137A-4F2A-DDF2C89AF3A0}"/>
              </a:ext>
            </a:extLst>
          </p:cNvPr>
          <p:cNvSpPr txBox="1">
            <a:spLocks noChangeArrowheads="1"/>
          </p:cNvSpPr>
          <p:nvPr/>
        </p:nvSpPr>
        <p:spPr bwMode="auto">
          <a:xfrm>
            <a:off x="6651625" y="1879600"/>
            <a:ext cx="14859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December 2000</a:t>
            </a:r>
          </a:p>
        </p:txBody>
      </p:sp>
      <p:sp>
        <p:nvSpPr>
          <p:cNvPr id="289800" name="Text Box 8">
            <a:extLst>
              <a:ext uri="{FF2B5EF4-FFF2-40B4-BE49-F238E27FC236}">
                <a16:creationId xmlns:a16="http://schemas.microsoft.com/office/drawing/2014/main" id="{570B731D-C233-2798-33B9-DDD816E0CFF4}"/>
              </a:ext>
            </a:extLst>
          </p:cNvPr>
          <p:cNvSpPr txBox="1">
            <a:spLocks noChangeArrowheads="1"/>
          </p:cNvSpPr>
          <p:nvPr/>
        </p:nvSpPr>
        <p:spPr bwMode="auto">
          <a:xfrm>
            <a:off x="8697913" y="2209800"/>
            <a:ext cx="73977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000">
                <a:solidFill>
                  <a:srgbClr val="A50021"/>
                </a:solidFill>
              </a:rPr>
              <a:t>Low Risk</a:t>
            </a:r>
            <a:endParaRPr lang="en-US" altLang="en-US" sz="1000"/>
          </a:p>
        </p:txBody>
      </p:sp>
      <p:sp>
        <p:nvSpPr>
          <p:cNvPr id="289801" name="Text Box 9">
            <a:extLst>
              <a:ext uri="{FF2B5EF4-FFF2-40B4-BE49-F238E27FC236}">
                <a16:creationId xmlns:a16="http://schemas.microsoft.com/office/drawing/2014/main" id="{5268D44D-4F3C-84BB-091F-2B59B20D54EF}"/>
              </a:ext>
            </a:extLst>
          </p:cNvPr>
          <p:cNvSpPr txBox="1">
            <a:spLocks noChangeArrowheads="1"/>
          </p:cNvSpPr>
          <p:nvPr/>
        </p:nvSpPr>
        <p:spPr bwMode="auto">
          <a:xfrm>
            <a:off x="5340350" y="5403850"/>
            <a:ext cx="7683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000">
                <a:solidFill>
                  <a:srgbClr val="A50021"/>
                </a:solidFill>
              </a:rPr>
              <a:t>High Risk</a:t>
            </a:r>
            <a:endParaRPr lang="en-US" altLang="en-US" sz="1000"/>
          </a:p>
        </p:txBody>
      </p:sp>
      <p:sp>
        <p:nvSpPr>
          <p:cNvPr id="289802" name="Text Box 10">
            <a:extLst>
              <a:ext uri="{FF2B5EF4-FFF2-40B4-BE49-F238E27FC236}">
                <a16:creationId xmlns:a16="http://schemas.microsoft.com/office/drawing/2014/main" id="{67FD81C5-B08A-0048-7E33-CA8FDD23AD40}"/>
              </a:ext>
            </a:extLst>
          </p:cNvPr>
          <p:cNvSpPr txBox="1">
            <a:spLocks noChangeArrowheads="1"/>
          </p:cNvSpPr>
          <p:nvPr/>
        </p:nvSpPr>
        <p:spPr bwMode="auto">
          <a:xfrm>
            <a:off x="576263" y="671513"/>
            <a:ext cx="9304337"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Currency Vulnerability:  Improving Fundamentals</a:t>
            </a:r>
          </a:p>
        </p:txBody>
      </p:sp>
      <p:grpSp>
        <p:nvGrpSpPr>
          <p:cNvPr id="289803" name="Group 11">
            <a:extLst>
              <a:ext uri="{FF2B5EF4-FFF2-40B4-BE49-F238E27FC236}">
                <a16:creationId xmlns:a16="http://schemas.microsoft.com/office/drawing/2014/main" id="{B7C12A43-1F9B-C5CE-C041-12E3F7379FFE}"/>
              </a:ext>
            </a:extLst>
          </p:cNvPr>
          <p:cNvGrpSpPr>
            <a:grpSpLocks/>
          </p:cNvGrpSpPr>
          <p:nvPr/>
        </p:nvGrpSpPr>
        <p:grpSpPr bwMode="auto">
          <a:xfrm>
            <a:off x="533400" y="6016625"/>
            <a:ext cx="1612900" cy="1092200"/>
            <a:chOff x="336" y="3790"/>
            <a:chExt cx="1016" cy="688"/>
          </a:xfrm>
        </p:grpSpPr>
        <p:sp>
          <p:nvSpPr>
            <p:cNvPr id="289804" name="Oval 12">
              <a:extLst>
                <a:ext uri="{FF2B5EF4-FFF2-40B4-BE49-F238E27FC236}">
                  <a16:creationId xmlns:a16="http://schemas.microsoft.com/office/drawing/2014/main" id="{E7A7F88B-19BF-881F-7C47-4570FB79A140}"/>
                </a:ext>
              </a:extLst>
            </p:cNvPr>
            <p:cNvSpPr>
              <a:spLocks noChangeArrowheads="1"/>
            </p:cNvSpPr>
            <p:nvPr/>
          </p:nvSpPr>
          <p:spPr bwMode="auto">
            <a:xfrm>
              <a:off x="337" y="3790"/>
              <a:ext cx="321" cy="321"/>
            </a:xfrm>
            <a:prstGeom prst="ellipse">
              <a:avLst/>
            </a:prstGeom>
            <a:solidFill>
              <a:srgbClr val="002B7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9805" name="Oval 13">
              <a:extLst>
                <a:ext uri="{FF2B5EF4-FFF2-40B4-BE49-F238E27FC236}">
                  <a16:creationId xmlns:a16="http://schemas.microsoft.com/office/drawing/2014/main" id="{80EF9090-D8B8-51FD-CE17-CF6E3E930D3F}"/>
                </a:ext>
              </a:extLst>
            </p:cNvPr>
            <p:cNvSpPr>
              <a:spLocks noChangeArrowheads="1"/>
            </p:cNvSpPr>
            <p:nvPr/>
          </p:nvSpPr>
          <p:spPr bwMode="auto">
            <a:xfrm>
              <a:off x="336" y="4157"/>
              <a:ext cx="321" cy="321"/>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9806" name="Rectangle 14">
              <a:extLst>
                <a:ext uri="{FF2B5EF4-FFF2-40B4-BE49-F238E27FC236}">
                  <a16:creationId xmlns:a16="http://schemas.microsoft.com/office/drawing/2014/main" id="{22A182B5-9C52-EC6F-914E-5E896E35E996}"/>
                </a:ext>
              </a:extLst>
            </p:cNvPr>
            <p:cNvSpPr>
              <a:spLocks noChangeArrowheads="1"/>
            </p:cNvSpPr>
            <p:nvPr/>
          </p:nvSpPr>
          <p:spPr bwMode="auto">
            <a:xfrm>
              <a:off x="792" y="3900"/>
              <a:ext cx="222"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9807" name="Rectangle 15">
              <a:extLst>
                <a:ext uri="{FF2B5EF4-FFF2-40B4-BE49-F238E27FC236}">
                  <a16:creationId xmlns:a16="http://schemas.microsoft.com/office/drawing/2014/main" id="{80C2AC2D-6159-B7FD-2B9E-0A946E80BBA3}"/>
                </a:ext>
              </a:extLst>
            </p:cNvPr>
            <p:cNvSpPr>
              <a:spLocks noChangeArrowheads="1"/>
            </p:cNvSpPr>
            <p:nvPr/>
          </p:nvSpPr>
          <p:spPr bwMode="auto">
            <a:xfrm>
              <a:off x="792" y="4266"/>
              <a:ext cx="221"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9808" name="Rectangle 16">
              <a:extLst>
                <a:ext uri="{FF2B5EF4-FFF2-40B4-BE49-F238E27FC236}">
                  <a16:creationId xmlns:a16="http://schemas.microsoft.com/office/drawing/2014/main" id="{50ACE004-57DE-B284-4230-C67290B95983}"/>
                </a:ext>
              </a:extLst>
            </p:cNvPr>
            <p:cNvSpPr>
              <a:spLocks noChangeArrowheads="1"/>
            </p:cNvSpPr>
            <p:nvPr/>
          </p:nvSpPr>
          <p:spPr bwMode="auto">
            <a:xfrm>
              <a:off x="1131" y="4037"/>
              <a:ext cx="221" cy="193"/>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9809" name="Line 17">
              <a:extLst>
                <a:ext uri="{FF2B5EF4-FFF2-40B4-BE49-F238E27FC236}">
                  <a16:creationId xmlns:a16="http://schemas.microsoft.com/office/drawing/2014/main" id="{DD3E499D-7EE0-DA9C-BC3D-3E2C7C7D4892}"/>
                </a:ext>
              </a:extLst>
            </p:cNvPr>
            <p:cNvSpPr>
              <a:spLocks noChangeShapeType="1"/>
            </p:cNvSpPr>
            <p:nvPr/>
          </p:nvSpPr>
          <p:spPr bwMode="auto">
            <a:xfrm>
              <a:off x="659" y="3951"/>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9810" name="Line 18">
              <a:extLst>
                <a:ext uri="{FF2B5EF4-FFF2-40B4-BE49-F238E27FC236}">
                  <a16:creationId xmlns:a16="http://schemas.microsoft.com/office/drawing/2014/main" id="{F717BCA2-0635-853E-C3CF-D101B4304AA4}"/>
                </a:ext>
              </a:extLst>
            </p:cNvPr>
            <p:cNvSpPr>
              <a:spLocks noChangeShapeType="1"/>
            </p:cNvSpPr>
            <p:nvPr/>
          </p:nvSpPr>
          <p:spPr bwMode="auto">
            <a:xfrm>
              <a:off x="659" y="4317"/>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9811" name="Line 19">
              <a:extLst>
                <a:ext uri="{FF2B5EF4-FFF2-40B4-BE49-F238E27FC236}">
                  <a16:creationId xmlns:a16="http://schemas.microsoft.com/office/drawing/2014/main" id="{6D33D1F8-3979-CE81-D2BE-929F322710A2}"/>
                </a:ext>
              </a:extLst>
            </p:cNvPr>
            <p:cNvSpPr>
              <a:spLocks noChangeShapeType="1"/>
            </p:cNvSpPr>
            <p:nvPr/>
          </p:nvSpPr>
          <p:spPr bwMode="auto">
            <a:xfrm>
              <a:off x="903" y="3998"/>
              <a:ext cx="0" cy="12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9812" name="Line 20">
              <a:extLst>
                <a:ext uri="{FF2B5EF4-FFF2-40B4-BE49-F238E27FC236}">
                  <a16:creationId xmlns:a16="http://schemas.microsoft.com/office/drawing/2014/main" id="{4ED5B497-528C-2EDB-2854-2306F523BBE8}"/>
                </a:ext>
              </a:extLst>
            </p:cNvPr>
            <p:cNvSpPr>
              <a:spLocks noChangeShapeType="1"/>
            </p:cNvSpPr>
            <p:nvPr/>
          </p:nvSpPr>
          <p:spPr bwMode="auto">
            <a:xfrm flipV="1">
              <a:off x="903" y="4142"/>
              <a:ext cx="0" cy="121"/>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9813" name="Line 21">
              <a:extLst>
                <a:ext uri="{FF2B5EF4-FFF2-40B4-BE49-F238E27FC236}">
                  <a16:creationId xmlns:a16="http://schemas.microsoft.com/office/drawing/2014/main" id="{B6E0E72B-67B0-45B6-3013-2901F9AAF860}"/>
                </a:ext>
              </a:extLst>
            </p:cNvPr>
            <p:cNvSpPr>
              <a:spLocks noChangeShapeType="1"/>
            </p:cNvSpPr>
            <p:nvPr/>
          </p:nvSpPr>
          <p:spPr bwMode="auto">
            <a:xfrm>
              <a:off x="915" y="4136"/>
              <a:ext cx="2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89814" name="Text Box 22">
            <a:extLst>
              <a:ext uri="{FF2B5EF4-FFF2-40B4-BE49-F238E27FC236}">
                <a16:creationId xmlns:a16="http://schemas.microsoft.com/office/drawing/2014/main" id="{4A432BE0-35B5-E064-A1EF-B65145E07AF4}"/>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Text Box 2">
            <a:extLst>
              <a:ext uri="{FF2B5EF4-FFF2-40B4-BE49-F238E27FC236}">
                <a16:creationId xmlns:a16="http://schemas.microsoft.com/office/drawing/2014/main" id="{26760F2E-F983-D537-61F9-539121AC76C2}"/>
              </a:ext>
            </a:extLst>
          </p:cNvPr>
          <p:cNvSpPr txBox="1">
            <a:spLocks noChangeArrowheads="1"/>
          </p:cNvSpPr>
          <p:nvPr/>
        </p:nvSpPr>
        <p:spPr bwMode="auto">
          <a:xfrm>
            <a:off x="576263" y="685800"/>
            <a:ext cx="929005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Currency Situation</a:t>
            </a:r>
          </a:p>
          <a:p>
            <a:pPr algn="l">
              <a:lnSpc>
                <a:spcPct val="125000"/>
              </a:lnSpc>
            </a:pPr>
            <a:r>
              <a:rPr lang="en-US" altLang="en-US" sz="1800" b="0" i="1"/>
              <a:t>As of January 1, 2002</a:t>
            </a:r>
          </a:p>
        </p:txBody>
      </p:sp>
      <p:grpSp>
        <p:nvGrpSpPr>
          <p:cNvPr id="290820" name="Group 4">
            <a:extLst>
              <a:ext uri="{FF2B5EF4-FFF2-40B4-BE49-F238E27FC236}">
                <a16:creationId xmlns:a16="http://schemas.microsoft.com/office/drawing/2014/main" id="{01AA4D46-0FD8-2752-ABC2-90AEBD4472F2}"/>
              </a:ext>
            </a:extLst>
          </p:cNvPr>
          <p:cNvGrpSpPr>
            <a:grpSpLocks/>
          </p:cNvGrpSpPr>
          <p:nvPr/>
        </p:nvGrpSpPr>
        <p:grpSpPr bwMode="auto">
          <a:xfrm>
            <a:off x="533400" y="6016625"/>
            <a:ext cx="1612900" cy="1092200"/>
            <a:chOff x="336" y="3790"/>
            <a:chExt cx="1016" cy="688"/>
          </a:xfrm>
        </p:grpSpPr>
        <p:sp>
          <p:nvSpPr>
            <p:cNvPr id="290821" name="Oval 5">
              <a:extLst>
                <a:ext uri="{FF2B5EF4-FFF2-40B4-BE49-F238E27FC236}">
                  <a16:creationId xmlns:a16="http://schemas.microsoft.com/office/drawing/2014/main" id="{F830EABA-B6AC-CE91-0B60-0A62A83250B6}"/>
                </a:ext>
              </a:extLst>
            </p:cNvPr>
            <p:cNvSpPr>
              <a:spLocks noChangeArrowheads="1"/>
            </p:cNvSpPr>
            <p:nvPr/>
          </p:nvSpPr>
          <p:spPr bwMode="auto">
            <a:xfrm>
              <a:off x="337" y="3790"/>
              <a:ext cx="321" cy="321"/>
            </a:xfrm>
            <a:prstGeom prst="ellipse">
              <a:avLst/>
            </a:prstGeom>
            <a:solidFill>
              <a:srgbClr val="002B7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0822" name="Oval 6">
              <a:extLst>
                <a:ext uri="{FF2B5EF4-FFF2-40B4-BE49-F238E27FC236}">
                  <a16:creationId xmlns:a16="http://schemas.microsoft.com/office/drawing/2014/main" id="{7F30E685-2F37-2471-926C-D646E3FA0FF1}"/>
                </a:ext>
              </a:extLst>
            </p:cNvPr>
            <p:cNvSpPr>
              <a:spLocks noChangeArrowheads="1"/>
            </p:cNvSpPr>
            <p:nvPr/>
          </p:nvSpPr>
          <p:spPr bwMode="auto">
            <a:xfrm>
              <a:off x="336" y="4157"/>
              <a:ext cx="321" cy="321"/>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0823" name="Rectangle 7">
              <a:extLst>
                <a:ext uri="{FF2B5EF4-FFF2-40B4-BE49-F238E27FC236}">
                  <a16:creationId xmlns:a16="http://schemas.microsoft.com/office/drawing/2014/main" id="{E424F4C2-2269-D5E7-8139-464BD4F047AC}"/>
                </a:ext>
              </a:extLst>
            </p:cNvPr>
            <p:cNvSpPr>
              <a:spLocks noChangeArrowheads="1"/>
            </p:cNvSpPr>
            <p:nvPr/>
          </p:nvSpPr>
          <p:spPr bwMode="auto">
            <a:xfrm>
              <a:off x="792" y="3900"/>
              <a:ext cx="222"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0824" name="Rectangle 8">
              <a:extLst>
                <a:ext uri="{FF2B5EF4-FFF2-40B4-BE49-F238E27FC236}">
                  <a16:creationId xmlns:a16="http://schemas.microsoft.com/office/drawing/2014/main" id="{5584BF0D-F18E-0952-86FE-33E99F0977E2}"/>
                </a:ext>
              </a:extLst>
            </p:cNvPr>
            <p:cNvSpPr>
              <a:spLocks noChangeArrowheads="1"/>
            </p:cNvSpPr>
            <p:nvPr/>
          </p:nvSpPr>
          <p:spPr bwMode="auto">
            <a:xfrm>
              <a:off x="792" y="4266"/>
              <a:ext cx="221"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0825" name="Rectangle 9">
              <a:extLst>
                <a:ext uri="{FF2B5EF4-FFF2-40B4-BE49-F238E27FC236}">
                  <a16:creationId xmlns:a16="http://schemas.microsoft.com/office/drawing/2014/main" id="{1291CBA5-5009-2FC3-A32B-FD7F531FDC5E}"/>
                </a:ext>
              </a:extLst>
            </p:cNvPr>
            <p:cNvSpPr>
              <a:spLocks noChangeArrowheads="1"/>
            </p:cNvSpPr>
            <p:nvPr/>
          </p:nvSpPr>
          <p:spPr bwMode="auto">
            <a:xfrm>
              <a:off x="1131" y="4037"/>
              <a:ext cx="221" cy="193"/>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0826" name="Line 10">
              <a:extLst>
                <a:ext uri="{FF2B5EF4-FFF2-40B4-BE49-F238E27FC236}">
                  <a16:creationId xmlns:a16="http://schemas.microsoft.com/office/drawing/2014/main" id="{758E2D7A-5B0D-A6FC-6C6A-7D4EFEAB8DED}"/>
                </a:ext>
              </a:extLst>
            </p:cNvPr>
            <p:cNvSpPr>
              <a:spLocks noChangeShapeType="1"/>
            </p:cNvSpPr>
            <p:nvPr/>
          </p:nvSpPr>
          <p:spPr bwMode="auto">
            <a:xfrm>
              <a:off x="659" y="3951"/>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0827" name="Line 11">
              <a:extLst>
                <a:ext uri="{FF2B5EF4-FFF2-40B4-BE49-F238E27FC236}">
                  <a16:creationId xmlns:a16="http://schemas.microsoft.com/office/drawing/2014/main" id="{A14F9C33-4FF0-7AC0-FC9D-02D685FBA363}"/>
                </a:ext>
              </a:extLst>
            </p:cNvPr>
            <p:cNvSpPr>
              <a:spLocks noChangeShapeType="1"/>
            </p:cNvSpPr>
            <p:nvPr/>
          </p:nvSpPr>
          <p:spPr bwMode="auto">
            <a:xfrm>
              <a:off x="659" y="4317"/>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0828" name="Line 12">
              <a:extLst>
                <a:ext uri="{FF2B5EF4-FFF2-40B4-BE49-F238E27FC236}">
                  <a16:creationId xmlns:a16="http://schemas.microsoft.com/office/drawing/2014/main" id="{BE2229CB-11A2-D061-9636-7A8B9AF68ED9}"/>
                </a:ext>
              </a:extLst>
            </p:cNvPr>
            <p:cNvSpPr>
              <a:spLocks noChangeShapeType="1"/>
            </p:cNvSpPr>
            <p:nvPr/>
          </p:nvSpPr>
          <p:spPr bwMode="auto">
            <a:xfrm>
              <a:off x="903" y="3998"/>
              <a:ext cx="0" cy="12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0829" name="Line 13">
              <a:extLst>
                <a:ext uri="{FF2B5EF4-FFF2-40B4-BE49-F238E27FC236}">
                  <a16:creationId xmlns:a16="http://schemas.microsoft.com/office/drawing/2014/main" id="{F16BC811-431D-6B78-E045-EB33B4D734D5}"/>
                </a:ext>
              </a:extLst>
            </p:cNvPr>
            <p:cNvSpPr>
              <a:spLocks noChangeShapeType="1"/>
            </p:cNvSpPr>
            <p:nvPr/>
          </p:nvSpPr>
          <p:spPr bwMode="auto">
            <a:xfrm flipV="1">
              <a:off x="903" y="4142"/>
              <a:ext cx="0" cy="121"/>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0830" name="Line 14">
              <a:extLst>
                <a:ext uri="{FF2B5EF4-FFF2-40B4-BE49-F238E27FC236}">
                  <a16:creationId xmlns:a16="http://schemas.microsoft.com/office/drawing/2014/main" id="{533F577C-1FC0-33AD-D55F-4A4294BBA6C8}"/>
                </a:ext>
              </a:extLst>
            </p:cNvPr>
            <p:cNvSpPr>
              <a:spLocks noChangeShapeType="1"/>
            </p:cNvSpPr>
            <p:nvPr/>
          </p:nvSpPr>
          <p:spPr bwMode="auto">
            <a:xfrm>
              <a:off x="915" y="4136"/>
              <a:ext cx="2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90831" name="Text Box 15">
            <a:extLst>
              <a:ext uri="{FF2B5EF4-FFF2-40B4-BE49-F238E27FC236}">
                <a16:creationId xmlns:a16="http://schemas.microsoft.com/office/drawing/2014/main" id="{5E367393-998A-ADEF-0679-678E9061182D}"/>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
        <p:nvSpPr>
          <p:cNvPr id="290833" name="Text Box 17">
            <a:extLst>
              <a:ext uri="{FF2B5EF4-FFF2-40B4-BE49-F238E27FC236}">
                <a16:creationId xmlns:a16="http://schemas.microsoft.com/office/drawing/2014/main" id="{E034EA04-D7D9-BB9C-B2A1-79A6CCBC8CD5}"/>
              </a:ext>
            </a:extLst>
          </p:cNvPr>
          <p:cNvSpPr txBox="1">
            <a:spLocks noChangeArrowheads="1"/>
          </p:cNvSpPr>
          <p:nvPr/>
        </p:nvSpPr>
        <p:spPr bwMode="auto">
          <a:xfrm>
            <a:off x="8702675" y="7153275"/>
            <a:ext cx="8191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000" b="0">
                <a:latin typeface="Times New Roman" panose="02020603050405020304" pitchFamily="18" charset="0"/>
              </a:rPr>
              <a:t>As of 1/1/02</a:t>
            </a:r>
          </a:p>
        </p:txBody>
      </p:sp>
      <p:graphicFrame>
        <p:nvGraphicFramePr>
          <p:cNvPr id="290835" name="Object 19">
            <a:extLst>
              <a:ext uri="{FF2B5EF4-FFF2-40B4-BE49-F238E27FC236}">
                <a16:creationId xmlns:a16="http://schemas.microsoft.com/office/drawing/2014/main" id="{E267FE01-8D78-6B19-0C13-C77080052DD8}"/>
              </a:ext>
            </a:extLst>
          </p:cNvPr>
          <p:cNvGraphicFramePr>
            <a:graphicFrameLocks noChangeAspect="1"/>
          </p:cNvGraphicFramePr>
          <p:nvPr/>
        </p:nvGraphicFramePr>
        <p:xfrm>
          <a:off x="1927225" y="1941513"/>
          <a:ext cx="6199188" cy="4243387"/>
        </p:xfrm>
        <a:graphic>
          <a:graphicData uri="http://schemas.openxmlformats.org/presentationml/2006/ole">
            <mc:AlternateContent xmlns:mc="http://schemas.openxmlformats.org/markup-compatibility/2006">
              <mc:Choice xmlns:v="urn:schemas-microsoft-com:vml" Requires="v">
                <p:oleObj name="Worksheet" r:id="rId2" imgW="7327900" imgH="4368800" progId="Excel.Sheet.8">
                  <p:link updateAutomatic="1"/>
                </p:oleObj>
              </mc:Choice>
              <mc:Fallback>
                <p:oleObj name="Worksheet" r:id="rId2" imgW="7327900" imgH="4368800" progId="Excel.Sheet.8">
                  <p:link updateAutomatic="1"/>
                  <p:pic>
                    <p:nvPicPr>
                      <p:cNvPr id="0" name="Object 19"/>
                      <p:cNvPicPr>
                        <a:picLocks noChangeAspect="1" noChangeArrowheads="1"/>
                      </p:cNvPicPr>
                      <p:nvPr/>
                    </p:nvPicPr>
                    <p:blipFill>
                      <a:blip r:embed="rId3">
                        <a:extLst>
                          <a:ext uri="{28A0092B-C50C-407E-A947-70E740481C1C}">
                            <a14:useLocalDpi xmlns:a14="http://schemas.microsoft.com/office/drawing/2010/main" val="0"/>
                          </a:ext>
                        </a:extLst>
                      </a:blip>
                      <a:srcRect l="7629" r="7713" b="2792"/>
                      <a:stretch>
                        <a:fillRect/>
                      </a:stretch>
                    </p:blipFill>
                    <p:spPr bwMode="auto">
                      <a:xfrm>
                        <a:off x="1927225" y="1941513"/>
                        <a:ext cx="6199188" cy="4243387"/>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3955" name="Rectangle 3">
            <a:extLst>
              <a:ext uri="{FF2B5EF4-FFF2-40B4-BE49-F238E27FC236}">
                <a16:creationId xmlns:a16="http://schemas.microsoft.com/office/drawing/2014/main" id="{19F6E869-4E84-CB13-777B-8973084142ED}"/>
              </a:ext>
            </a:extLst>
          </p:cNvPr>
          <p:cNvSpPr>
            <a:spLocks noChangeArrowheads="1"/>
          </p:cNvSpPr>
          <p:nvPr/>
        </p:nvSpPr>
        <p:spPr bwMode="auto">
          <a:xfrm>
            <a:off x="8445500" y="7189788"/>
            <a:ext cx="1611313" cy="5826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3956" name="Text Box 4">
            <a:extLst>
              <a:ext uri="{FF2B5EF4-FFF2-40B4-BE49-F238E27FC236}">
                <a16:creationId xmlns:a16="http://schemas.microsoft.com/office/drawing/2014/main" id="{234ED9B9-18C9-24AE-13A9-23C7D22C5DD4}"/>
              </a:ext>
            </a:extLst>
          </p:cNvPr>
          <p:cNvSpPr txBox="1">
            <a:spLocks noChangeArrowheads="1"/>
          </p:cNvSpPr>
          <p:nvPr/>
        </p:nvSpPr>
        <p:spPr bwMode="auto">
          <a:xfrm>
            <a:off x="1498600" y="2641600"/>
            <a:ext cx="7023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0"/>
              <a:t>Stock Selection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a:extLst>
              <a:ext uri="{FF2B5EF4-FFF2-40B4-BE49-F238E27FC236}">
                <a16:creationId xmlns:a16="http://schemas.microsoft.com/office/drawing/2014/main" id="{26AEE6CD-1E11-B595-C428-AD906034BE3C}"/>
              </a:ext>
            </a:extLst>
          </p:cNvPr>
          <p:cNvSpPr>
            <a:spLocks noChangeArrowheads="1"/>
          </p:cNvSpPr>
          <p:nvPr/>
        </p:nvSpPr>
        <p:spPr bwMode="auto">
          <a:xfrm>
            <a:off x="2730500" y="2552700"/>
            <a:ext cx="5165725" cy="406400"/>
          </a:xfrm>
          <a:prstGeom prst="rect">
            <a:avLst/>
          </a:prstGeom>
          <a:solidFill>
            <a:srgbClr val="002B7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tx1"/>
                  </a:outerShdw>
                </a:effectLst>
              </a14:hiddenEffects>
            </a:ext>
          </a:extLst>
        </p:spPr>
        <p:txBody>
          <a:bodyPr wrap="none" anchor="ctr"/>
          <a:lstStyle/>
          <a:p>
            <a:r>
              <a:rPr lang="en-US" altLang="en-US" sz="1600">
                <a:solidFill>
                  <a:schemeClr val="bg1"/>
                </a:solidFill>
              </a:rPr>
              <a:t>2,400+ Emerging Markets Companies</a:t>
            </a:r>
            <a:endParaRPr lang="en-US" altLang="en-US" sz="1200">
              <a:solidFill>
                <a:schemeClr val="bg1"/>
              </a:solidFill>
            </a:endParaRPr>
          </a:p>
        </p:txBody>
      </p:sp>
      <p:sp>
        <p:nvSpPr>
          <p:cNvPr id="291843" name="Text Box 3">
            <a:extLst>
              <a:ext uri="{FF2B5EF4-FFF2-40B4-BE49-F238E27FC236}">
                <a16:creationId xmlns:a16="http://schemas.microsoft.com/office/drawing/2014/main" id="{44A86D9C-9AAA-6FED-40E1-4C54E0926902}"/>
              </a:ext>
            </a:extLst>
          </p:cNvPr>
          <p:cNvSpPr txBox="1">
            <a:spLocks noChangeArrowheads="1"/>
          </p:cNvSpPr>
          <p:nvPr/>
        </p:nvSpPr>
        <p:spPr bwMode="auto">
          <a:xfrm>
            <a:off x="542925" y="676275"/>
            <a:ext cx="8145463"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Markets Investment Process</a:t>
            </a:r>
          </a:p>
          <a:p>
            <a:pPr algn="l">
              <a:lnSpc>
                <a:spcPct val="125000"/>
              </a:lnSpc>
            </a:pPr>
            <a:r>
              <a:rPr lang="en-US" altLang="en-US" sz="1800" b="0" i="1"/>
              <a:t>Stock Selection</a:t>
            </a:r>
          </a:p>
        </p:txBody>
      </p:sp>
      <p:sp>
        <p:nvSpPr>
          <p:cNvPr id="291844" name="Text Box 4">
            <a:extLst>
              <a:ext uri="{FF2B5EF4-FFF2-40B4-BE49-F238E27FC236}">
                <a16:creationId xmlns:a16="http://schemas.microsoft.com/office/drawing/2014/main" id="{8D46A2A9-7B6D-E7EA-AF22-A3180DC9CC83}"/>
              </a:ext>
            </a:extLst>
          </p:cNvPr>
          <p:cNvSpPr txBox="1">
            <a:spLocks noChangeArrowheads="1"/>
          </p:cNvSpPr>
          <p:nvPr/>
        </p:nvSpPr>
        <p:spPr bwMode="auto">
          <a:xfrm>
            <a:off x="2862263" y="4735513"/>
            <a:ext cx="1390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1200" b="0"/>
              <a:t>GMO Proprietary</a:t>
            </a:r>
            <a:br>
              <a:rPr lang="en-US" altLang="en-US" sz="1200" b="0"/>
            </a:br>
            <a:r>
              <a:rPr lang="en-US" altLang="en-US" sz="1200" b="0"/>
              <a:t>Value Model</a:t>
            </a:r>
          </a:p>
        </p:txBody>
      </p:sp>
      <p:sp>
        <p:nvSpPr>
          <p:cNvPr id="291845" name="Freeform 5">
            <a:extLst>
              <a:ext uri="{FF2B5EF4-FFF2-40B4-BE49-F238E27FC236}">
                <a16:creationId xmlns:a16="http://schemas.microsoft.com/office/drawing/2014/main" id="{B9E3992B-340A-C969-E8A8-2F4253547A6A}"/>
              </a:ext>
            </a:extLst>
          </p:cNvPr>
          <p:cNvSpPr>
            <a:spLocks/>
          </p:cNvSpPr>
          <p:nvPr/>
        </p:nvSpPr>
        <p:spPr bwMode="auto">
          <a:xfrm>
            <a:off x="2868613" y="4725988"/>
            <a:ext cx="1203325" cy="465137"/>
          </a:xfrm>
          <a:custGeom>
            <a:avLst/>
            <a:gdLst>
              <a:gd name="T0" fmla="*/ 0 w 608"/>
              <a:gd name="T1" fmla="*/ 0 h 121"/>
              <a:gd name="T2" fmla="*/ 0 w 608"/>
              <a:gd name="T3" fmla="*/ 121 h 121"/>
              <a:gd name="T4" fmla="*/ 608 w 608"/>
              <a:gd name="T5" fmla="*/ 121 h 121"/>
            </a:gdLst>
            <a:ahLst/>
            <a:cxnLst>
              <a:cxn ang="0">
                <a:pos x="T0" y="T1"/>
              </a:cxn>
              <a:cxn ang="0">
                <a:pos x="T2" y="T3"/>
              </a:cxn>
              <a:cxn ang="0">
                <a:pos x="T4" y="T5"/>
              </a:cxn>
            </a:cxnLst>
            <a:rect l="0" t="0" r="r" b="b"/>
            <a:pathLst>
              <a:path w="608" h="121">
                <a:moveTo>
                  <a:pt x="0" y="0"/>
                </a:moveTo>
                <a:lnTo>
                  <a:pt x="0" y="121"/>
                </a:lnTo>
                <a:lnTo>
                  <a:pt x="608" y="121"/>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1846" name="Rectangle 6">
            <a:extLst>
              <a:ext uri="{FF2B5EF4-FFF2-40B4-BE49-F238E27FC236}">
                <a16:creationId xmlns:a16="http://schemas.microsoft.com/office/drawing/2014/main" id="{ED99C3CE-4702-96B6-8153-56D6A196378D}"/>
              </a:ext>
            </a:extLst>
          </p:cNvPr>
          <p:cNvSpPr>
            <a:spLocks noChangeArrowheads="1"/>
          </p:cNvSpPr>
          <p:nvPr/>
        </p:nvSpPr>
        <p:spPr bwMode="auto">
          <a:xfrm>
            <a:off x="5791200" y="3333750"/>
            <a:ext cx="2106613" cy="1403350"/>
          </a:xfrm>
          <a:prstGeom prst="rect">
            <a:avLst/>
          </a:prstGeom>
          <a:solidFill>
            <a:srgbClr val="002B7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tx1"/>
                  </a:outerShdw>
                </a:effectLst>
              </a14:hiddenEffects>
            </a:ext>
          </a:extLst>
        </p:spPr>
        <p:txBody>
          <a:bodyPr wrap="none" anchor="ctr"/>
          <a:lstStyle/>
          <a:p>
            <a:endParaRPr lang="en-US"/>
          </a:p>
        </p:txBody>
      </p:sp>
      <p:sp>
        <p:nvSpPr>
          <p:cNvPr id="291847" name="Text Box 7">
            <a:extLst>
              <a:ext uri="{FF2B5EF4-FFF2-40B4-BE49-F238E27FC236}">
                <a16:creationId xmlns:a16="http://schemas.microsoft.com/office/drawing/2014/main" id="{F8A20673-1E43-1CC7-5BA1-ED06AB678FC9}"/>
              </a:ext>
            </a:extLst>
          </p:cNvPr>
          <p:cNvSpPr txBox="1">
            <a:spLocks noChangeArrowheads="1"/>
          </p:cNvSpPr>
          <p:nvPr/>
        </p:nvSpPr>
        <p:spPr bwMode="auto">
          <a:xfrm>
            <a:off x="5891213" y="3724275"/>
            <a:ext cx="1905000" cy="58102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a:solidFill>
                  <a:schemeClr val="bg1"/>
                </a:solidFill>
              </a:rPr>
              <a:t>Momentum</a:t>
            </a:r>
          </a:p>
          <a:p>
            <a:r>
              <a:rPr lang="en-US" altLang="en-US" sz="1600">
                <a:solidFill>
                  <a:schemeClr val="bg1"/>
                </a:solidFill>
              </a:rPr>
              <a:t>(30%)</a:t>
            </a:r>
            <a:endParaRPr lang="en-US" altLang="en-US" sz="1100">
              <a:solidFill>
                <a:schemeClr val="bg1"/>
              </a:solidFill>
            </a:endParaRPr>
          </a:p>
        </p:txBody>
      </p:sp>
      <p:sp>
        <p:nvSpPr>
          <p:cNvPr id="291848" name="Freeform 8">
            <a:extLst>
              <a:ext uri="{FF2B5EF4-FFF2-40B4-BE49-F238E27FC236}">
                <a16:creationId xmlns:a16="http://schemas.microsoft.com/office/drawing/2014/main" id="{F1D68731-0F1A-DDAD-C6C8-D135B59CA793}"/>
              </a:ext>
            </a:extLst>
          </p:cNvPr>
          <p:cNvSpPr>
            <a:spLocks/>
          </p:cNvSpPr>
          <p:nvPr/>
        </p:nvSpPr>
        <p:spPr bwMode="auto">
          <a:xfrm>
            <a:off x="5984875" y="4725988"/>
            <a:ext cx="1495425" cy="319087"/>
          </a:xfrm>
          <a:custGeom>
            <a:avLst/>
            <a:gdLst>
              <a:gd name="T0" fmla="*/ 0 w 608"/>
              <a:gd name="T1" fmla="*/ 0 h 121"/>
              <a:gd name="T2" fmla="*/ 0 w 608"/>
              <a:gd name="T3" fmla="*/ 121 h 121"/>
              <a:gd name="T4" fmla="*/ 608 w 608"/>
              <a:gd name="T5" fmla="*/ 121 h 121"/>
            </a:gdLst>
            <a:ahLst/>
            <a:cxnLst>
              <a:cxn ang="0">
                <a:pos x="T0" y="T1"/>
              </a:cxn>
              <a:cxn ang="0">
                <a:pos x="T2" y="T3"/>
              </a:cxn>
              <a:cxn ang="0">
                <a:pos x="T4" y="T5"/>
              </a:cxn>
            </a:cxnLst>
            <a:rect l="0" t="0" r="r" b="b"/>
            <a:pathLst>
              <a:path w="608" h="121">
                <a:moveTo>
                  <a:pt x="0" y="0"/>
                </a:moveTo>
                <a:lnTo>
                  <a:pt x="0" y="121"/>
                </a:lnTo>
                <a:lnTo>
                  <a:pt x="608" y="121"/>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1849" name="Text Box 9">
            <a:extLst>
              <a:ext uri="{FF2B5EF4-FFF2-40B4-BE49-F238E27FC236}">
                <a16:creationId xmlns:a16="http://schemas.microsoft.com/office/drawing/2014/main" id="{1AC154D0-8231-B2BE-F870-DFE643FE41A9}"/>
              </a:ext>
            </a:extLst>
          </p:cNvPr>
          <p:cNvSpPr txBox="1">
            <a:spLocks noChangeArrowheads="1"/>
          </p:cNvSpPr>
          <p:nvPr/>
        </p:nvSpPr>
        <p:spPr bwMode="auto">
          <a:xfrm>
            <a:off x="5989638" y="5076825"/>
            <a:ext cx="5302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200" b="0"/>
              <a:t>Price</a:t>
            </a:r>
          </a:p>
        </p:txBody>
      </p:sp>
      <p:sp>
        <p:nvSpPr>
          <p:cNvPr id="291850" name="Freeform 10">
            <a:extLst>
              <a:ext uri="{FF2B5EF4-FFF2-40B4-BE49-F238E27FC236}">
                <a16:creationId xmlns:a16="http://schemas.microsoft.com/office/drawing/2014/main" id="{C1FFDB46-C22E-221F-7548-6BF93A8BE0B7}"/>
              </a:ext>
            </a:extLst>
          </p:cNvPr>
          <p:cNvSpPr>
            <a:spLocks/>
          </p:cNvSpPr>
          <p:nvPr/>
        </p:nvSpPr>
        <p:spPr bwMode="auto">
          <a:xfrm>
            <a:off x="5984875" y="5040313"/>
            <a:ext cx="877888" cy="319087"/>
          </a:xfrm>
          <a:custGeom>
            <a:avLst/>
            <a:gdLst>
              <a:gd name="T0" fmla="*/ 0 w 608"/>
              <a:gd name="T1" fmla="*/ 0 h 121"/>
              <a:gd name="T2" fmla="*/ 0 w 608"/>
              <a:gd name="T3" fmla="*/ 121 h 121"/>
              <a:gd name="T4" fmla="*/ 608 w 608"/>
              <a:gd name="T5" fmla="*/ 121 h 121"/>
            </a:gdLst>
            <a:ahLst/>
            <a:cxnLst>
              <a:cxn ang="0">
                <a:pos x="T0" y="T1"/>
              </a:cxn>
              <a:cxn ang="0">
                <a:pos x="T2" y="T3"/>
              </a:cxn>
              <a:cxn ang="0">
                <a:pos x="T4" y="T5"/>
              </a:cxn>
            </a:cxnLst>
            <a:rect l="0" t="0" r="r" b="b"/>
            <a:pathLst>
              <a:path w="608" h="121">
                <a:moveTo>
                  <a:pt x="0" y="0"/>
                </a:moveTo>
                <a:lnTo>
                  <a:pt x="0" y="121"/>
                </a:lnTo>
                <a:lnTo>
                  <a:pt x="608" y="121"/>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1851" name="Text Box 11">
            <a:extLst>
              <a:ext uri="{FF2B5EF4-FFF2-40B4-BE49-F238E27FC236}">
                <a16:creationId xmlns:a16="http://schemas.microsoft.com/office/drawing/2014/main" id="{83808928-1B73-F76C-A677-DA37F24762B2}"/>
              </a:ext>
            </a:extLst>
          </p:cNvPr>
          <p:cNvSpPr txBox="1">
            <a:spLocks noChangeArrowheads="1"/>
          </p:cNvSpPr>
          <p:nvPr/>
        </p:nvSpPr>
        <p:spPr bwMode="auto">
          <a:xfrm>
            <a:off x="5989638" y="4756150"/>
            <a:ext cx="14827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200" b="0"/>
              <a:t>Earnings Revisions</a:t>
            </a:r>
          </a:p>
        </p:txBody>
      </p:sp>
      <p:sp>
        <p:nvSpPr>
          <p:cNvPr id="291852" name="Rectangle 12">
            <a:extLst>
              <a:ext uri="{FF2B5EF4-FFF2-40B4-BE49-F238E27FC236}">
                <a16:creationId xmlns:a16="http://schemas.microsoft.com/office/drawing/2014/main" id="{6409230C-33DB-C798-D97F-28924CF01AC9}"/>
              </a:ext>
            </a:extLst>
          </p:cNvPr>
          <p:cNvSpPr>
            <a:spLocks noChangeArrowheads="1"/>
          </p:cNvSpPr>
          <p:nvPr/>
        </p:nvSpPr>
        <p:spPr bwMode="auto">
          <a:xfrm>
            <a:off x="2717800" y="3333750"/>
            <a:ext cx="2106613" cy="1403350"/>
          </a:xfrm>
          <a:prstGeom prst="rect">
            <a:avLst/>
          </a:prstGeom>
          <a:solidFill>
            <a:srgbClr val="002B7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tx1"/>
                  </a:outerShdw>
                </a:effectLst>
              </a14:hiddenEffects>
            </a:ext>
          </a:extLst>
        </p:spPr>
        <p:txBody>
          <a:bodyPr wrap="none" anchor="ctr"/>
          <a:lstStyle/>
          <a:p>
            <a:endParaRPr lang="en-US"/>
          </a:p>
        </p:txBody>
      </p:sp>
      <p:sp>
        <p:nvSpPr>
          <p:cNvPr id="291853" name="Text Box 13">
            <a:extLst>
              <a:ext uri="{FF2B5EF4-FFF2-40B4-BE49-F238E27FC236}">
                <a16:creationId xmlns:a16="http://schemas.microsoft.com/office/drawing/2014/main" id="{39E5D3A7-319C-56FC-4282-DCBBA588B608}"/>
              </a:ext>
            </a:extLst>
          </p:cNvPr>
          <p:cNvSpPr txBox="1">
            <a:spLocks noChangeArrowheads="1"/>
          </p:cNvSpPr>
          <p:nvPr/>
        </p:nvSpPr>
        <p:spPr bwMode="auto">
          <a:xfrm>
            <a:off x="2817813" y="3724275"/>
            <a:ext cx="1905000" cy="58102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a:solidFill>
                  <a:schemeClr val="bg1"/>
                </a:solidFill>
              </a:rPr>
              <a:t>Robust Value</a:t>
            </a:r>
          </a:p>
          <a:p>
            <a:r>
              <a:rPr lang="en-US" altLang="en-US" sz="1600">
                <a:solidFill>
                  <a:schemeClr val="bg1"/>
                </a:solidFill>
              </a:rPr>
              <a:t>(70%)</a:t>
            </a:r>
            <a:endParaRPr lang="en-US" altLang="en-US" sz="1100">
              <a:solidFill>
                <a:schemeClr val="bg1"/>
              </a:solidFill>
            </a:endParaRPr>
          </a:p>
        </p:txBody>
      </p:sp>
      <p:sp>
        <p:nvSpPr>
          <p:cNvPr id="291855" name="Text Box 15">
            <a:extLst>
              <a:ext uri="{FF2B5EF4-FFF2-40B4-BE49-F238E27FC236}">
                <a16:creationId xmlns:a16="http://schemas.microsoft.com/office/drawing/2014/main" id="{2257E092-032D-1D09-9677-24F845577472}"/>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Text Box 2">
            <a:extLst>
              <a:ext uri="{FF2B5EF4-FFF2-40B4-BE49-F238E27FC236}">
                <a16:creationId xmlns:a16="http://schemas.microsoft.com/office/drawing/2014/main" id="{AACDF8F1-F808-4A25-767D-1BACC02C76C8}"/>
              </a:ext>
            </a:extLst>
          </p:cNvPr>
          <p:cNvSpPr txBox="1">
            <a:spLocks noChangeArrowheads="1"/>
          </p:cNvSpPr>
          <p:nvPr/>
        </p:nvSpPr>
        <p:spPr bwMode="auto">
          <a:xfrm>
            <a:off x="574675" y="671513"/>
            <a:ext cx="56261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5000"/>
              </a:lnSpc>
            </a:pPr>
            <a:r>
              <a:rPr lang="en-US" altLang="en-US" sz="2800" b="0"/>
              <a:t>Emerging Markets Stock Selection</a:t>
            </a:r>
          </a:p>
          <a:p>
            <a:pPr algn="l">
              <a:lnSpc>
                <a:spcPct val="125000"/>
              </a:lnSpc>
            </a:pPr>
            <a:r>
              <a:rPr lang="en-US" altLang="en-US" sz="1800" b="0" i="1"/>
              <a:t>0.7 Value / 0.3 Momentum</a:t>
            </a:r>
            <a:endParaRPr lang="en-US" altLang="en-US" sz="1800" b="0" i="1" baseline="50000"/>
          </a:p>
        </p:txBody>
      </p:sp>
      <p:sp>
        <p:nvSpPr>
          <p:cNvPr id="309251" name="Text Box 3">
            <a:extLst>
              <a:ext uri="{FF2B5EF4-FFF2-40B4-BE49-F238E27FC236}">
                <a16:creationId xmlns:a16="http://schemas.microsoft.com/office/drawing/2014/main" id="{CCC3CCF4-AE3E-D6F3-79DA-4929117FEE2D}"/>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graphicFrame>
        <p:nvGraphicFramePr>
          <p:cNvPr id="309252" name="Object 4">
            <a:extLst>
              <a:ext uri="{FF2B5EF4-FFF2-40B4-BE49-F238E27FC236}">
                <a16:creationId xmlns:a16="http://schemas.microsoft.com/office/drawing/2014/main" id="{6B875DD0-04CE-8EA4-A504-2A6A954AE66F}"/>
              </a:ext>
            </a:extLst>
          </p:cNvPr>
          <p:cNvGraphicFramePr>
            <a:graphicFrameLocks noChangeAspect="1"/>
          </p:cNvGraphicFramePr>
          <p:nvPr/>
        </p:nvGraphicFramePr>
        <p:xfrm>
          <a:off x="941388" y="1820863"/>
          <a:ext cx="8135937" cy="5191125"/>
        </p:xfrm>
        <a:graphic>
          <a:graphicData uri="http://schemas.openxmlformats.org/presentationml/2006/ole">
            <mc:AlternateContent xmlns:mc="http://schemas.openxmlformats.org/markup-compatibility/2006">
              <mc:Choice xmlns:v="urn:schemas-microsoft-com:vml" Requires="v">
                <p:oleObj name="Worksheet" r:id="rId2" imgW="8216900" imgH="4889500" progId="Excel.Sheet.8">
                  <p:link updateAutomatic="1"/>
                </p:oleObj>
              </mc:Choice>
              <mc:Fallback>
                <p:oleObj name="Worksheet" r:id="rId2" imgW="8216900" imgH="4889500" progId="Excel.Sheet.8">
                  <p:link updateAutomatic="1"/>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r="6329" b="5861"/>
                      <a:stretch>
                        <a:fillRect/>
                      </a:stretch>
                    </p:blipFill>
                    <p:spPr bwMode="auto">
                      <a:xfrm>
                        <a:off x="941388" y="1820863"/>
                        <a:ext cx="8135937" cy="519112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9253" name="Text Box 5">
            <a:extLst>
              <a:ext uri="{FF2B5EF4-FFF2-40B4-BE49-F238E27FC236}">
                <a16:creationId xmlns:a16="http://schemas.microsoft.com/office/drawing/2014/main" id="{BE2CFD79-9961-F8EE-A4BC-954390A7D634}"/>
              </a:ext>
            </a:extLst>
          </p:cNvPr>
          <p:cNvSpPr txBox="1">
            <a:spLocks noChangeArrowheads="1"/>
          </p:cNvSpPr>
          <p:nvPr/>
        </p:nvSpPr>
        <p:spPr bwMode="auto">
          <a:xfrm>
            <a:off x="1608138" y="2182813"/>
            <a:ext cx="2573337" cy="1025525"/>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tabLst>
                <a:tab pos="1257300" algn="ctr"/>
                <a:tab pos="2171700" algn="ctr"/>
              </a:tabLst>
              <a:defRPr sz="2400">
                <a:solidFill>
                  <a:schemeClr val="tx1"/>
                </a:solidFill>
                <a:latin typeface="Times New Roman" panose="02020603050405020304" pitchFamily="18" charset="0"/>
              </a:defRPr>
            </a:lvl1pPr>
            <a:lvl2pPr algn="l">
              <a:tabLst>
                <a:tab pos="1257300" algn="ctr"/>
                <a:tab pos="2171700" algn="ctr"/>
              </a:tabLst>
              <a:defRPr sz="2400">
                <a:solidFill>
                  <a:schemeClr val="tx1"/>
                </a:solidFill>
                <a:latin typeface="Times New Roman" panose="02020603050405020304" pitchFamily="18" charset="0"/>
              </a:defRPr>
            </a:lvl2pPr>
            <a:lvl3pPr algn="l">
              <a:tabLst>
                <a:tab pos="1257300" algn="ctr"/>
                <a:tab pos="2171700" algn="ctr"/>
              </a:tabLst>
              <a:defRPr sz="2400">
                <a:solidFill>
                  <a:schemeClr val="tx1"/>
                </a:solidFill>
                <a:latin typeface="Times New Roman" panose="02020603050405020304" pitchFamily="18" charset="0"/>
              </a:defRPr>
            </a:lvl3pPr>
            <a:lvl4pPr algn="l">
              <a:tabLst>
                <a:tab pos="1257300" algn="ctr"/>
                <a:tab pos="2171700" algn="ctr"/>
              </a:tabLst>
              <a:defRPr sz="2400">
                <a:solidFill>
                  <a:schemeClr val="tx1"/>
                </a:solidFill>
                <a:latin typeface="Times New Roman" panose="02020603050405020304" pitchFamily="18" charset="0"/>
              </a:defRPr>
            </a:lvl4pPr>
            <a:lvl5pPr algn="l">
              <a:tabLst>
                <a:tab pos="1257300" algn="ctr"/>
                <a:tab pos="2171700" algn="ctr"/>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1257300" algn="ctr"/>
                <a:tab pos="2171700" algn="ctr"/>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1257300" algn="ctr"/>
                <a:tab pos="2171700" algn="ctr"/>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1257300" algn="ctr"/>
                <a:tab pos="2171700" algn="ctr"/>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1257300" algn="ctr"/>
                <a:tab pos="2171700" algn="ctr"/>
              </a:tabLst>
              <a:defRPr sz="2400">
                <a:solidFill>
                  <a:schemeClr val="tx1"/>
                </a:solidFill>
                <a:latin typeface="Times New Roman" panose="02020603050405020304" pitchFamily="18" charset="0"/>
              </a:defRPr>
            </a:lvl9pPr>
          </a:lstStyle>
          <a:p>
            <a:pPr>
              <a:spcBef>
                <a:spcPts val="500"/>
              </a:spcBef>
            </a:pPr>
            <a:r>
              <a:rPr lang="en-US" altLang="en-US" sz="1200" b="0">
                <a:latin typeface="Arial" panose="020B0604020202020204" pitchFamily="34" charset="0"/>
              </a:rPr>
              <a:t>	</a:t>
            </a:r>
            <a:r>
              <a:rPr lang="en-US" altLang="en-US" sz="1200" u="sng">
                <a:latin typeface="Arial" panose="020B0604020202020204" pitchFamily="34" charset="0"/>
              </a:rPr>
              <a:t>Return</a:t>
            </a:r>
            <a:r>
              <a:rPr lang="en-US" altLang="en-US" sz="1200">
                <a:latin typeface="Arial" panose="020B0604020202020204" pitchFamily="34" charset="0"/>
              </a:rPr>
              <a:t>	</a:t>
            </a:r>
            <a:r>
              <a:rPr lang="en-US" altLang="en-US" sz="1200" u="sng">
                <a:latin typeface="Arial" panose="020B0604020202020204" pitchFamily="34" charset="0"/>
              </a:rPr>
              <a:t>Risk</a:t>
            </a:r>
          </a:p>
          <a:p>
            <a:pPr>
              <a:spcBef>
                <a:spcPts val="500"/>
              </a:spcBef>
            </a:pPr>
            <a:r>
              <a:rPr lang="en-US" altLang="en-US" sz="1200" b="0">
                <a:latin typeface="Arial" panose="020B0604020202020204" pitchFamily="34" charset="0"/>
              </a:rPr>
              <a:t>Value:	5.6%	4.3%</a:t>
            </a:r>
          </a:p>
          <a:p>
            <a:pPr>
              <a:spcBef>
                <a:spcPts val="500"/>
              </a:spcBef>
            </a:pPr>
            <a:r>
              <a:rPr lang="en-US" altLang="en-US" sz="1200" b="0">
                <a:latin typeface="Arial" panose="020B0604020202020204" pitchFamily="34" charset="0"/>
              </a:rPr>
              <a:t>Momentum:	4.8%	4.4%</a:t>
            </a:r>
          </a:p>
          <a:p>
            <a:pPr>
              <a:spcBef>
                <a:spcPts val="500"/>
              </a:spcBef>
            </a:pPr>
            <a:r>
              <a:rPr lang="en-US" altLang="en-US" sz="1200" b="0">
                <a:latin typeface="Arial" panose="020B0604020202020204" pitchFamily="34" charset="0"/>
              </a:rPr>
              <a:t>Blended:	5.4%	3.2%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Text Box 2">
            <a:extLst>
              <a:ext uri="{FF2B5EF4-FFF2-40B4-BE49-F238E27FC236}">
                <a16:creationId xmlns:a16="http://schemas.microsoft.com/office/drawing/2014/main" id="{62378A2D-13DC-3531-CE7D-EEA4767EA117}"/>
              </a:ext>
            </a:extLst>
          </p:cNvPr>
          <p:cNvSpPr txBox="1">
            <a:spLocks noChangeArrowheads="1"/>
          </p:cNvSpPr>
          <p:nvPr/>
        </p:nvSpPr>
        <p:spPr bwMode="auto">
          <a:xfrm>
            <a:off x="557213" y="669925"/>
            <a:ext cx="4121150"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5000"/>
              </a:lnSpc>
            </a:pPr>
            <a:r>
              <a:rPr lang="en-US" altLang="en-US" sz="2800" b="0"/>
              <a:t>Stock Selection Example</a:t>
            </a:r>
          </a:p>
        </p:txBody>
      </p:sp>
      <p:graphicFrame>
        <p:nvGraphicFramePr>
          <p:cNvPr id="306179" name="Object 3">
            <a:extLst>
              <a:ext uri="{FF2B5EF4-FFF2-40B4-BE49-F238E27FC236}">
                <a16:creationId xmlns:a16="http://schemas.microsoft.com/office/drawing/2014/main" id="{9C5B3F9B-184D-6435-E257-838BDF1028C7}"/>
              </a:ext>
            </a:extLst>
          </p:cNvPr>
          <p:cNvGraphicFramePr>
            <a:graphicFrameLocks noChangeAspect="1"/>
          </p:cNvGraphicFramePr>
          <p:nvPr/>
        </p:nvGraphicFramePr>
        <p:xfrm>
          <a:off x="1039813" y="2127250"/>
          <a:ext cx="7959725" cy="4846638"/>
        </p:xfrm>
        <a:graphic>
          <a:graphicData uri="http://schemas.openxmlformats.org/presentationml/2006/ole">
            <mc:AlternateContent xmlns:mc="http://schemas.openxmlformats.org/markup-compatibility/2006">
              <mc:Choice xmlns:v="urn:schemas-microsoft-com:vml" Requires="v">
                <p:oleObj name="Worksheet" r:id="rId2" imgW="8470900" imgH="4851400" progId="Excel.Sheet.8">
                  <p:link updateAutomatic="1"/>
                </p:oleObj>
              </mc:Choice>
              <mc:Fallback>
                <p:oleObj name="Worksheet" r:id="rId2" imgW="8470900" imgH="4851400" progId="Excel.Sheet.8">
                  <p:link updateAutomatic="1"/>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r="5893"/>
                      <a:stretch>
                        <a:fillRect/>
                      </a:stretch>
                    </p:blipFill>
                    <p:spPr bwMode="auto">
                      <a:xfrm>
                        <a:off x="1039813" y="2127250"/>
                        <a:ext cx="7959725" cy="4846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6180" name="Text Box 4">
            <a:extLst>
              <a:ext uri="{FF2B5EF4-FFF2-40B4-BE49-F238E27FC236}">
                <a16:creationId xmlns:a16="http://schemas.microsoft.com/office/drawing/2014/main" id="{AEE63839-CB45-C0C1-3A0F-65BDF5CC4109}"/>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7028" name="Text Box 4">
            <a:extLst>
              <a:ext uri="{FF2B5EF4-FFF2-40B4-BE49-F238E27FC236}">
                <a16:creationId xmlns:a16="http://schemas.microsoft.com/office/drawing/2014/main" id="{DD18AADD-4A0A-8B7B-14A5-6AAC412DC3D7}"/>
              </a:ext>
            </a:extLst>
          </p:cNvPr>
          <p:cNvSpPr txBox="1">
            <a:spLocks noChangeArrowheads="1"/>
          </p:cNvSpPr>
          <p:nvPr/>
        </p:nvSpPr>
        <p:spPr bwMode="auto">
          <a:xfrm>
            <a:off x="1498600" y="2641600"/>
            <a:ext cx="7023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0"/>
              <a:t>Risk Control and Portfolio Construction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Text Box 2">
            <a:extLst>
              <a:ext uri="{FF2B5EF4-FFF2-40B4-BE49-F238E27FC236}">
                <a16:creationId xmlns:a16="http://schemas.microsoft.com/office/drawing/2014/main" id="{B1FD9680-F236-EAF9-3E87-623162C01F92}"/>
              </a:ext>
            </a:extLst>
          </p:cNvPr>
          <p:cNvSpPr txBox="1">
            <a:spLocks noChangeArrowheads="1"/>
          </p:cNvSpPr>
          <p:nvPr/>
        </p:nvSpPr>
        <p:spPr bwMode="auto">
          <a:xfrm>
            <a:off x="595313" y="2119313"/>
            <a:ext cx="22479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1200" b="0">
                <a:latin typeface="Times New Roman" panose="02020603050405020304" pitchFamily="18" charset="0"/>
              </a:rPr>
              <a:t>GMO considers risk control a critical component in managing a core Emerging Markets discipline.</a:t>
            </a:r>
          </a:p>
          <a:p>
            <a:pPr algn="l"/>
            <a:endParaRPr lang="en-US" altLang="en-US" sz="1200" b="0">
              <a:latin typeface="Times New Roman" panose="02020603050405020304" pitchFamily="18" charset="0"/>
            </a:endParaRPr>
          </a:p>
          <a:p>
            <a:pPr algn="l"/>
            <a:endParaRPr lang="en-US" altLang="en-US" sz="1200" b="0">
              <a:latin typeface="Times New Roman" panose="02020603050405020304" pitchFamily="18" charset="0"/>
            </a:endParaRPr>
          </a:p>
          <a:p>
            <a:pPr algn="l"/>
            <a:r>
              <a:rPr lang="en-US" altLang="en-US" sz="1200" b="0">
                <a:latin typeface="Times New Roman" panose="02020603050405020304" pitchFamily="18" charset="0"/>
              </a:rPr>
              <a:t>We have developed a proprietary risk model which helps us to accentuate intended exposures while reducing unintended bets.</a:t>
            </a:r>
          </a:p>
        </p:txBody>
      </p:sp>
      <p:sp>
        <p:nvSpPr>
          <p:cNvPr id="293891" name="Text Box 3">
            <a:extLst>
              <a:ext uri="{FF2B5EF4-FFF2-40B4-BE49-F238E27FC236}">
                <a16:creationId xmlns:a16="http://schemas.microsoft.com/office/drawing/2014/main" id="{78A75156-BE4A-7838-A6BC-EFBD5148D70B}"/>
              </a:ext>
            </a:extLst>
          </p:cNvPr>
          <p:cNvSpPr txBox="1">
            <a:spLocks noChangeArrowheads="1"/>
          </p:cNvSpPr>
          <p:nvPr/>
        </p:nvSpPr>
        <p:spPr bwMode="auto">
          <a:xfrm>
            <a:off x="3990975" y="6003925"/>
            <a:ext cx="450215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tabLst>
                <a:tab pos="1428750" algn="r"/>
                <a:tab pos="2114550" algn="dec"/>
                <a:tab pos="3543300" algn="dec"/>
              </a:tabLst>
              <a:defRPr sz="2400">
                <a:solidFill>
                  <a:schemeClr val="tx1"/>
                </a:solidFill>
                <a:latin typeface="Times New Roman" panose="02020603050405020304" pitchFamily="18" charset="0"/>
              </a:defRPr>
            </a:lvl1pPr>
            <a:lvl2pPr algn="l">
              <a:tabLst>
                <a:tab pos="1428750" algn="r"/>
                <a:tab pos="2114550" algn="dec"/>
                <a:tab pos="3543300" algn="dec"/>
              </a:tabLst>
              <a:defRPr sz="2400">
                <a:solidFill>
                  <a:schemeClr val="tx1"/>
                </a:solidFill>
                <a:latin typeface="Times New Roman" panose="02020603050405020304" pitchFamily="18" charset="0"/>
              </a:defRPr>
            </a:lvl2pPr>
            <a:lvl3pPr algn="l">
              <a:tabLst>
                <a:tab pos="1428750" algn="r"/>
                <a:tab pos="2114550" algn="dec"/>
                <a:tab pos="3543300" algn="dec"/>
              </a:tabLst>
              <a:defRPr sz="2400">
                <a:solidFill>
                  <a:schemeClr val="tx1"/>
                </a:solidFill>
                <a:latin typeface="Times New Roman" panose="02020603050405020304" pitchFamily="18" charset="0"/>
              </a:defRPr>
            </a:lvl3pPr>
            <a:lvl4pPr algn="l">
              <a:tabLst>
                <a:tab pos="1428750" algn="r"/>
                <a:tab pos="2114550" algn="dec"/>
                <a:tab pos="3543300" algn="dec"/>
              </a:tabLst>
              <a:defRPr sz="2400">
                <a:solidFill>
                  <a:schemeClr val="tx1"/>
                </a:solidFill>
                <a:latin typeface="Times New Roman" panose="02020603050405020304" pitchFamily="18" charset="0"/>
              </a:defRPr>
            </a:lvl4pPr>
            <a:lvl5pPr algn="l">
              <a:tabLst>
                <a:tab pos="1428750" algn="r"/>
                <a:tab pos="2114550" algn="dec"/>
                <a:tab pos="3543300" algn="dec"/>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1428750" algn="r"/>
                <a:tab pos="2114550" algn="dec"/>
                <a:tab pos="3543300" algn="dec"/>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1428750" algn="r"/>
                <a:tab pos="2114550" algn="dec"/>
                <a:tab pos="3543300" algn="dec"/>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1428750" algn="r"/>
                <a:tab pos="2114550" algn="dec"/>
                <a:tab pos="3543300" algn="dec"/>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1428750" algn="r"/>
                <a:tab pos="2114550" algn="dec"/>
                <a:tab pos="3543300" algn="dec"/>
              </a:tabLst>
              <a:defRPr sz="2400">
                <a:solidFill>
                  <a:schemeClr val="tx1"/>
                </a:solidFill>
                <a:latin typeface="Times New Roman" panose="02020603050405020304" pitchFamily="18" charset="0"/>
              </a:defRPr>
            </a:lvl9pPr>
          </a:lstStyle>
          <a:p>
            <a:pPr>
              <a:spcBef>
                <a:spcPts val="500"/>
              </a:spcBef>
            </a:pPr>
            <a:r>
              <a:rPr lang="en-US" altLang="en-US" sz="1400" b="0"/>
              <a:t>	</a:t>
            </a:r>
            <a:r>
              <a:rPr lang="en-US" altLang="en-US" sz="1400"/>
              <a:t>Alpha 	</a:t>
            </a:r>
            <a:r>
              <a:rPr lang="en-US" altLang="en-US" sz="1400">
                <a:solidFill>
                  <a:srgbClr val="002B7F"/>
                </a:solidFill>
              </a:rPr>
              <a:t>3.11%</a:t>
            </a:r>
            <a:r>
              <a:rPr lang="en-US" altLang="en-US" sz="1400">
                <a:solidFill>
                  <a:srgbClr val="3333CC"/>
                </a:solidFill>
              </a:rPr>
              <a:t>	</a:t>
            </a:r>
            <a:r>
              <a:rPr lang="en-US" altLang="en-US" sz="1400">
                <a:solidFill>
                  <a:srgbClr val="A50021"/>
                </a:solidFill>
              </a:rPr>
              <a:t>5.54%</a:t>
            </a:r>
          </a:p>
          <a:p>
            <a:pPr>
              <a:spcBef>
                <a:spcPts val="500"/>
              </a:spcBef>
            </a:pPr>
            <a:r>
              <a:rPr lang="en-US" altLang="en-US" sz="1400"/>
              <a:t>	Tracking Error	</a:t>
            </a:r>
            <a:r>
              <a:rPr lang="en-US" altLang="en-US" sz="1400">
                <a:solidFill>
                  <a:srgbClr val="002B7F"/>
                </a:solidFill>
              </a:rPr>
              <a:t>4.59%</a:t>
            </a:r>
            <a:r>
              <a:rPr lang="en-US" altLang="en-US" sz="1400">
                <a:solidFill>
                  <a:srgbClr val="3333CC"/>
                </a:solidFill>
              </a:rPr>
              <a:t>	</a:t>
            </a:r>
            <a:r>
              <a:rPr lang="en-US" altLang="en-US" sz="1400">
                <a:solidFill>
                  <a:srgbClr val="A50021"/>
                </a:solidFill>
              </a:rPr>
              <a:t>3.78%</a:t>
            </a:r>
            <a:endParaRPr lang="en-US" altLang="en-US" sz="1400"/>
          </a:p>
          <a:p>
            <a:pPr>
              <a:spcBef>
                <a:spcPts val="500"/>
              </a:spcBef>
            </a:pPr>
            <a:r>
              <a:rPr lang="en-US" altLang="en-US" sz="1400"/>
              <a:t>	Information Ratio	</a:t>
            </a:r>
            <a:r>
              <a:rPr lang="en-US" altLang="en-US" sz="1400">
                <a:solidFill>
                  <a:srgbClr val="002B7F"/>
                </a:solidFill>
              </a:rPr>
              <a:t>0.68</a:t>
            </a:r>
            <a:r>
              <a:rPr lang="en-US" altLang="en-US" sz="1400">
                <a:solidFill>
                  <a:srgbClr val="3333CC"/>
                </a:solidFill>
              </a:rPr>
              <a:t>	</a:t>
            </a:r>
            <a:r>
              <a:rPr lang="en-US" altLang="en-US" sz="1400">
                <a:solidFill>
                  <a:srgbClr val="A50021"/>
                </a:solidFill>
              </a:rPr>
              <a:t>1.47</a:t>
            </a:r>
            <a:endParaRPr lang="en-US" altLang="en-US" sz="1400" b="0"/>
          </a:p>
        </p:txBody>
      </p:sp>
      <p:sp>
        <p:nvSpPr>
          <p:cNvPr id="293892" name="Text Box 4">
            <a:extLst>
              <a:ext uri="{FF2B5EF4-FFF2-40B4-BE49-F238E27FC236}">
                <a16:creationId xmlns:a16="http://schemas.microsoft.com/office/drawing/2014/main" id="{FA3A0A89-0683-DBDD-74BD-74DBA177667A}"/>
              </a:ext>
            </a:extLst>
          </p:cNvPr>
          <p:cNvSpPr txBox="1">
            <a:spLocks noChangeArrowheads="1"/>
          </p:cNvSpPr>
          <p:nvPr/>
        </p:nvSpPr>
        <p:spPr bwMode="auto">
          <a:xfrm>
            <a:off x="3990975" y="5626100"/>
            <a:ext cx="4502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tabLst>
                <a:tab pos="2286000" algn="ctr"/>
                <a:tab pos="3657600" algn="ctr"/>
              </a:tabLst>
              <a:defRPr sz="2400">
                <a:solidFill>
                  <a:schemeClr val="tx1"/>
                </a:solidFill>
                <a:latin typeface="Times New Roman" panose="02020603050405020304" pitchFamily="18" charset="0"/>
              </a:defRPr>
            </a:lvl1pPr>
            <a:lvl2pPr algn="l">
              <a:tabLst>
                <a:tab pos="2286000" algn="ctr"/>
                <a:tab pos="3657600" algn="ctr"/>
              </a:tabLst>
              <a:defRPr sz="2400">
                <a:solidFill>
                  <a:schemeClr val="tx1"/>
                </a:solidFill>
                <a:latin typeface="Times New Roman" panose="02020603050405020304" pitchFamily="18" charset="0"/>
              </a:defRPr>
            </a:lvl2pPr>
            <a:lvl3pPr algn="l">
              <a:tabLst>
                <a:tab pos="2286000" algn="ctr"/>
                <a:tab pos="3657600" algn="ctr"/>
              </a:tabLst>
              <a:defRPr sz="2400">
                <a:solidFill>
                  <a:schemeClr val="tx1"/>
                </a:solidFill>
                <a:latin typeface="Times New Roman" panose="02020603050405020304" pitchFamily="18" charset="0"/>
              </a:defRPr>
            </a:lvl3pPr>
            <a:lvl4pPr algn="l">
              <a:tabLst>
                <a:tab pos="2286000" algn="ctr"/>
                <a:tab pos="3657600" algn="ctr"/>
              </a:tabLst>
              <a:defRPr sz="2400">
                <a:solidFill>
                  <a:schemeClr val="tx1"/>
                </a:solidFill>
                <a:latin typeface="Times New Roman" panose="02020603050405020304" pitchFamily="18" charset="0"/>
              </a:defRPr>
            </a:lvl4pPr>
            <a:lvl5pPr algn="l">
              <a:tabLst>
                <a:tab pos="2286000" algn="ctr"/>
                <a:tab pos="3657600" algn="ctr"/>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2286000" algn="ctr"/>
                <a:tab pos="3657600" algn="ctr"/>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2286000" algn="ctr"/>
                <a:tab pos="3657600" algn="ctr"/>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2286000" algn="ctr"/>
                <a:tab pos="3657600" algn="ctr"/>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2286000" algn="ctr"/>
                <a:tab pos="3657600" algn="ctr"/>
              </a:tabLst>
              <a:defRPr sz="2400">
                <a:solidFill>
                  <a:schemeClr val="tx1"/>
                </a:solidFill>
                <a:latin typeface="Times New Roman" panose="02020603050405020304" pitchFamily="18" charset="0"/>
              </a:defRPr>
            </a:lvl9pPr>
          </a:lstStyle>
          <a:p>
            <a:pPr>
              <a:spcBef>
                <a:spcPts val="500"/>
              </a:spcBef>
            </a:pPr>
            <a:r>
              <a:rPr lang="en-US" altLang="en-US" sz="1400"/>
              <a:t>	</a:t>
            </a:r>
            <a:r>
              <a:rPr lang="en-US" altLang="en-US" sz="1600">
                <a:solidFill>
                  <a:srgbClr val="002B7F"/>
                </a:solidFill>
              </a:rPr>
              <a:t>Single Factor</a:t>
            </a:r>
            <a:r>
              <a:rPr lang="en-US" altLang="en-US" sz="1600">
                <a:solidFill>
                  <a:srgbClr val="3333CC"/>
                </a:solidFill>
              </a:rPr>
              <a:t>	</a:t>
            </a:r>
            <a:r>
              <a:rPr lang="en-US" altLang="en-US" sz="1600">
                <a:solidFill>
                  <a:srgbClr val="A50021"/>
                </a:solidFill>
              </a:rPr>
              <a:t>Multi-Factor</a:t>
            </a:r>
          </a:p>
        </p:txBody>
      </p:sp>
      <p:sp>
        <p:nvSpPr>
          <p:cNvPr id="293893" name="Text Box 5">
            <a:extLst>
              <a:ext uri="{FF2B5EF4-FFF2-40B4-BE49-F238E27FC236}">
                <a16:creationId xmlns:a16="http://schemas.microsoft.com/office/drawing/2014/main" id="{D02DC4B7-52BB-9108-D325-34B45DC748D4}"/>
              </a:ext>
            </a:extLst>
          </p:cNvPr>
          <p:cNvSpPr txBox="1">
            <a:spLocks noChangeArrowheads="1"/>
          </p:cNvSpPr>
          <p:nvPr/>
        </p:nvSpPr>
        <p:spPr bwMode="auto">
          <a:xfrm>
            <a:off x="549275" y="749300"/>
            <a:ext cx="92852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2800" b="0"/>
              <a:t>Emerging Markets</a:t>
            </a:r>
            <a:endParaRPr lang="en-US" altLang="en-US" sz="1800" b="0" i="1"/>
          </a:p>
        </p:txBody>
      </p:sp>
      <p:grpSp>
        <p:nvGrpSpPr>
          <p:cNvPr id="293895" name="Group 7">
            <a:extLst>
              <a:ext uri="{FF2B5EF4-FFF2-40B4-BE49-F238E27FC236}">
                <a16:creationId xmlns:a16="http://schemas.microsoft.com/office/drawing/2014/main" id="{729491F7-9000-8344-5E2C-B0D164745F88}"/>
              </a:ext>
            </a:extLst>
          </p:cNvPr>
          <p:cNvGrpSpPr>
            <a:grpSpLocks/>
          </p:cNvGrpSpPr>
          <p:nvPr/>
        </p:nvGrpSpPr>
        <p:grpSpPr bwMode="auto">
          <a:xfrm>
            <a:off x="533400" y="6016625"/>
            <a:ext cx="1612900" cy="1092200"/>
            <a:chOff x="336" y="3790"/>
            <a:chExt cx="1016" cy="688"/>
          </a:xfrm>
        </p:grpSpPr>
        <p:sp>
          <p:nvSpPr>
            <p:cNvPr id="293896" name="Oval 8">
              <a:extLst>
                <a:ext uri="{FF2B5EF4-FFF2-40B4-BE49-F238E27FC236}">
                  <a16:creationId xmlns:a16="http://schemas.microsoft.com/office/drawing/2014/main" id="{59AA6AA1-36C5-BC4C-EBBA-64761DB226EF}"/>
                </a:ext>
              </a:extLst>
            </p:cNvPr>
            <p:cNvSpPr>
              <a:spLocks noChangeArrowheads="1"/>
            </p:cNvSpPr>
            <p:nvPr/>
          </p:nvSpPr>
          <p:spPr bwMode="auto">
            <a:xfrm>
              <a:off x="337" y="3790"/>
              <a:ext cx="321" cy="321"/>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3897" name="Oval 9">
              <a:extLst>
                <a:ext uri="{FF2B5EF4-FFF2-40B4-BE49-F238E27FC236}">
                  <a16:creationId xmlns:a16="http://schemas.microsoft.com/office/drawing/2014/main" id="{B97B4720-ADC5-6B72-D238-509E2AAC8C83}"/>
                </a:ext>
              </a:extLst>
            </p:cNvPr>
            <p:cNvSpPr>
              <a:spLocks noChangeArrowheads="1"/>
            </p:cNvSpPr>
            <p:nvPr/>
          </p:nvSpPr>
          <p:spPr bwMode="auto">
            <a:xfrm>
              <a:off x="336" y="4157"/>
              <a:ext cx="321" cy="321"/>
            </a:xfrm>
            <a:prstGeom prst="ellipse">
              <a:avLst/>
            </a:prstGeom>
            <a:solidFill>
              <a:srgbClr val="002B7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3898" name="Rectangle 10">
              <a:extLst>
                <a:ext uri="{FF2B5EF4-FFF2-40B4-BE49-F238E27FC236}">
                  <a16:creationId xmlns:a16="http://schemas.microsoft.com/office/drawing/2014/main" id="{0BDEB763-D44A-D8D8-8C73-A4741B41B3C6}"/>
                </a:ext>
              </a:extLst>
            </p:cNvPr>
            <p:cNvSpPr>
              <a:spLocks noChangeArrowheads="1"/>
            </p:cNvSpPr>
            <p:nvPr/>
          </p:nvSpPr>
          <p:spPr bwMode="auto">
            <a:xfrm>
              <a:off x="792" y="3900"/>
              <a:ext cx="222"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3899" name="Rectangle 11">
              <a:extLst>
                <a:ext uri="{FF2B5EF4-FFF2-40B4-BE49-F238E27FC236}">
                  <a16:creationId xmlns:a16="http://schemas.microsoft.com/office/drawing/2014/main" id="{BC01EC87-F406-6FB4-77B2-2DCE2BB781CE}"/>
                </a:ext>
              </a:extLst>
            </p:cNvPr>
            <p:cNvSpPr>
              <a:spLocks noChangeArrowheads="1"/>
            </p:cNvSpPr>
            <p:nvPr/>
          </p:nvSpPr>
          <p:spPr bwMode="auto">
            <a:xfrm>
              <a:off x="792" y="4266"/>
              <a:ext cx="221" cy="100"/>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3900" name="Rectangle 12">
              <a:extLst>
                <a:ext uri="{FF2B5EF4-FFF2-40B4-BE49-F238E27FC236}">
                  <a16:creationId xmlns:a16="http://schemas.microsoft.com/office/drawing/2014/main" id="{CDB7BBFE-F189-51A9-C55D-88E7CA703F66}"/>
                </a:ext>
              </a:extLst>
            </p:cNvPr>
            <p:cNvSpPr>
              <a:spLocks noChangeArrowheads="1"/>
            </p:cNvSpPr>
            <p:nvPr/>
          </p:nvSpPr>
          <p:spPr bwMode="auto">
            <a:xfrm>
              <a:off x="1131" y="4037"/>
              <a:ext cx="221" cy="193"/>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3901" name="Line 13">
              <a:extLst>
                <a:ext uri="{FF2B5EF4-FFF2-40B4-BE49-F238E27FC236}">
                  <a16:creationId xmlns:a16="http://schemas.microsoft.com/office/drawing/2014/main" id="{360259B0-31B8-6C61-2062-2395ABCBEA39}"/>
                </a:ext>
              </a:extLst>
            </p:cNvPr>
            <p:cNvSpPr>
              <a:spLocks noChangeShapeType="1"/>
            </p:cNvSpPr>
            <p:nvPr/>
          </p:nvSpPr>
          <p:spPr bwMode="auto">
            <a:xfrm>
              <a:off x="659" y="3951"/>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3902" name="Line 14">
              <a:extLst>
                <a:ext uri="{FF2B5EF4-FFF2-40B4-BE49-F238E27FC236}">
                  <a16:creationId xmlns:a16="http://schemas.microsoft.com/office/drawing/2014/main" id="{149525DE-B99E-8393-FE35-BE36032CF899}"/>
                </a:ext>
              </a:extLst>
            </p:cNvPr>
            <p:cNvSpPr>
              <a:spLocks noChangeShapeType="1"/>
            </p:cNvSpPr>
            <p:nvPr/>
          </p:nvSpPr>
          <p:spPr bwMode="auto">
            <a:xfrm>
              <a:off x="659" y="4317"/>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3903" name="Line 15">
              <a:extLst>
                <a:ext uri="{FF2B5EF4-FFF2-40B4-BE49-F238E27FC236}">
                  <a16:creationId xmlns:a16="http://schemas.microsoft.com/office/drawing/2014/main" id="{1C53238C-C1E2-D63F-CA91-348165059136}"/>
                </a:ext>
              </a:extLst>
            </p:cNvPr>
            <p:cNvSpPr>
              <a:spLocks noChangeShapeType="1"/>
            </p:cNvSpPr>
            <p:nvPr/>
          </p:nvSpPr>
          <p:spPr bwMode="auto">
            <a:xfrm>
              <a:off x="903" y="3998"/>
              <a:ext cx="0" cy="12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3904" name="Line 16">
              <a:extLst>
                <a:ext uri="{FF2B5EF4-FFF2-40B4-BE49-F238E27FC236}">
                  <a16:creationId xmlns:a16="http://schemas.microsoft.com/office/drawing/2014/main" id="{BDB69270-D905-41E5-064A-7D04BADD891A}"/>
                </a:ext>
              </a:extLst>
            </p:cNvPr>
            <p:cNvSpPr>
              <a:spLocks noChangeShapeType="1"/>
            </p:cNvSpPr>
            <p:nvPr/>
          </p:nvSpPr>
          <p:spPr bwMode="auto">
            <a:xfrm flipV="1">
              <a:off x="903" y="4142"/>
              <a:ext cx="0" cy="121"/>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3905" name="Line 17">
              <a:extLst>
                <a:ext uri="{FF2B5EF4-FFF2-40B4-BE49-F238E27FC236}">
                  <a16:creationId xmlns:a16="http://schemas.microsoft.com/office/drawing/2014/main" id="{9FEB2782-C1C5-13DA-C796-57779796474E}"/>
                </a:ext>
              </a:extLst>
            </p:cNvPr>
            <p:cNvSpPr>
              <a:spLocks noChangeShapeType="1"/>
            </p:cNvSpPr>
            <p:nvPr/>
          </p:nvSpPr>
          <p:spPr bwMode="auto">
            <a:xfrm>
              <a:off x="915" y="4136"/>
              <a:ext cx="2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93906" name="Text Box 18">
            <a:extLst>
              <a:ext uri="{FF2B5EF4-FFF2-40B4-BE49-F238E27FC236}">
                <a16:creationId xmlns:a16="http://schemas.microsoft.com/office/drawing/2014/main" id="{D49C22A7-CBDA-5136-8890-2DEAA3D83981}"/>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graphicFrame>
        <p:nvGraphicFramePr>
          <p:cNvPr id="293907" name="Object 19">
            <a:extLst>
              <a:ext uri="{FF2B5EF4-FFF2-40B4-BE49-F238E27FC236}">
                <a16:creationId xmlns:a16="http://schemas.microsoft.com/office/drawing/2014/main" id="{57178361-3535-C9DC-ACBE-9F779A89DFB7}"/>
              </a:ext>
            </a:extLst>
          </p:cNvPr>
          <p:cNvGraphicFramePr>
            <a:graphicFrameLocks noChangeAspect="1"/>
          </p:cNvGraphicFramePr>
          <p:nvPr/>
        </p:nvGraphicFramePr>
        <p:xfrm>
          <a:off x="2693988" y="1665288"/>
          <a:ext cx="7269162" cy="3455987"/>
        </p:xfrm>
        <a:graphic>
          <a:graphicData uri="http://schemas.openxmlformats.org/presentationml/2006/ole">
            <mc:AlternateContent xmlns:mc="http://schemas.openxmlformats.org/markup-compatibility/2006">
              <mc:Choice xmlns:v="urn:schemas-microsoft-com:vml" Requires="v">
                <p:oleObj name="Worksheet" r:id="rId2" imgW="7378700" imgH="3784600" progId="Excel.Sheet.8">
                  <p:link updateAutomatic="1"/>
                </p:oleObj>
              </mc:Choice>
              <mc:Fallback>
                <p:oleObj name="Worksheet" r:id="rId2" imgW="7378700" imgH="3784600" progId="Excel.Sheet.8">
                  <p:link updateAutomatic="1"/>
                  <p:pic>
                    <p:nvPicPr>
                      <p:cNvPr id="0" name="Object 19"/>
                      <p:cNvPicPr>
                        <a:picLocks noChangeAspect="1" noChangeArrowheads="1"/>
                      </p:cNvPicPr>
                      <p:nvPr/>
                    </p:nvPicPr>
                    <p:blipFill>
                      <a:blip r:embed="rId3">
                        <a:extLst>
                          <a:ext uri="{28A0092B-C50C-407E-A947-70E740481C1C}">
                            <a14:useLocalDpi xmlns:a14="http://schemas.microsoft.com/office/drawing/2010/main" val="0"/>
                          </a:ext>
                        </a:extLst>
                      </a:blip>
                      <a:srcRect t="5838" r="1421" b="2730"/>
                      <a:stretch>
                        <a:fillRect/>
                      </a:stretch>
                    </p:blipFill>
                    <p:spPr bwMode="auto">
                      <a:xfrm>
                        <a:off x="2693988" y="1665288"/>
                        <a:ext cx="7269162" cy="3455987"/>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3908" name="Text Box 20">
            <a:extLst>
              <a:ext uri="{FF2B5EF4-FFF2-40B4-BE49-F238E27FC236}">
                <a16:creationId xmlns:a16="http://schemas.microsoft.com/office/drawing/2014/main" id="{F94EB655-D575-74F1-D451-351AD81C84D0}"/>
              </a:ext>
            </a:extLst>
          </p:cNvPr>
          <p:cNvSpPr txBox="1">
            <a:spLocks noChangeArrowheads="1"/>
          </p:cNvSpPr>
          <p:nvPr/>
        </p:nvSpPr>
        <p:spPr bwMode="auto">
          <a:xfrm>
            <a:off x="8575675" y="7153275"/>
            <a:ext cx="9461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000" b="0">
                <a:latin typeface="Times New Roman" panose="02020603050405020304" pitchFamily="18" charset="0"/>
              </a:rPr>
              <a:t>As of 12/31/01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Text Box 2">
            <a:extLst>
              <a:ext uri="{FF2B5EF4-FFF2-40B4-BE49-F238E27FC236}">
                <a16:creationId xmlns:a16="http://schemas.microsoft.com/office/drawing/2014/main" id="{B3A32D84-4418-A5A3-EC8F-1CCCC1F5C74E}"/>
              </a:ext>
            </a:extLst>
          </p:cNvPr>
          <p:cNvSpPr txBox="1">
            <a:spLocks noChangeArrowheads="1"/>
          </p:cNvSpPr>
          <p:nvPr/>
        </p:nvSpPr>
        <p:spPr bwMode="auto">
          <a:xfrm>
            <a:off x="596900" y="2090738"/>
            <a:ext cx="2247900" cy="137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1200" b="0">
                <a:latin typeface="Times New Roman" panose="02020603050405020304" pitchFamily="18" charset="0"/>
              </a:rPr>
              <a:t>Why not just use BARRA software?</a:t>
            </a:r>
          </a:p>
          <a:p>
            <a:pPr algn="l"/>
            <a:endParaRPr lang="en-US" altLang="en-US" sz="1200" b="0">
              <a:latin typeface="Times New Roman" panose="02020603050405020304" pitchFamily="18" charset="0"/>
            </a:endParaRPr>
          </a:p>
          <a:p>
            <a:pPr algn="l"/>
            <a:endParaRPr lang="en-US" altLang="en-US" sz="1200" b="0">
              <a:latin typeface="Times New Roman" panose="02020603050405020304" pitchFamily="18" charset="0"/>
            </a:endParaRPr>
          </a:p>
          <a:p>
            <a:pPr algn="l"/>
            <a:r>
              <a:rPr lang="en-US" altLang="en-US" sz="1200" b="0">
                <a:latin typeface="Times New Roman" panose="02020603050405020304" pitchFamily="18" charset="0"/>
              </a:rPr>
              <a:t>We have a different philosophy about the consideration of risk factors.</a:t>
            </a:r>
          </a:p>
        </p:txBody>
      </p:sp>
      <p:sp>
        <p:nvSpPr>
          <p:cNvPr id="318467" name="Text Box 3">
            <a:extLst>
              <a:ext uri="{FF2B5EF4-FFF2-40B4-BE49-F238E27FC236}">
                <a16:creationId xmlns:a16="http://schemas.microsoft.com/office/drawing/2014/main" id="{55EA9E4C-D614-9F67-5633-401137292E26}"/>
              </a:ext>
            </a:extLst>
          </p:cNvPr>
          <p:cNvSpPr txBox="1">
            <a:spLocks noChangeArrowheads="1"/>
          </p:cNvSpPr>
          <p:nvPr/>
        </p:nvSpPr>
        <p:spPr bwMode="auto">
          <a:xfrm>
            <a:off x="576263" y="685800"/>
            <a:ext cx="9313862"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GMO Risk Control Methodology</a:t>
            </a:r>
          </a:p>
        </p:txBody>
      </p:sp>
      <p:grpSp>
        <p:nvGrpSpPr>
          <p:cNvPr id="318468" name="Group 4">
            <a:extLst>
              <a:ext uri="{FF2B5EF4-FFF2-40B4-BE49-F238E27FC236}">
                <a16:creationId xmlns:a16="http://schemas.microsoft.com/office/drawing/2014/main" id="{E48658EA-A586-2FA1-C1FF-5286AE6886B4}"/>
              </a:ext>
            </a:extLst>
          </p:cNvPr>
          <p:cNvGrpSpPr>
            <a:grpSpLocks/>
          </p:cNvGrpSpPr>
          <p:nvPr/>
        </p:nvGrpSpPr>
        <p:grpSpPr bwMode="auto">
          <a:xfrm>
            <a:off x="533400" y="6016625"/>
            <a:ext cx="1612900" cy="1092200"/>
            <a:chOff x="336" y="3790"/>
            <a:chExt cx="1016" cy="688"/>
          </a:xfrm>
        </p:grpSpPr>
        <p:sp>
          <p:nvSpPr>
            <p:cNvPr id="318469" name="Oval 5">
              <a:extLst>
                <a:ext uri="{FF2B5EF4-FFF2-40B4-BE49-F238E27FC236}">
                  <a16:creationId xmlns:a16="http://schemas.microsoft.com/office/drawing/2014/main" id="{B0A42BC8-A3EE-5F6C-C7B2-92CC62AB6F86}"/>
                </a:ext>
              </a:extLst>
            </p:cNvPr>
            <p:cNvSpPr>
              <a:spLocks noChangeArrowheads="1"/>
            </p:cNvSpPr>
            <p:nvPr/>
          </p:nvSpPr>
          <p:spPr bwMode="auto">
            <a:xfrm>
              <a:off x="337" y="3790"/>
              <a:ext cx="321" cy="321"/>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470" name="Oval 6">
              <a:extLst>
                <a:ext uri="{FF2B5EF4-FFF2-40B4-BE49-F238E27FC236}">
                  <a16:creationId xmlns:a16="http://schemas.microsoft.com/office/drawing/2014/main" id="{D8004C9D-6B96-BCDC-9CBF-BA17C3256DBD}"/>
                </a:ext>
              </a:extLst>
            </p:cNvPr>
            <p:cNvSpPr>
              <a:spLocks noChangeArrowheads="1"/>
            </p:cNvSpPr>
            <p:nvPr/>
          </p:nvSpPr>
          <p:spPr bwMode="auto">
            <a:xfrm>
              <a:off x="336" y="4157"/>
              <a:ext cx="321" cy="321"/>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471" name="Rectangle 7">
              <a:extLst>
                <a:ext uri="{FF2B5EF4-FFF2-40B4-BE49-F238E27FC236}">
                  <a16:creationId xmlns:a16="http://schemas.microsoft.com/office/drawing/2014/main" id="{3280C449-0348-21C4-8D2D-22EB8ACE9705}"/>
                </a:ext>
              </a:extLst>
            </p:cNvPr>
            <p:cNvSpPr>
              <a:spLocks noChangeArrowheads="1"/>
            </p:cNvSpPr>
            <p:nvPr/>
          </p:nvSpPr>
          <p:spPr bwMode="auto">
            <a:xfrm>
              <a:off x="792" y="3900"/>
              <a:ext cx="222" cy="100"/>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472" name="Rectangle 8">
              <a:extLst>
                <a:ext uri="{FF2B5EF4-FFF2-40B4-BE49-F238E27FC236}">
                  <a16:creationId xmlns:a16="http://schemas.microsoft.com/office/drawing/2014/main" id="{B896C537-9BC1-A82F-C270-81F313D0016C}"/>
                </a:ext>
              </a:extLst>
            </p:cNvPr>
            <p:cNvSpPr>
              <a:spLocks noChangeArrowheads="1"/>
            </p:cNvSpPr>
            <p:nvPr/>
          </p:nvSpPr>
          <p:spPr bwMode="auto">
            <a:xfrm>
              <a:off x="792" y="4266"/>
              <a:ext cx="221" cy="100"/>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473" name="Rectangle 9">
              <a:extLst>
                <a:ext uri="{FF2B5EF4-FFF2-40B4-BE49-F238E27FC236}">
                  <a16:creationId xmlns:a16="http://schemas.microsoft.com/office/drawing/2014/main" id="{364CD7DA-3209-B375-CA9A-46523B425C33}"/>
                </a:ext>
              </a:extLst>
            </p:cNvPr>
            <p:cNvSpPr>
              <a:spLocks noChangeArrowheads="1"/>
            </p:cNvSpPr>
            <p:nvPr/>
          </p:nvSpPr>
          <p:spPr bwMode="auto">
            <a:xfrm>
              <a:off x="1131" y="4037"/>
              <a:ext cx="221" cy="193"/>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474" name="Line 10">
              <a:extLst>
                <a:ext uri="{FF2B5EF4-FFF2-40B4-BE49-F238E27FC236}">
                  <a16:creationId xmlns:a16="http://schemas.microsoft.com/office/drawing/2014/main" id="{596208B5-E9EC-9D3F-EF20-BBC00A84204D}"/>
                </a:ext>
              </a:extLst>
            </p:cNvPr>
            <p:cNvSpPr>
              <a:spLocks noChangeShapeType="1"/>
            </p:cNvSpPr>
            <p:nvPr/>
          </p:nvSpPr>
          <p:spPr bwMode="auto">
            <a:xfrm>
              <a:off x="659" y="3951"/>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475" name="Line 11">
              <a:extLst>
                <a:ext uri="{FF2B5EF4-FFF2-40B4-BE49-F238E27FC236}">
                  <a16:creationId xmlns:a16="http://schemas.microsoft.com/office/drawing/2014/main" id="{9335364B-CA43-D3F1-E044-276887F8A40C}"/>
                </a:ext>
              </a:extLst>
            </p:cNvPr>
            <p:cNvSpPr>
              <a:spLocks noChangeShapeType="1"/>
            </p:cNvSpPr>
            <p:nvPr/>
          </p:nvSpPr>
          <p:spPr bwMode="auto">
            <a:xfrm>
              <a:off x="659" y="4317"/>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476" name="Line 12">
              <a:extLst>
                <a:ext uri="{FF2B5EF4-FFF2-40B4-BE49-F238E27FC236}">
                  <a16:creationId xmlns:a16="http://schemas.microsoft.com/office/drawing/2014/main" id="{BE764B5F-2D70-1715-AA2C-DE874F114EE3}"/>
                </a:ext>
              </a:extLst>
            </p:cNvPr>
            <p:cNvSpPr>
              <a:spLocks noChangeShapeType="1"/>
            </p:cNvSpPr>
            <p:nvPr/>
          </p:nvSpPr>
          <p:spPr bwMode="auto">
            <a:xfrm>
              <a:off x="903" y="3998"/>
              <a:ext cx="0" cy="12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477" name="Line 13">
              <a:extLst>
                <a:ext uri="{FF2B5EF4-FFF2-40B4-BE49-F238E27FC236}">
                  <a16:creationId xmlns:a16="http://schemas.microsoft.com/office/drawing/2014/main" id="{DE9B7EB6-5D25-DA4F-D167-5776A5EBE7F4}"/>
                </a:ext>
              </a:extLst>
            </p:cNvPr>
            <p:cNvSpPr>
              <a:spLocks noChangeShapeType="1"/>
            </p:cNvSpPr>
            <p:nvPr/>
          </p:nvSpPr>
          <p:spPr bwMode="auto">
            <a:xfrm flipV="1">
              <a:off x="903" y="4142"/>
              <a:ext cx="0" cy="121"/>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8478" name="Line 14">
              <a:extLst>
                <a:ext uri="{FF2B5EF4-FFF2-40B4-BE49-F238E27FC236}">
                  <a16:creationId xmlns:a16="http://schemas.microsoft.com/office/drawing/2014/main" id="{CBD298AA-AFED-5BE3-521D-31A563F03F68}"/>
                </a:ext>
              </a:extLst>
            </p:cNvPr>
            <p:cNvSpPr>
              <a:spLocks noChangeShapeType="1"/>
            </p:cNvSpPr>
            <p:nvPr/>
          </p:nvSpPr>
          <p:spPr bwMode="auto">
            <a:xfrm>
              <a:off x="915" y="4136"/>
              <a:ext cx="2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18479" name="Text Box 15">
            <a:extLst>
              <a:ext uri="{FF2B5EF4-FFF2-40B4-BE49-F238E27FC236}">
                <a16:creationId xmlns:a16="http://schemas.microsoft.com/office/drawing/2014/main" id="{C6934398-1FA4-A3A6-827A-B4202C06F098}"/>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graphicFrame>
        <p:nvGraphicFramePr>
          <p:cNvPr id="318481" name="Object 17">
            <a:extLst>
              <a:ext uri="{FF2B5EF4-FFF2-40B4-BE49-F238E27FC236}">
                <a16:creationId xmlns:a16="http://schemas.microsoft.com/office/drawing/2014/main" id="{F3D4B747-37BC-3A6E-CDE9-EC7F4AE8BA42}"/>
              </a:ext>
            </a:extLst>
          </p:cNvPr>
          <p:cNvGraphicFramePr>
            <a:graphicFrameLocks noChangeAspect="1"/>
          </p:cNvGraphicFramePr>
          <p:nvPr/>
        </p:nvGraphicFramePr>
        <p:xfrm>
          <a:off x="2395538" y="1839913"/>
          <a:ext cx="7604125" cy="4564062"/>
        </p:xfrm>
        <a:graphic>
          <a:graphicData uri="http://schemas.openxmlformats.org/presentationml/2006/ole">
            <mc:AlternateContent xmlns:mc="http://schemas.openxmlformats.org/markup-compatibility/2006">
              <mc:Choice xmlns:v="urn:schemas-microsoft-com:vml" Requires="v">
                <p:oleObj name="Worksheet" r:id="rId2" imgW="7607300" imgH="4572000" progId="Excel.Sheet.8">
                  <p:link updateAutomatic="1"/>
                </p:oleObj>
              </mc:Choice>
              <mc:Fallback>
                <p:oleObj name="Worksheet" r:id="rId2" imgW="7607300" imgH="4572000" progId="Excel.Sheet.8">
                  <p:link updateAutomatic="1"/>
                  <p:pic>
                    <p:nvPicPr>
                      <p:cNvPr id="0"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5538" y="1839913"/>
                        <a:ext cx="7604125" cy="4564062"/>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8194">
            <a:extLst>
              <a:ext uri="{FF2B5EF4-FFF2-40B4-BE49-F238E27FC236}">
                <a16:creationId xmlns:a16="http://schemas.microsoft.com/office/drawing/2014/main" id="{D61C527E-BEDC-A842-4E88-4F7018DACBEA}"/>
              </a:ext>
            </a:extLst>
          </p:cNvPr>
          <p:cNvSpPr>
            <a:spLocks noChangeArrowheads="1"/>
          </p:cNvSpPr>
          <p:nvPr/>
        </p:nvSpPr>
        <p:spPr bwMode="auto">
          <a:xfrm>
            <a:off x="2935288" y="2051050"/>
            <a:ext cx="960437" cy="66516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8F8C"/>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92075" tIns="46038" rIns="92075" bIns="46038" anchor="ctr"/>
          <a:lstStyle/>
          <a:p>
            <a:r>
              <a:rPr lang="en-US" altLang="en-US" sz="1600"/>
              <a:t>Cash</a:t>
            </a:r>
          </a:p>
          <a:p>
            <a:r>
              <a:rPr lang="en-US" altLang="en-US" sz="1600"/>
              <a:t>Flow</a:t>
            </a:r>
          </a:p>
        </p:txBody>
      </p:sp>
      <p:sp>
        <p:nvSpPr>
          <p:cNvPr id="294915" name="Rectangle 8195">
            <a:extLst>
              <a:ext uri="{FF2B5EF4-FFF2-40B4-BE49-F238E27FC236}">
                <a16:creationId xmlns:a16="http://schemas.microsoft.com/office/drawing/2014/main" id="{124D330C-3FBA-44F6-BDE6-EBDDA5399A7D}"/>
              </a:ext>
            </a:extLst>
          </p:cNvPr>
          <p:cNvSpPr>
            <a:spLocks noChangeArrowheads="1"/>
          </p:cNvSpPr>
          <p:nvPr/>
        </p:nvSpPr>
        <p:spPr bwMode="auto">
          <a:xfrm>
            <a:off x="5632450" y="1536700"/>
            <a:ext cx="1425575" cy="66516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8F8C"/>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92075" tIns="46038" rIns="92075" bIns="46038" anchor="ctr"/>
          <a:lstStyle/>
          <a:p>
            <a:r>
              <a:rPr lang="en-US" altLang="en-US" sz="1600"/>
              <a:t>Transaction</a:t>
            </a:r>
          </a:p>
          <a:p>
            <a:r>
              <a:rPr lang="en-US" altLang="en-US" sz="1600"/>
              <a:t>Costs</a:t>
            </a:r>
          </a:p>
        </p:txBody>
      </p:sp>
      <p:sp>
        <p:nvSpPr>
          <p:cNvPr id="294916" name="Rectangle 8196">
            <a:extLst>
              <a:ext uri="{FF2B5EF4-FFF2-40B4-BE49-F238E27FC236}">
                <a16:creationId xmlns:a16="http://schemas.microsoft.com/office/drawing/2014/main" id="{9A6112DF-6B7E-E98E-DC44-A1FF2F8255B0}"/>
              </a:ext>
            </a:extLst>
          </p:cNvPr>
          <p:cNvSpPr>
            <a:spLocks noChangeArrowheads="1"/>
          </p:cNvSpPr>
          <p:nvPr/>
        </p:nvSpPr>
        <p:spPr bwMode="auto">
          <a:xfrm>
            <a:off x="4335463" y="1560513"/>
            <a:ext cx="960437" cy="66516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8F8C"/>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92075" tIns="46038" rIns="92075" bIns="46038" anchor="ctr"/>
          <a:lstStyle/>
          <a:p>
            <a:r>
              <a:rPr lang="en-US" altLang="en-US" sz="1600"/>
              <a:t>Alphas</a:t>
            </a:r>
          </a:p>
        </p:txBody>
      </p:sp>
      <p:sp>
        <p:nvSpPr>
          <p:cNvPr id="294917" name="Rectangle 8197">
            <a:extLst>
              <a:ext uri="{FF2B5EF4-FFF2-40B4-BE49-F238E27FC236}">
                <a16:creationId xmlns:a16="http://schemas.microsoft.com/office/drawing/2014/main" id="{589A8C9A-D54F-1004-1C3C-E82CBFF5CC0D}"/>
              </a:ext>
            </a:extLst>
          </p:cNvPr>
          <p:cNvSpPr>
            <a:spLocks noChangeArrowheads="1"/>
          </p:cNvSpPr>
          <p:nvPr/>
        </p:nvSpPr>
        <p:spPr bwMode="auto">
          <a:xfrm>
            <a:off x="1933575" y="3013075"/>
            <a:ext cx="1181100" cy="7985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8F8C"/>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92075" tIns="46038" rIns="92075" bIns="46038" anchor="ctr"/>
          <a:lstStyle/>
          <a:p>
            <a:r>
              <a:rPr lang="en-US" altLang="en-US" sz="1600"/>
              <a:t>Current</a:t>
            </a:r>
          </a:p>
          <a:p>
            <a:r>
              <a:rPr lang="en-US" altLang="en-US" sz="1600"/>
              <a:t>Portfolio</a:t>
            </a:r>
          </a:p>
          <a:p>
            <a:r>
              <a:rPr lang="en-US" altLang="en-US" sz="1600"/>
              <a:t>Weights</a:t>
            </a:r>
          </a:p>
        </p:txBody>
      </p:sp>
      <p:sp>
        <p:nvSpPr>
          <p:cNvPr id="294918" name="Rectangle 8198">
            <a:extLst>
              <a:ext uri="{FF2B5EF4-FFF2-40B4-BE49-F238E27FC236}">
                <a16:creationId xmlns:a16="http://schemas.microsoft.com/office/drawing/2014/main" id="{C57B1D17-0C36-4E39-FE64-1CD5E3C6D4C6}"/>
              </a:ext>
            </a:extLst>
          </p:cNvPr>
          <p:cNvSpPr>
            <a:spLocks noChangeArrowheads="1"/>
          </p:cNvSpPr>
          <p:nvPr/>
        </p:nvSpPr>
        <p:spPr bwMode="auto">
          <a:xfrm>
            <a:off x="2935288" y="4375150"/>
            <a:ext cx="960437" cy="66516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8F8C"/>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92075" tIns="46038" rIns="92075" bIns="46038" anchor="ctr"/>
          <a:lstStyle/>
          <a:p>
            <a:r>
              <a:rPr lang="en-US" altLang="en-US" sz="1600"/>
              <a:t>Risk</a:t>
            </a:r>
          </a:p>
          <a:p>
            <a:r>
              <a:rPr lang="en-US" altLang="en-US" sz="1600"/>
              <a:t>Aversion</a:t>
            </a:r>
          </a:p>
        </p:txBody>
      </p:sp>
      <p:sp>
        <p:nvSpPr>
          <p:cNvPr id="294919" name="Rectangle 8199">
            <a:extLst>
              <a:ext uri="{FF2B5EF4-FFF2-40B4-BE49-F238E27FC236}">
                <a16:creationId xmlns:a16="http://schemas.microsoft.com/office/drawing/2014/main" id="{17832651-7301-A44F-0453-CAE21E7700D7}"/>
              </a:ext>
            </a:extLst>
          </p:cNvPr>
          <p:cNvSpPr>
            <a:spLocks noChangeArrowheads="1"/>
          </p:cNvSpPr>
          <p:nvPr/>
        </p:nvSpPr>
        <p:spPr bwMode="auto">
          <a:xfrm>
            <a:off x="4487863" y="4622800"/>
            <a:ext cx="960437" cy="66516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8F8C"/>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92075" tIns="46038" rIns="92075" bIns="46038" anchor="ctr"/>
          <a:lstStyle/>
          <a:p>
            <a:r>
              <a:rPr lang="en-US" altLang="en-US" sz="1600"/>
              <a:t>Market</a:t>
            </a:r>
          </a:p>
          <a:p>
            <a:r>
              <a:rPr lang="en-US" altLang="en-US" sz="1600"/>
              <a:t>Weights</a:t>
            </a:r>
          </a:p>
        </p:txBody>
      </p:sp>
      <p:sp>
        <p:nvSpPr>
          <p:cNvPr id="294920" name="Rectangle 8200">
            <a:extLst>
              <a:ext uri="{FF2B5EF4-FFF2-40B4-BE49-F238E27FC236}">
                <a16:creationId xmlns:a16="http://schemas.microsoft.com/office/drawing/2014/main" id="{79013B0E-96E5-5807-FAFD-F20DFDF4BD14}"/>
              </a:ext>
            </a:extLst>
          </p:cNvPr>
          <p:cNvSpPr>
            <a:spLocks noChangeArrowheads="1"/>
          </p:cNvSpPr>
          <p:nvPr/>
        </p:nvSpPr>
        <p:spPr bwMode="auto">
          <a:xfrm>
            <a:off x="4276725" y="3171825"/>
            <a:ext cx="1571625" cy="933450"/>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92075" tIns="46038" rIns="92075" bIns="46038" anchor="ctr"/>
          <a:lstStyle/>
          <a:p>
            <a:r>
              <a:rPr lang="en-US" altLang="en-US" sz="1800">
                <a:solidFill>
                  <a:schemeClr val="bg1"/>
                </a:solidFill>
              </a:rPr>
              <a:t>Quadratic</a:t>
            </a:r>
          </a:p>
          <a:p>
            <a:r>
              <a:rPr lang="en-US" altLang="en-US" sz="1800">
                <a:solidFill>
                  <a:schemeClr val="bg1"/>
                </a:solidFill>
              </a:rPr>
              <a:t>Optimizer</a:t>
            </a:r>
            <a:endParaRPr lang="en-US" altLang="en-US" sz="1600">
              <a:solidFill>
                <a:schemeClr val="bg1"/>
              </a:solidFill>
            </a:endParaRPr>
          </a:p>
        </p:txBody>
      </p:sp>
      <p:sp>
        <p:nvSpPr>
          <p:cNvPr id="294921" name="Rectangle 8201">
            <a:extLst>
              <a:ext uri="{FF2B5EF4-FFF2-40B4-BE49-F238E27FC236}">
                <a16:creationId xmlns:a16="http://schemas.microsoft.com/office/drawing/2014/main" id="{F9A824DA-F195-CA60-B505-738DE2DCCF4A}"/>
              </a:ext>
            </a:extLst>
          </p:cNvPr>
          <p:cNvSpPr>
            <a:spLocks noChangeArrowheads="1"/>
          </p:cNvSpPr>
          <p:nvPr/>
        </p:nvSpPr>
        <p:spPr bwMode="auto">
          <a:xfrm>
            <a:off x="6680200" y="3228975"/>
            <a:ext cx="1339850" cy="8255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007E7B"/>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92075" tIns="46038" rIns="92075" bIns="46038" anchor="ctr"/>
          <a:lstStyle/>
          <a:p>
            <a:r>
              <a:rPr lang="en-US" altLang="en-US" sz="1600"/>
              <a:t>New</a:t>
            </a:r>
          </a:p>
          <a:p>
            <a:r>
              <a:rPr lang="en-US" altLang="en-US" sz="1600"/>
              <a:t>Portfolio</a:t>
            </a:r>
          </a:p>
          <a:p>
            <a:r>
              <a:rPr lang="en-US" altLang="en-US" sz="1600"/>
              <a:t>Weights</a:t>
            </a:r>
          </a:p>
        </p:txBody>
      </p:sp>
      <p:sp>
        <p:nvSpPr>
          <p:cNvPr id="294922" name="AutoShape 8202">
            <a:extLst>
              <a:ext uri="{FF2B5EF4-FFF2-40B4-BE49-F238E27FC236}">
                <a16:creationId xmlns:a16="http://schemas.microsoft.com/office/drawing/2014/main" id="{20D0E02D-AAA5-26BC-7725-DA90F136EDC7}"/>
              </a:ext>
            </a:extLst>
          </p:cNvPr>
          <p:cNvSpPr>
            <a:spLocks noChangeArrowheads="1"/>
          </p:cNvSpPr>
          <p:nvPr/>
        </p:nvSpPr>
        <p:spPr bwMode="auto">
          <a:xfrm>
            <a:off x="7737475" y="5400675"/>
            <a:ext cx="835025" cy="568325"/>
          </a:xfrm>
          <a:prstGeom prst="roundRect">
            <a:avLst>
              <a:gd name="adj" fmla="val 12495"/>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92075" tIns="46038" rIns="92075" bIns="46038" anchor="ctr"/>
          <a:lstStyle/>
          <a:p>
            <a:r>
              <a:rPr lang="en-US" altLang="en-US" sz="1800"/>
              <a:t>Trade</a:t>
            </a:r>
          </a:p>
          <a:p>
            <a:r>
              <a:rPr lang="en-US" altLang="en-US" sz="1800"/>
              <a:t>List</a:t>
            </a:r>
            <a:endParaRPr lang="en-US" altLang="en-US" sz="1600"/>
          </a:p>
        </p:txBody>
      </p:sp>
      <p:sp>
        <p:nvSpPr>
          <p:cNvPr id="294923" name="Oval 8203">
            <a:extLst>
              <a:ext uri="{FF2B5EF4-FFF2-40B4-BE49-F238E27FC236}">
                <a16:creationId xmlns:a16="http://schemas.microsoft.com/office/drawing/2014/main" id="{07DDB055-7A5B-986F-07B4-09B681E817A7}"/>
              </a:ext>
            </a:extLst>
          </p:cNvPr>
          <p:cNvSpPr>
            <a:spLocks noChangeArrowheads="1"/>
          </p:cNvSpPr>
          <p:nvPr/>
        </p:nvSpPr>
        <p:spPr bwMode="auto">
          <a:xfrm>
            <a:off x="7893050" y="4314825"/>
            <a:ext cx="511175" cy="501650"/>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en-US"/>
          </a:p>
        </p:txBody>
      </p:sp>
      <p:sp>
        <p:nvSpPr>
          <p:cNvPr id="294924" name="Line 8204">
            <a:extLst>
              <a:ext uri="{FF2B5EF4-FFF2-40B4-BE49-F238E27FC236}">
                <a16:creationId xmlns:a16="http://schemas.microsoft.com/office/drawing/2014/main" id="{2D8A168A-D27F-A930-72B1-3C4604ECF4A6}"/>
              </a:ext>
            </a:extLst>
          </p:cNvPr>
          <p:cNvSpPr>
            <a:spLocks noChangeShapeType="1"/>
          </p:cNvSpPr>
          <p:nvPr/>
        </p:nvSpPr>
        <p:spPr bwMode="auto">
          <a:xfrm>
            <a:off x="7969250" y="4387850"/>
            <a:ext cx="361950" cy="36195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25" name="Line 8205">
            <a:extLst>
              <a:ext uri="{FF2B5EF4-FFF2-40B4-BE49-F238E27FC236}">
                <a16:creationId xmlns:a16="http://schemas.microsoft.com/office/drawing/2014/main" id="{51A91AFA-69CC-6D7E-D27F-46C9C1CF9E51}"/>
              </a:ext>
            </a:extLst>
          </p:cNvPr>
          <p:cNvSpPr>
            <a:spLocks noChangeShapeType="1"/>
          </p:cNvSpPr>
          <p:nvPr/>
        </p:nvSpPr>
        <p:spPr bwMode="auto">
          <a:xfrm flipH="1">
            <a:off x="7972425" y="4384675"/>
            <a:ext cx="361950" cy="36195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26" name="Line 8206">
            <a:extLst>
              <a:ext uri="{FF2B5EF4-FFF2-40B4-BE49-F238E27FC236}">
                <a16:creationId xmlns:a16="http://schemas.microsoft.com/office/drawing/2014/main" id="{CF16BDCE-DB20-FC78-CCC2-A9EB097B62AE}"/>
              </a:ext>
            </a:extLst>
          </p:cNvPr>
          <p:cNvSpPr>
            <a:spLocks noChangeShapeType="1"/>
          </p:cNvSpPr>
          <p:nvPr/>
        </p:nvSpPr>
        <p:spPr bwMode="auto">
          <a:xfrm>
            <a:off x="3092450" y="3489325"/>
            <a:ext cx="1152525" cy="0"/>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27" name="Line 8207">
            <a:extLst>
              <a:ext uri="{FF2B5EF4-FFF2-40B4-BE49-F238E27FC236}">
                <a16:creationId xmlns:a16="http://schemas.microsoft.com/office/drawing/2014/main" id="{A55C46A3-899D-7DEB-730B-041AB5B3F822}"/>
              </a:ext>
            </a:extLst>
          </p:cNvPr>
          <p:cNvSpPr>
            <a:spLocks noChangeShapeType="1"/>
          </p:cNvSpPr>
          <p:nvPr/>
        </p:nvSpPr>
        <p:spPr bwMode="auto">
          <a:xfrm>
            <a:off x="3892550" y="2432050"/>
            <a:ext cx="695325" cy="742950"/>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28" name="Line 8208">
            <a:extLst>
              <a:ext uri="{FF2B5EF4-FFF2-40B4-BE49-F238E27FC236}">
                <a16:creationId xmlns:a16="http://schemas.microsoft.com/office/drawing/2014/main" id="{7C3A3DCB-A1D1-6A53-799C-B9C8AEB6CF95}"/>
              </a:ext>
            </a:extLst>
          </p:cNvPr>
          <p:cNvSpPr>
            <a:spLocks noChangeShapeType="1"/>
          </p:cNvSpPr>
          <p:nvPr/>
        </p:nvSpPr>
        <p:spPr bwMode="auto">
          <a:xfrm>
            <a:off x="4806950" y="2232025"/>
            <a:ext cx="104775" cy="942975"/>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29" name="Line 8209">
            <a:extLst>
              <a:ext uri="{FF2B5EF4-FFF2-40B4-BE49-F238E27FC236}">
                <a16:creationId xmlns:a16="http://schemas.microsoft.com/office/drawing/2014/main" id="{E3165207-B248-709D-6F39-9DADDB54684E}"/>
              </a:ext>
            </a:extLst>
          </p:cNvPr>
          <p:cNvSpPr>
            <a:spLocks noChangeShapeType="1"/>
          </p:cNvSpPr>
          <p:nvPr/>
        </p:nvSpPr>
        <p:spPr bwMode="auto">
          <a:xfrm flipH="1">
            <a:off x="5232400" y="2212975"/>
            <a:ext cx="1089025" cy="962025"/>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30" name="Line 8210">
            <a:extLst>
              <a:ext uri="{FF2B5EF4-FFF2-40B4-BE49-F238E27FC236}">
                <a16:creationId xmlns:a16="http://schemas.microsoft.com/office/drawing/2014/main" id="{BA8F382C-35B2-C03A-6FB3-C6F287777F0D}"/>
              </a:ext>
            </a:extLst>
          </p:cNvPr>
          <p:cNvSpPr>
            <a:spLocks noChangeShapeType="1"/>
          </p:cNvSpPr>
          <p:nvPr/>
        </p:nvSpPr>
        <p:spPr bwMode="auto">
          <a:xfrm flipV="1">
            <a:off x="3902075" y="4165600"/>
            <a:ext cx="704850" cy="542925"/>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31" name="Line 8211">
            <a:extLst>
              <a:ext uri="{FF2B5EF4-FFF2-40B4-BE49-F238E27FC236}">
                <a16:creationId xmlns:a16="http://schemas.microsoft.com/office/drawing/2014/main" id="{BA7A9AF7-C388-6D17-FA55-5C2C1F2D4999}"/>
              </a:ext>
            </a:extLst>
          </p:cNvPr>
          <p:cNvSpPr>
            <a:spLocks noChangeShapeType="1"/>
          </p:cNvSpPr>
          <p:nvPr/>
        </p:nvSpPr>
        <p:spPr bwMode="auto">
          <a:xfrm flipV="1">
            <a:off x="4946650" y="4143375"/>
            <a:ext cx="0" cy="476250"/>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32" name="Line 8212">
            <a:extLst>
              <a:ext uri="{FF2B5EF4-FFF2-40B4-BE49-F238E27FC236}">
                <a16:creationId xmlns:a16="http://schemas.microsoft.com/office/drawing/2014/main" id="{C8AC7868-34E3-E85F-844E-FDFC373DC2E8}"/>
              </a:ext>
            </a:extLst>
          </p:cNvPr>
          <p:cNvSpPr>
            <a:spLocks noChangeShapeType="1"/>
          </p:cNvSpPr>
          <p:nvPr/>
        </p:nvSpPr>
        <p:spPr bwMode="auto">
          <a:xfrm>
            <a:off x="5838825" y="3298825"/>
            <a:ext cx="809625" cy="0"/>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33" name="Line 8213">
            <a:extLst>
              <a:ext uri="{FF2B5EF4-FFF2-40B4-BE49-F238E27FC236}">
                <a16:creationId xmlns:a16="http://schemas.microsoft.com/office/drawing/2014/main" id="{B621C389-4A4E-D305-57FC-98862FAA945C}"/>
              </a:ext>
            </a:extLst>
          </p:cNvPr>
          <p:cNvSpPr>
            <a:spLocks noChangeShapeType="1"/>
          </p:cNvSpPr>
          <p:nvPr/>
        </p:nvSpPr>
        <p:spPr bwMode="auto">
          <a:xfrm>
            <a:off x="5838825" y="3641725"/>
            <a:ext cx="790575" cy="0"/>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34" name="Line 8214">
            <a:extLst>
              <a:ext uri="{FF2B5EF4-FFF2-40B4-BE49-F238E27FC236}">
                <a16:creationId xmlns:a16="http://schemas.microsoft.com/office/drawing/2014/main" id="{4AD35A5F-5B35-DC0E-FECC-6278A8F0E047}"/>
              </a:ext>
            </a:extLst>
          </p:cNvPr>
          <p:cNvSpPr>
            <a:spLocks noChangeShapeType="1"/>
          </p:cNvSpPr>
          <p:nvPr/>
        </p:nvSpPr>
        <p:spPr bwMode="auto">
          <a:xfrm>
            <a:off x="5838825" y="3956050"/>
            <a:ext cx="787400" cy="0"/>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35" name="Line 8215">
            <a:extLst>
              <a:ext uri="{FF2B5EF4-FFF2-40B4-BE49-F238E27FC236}">
                <a16:creationId xmlns:a16="http://schemas.microsoft.com/office/drawing/2014/main" id="{6B1F1E89-43C5-D030-69AB-2EFD596FB262}"/>
              </a:ext>
            </a:extLst>
          </p:cNvPr>
          <p:cNvSpPr>
            <a:spLocks noChangeShapeType="1"/>
          </p:cNvSpPr>
          <p:nvPr/>
        </p:nvSpPr>
        <p:spPr bwMode="auto">
          <a:xfrm>
            <a:off x="8007350" y="3641725"/>
            <a:ext cx="40005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36" name="Line 8216">
            <a:extLst>
              <a:ext uri="{FF2B5EF4-FFF2-40B4-BE49-F238E27FC236}">
                <a16:creationId xmlns:a16="http://schemas.microsoft.com/office/drawing/2014/main" id="{2B9E5585-57C5-7C7D-0207-646372103DE0}"/>
              </a:ext>
            </a:extLst>
          </p:cNvPr>
          <p:cNvSpPr>
            <a:spLocks noChangeShapeType="1"/>
          </p:cNvSpPr>
          <p:nvPr/>
        </p:nvSpPr>
        <p:spPr bwMode="auto">
          <a:xfrm>
            <a:off x="8407400" y="3641725"/>
            <a:ext cx="0" cy="647700"/>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37" name="Line 8217">
            <a:extLst>
              <a:ext uri="{FF2B5EF4-FFF2-40B4-BE49-F238E27FC236}">
                <a16:creationId xmlns:a16="http://schemas.microsoft.com/office/drawing/2014/main" id="{E5E0FCE3-1397-48DA-8201-FBE7CC17A744}"/>
              </a:ext>
            </a:extLst>
          </p:cNvPr>
          <p:cNvSpPr>
            <a:spLocks noChangeShapeType="1"/>
          </p:cNvSpPr>
          <p:nvPr/>
        </p:nvSpPr>
        <p:spPr bwMode="auto">
          <a:xfrm>
            <a:off x="8150225" y="4813300"/>
            <a:ext cx="0" cy="523875"/>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38" name="Line 8218">
            <a:extLst>
              <a:ext uri="{FF2B5EF4-FFF2-40B4-BE49-F238E27FC236}">
                <a16:creationId xmlns:a16="http://schemas.microsoft.com/office/drawing/2014/main" id="{27D2E2B8-AC8C-DD31-2699-E7BBAC32D3ED}"/>
              </a:ext>
            </a:extLst>
          </p:cNvPr>
          <p:cNvSpPr>
            <a:spLocks noChangeShapeType="1"/>
          </p:cNvSpPr>
          <p:nvPr/>
        </p:nvSpPr>
        <p:spPr bwMode="auto">
          <a:xfrm>
            <a:off x="2492375" y="3813175"/>
            <a:ext cx="0" cy="167640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39" name="Line 8219">
            <a:extLst>
              <a:ext uri="{FF2B5EF4-FFF2-40B4-BE49-F238E27FC236}">
                <a16:creationId xmlns:a16="http://schemas.microsoft.com/office/drawing/2014/main" id="{8083C0E0-1F89-61A3-2D87-C1295D357C0E}"/>
              </a:ext>
            </a:extLst>
          </p:cNvPr>
          <p:cNvSpPr>
            <a:spLocks noChangeShapeType="1"/>
          </p:cNvSpPr>
          <p:nvPr/>
        </p:nvSpPr>
        <p:spPr bwMode="auto">
          <a:xfrm>
            <a:off x="2492375" y="5489575"/>
            <a:ext cx="3848100" cy="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40" name="Line 8220">
            <a:extLst>
              <a:ext uri="{FF2B5EF4-FFF2-40B4-BE49-F238E27FC236}">
                <a16:creationId xmlns:a16="http://schemas.microsoft.com/office/drawing/2014/main" id="{C07C1CD1-7EC2-9F54-64D7-04A80F3D131D}"/>
              </a:ext>
            </a:extLst>
          </p:cNvPr>
          <p:cNvSpPr>
            <a:spLocks noChangeShapeType="1"/>
          </p:cNvSpPr>
          <p:nvPr/>
        </p:nvSpPr>
        <p:spPr bwMode="auto">
          <a:xfrm flipV="1">
            <a:off x="6340475" y="4384675"/>
            <a:ext cx="0" cy="110490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41" name="Line 8221">
            <a:extLst>
              <a:ext uri="{FF2B5EF4-FFF2-40B4-BE49-F238E27FC236}">
                <a16:creationId xmlns:a16="http://schemas.microsoft.com/office/drawing/2014/main" id="{619D6BCB-BD3F-97BB-ADD8-775F0ED0F509}"/>
              </a:ext>
            </a:extLst>
          </p:cNvPr>
          <p:cNvSpPr>
            <a:spLocks noChangeShapeType="1"/>
          </p:cNvSpPr>
          <p:nvPr/>
        </p:nvSpPr>
        <p:spPr bwMode="auto">
          <a:xfrm>
            <a:off x="6348413" y="4381500"/>
            <a:ext cx="1412875" cy="7938"/>
          </a:xfrm>
          <a:prstGeom prst="line">
            <a:avLst/>
          </a:prstGeom>
          <a:noFill/>
          <a:ln w="1905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42" name="Text Box 8222">
            <a:extLst>
              <a:ext uri="{FF2B5EF4-FFF2-40B4-BE49-F238E27FC236}">
                <a16:creationId xmlns:a16="http://schemas.microsoft.com/office/drawing/2014/main" id="{E68232D2-1EE4-34F8-C027-02E3FBAA7519}"/>
              </a:ext>
            </a:extLst>
          </p:cNvPr>
          <p:cNvSpPr txBox="1">
            <a:spLocks noChangeArrowheads="1"/>
          </p:cNvSpPr>
          <p:nvPr/>
        </p:nvSpPr>
        <p:spPr bwMode="auto">
          <a:xfrm>
            <a:off x="2832100" y="6059488"/>
            <a:ext cx="4406900"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tabLst>
                <a:tab pos="1600200" algn="ctr"/>
                <a:tab pos="1828800" algn="l"/>
              </a:tabLst>
              <a:defRPr sz="2400">
                <a:solidFill>
                  <a:schemeClr val="tx1"/>
                </a:solidFill>
                <a:latin typeface="Times New Roman" panose="02020603050405020304" pitchFamily="18" charset="0"/>
              </a:defRPr>
            </a:lvl1pPr>
            <a:lvl2pPr algn="l">
              <a:tabLst>
                <a:tab pos="1600200" algn="ctr"/>
                <a:tab pos="1828800" algn="l"/>
              </a:tabLst>
              <a:defRPr sz="2400">
                <a:solidFill>
                  <a:schemeClr val="tx1"/>
                </a:solidFill>
                <a:latin typeface="Times New Roman" panose="02020603050405020304" pitchFamily="18" charset="0"/>
              </a:defRPr>
            </a:lvl2pPr>
            <a:lvl3pPr algn="l">
              <a:tabLst>
                <a:tab pos="1600200" algn="ctr"/>
                <a:tab pos="1828800" algn="l"/>
              </a:tabLst>
              <a:defRPr sz="2400">
                <a:solidFill>
                  <a:schemeClr val="tx1"/>
                </a:solidFill>
                <a:latin typeface="Times New Roman" panose="02020603050405020304" pitchFamily="18" charset="0"/>
              </a:defRPr>
            </a:lvl3pPr>
            <a:lvl4pPr algn="l">
              <a:tabLst>
                <a:tab pos="1600200" algn="ctr"/>
                <a:tab pos="1828800" algn="l"/>
              </a:tabLst>
              <a:defRPr sz="2400">
                <a:solidFill>
                  <a:schemeClr val="tx1"/>
                </a:solidFill>
                <a:latin typeface="Times New Roman" panose="02020603050405020304" pitchFamily="18" charset="0"/>
              </a:defRPr>
            </a:lvl4pPr>
            <a:lvl5pPr algn="l">
              <a:tabLst>
                <a:tab pos="1600200" algn="ctr"/>
                <a:tab pos="18288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1600200" algn="ctr"/>
                <a:tab pos="18288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1600200" algn="ctr"/>
                <a:tab pos="18288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1600200" algn="ctr"/>
                <a:tab pos="18288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1600200" algn="ctr"/>
                <a:tab pos="1828800" algn="l"/>
              </a:tabLst>
              <a:defRPr sz="2400">
                <a:solidFill>
                  <a:schemeClr val="tx1"/>
                </a:solidFill>
                <a:latin typeface="Times New Roman" panose="02020603050405020304" pitchFamily="18" charset="0"/>
              </a:defRPr>
            </a:lvl9pPr>
          </a:lstStyle>
          <a:p>
            <a:r>
              <a:rPr lang="en-US" altLang="en-US" sz="1400" u="sng"/>
              <a:t>Objective Function:</a:t>
            </a:r>
          </a:p>
          <a:p>
            <a:endParaRPr lang="en-US" altLang="en-US" sz="1400" u="sng"/>
          </a:p>
          <a:p>
            <a:pPr>
              <a:spcAft>
                <a:spcPts val="500"/>
              </a:spcAft>
            </a:pPr>
            <a:r>
              <a:rPr lang="en-US" altLang="en-US" sz="1400" b="0"/>
              <a:t>(Maximize) Utility	=	Alpha</a:t>
            </a:r>
          </a:p>
          <a:p>
            <a:pPr>
              <a:spcAft>
                <a:spcPts val="500"/>
              </a:spcAft>
            </a:pPr>
            <a:r>
              <a:rPr lang="en-US" altLang="en-US" sz="1400" b="0"/>
              <a:t>	-	Risk (net of benchmark)</a:t>
            </a:r>
          </a:p>
          <a:p>
            <a:pPr>
              <a:spcAft>
                <a:spcPts val="500"/>
              </a:spcAft>
            </a:pPr>
            <a:r>
              <a:rPr lang="en-US" altLang="en-US" sz="1400" b="0"/>
              <a:t>	-	Transaction Costs (quadratic)</a:t>
            </a:r>
            <a:endParaRPr lang="en-US" altLang="en-US" sz="1400"/>
          </a:p>
        </p:txBody>
      </p:sp>
      <p:sp>
        <p:nvSpPr>
          <p:cNvPr id="294943" name="Text Box 8223">
            <a:extLst>
              <a:ext uri="{FF2B5EF4-FFF2-40B4-BE49-F238E27FC236}">
                <a16:creationId xmlns:a16="http://schemas.microsoft.com/office/drawing/2014/main" id="{0B5CBBB2-2986-0505-C8C3-8C2478F55D03}"/>
              </a:ext>
            </a:extLst>
          </p:cNvPr>
          <p:cNvSpPr txBox="1">
            <a:spLocks noChangeArrowheads="1"/>
          </p:cNvSpPr>
          <p:nvPr/>
        </p:nvSpPr>
        <p:spPr bwMode="auto">
          <a:xfrm>
            <a:off x="554038" y="663575"/>
            <a:ext cx="9186862"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Markets</a:t>
            </a:r>
          </a:p>
          <a:p>
            <a:pPr algn="l">
              <a:lnSpc>
                <a:spcPct val="125000"/>
              </a:lnSpc>
            </a:pPr>
            <a:r>
              <a:rPr lang="en-US" altLang="en-US" sz="1800" b="0" i="1"/>
              <a:t>Portfolio Construction</a:t>
            </a:r>
          </a:p>
        </p:txBody>
      </p:sp>
      <p:grpSp>
        <p:nvGrpSpPr>
          <p:cNvPr id="294944" name="Group 8224">
            <a:extLst>
              <a:ext uri="{FF2B5EF4-FFF2-40B4-BE49-F238E27FC236}">
                <a16:creationId xmlns:a16="http://schemas.microsoft.com/office/drawing/2014/main" id="{0F6BE141-07F3-D2B1-290D-97882059D2E2}"/>
              </a:ext>
            </a:extLst>
          </p:cNvPr>
          <p:cNvGrpSpPr>
            <a:grpSpLocks/>
          </p:cNvGrpSpPr>
          <p:nvPr/>
        </p:nvGrpSpPr>
        <p:grpSpPr bwMode="auto">
          <a:xfrm>
            <a:off x="533400" y="6016625"/>
            <a:ext cx="1612900" cy="1092200"/>
            <a:chOff x="336" y="3790"/>
            <a:chExt cx="1016" cy="688"/>
          </a:xfrm>
        </p:grpSpPr>
        <p:sp>
          <p:nvSpPr>
            <p:cNvPr id="294945" name="Oval 8225">
              <a:extLst>
                <a:ext uri="{FF2B5EF4-FFF2-40B4-BE49-F238E27FC236}">
                  <a16:creationId xmlns:a16="http://schemas.microsoft.com/office/drawing/2014/main" id="{5924245B-2991-E7EC-2F7F-AC6383C0EF61}"/>
                </a:ext>
              </a:extLst>
            </p:cNvPr>
            <p:cNvSpPr>
              <a:spLocks noChangeArrowheads="1"/>
            </p:cNvSpPr>
            <p:nvPr/>
          </p:nvSpPr>
          <p:spPr bwMode="auto">
            <a:xfrm>
              <a:off x="337" y="3790"/>
              <a:ext cx="321" cy="321"/>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46" name="Oval 8226">
              <a:extLst>
                <a:ext uri="{FF2B5EF4-FFF2-40B4-BE49-F238E27FC236}">
                  <a16:creationId xmlns:a16="http://schemas.microsoft.com/office/drawing/2014/main" id="{66F67EA0-4E62-3325-2A95-55659FEDC09B}"/>
                </a:ext>
              </a:extLst>
            </p:cNvPr>
            <p:cNvSpPr>
              <a:spLocks noChangeArrowheads="1"/>
            </p:cNvSpPr>
            <p:nvPr/>
          </p:nvSpPr>
          <p:spPr bwMode="auto">
            <a:xfrm>
              <a:off x="336" y="4157"/>
              <a:ext cx="321" cy="321"/>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47" name="Rectangle 8227">
              <a:extLst>
                <a:ext uri="{FF2B5EF4-FFF2-40B4-BE49-F238E27FC236}">
                  <a16:creationId xmlns:a16="http://schemas.microsoft.com/office/drawing/2014/main" id="{B31AFC8C-8918-28F7-6BB7-60CA3C5C3628}"/>
                </a:ext>
              </a:extLst>
            </p:cNvPr>
            <p:cNvSpPr>
              <a:spLocks noChangeArrowheads="1"/>
            </p:cNvSpPr>
            <p:nvPr/>
          </p:nvSpPr>
          <p:spPr bwMode="auto">
            <a:xfrm>
              <a:off x="792" y="3900"/>
              <a:ext cx="222" cy="100"/>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48" name="Rectangle 8228">
              <a:extLst>
                <a:ext uri="{FF2B5EF4-FFF2-40B4-BE49-F238E27FC236}">
                  <a16:creationId xmlns:a16="http://schemas.microsoft.com/office/drawing/2014/main" id="{A5D33398-5AF5-89D0-A0E8-BAB2BB19F9D0}"/>
                </a:ext>
              </a:extLst>
            </p:cNvPr>
            <p:cNvSpPr>
              <a:spLocks noChangeArrowheads="1"/>
            </p:cNvSpPr>
            <p:nvPr/>
          </p:nvSpPr>
          <p:spPr bwMode="auto">
            <a:xfrm>
              <a:off x="792" y="4266"/>
              <a:ext cx="221" cy="100"/>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49" name="Rectangle 8229">
              <a:extLst>
                <a:ext uri="{FF2B5EF4-FFF2-40B4-BE49-F238E27FC236}">
                  <a16:creationId xmlns:a16="http://schemas.microsoft.com/office/drawing/2014/main" id="{0CA128FA-3249-7DBF-BC81-8601AD83BBAC}"/>
                </a:ext>
              </a:extLst>
            </p:cNvPr>
            <p:cNvSpPr>
              <a:spLocks noChangeArrowheads="1"/>
            </p:cNvSpPr>
            <p:nvPr/>
          </p:nvSpPr>
          <p:spPr bwMode="auto">
            <a:xfrm>
              <a:off x="1131" y="4037"/>
              <a:ext cx="221" cy="193"/>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50" name="Line 8230">
              <a:extLst>
                <a:ext uri="{FF2B5EF4-FFF2-40B4-BE49-F238E27FC236}">
                  <a16:creationId xmlns:a16="http://schemas.microsoft.com/office/drawing/2014/main" id="{8AEAF45D-0B8D-3B7F-9302-70C9AE067387}"/>
                </a:ext>
              </a:extLst>
            </p:cNvPr>
            <p:cNvSpPr>
              <a:spLocks noChangeShapeType="1"/>
            </p:cNvSpPr>
            <p:nvPr/>
          </p:nvSpPr>
          <p:spPr bwMode="auto">
            <a:xfrm>
              <a:off x="659" y="3951"/>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51" name="Line 8231">
              <a:extLst>
                <a:ext uri="{FF2B5EF4-FFF2-40B4-BE49-F238E27FC236}">
                  <a16:creationId xmlns:a16="http://schemas.microsoft.com/office/drawing/2014/main" id="{DB09507B-BFFA-FEF5-D511-461F10C125DE}"/>
                </a:ext>
              </a:extLst>
            </p:cNvPr>
            <p:cNvSpPr>
              <a:spLocks noChangeShapeType="1"/>
            </p:cNvSpPr>
            <p:nvPr/>
          </p:nvSpPr>
          <p:spPr bwMode="auto">
            <a:xfrm>
              <a:off x="659" y="4317"/>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52" name="Line 8232">
              <a:extLst>
                <a:ext uri="{FF2B5EF4-FFF2-40B4-BE49-F238E27FC236}">
                  <a16:creationId xmlns:a16="http://schemas.microsoft.com/office/drawing/2014/main" id="{7352F8EB-1B0E-8F3C-61D7-C8F27A99E0B1}"/>
                </a:ext>
              </a:extLst>
            </p:cNvPr>
            <p:cNvSpPr>
              <a:spLocks noChangeShapeType="1"/>
            </p:cNvSpPr>
            <p:nvPr/>
          </p:nvSpPr>
          <p:spPr bwMode="auto">
            <a:xfrm>
              <a:off x="903" y="3998"/>
              <a:ext cx="0" cy="12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53" name="Line 8233">
              <a:extLst>
                <a:ext uri="{FF2B5EF4-FFF2-40B4-BE49-F238E27FC236}">
                  <a16:creationId xmlns:a16="http://schemas.microsoft.com/office/drawing/2014/main" id="{907ABB10-52A3-551B-4F6D-AA5D35D9B2DA}"/>
                </a:ext>
              </a:extLst>
            </p:cNvPr>
            <p:cNvSpPr>
              <a:spLocks noChangeShapeType="1"/>
            </p:cNvSpPr>
            <p:nvPr/>
          </p:nvSpPr>
          <p:spPr bwMode="auto">
            <a:xfrm flipV="1">
              <a:off x="903" y="4142"/>
              <a:ext cx="0" cy="121"/>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54" name="Line 8234">
              <a:extLst>
                <a:ext uri="{FF2B5EF4-FFF2-40B4-BE49-F238E27FC236}">
                  <a16:creationId xmlns:a16="http://schemas.microsoft.com/office/drawing/2014/main" id="{19A950F4-C5B3-38E3-3487-05810DEDB454}"/>
                </a:ext>
              </a:extLst>
            </p:cNvPr>
            <p:cNvSpPr>
              <a:spLocks noChangeShapeType="1"/>
            </p:cNvSpPr>
            <p:nvPr/>
          </p:nvSpPr>
          <p:spPr bwMode="auto">
            <a:xfrm>
              <a:off x="915" y="4136"/>
              <a:ext cx="2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94955" name="Text Box 8235">
            <a:extLst>
              <a:ext uri="{FF2B5EF4-FFF2-40B4-BE49-F238E27FC236}">
                <a16:creationId xmlns:a16="http://schemas.microsoft.com/office/drawing/2014/main" id="{ACDC5EB8-BD15-CB18-6942-5C355F5B169B}"/>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Text Box 2">
            <a:extLst>
              <a:ext uri="{FF2B5EF4-FFF2-40B4-BE49-F238E27FC236}">
                <a16:creationId xmlns:a16="http://schemas.microsoft.com/office/drawing/2014/main" id="{D1EEE6D1-F300-0CD4-570C-E7E4141FB505}"/>
              </a:ext>
            </a:extLst>
          </p:cNvPr>
          <p:cNvSpPr txBox="1">
            <a:spLocks noChangeArrowheads="1"/>
          </p:cNvSpPr>
          <p:nvPr/>
        </p:nvSpPr>
        <p:spPr bwMode="auto">
          <a:xfrm>
            <a:off x="555625" y="665163"/>
            <a:ext cx="8110538"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Portfolio Positioning</a:t>
            </a:r>
          </a:p>
          <a:p>
            <a:pPr algn="l">
              <a:lnSpc>
                <a:spcPct val="125000"/>
              </a:lnSpc>
            </a:pPr>
            <a:r>
              <a:rPr lang="en-US" altLang="en-US" sz="1800" b="0" i="1"/>
              <a:t>GMO Emerging Markets Strategy</a:t>
            </a:r>
          </a:p>
        </p:txBody>
      </p:sp>
      <p:sp>
        <p:nvSpPr>
          <p:cNvPr id="295939" name="Text Box 3">
            <a:extLst>
              <a:ext uri="{FF2B5EF4-FFF2-40B4-BE49-F238E27FC236}">
                <a16:creationId xmlns:a16="http://schemas.microsoft.com/office/drawing/2014/main" id="{EED43C94-DED1-2BB6-99CF-6F2B7663EA85}"/>
              </a:ext>
            </a:extLst>
          </p:cNvPr>
          <p:cNvSpPr txBox="1">
            <a:spLocks noChangeArrowheads="1"/>
          </p:cNvSpPr>
          <p:nvPr/>
        </p:nvSpPr>
        <p:spPr bwMode="auto">
          <a:xfrm>
            <a:off x="8586788" y="7038975"/>
            <a:ext cx="946150" cy="24447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000" b="0">
                <a:latin typeface="Times New Roman" panose="02020603050405020304" pitchFamily="18" charset="0"/>
              </a:rPr>
              <a:t>As of 12/31/01</a:t>
            </a:r>
          </a:p>
        </p:txBody>
      </p:sp>
      <p:sp>
        <p:nvSpPr>
          <p:cNvPr id="295941" name="Text Box 5">
            <a:extLst>
              <a:ext uri="{FF2B5EF4-FFF2-40B4-BE49-F238E27FC236}">
                <a16:creationId xmlns:a16="http://schemas.microsoft.com/office/drawing/2014/main" id="{50205E1F-FFB3-61E2-F2A8-E61497AB6BFD}"/>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graphicFrame>
        <p:nvGraphicFramePr>
          <p:cNvPr id="295945" name="Object 9">
            <a:extLst>
              <a:ext uri="{FF2B5EF4-FFF2-40B4-BE49-F238E27FC236}">
                <a16:creationId xmlns:a16="http://schemas.microsoft.com/office/drawing/2014/main" id="{0A5010CC-9F7F-010F-0757-22D1151C4A93}"/>
              </a:ext>
            </a:extLst>
          </p:cNvPr>
          <p:cNvGraphicFramePr>
            <a:graphicFrameLocks noChangeAspect="1"/>
          </p:cNvGraphicFramePr>
          <p:nvPr/>
        </p:nvGraphicFramePr>
        <p:xfrm>
          <a:off x="1020763" y="2371725"/>
          <a:ext cx="7993062" cy="3032125"/>
        </p:xfrm>
        <a:graphic>
          <a:graphicData uri="http://schemas.openxmlformats.org/presentationml/2006/ole">
            <mc:AlternateContent xmlns:mc="http://schemas.openxmlformats.org/markup-compatibility/2006">
              <mc:Choice xmlns:v="urn:schemas-microsoft-com:vml" Requires="v">
                <p:oleObj name="Worksheet" r:id="rId3" imgW="8001000" imgH="3035300" progId="Excel.Sheet.8">
                  <p:link updateAutomatic="1"/>
                </p:oleObj>
              </mc:Choice>
              <mc:Fallback>
                <p:oleObj name="Worksheet" r:id="rId3" imgW="8001000" imgH="3035300" progId="Excel.Sheet.8">
                  <p:link updateAutomatic="1"/>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0763" y="2371725"/>
                        <a:ext cx="7993062" cy="303212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96" name="Text Box 20">
            <a:extLst>
              <a:ext uri="{FF2B5EF4-FFF2-40B4-BE49-F238E27FC236}">
                <a16:creationId xmlns:a16="http://schemas.microsoft.com/office/drawing/2014/main" id="{F483644A-EDD6-722B-7184-C6B065C9FB57}"/>
              </a:ext>
            </a:extLst>
          </p:cNvPr>
          <p:cNvSpPr txBox="1">
            <a:spLocks noChangeArrowheads="1"/>
          </p:cNvSpPr>
          <p:nvPr/>
        </p:nvSpPr>
        <p:spPr bwMode="auto">
          <a:xfrm>
            <a:off x="561975" y="739775"/>
            <a:ext cx="92694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2800" b="0"/>
              <a:t>Country Allocation Grid – January 2002</a:t>
            </a:r>
          </a:p>
        </p:txBody>
      </p:sp>
      <p:sp>
        <p:nvSpPr>
          <p:cNvPr id="152589" name="Rectangle 13">
            <a:extLst>
              <a:ext uri="{FF2B5EF4-FFF2-40B4-BE49-F238E27FC236}">
                <a16:creationId xmlns:a16="http://schemas.microsoft.com/office/drawing/2014/main" id="{B00B4A55-9031-53CB-28F9-D58B6B4ABE41}"/>
              </a:ext>
            </a:extLst>
          </p:cNvPr>
          <p:cNvSpPr>
            <a:spLocks noChangeArrowheads="1"/>
          </p:cNvSpPr>
          <p:nvPr/>
        </p:nvSpPr>
        <p:spPr bwMode="auto">
          <a:xfrm>
            <a:off x="2333625" y="7118350"/>
            <a:ext cx="216693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000">
                <a:latin typeface="Times New Roman" panose="02020603050405020304" pitchFamily="18" charset="0"/>
              </a:rPr>
              <a:t>Note:</a:t>
            </a:r>
            <a:r>
              <a:rPr lang="en-US" altLang="en-US" sz="1000" b="0">
                <a:latin typeface="Times New Roman" panose="02020603050405020304" pitchFamily="18" charset="0"/>
              </a:rPr>
              <a:t>  Allocations will vary over time.</a:t>
            </a:r>
          </a:p>
        </p:txBody>
      </p:sp>
      <p:grpSp>
        <p:nvGrpSpPr>
          <p:cNvPr id="152631" name="Group 55">
            <a:extLst>
              <a:ext uri="{FF2B5EF4-FFF2-40B4-BE49-F238E27FC236}">
                <a16:creationId xmlns:a16="http://schemas.microsoft.com/office/drawing/2014/main" id="{43A35F35-8825-00A1-53F1-4DB31396EBDE}"/>
              </a:ext>
            </a:extLst>
          </p:cNvPr>
          <p:cNvGrpSpPr>
            <a:grpSpLocks/>
          </p:cNvGrpSpPr>
          <p:nvPr/>
        </p:nvGrpSpPr>
        <p:grpSpPr bwMode="auto">
          <a:xfrm>
            <a:off x="533400" y="6016625"/>
            <a:ext cx="1612900" cy="1092200"/>
            <a:chOff x="336" y="3790"/>
            <a:chExt cx="1016" cy="688"/>
          </a:xfrm>
        </p:grpSpPr>
        <p:sp>
          <p:nvSpPr>
            <p:cNvPr id="152621" name="Oval 45">
              <a:extLst>
                <a:ext uri="{FF2B5EF4-FFF2-40B4-BE49-F238E27FC236}">
                  <a16:creationId xmlns:a16="http://schemas.microsoft.com/office/drawing/2014/main" id="{29706E87-7FDB-6A1A-2464-8BE4671A3A4F}"/>
                </a:ext>
              </a:extLst>
            </p:cNvPr>
            <p:cNvSpPr>
              <a:spLocks noChangeArrowheads="1"/>
            </p:cNvSpPr>
            <p:nvPr/>
          </p:nvSpPr>
          <p:spPr bwMode="auto">
            <a:xfrm>
              <a:off x="337" y="3790"/>
              <a:ext cx="321" cy="321"/>
            </a:xfrm>
            <a:prstGeom prst="ellipse">
              <a:avLst/>
            </a:prstGeom>
            <a:solidFill>
              <a:srgbClr val="002B7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2622" name="Oval 46">
              <a:extLst>
                <a:ext uri="{FF2B5EF4-FFF2-40B4-BE49-F238E27FC236}">
                  <a16:creationId xmlns:a16="http://schemas.microsoft.com/office/drawing/2014/main" id="{0FFC9F0E-189E-B01D-7FB1-2AA8E4A282C5}"/>
                </a:ext>
              </a:extLst>
            </p:cNvPr>
            <p:cNvSpPr>
              <a:spLocks noChangeArrowheads="1"/>
            </p:cNvSpPr>
            <p:nvPr/>
          </p:nvSpPr>
          <p:spPr bwMode="auto">
            <a:xfrm>
              <a:off x="336" y="4157"/>
              <a:ext cx="321" cy="321"/>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2623" name="Rectangle 47">
              <a:extLst>
                <a:ext uri="{FF2B5EF4-FFF2-40B4-BE49-F238E27FC236}">
                  <a16:creationId xmlns:a16="http://schemas.microsoft.com/office/drawing/2014/main" id="{C19663FD-CA3B-57B9-2DDC-F26DDBF26CF0}"/>
                </a:ext>
              </a:extLst>
            </p:cNvPr>
            <p:cNvSpPr>
              <a:spLocks noChangeArrowheads="1"/>
            </p:cNvSpPr>
            <p:nvPr/>
          </p:nvSpPr>
          <p:spPr bwMode="auto">
            <a:xfrm>
              <a:off x="792" y="3900"/>
              <a:ext cx="222" cy="100"/>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2624" name="Rectangle 48">
              <a:extLst>
                <a:ext uri="{FF2B5EF4-FFF2-40B4-BE49-F238E27FC236}">
                  <a16:creationId xmlns:a16="http://schemas.microsoft.com/office/drawing/2014/main" id="{89F03045-23CF-4617-796B-71A0B10EABBB}"/>
                </a:ext>
              </a:extLst>
            </p:cNvPr>
            <p:cNvSpPr>
              <a:spLocks noChangeArrowheads="1"/>
            </p:cNvSpPr>
            <p:nvPr/>
          </p:nvSpPr>
          <p:spPr bwMode="auto">
            <a:xfrm>
              <a:off x="792" y="4266"/>
              <a:ext cx="221"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2625" name="Rectangle 49">
              <a:extLst>
                <a:ext uri="{FF2B5EF4-FFF2-40B4-BE49-F238E27FC236}">
                  <a16:creationId xmlns:a16="http://schemas.microsoft.com/office/drawing/2014/main" id="{ECBEFD5B-49A6-06EB-91E2-830165831473}"/>
                </a:ext>
              </a:extLst>
            </p:cNvPr>
            <p:cNvSpPr>
              <a:spLocks noChangeArrowheads="1"/>
            </p:cNvSpPr>
            <p:nvPr/>
          </p:nvSpPr>
          <p:spPr bwMode="auto">
            <a:xfrm>
              <a:off x="1131" y="4037"/>
              <a:ext cx="221" cy="193"/>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2626" name="Line 50">
              <a:extLst>
                <a:ext uri="{FF2B5EF4-FFF2-40B4-BE49-F238E27FC236}">
                  <a16:creationId xmlns:a16="http://schemas.microsoft.com/office/drawing/2014/main" id="{BB895E66-2C04-4240-2E79-C7F16A586510}"/>
                </a:ext>
              </a:extLst>
            </p:cNvPr>
            <p:cNvSpPr>
              <a:spLocks noChangeShapeType="1"/>
            </p:cNvSpPr>
            <p:nvPr/>
          </p:nvSpPr>
          <p:spPr bwMode="auto">
            <a:xfrm>
              <a:off x="659" y="3951"/>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2627" name="Line 51">
              <a:extLst>
                <a:ext uri="{FF2B5EF4-FFF2-40B4-BE49-F238E27FC236}">
                  <a16:creationId xmlns:a16="http://schemas.microsoft.com/office/drawing/2014/main" id="{CBDF7263-3D4F-8D6A-8BE7-FC9028DAC53A}"/>
                </a:ext>
              </a:extLst>
            </p:cNvPr>
            <p:cNvSpPr>
              <a:spLocks noChangeShapeType="1"/>
            </p:cNvSpPr>
            <p:nvPr/>
          </p:nvSpPr>
          <p:spPr bwMode="auto">
            <a:xfrm>
              <a:off x="659" y="4317"/>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2628" name="Line 52">
              <a:extLst>
                <a:ext uri="{FF2B5EF4-FFF2-40B4-BE49-F238E27FC236}">
                  <a16:creationId xmlns:a16="http://schemas.microsoft.com/office/drawing/2014/main" id="{B1E1003E-FAA4-A463-6805-0DF4B8BE57F4}"/>
                </a:ext>
              </a:extLst>
            </p:cNvPr>
            <p:cNvSpPr>
              <a:spLocks noChangeShapeType="1"/>
            </p:cNvSpPr>
            <p:nvPr/>
          </p:nvSpPr>
          <p:spPr bwMode="auto">
            <a:xfrm>
              <a:off x="903" y="3998"/>
              <a:ext cx="0" cy="12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2629" name="Line 53">
              <a:extLst>
                <a:ext uri="{FF2B5EF4-FFF2-40B4-BE49-F238E27FC236}">
                  <a16:creationId xmlns:a16="http://schemas.microsoft.com/office/drawing/2014/main" id="{BEE5D51D-36AA-C1F6-4465-B8339BE5365A}"/>
                </a:ext>
              </a:extLst>
            </p:cNvPr>
            <p:cNvSpPr>
              <a:spLocks noChangeShapeType="1"/>
            </p:cNvSpPr>
            <p:nvPr/>
          </p:nvSpPr>
          <p:spPr bwMode="auto">
            <a:xfrm flipV="1">
              <a:off x="903" y="4142"/>
              <a:ext cx="0" cy="121"/>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2630" name="Line 54">
              <a:extLst>
                <a:ext uri="{FF2B5EF4-FFF2-40B4-BE49-F238E27FC236}">
                  <a16:creationId xmlns:a16="http://schemas.microsoft.com/office/drawing/2014/main" id="{77B96CA1-DAD3-DE17-D03B-4F96D81AF0C1}"/>
                </a:ext>
              </a:extLst>
            </p:cNvPr>
            <p:cNvSpPr>
              <a:spLocks noChangeShapeType="1"/>
            </p:cNvSpPr>
            <p:nvPr/>
          </p:nvSpPr>
          <p:spPr bwMode="auto">
            <a:xfrm>
              <a:off x="915" y="4136"/>
              <a:ext cx="2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52632" name="Text Box 56">
            <a:extLst>
              <a:ext uri="{FF2B5EF4-FFF2-40B4-BE49-F238E27FC236}">
                <a16:creationId xmlns:a16="http://schemas.microsoft.com/office/drawing/2014/main" id="{8A0C4A5C-AB13-4F1A-6C1B-D1D0D42F7E17}"/>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graphicFrame>
        <p:nvGraphicFramePr>
          <p:cNvPr id="152640" name="Object 64">
            <a:extLst>
              <a:ext uri="{FF2B5EF4-FFF2-40B4-BE49-F238E27FC236}">
                <a16:creationId xmlns:a16="http://schemas.microsoft.com/office/drawing/2014/main" id="{DFABE00B-75BD-5D59-0A29-7F50D7AA85D7}"/>
              </a:ext>
            </a:extLst>
          </p:cNvPr>
          <p:cNvGraphicFramePr>
            <a:graphicFrameLocks noChangeAspect="1"/>
          </p:cNvGraphicFramePr>
          <p:nvPr/>
        </p:nvGraphicFramePr>
        <p:xfrm>
          <a:off x="2279650" y="1273175"/>
          <a:ext cx="6408738" cy="6370638"/>
        </p:xfrm>
        <a:graphic>
          <a:graphicData uri="http://schemas.openxmlformats.org/presentationml/2006/ole">
            <mc:AlternateContent xmlns:mc="http://schemas.openxmlformats.org/markup-compatibility/2006">
              <mc:Choice xmlns:v="urn:schemas-microsoft-com:vml" Requires="v">
                <p:oleObj name="Worksheet" r:id="rId2" imgW="7150100" imgH="6375400" progId="Excel.Sheet.8">
                  <p:link updateAutomatic="1"/>
                </p:oleObj>
              </mc:Choice>
              <mc:Fallback>
                <p:oleObj name="Worksheet" r:id="rId2" imgW="7150100" imgH="6375400" progId="Excel.Sheet.8">
                  <p:link updateAutomatic="1"/>
                  <p:pic>
                    <p:nvPicPr>
                      <p:cNvPr id="0" name="Object 64"/>
                      <p:cNvPicPr>
                        <a:picLocks noChangeAspect="1" noChangeArrowheads="1"/>
                      </p:cNvPicPr>
                      <p:nvPr/>
                    </p:nvPicPr>
                    <p:blipFill>
                      <a:blip r:embed="rId3">
                        <a:extLst>
                          <a:ext uri="{28A0092B-C50C-407E-A947-70E740481C1C}">
                            <a14:useLocalDpi xmlns:a14="http://schemas.microsoft.com/office/drawing/2010/main" val="0"/>
                          </a:ext>
                        </a:extLst>
                      </a:blip>
                      <a:srcRect l="5736" r="4514"/>
                      <a:stretch>
                        <a:fillRect/>
                      </a:stretch>
                    </p:blipFill>
                    <p:spPr bwMode="auto">
                      <a:xfrm>
                        <a:off x="2279650" y="1273175"/>
                        <a:ext cx="6408738" cy="6370638"/>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Text Box 2">
            <a:extLst>
              <a:ext uri="{FF2B5EF4-FFF2-40B4-BE49-F238E27FC236}">
                <a16:creationId xmlns:a16="http://schemas.microsoft.com/office/drawing/2014/main" id="{EA7AAFE8-331B-ECC0-FC4D-0F2F3940DD75}"/>
              </a:ext>
            </a:extLst>
          </p:cNvPr>
          <p:cNvSpPr txBox="1">
            <a:spLocks noChangeArrowheads="1"/>
          </p:cNvSpPr>
          <p:nvPr/>
        </p:nvSpPr>
        <p:spPr bwMode="auto">
          <a:xfrm>
            <a:off x="568325" y="452438"/>
            <a:ext cx="7412038"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85000"/>
              </a:lnSpc>
            </a:pPr>
            <a:r>
              <a:rPr lang="en-US" altLang="en-US" sz="2800" b="0"/>
              <a:t>Value and Small Stocks are</a:t>
            </a:r>
          </a:p>
          <a:p>
            <a:pPr algn="l">
              <a:lnSpc>
                <a:spcPct val="85000"/>
              </a:lnSpc>
            </a:pPr>
            <a:r>
              <a:rPr lang="en-US" altLang="en-US" sz="2800" b="0"/>
              <a:t>Extraordinarily Positioned for Outperformance</a:t>
            </a:r>
          </a:p>
        </p:txBody>
      </p:sp>
      <p:sp>
        <p:nvSpPr>
          <p:cNvPr id="297987" name="Text Box 3">
            <a:extLst>
              <a:ext uri="{FF2B5EF4-FFF2-40B4-BE49-F238E27FC236}">
                <a16:creationId xmlns:a16="http://schemas.microsoft.com/office/drawing/2014/main" id="{56E217A9-5CF1-3470-3CFE-2B6760600523}"/>
              </a:ext>
            </a:extLst>
          </p:cNvPr>
          <p:cNvSpPr txBox="1">
            <a:spLocks noChangeArrowheads="1"/>
          </p:cNvSpPr>
          <p:nvPr/>
        </p:nvSpPr>
        <p:spPr bwMode="auto">
          <a:xfrm>
            <a:off x="8586788" y="7162800"/>
            <a:ext cx="946150" cy="24447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000" b="0">
                <a:latin typeface="Times New Roman" panose="02020603050405020304" pitchFamily="18" charset="0"/>
              </a:rPr>
              <a:t>As of 12/31/01</a:t>
            </a:r>
          </a:p>
        </p:txBody>
      </p:sp>
      <p:sp>
        <p:nvSpPr>
          <p:cNvPr id="297990" name="Text Box 6">
            <a:extLst>
              <a:ext uri="{FF2B5EF4-FFF2-40B4-BE49-F238E27FC236}">
                <a16:creationId xmlns:a16="http://schemas.microsoft.com/office/drawing/2014/main" id="{F6980FB7-2EFF-388C-2E38-56F5C8ADC13A}"/>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graphicFrame>
        <p:nvGraphicFramePr>
          <p:cNvPr id="297991" name="Object 7">
            <a:extLst>
              <a:ext uri="{FF2B5EF4-FFF2-40B4-BE49-F238E27FC236}">
                <a16:creationId xmlns:a16="http://schemas.microsoft.com/office/drawing/2014/main" id="{DC125481-D3D3-8E4B-76AD-07FF011AE5BF}"/>
              </a:ext>
            </a:extLst>
          </p:cNvPr>
          <p:cNvGraphicFramePr>
            <a:graphicFrameLocks noChangeAspect="1"/>
          </p:cNvGraphicFramePr>
          <p:nvPr/>
        </p:nvGraphicFramePr>
        <p:xfrm>
          <a:off x="595313" y="1581150"/>
          <a:ext cx="8859837" cy="2755900"/>
        </p:xfrm>
        <a:graphic>
          <a:graphicData uri="http://schemas.openxmlformats.org/presentationml/2006/ole">
            <mc:AlternateContent xmlns:mc="http://schemas.openxmlformats.org/markup-compatibility/2006">
              <mc:Choice xmlns:v="urn:schemas-microsoft-com:vml" Requires="v">
                <p:oleObj name="Worksheet" r:id="rId2" imgW="9156700" imgH="3060700" progId="Excel.Sheet.8">
                  <p:link updateAutomatic="1"/>
                </p:oleObj>
              </mc:Choice>
              <mc:Fallback>
                <p:oleObj name="Worksheet" r:id="rId2" imgW="9156700" imgH="3060700" progId="Excel.Sheet.8">
                  <p:link updateAutomatic="1"/>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l="1579" t="9818" r="1527"/>
                      <a:stretch>
                        <a:fillRect/>
                      </a:stretch>
                    </p:blipFill>
                    <p:spPr bwMode="auto">
                      <a:xfrm>
                        <a:off x="595313" y="1581150"/>
                        <a:ext cx="8859837" cy="2755900"/>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992" name="Object 8">
            <a:extLst>
              <a:ext uri="{FF2B5EF4-FFF2-40B4-BE49-F238E27FC236}">
                <a16:creationId xmlns:a16="http://schemas.microsoft.com/office/drawing/2014/main" id="{B4CD31A2-A143-F056-66DC-2F291E9B44E7}"/>
              </a:ext>
            </a:extLst>
          </p:cNvPr>
          <p:cNvGraphicFramePr>
            <a:graphicFrameLocks noChangeAspect="1"/>
          </p:cNvGraphicFramePr>
          <p:nvPr/>
        </p:nvGraphicFramePr>
        <p:xfrm>
          <a:off x="546100" y="4395788"/>
          <a:ext cx="8926513" cy="2740025"/>
        </p:xfrm>
        <a:graphic>
          <a:graphicData uri="http://schemas.openxmlformats.org/presentationml/2006/ole">
            <mc:AlternateContent xmlns:mc="http://schemas.openxmlformats.org/markup-compatibility/2006">
              <mc:Choice xmlns:v="urn:schemas-microsoft-com:vml" Requires="v">
                <p:oleObj name="Worksheet" r:id="rId4" imgW="9156700" imgH="3073400" progId="Excel.Sheet.8">
                  <p:link updateAutomatic="1"/>
                </p:oleObj>
              </mc:Choice>
              <mc:Fallback>
                <p:oleObj name="Worksheet" r:id="rId4" imgW="9156700" imgH="3073400" progId="Excel.Sheet.8">
                  <p:link updateAutomatic="1"/>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l="746" t="10570" r="1633"/>
                      <a:stretch>
                        <a:fillRect/>
                      </a:stretch>
                    </p:blipFill>
                    <p:spPr bwMode="auto">
                      <a:xfrm>
                        <a:off x="546100" y="4395788"/>
                        <a:ext cx="8926513" cy="274002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993" name="Text Box 9">
            <a:extLst>
              <a:ext uri="{FF2B5EF4-FFF2-40B4-BE49-F238E27FC236}">
                <a16:creationId xmlns:a16="http://schemas.microsoft.com/office/drawing/2014/main" id="{A0FC5E78-1FD1-3305-E110-245FACF988BD}"/>
              </a:ext>
            </a:extLst>
          </p:cNvPr>
          <p:cNvSpPr txBox="1">
            <a:spLocks noChangeArrowheads="1"/>
          </p:cNvSpPr>
          <p:nvPr/>
        </p:nvSpPr>
        <p:spPr bwMode="auto">
          <a:xfrm>
            <a:off x="8828088" y="3095625"/>
            <a:ext cx="487362" cy="274638"/>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t>16%</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9023" name="Object 15">
            <a:extLst>
              <a:ext uri="{FF2B5EF4-FFF2-40B4-BE49-F238E27FC236}">
                <a16:creationId xmlns:a16="http://schemas.microsoft.com/office/drawing/2014/main" id="{638EC9DE-A3A3-ACAF-3C81-FF7BA54F1B88}"/>
              </a:ext>
            </a:extLst>
          </p:cNvPr>
          <p:cNvGraphicFramePr>
            <a:graphicFrameLocks noChangeAspect="1"/>
          </p:cNvGraphicFramePr>
          <p:nvPr/>
        </p:nvGraphicFramePr>
        <p:xfrm>
          <a:off x="669925" y="1963738"/>
          <a:ext cx="3952875" cy="2913062"/>
        </p:xfrm>
        <a:graphic>
          <a:graphicData uri="http://schemas.openxmlformats.org/presentationml/2006/ole">
            <mc:AlternateContent xmlns:mc="http://schemas.openxmlformats.org/markup-compatibility/2006">
              <mc:Choice xmlns:v="urn:schemas-microsoft-com:vml" Requires="v">
                <p:oleObj name="Worksheet" r:id="rId2" imgW="3962400" imgH="3365500" progId="Excel.Sheet.8">
                  <p:link updateAutomatic="1"/>
                </p:oleObj>
              </mc:Choice>
              <mc:Fallback>
                <p:oleObj name="Worksheet" r:id="rId2" imgW="3962400" imgH="3365500" progId="Excel.Sheet.8">
                  <p:link updateAutomatic="1"/>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t="11594" b="1747"/>
                      <a:stretch>
                        <a:fillRect/>
                      </a:stretch>
                    </p:blipFill>
                    <p:spPr bwMode="auto">
                      <a:xfrm>
                        <a:off x="669925" y="1963738"/>
                        <a:ext cx="3952875" cy="2913062"/>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9010" name="Rectangle 2">
            <a:extLst>
              <a:ext uri="{FF2B5EF4-FFF2-40B4-BE49-F238E27FC236}">
                <a16:creationId xmlns:a16="http://schemas.microsoft.com/office/drawing/2014/main" id="{82BDBA6B-E8AB-CBF7-D876-E44C53BD1E19}"/>
              </a:ext>
            </a:extLst>
          </p:cNvPr>
          <p:cNvSpPr>
            <a:spLocks noChangeArrowheads="1"/>
          </p:cNvSpPr>
          <p:nvPr/>
        </p:nvSpPr>
        <p:spPr bwMode="auto">
          <a:xfrm>
            <a:off x="1693863" y="4972050"/>
            <a:ext cx="1903412" cy="30480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altLang="en-US"/>
              <a:t>Valuation Measures</a:t>
            </a:r>
            <a:endParaRPr lang="en-US" altLang="en-US" b="0"/>
          </a:p>
        </p:txBody>
      </p:sp>
      <p:sp>
        <p:nvSpPr>
          <p:cNvPr id="299011" name="Text Box 3">
            <a:extLst>
              <a:ext uri="{FF2B5EF4-FFF2-40B4-BE49-F238E27FC236}">
                <a16:creationId xmlns:a16="http://schemas.microsoft.com/office/drawing/2014/main" id="{5340C176-5106-20F3-E3CC-EC22DB36CD1F}"/>
              </a:ext>
            </a:extLst>
          </p:cNvPr>
          <p:cNvSpPr txBox="1">
            <a:spLocks noChangeArrowheads="1"/>
          </p:cNvSpPr>
          <p:nvPr/>
        </p:nvSpPr>
        <p:spPr bwMode="auto">
          <a:xfrm>
            <a:off x="1731963" y="1743075"/>
            <a:ext cx="1828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Cap Size Allocation</a:t>
            </a:r>
          </a:p>
        </p:txBody>
      </p:sp>
      <p:sp>
        <p:nvSpPr>
          <p:cNvPr id="299012" name="Text Box 4">
            <a:extLst>
              <a:ext uri="{FF2B5EF4-FFF2-40B4-BE49-F238E27FC236}">
                <a16:creationId xmlns:a16="http://schemas.microsoft.com/office/drawing/2014/main" id="{1B49D041-7F06-0A59-4B12-A0FB2C4ABD78}"/>
              </a:ext>
            </a:extLst>
          </p:cNvPr>
          <p:cNvSpPr txBox="1">
            <a:spLocks noChangeArrowheads="1"/>
          </p:cNvSpPr>
          <p:nvPr/>
        </p:nvSpPr>
        <p:spPr bwMode="auto">
          <a:xfrm>
            <a:off x="6796088" y="1743075"/>
            <a:ext cx="18367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Regional Allocation</a:t>
            </a:r>
          </a:p>
        </p:txBody>
      </p:sp>
      <p:sp>
        <p:nvSpPr>
          <p:cNvPr id="299013" name="Text Box 5">
            <a:extLst>
              <a:ext uri="{FF2B5EF4-FFF2-40B4-BE49-F238E27FC236}">
                <a16:creationId xmlns:a16="http://schemas.microsoft.com/office/drawing/2014/main" id="{2B7B9442-7BF7-1F47-BBD4-8ABFEB3CF781}"/>
              </a:ext>
            </a:extLst>
          </p:cNvPr>
          <p:cNvSpPr txBox="1">
            <a:spLocks noChangeArrowheads="1"/>
          </p:cNvSpPr>
          <p:nvPr/>
        </p:nvSpPr>
        <p:spPr bwMode="auto">
          <a:xfrm>
            <a:off x="765175" y="4351338"/>
            <a:ext cx="685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0"/>
              <a:t>($1.3B and</a:t>
            </a:r>
          </a:p>
          <a:p>
            <a:r>
              <a:rPr lang="en-US" altLang="en-US" sz="800" b="0"/>
              <a:t>Below)</a:t>
            </a:r>
          </a:p>
        </p:txBody>
      </p:sp>
      <p:sp>
        <p:nvSpPr>
          <p:cNvPr id="299014" name="Text Box 6">
            <a:extLst>
              <a:ext uri="{FF2B5EF4-FFF2-40B4-BE49-F238E27FC236}">
                <a16:creationId xmlns:a16="http://schemas.microsoft.com/office/drawing/2014/main" id="{A3B687D8-A34E-0C1A-1529-C2BB14B65A3D}"/>
              </a:ext>
            </a:extLst>
          </p:cNvPr>
          <p:cNvSpPr txBox="1">
            <a:spLocks noChangeArrowheads="1"/>
          </p:cNvSpPr>
          <p:nvPr/>
        </p:nvSpPr>
        <p:spPr bwMode="auto">
          <a:xfrm>
            <a:off x="1462088" y="4351338"/>
            <a:ext cx="820737"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0"/>
              <a:t>($1.3B-$3.9B)</a:t>
            </a:r>
          </a:p>
        </p:txBody>
      </p:sp>
      <p:sp>
        <p:nvSpPr>
          <p:cNvPr id="299015" name="Text Box 7">
            <a:extLst>
              <a:ext uri="{FF2B5EF4-FFF2-40B4-BE49-F238E27FC236}">
                <a16:creationId xmlns:a16="http://schemas.microsoft.com/office/drawing/2014/main" id="{181FE006-D943-E711-449B-9F0256B0FCDF}"/>
              </a:ext>
            </a:extLst>
          </p:cNvPr>
          <p:cNvSpPr txBox="1">
            <a:spLocks noChangeArrowheads="1"/>
          </p:cNvSpPr>
          <p:nvPr/>
        </p:nvSpPr>
        <p:spPr bwMode="auto">
          <a:xfrm>
            <a:off x="2168525" y="4351338"/>
            <a:ext cx="877888"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0"/>
              <a:t>($3.9B-$10.9B)</a:t>
            </a:r>
          </a:p>
        </p:txBody>
      </p:sp>
      <p:sp>
        <p:nvSpPr>
          <p:cNvPr id="299016" name="Text Box 8">
            <a:extLst>
              <a:ext uri="{FF2B5EF4-FFF2-40B4-BE49-F238E27FC236}">
                <a16:creationId xmlns:a16="http://schemas.microsoft.com/office/drawing/2014/main" id="{2272F263-7D27-BE34-BA4A-FA0D0074C95C}"/>
              </a:ext>
            </a:extLst>
          </p:cNvPr>
          <p:cNvSpPr txBox="1">
            <a:spLocks noChangeArrowheads="1"/>
          </p:cNvSpPr>
          <p:nvPr/>
        </p:nvSpPr>
        <p:spPr bwMode="auto">
          <a:xfrm>
            <a:off x="2932113" y="4351338"/>
            <a:ext cx="958850"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800" b="0"/>
              <a:t>($10.9B-$34.9B)</a:t>
            </a:r>
          </a:p>
        </p:txBody>
      </p:sp>
      <p:sp>
        <p:nvSpPr>
          <p:cNvPr id="299017" name="Text Box 9">
            <a:extLst>
              <a:ext uri="{FF2B5EF4-FFF2-40B4-BE49-F238E27FC236}">
                <a16:creationId xmlns:a16="http://schemas.microsoft.com/office/drawing/2014/main" id="{8CD8D74A-8566-9437-03E6-7D822B161B55}"/>
              </a:ext>
            </a:extLst>
          </p:cNvPr>
          <p:cNvSpPr txBox="1">
            <a:spLocks noChangeArrowheads="1"/>
          </p:cNvSpPr>
          <p:nvPr/>
        </p:nvSpPr>
        <p:spPr bwMode="auto">
          <a:xfrm>
            <a:off x="3789363" y="4351338"/>
            <a:ext cx="7810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800" b="0"/>
              <a:t>($34.9B and Above)</a:t>
            </a:r>
          </a:p>
        </p:txBody>
      </p:sp>
      <p:sp>
        <p:nvSpPr>
          <p:cNvPr id="299018" name="Rectangle 10">
            <a:extLst>
              <a:ext uri="{FF2B5EF4-FFF2-40B4-BE49-F238E27FC236}">
                <a16:creationId xmlns:a16="http://schemas.microsoft.com/office/drawing/2014/main" id="{8E8A0F56-F01D-CFA1-9476-00D727254DE9}"/>
              </a:ext>
            </a:extLst>
          </p:cNvPr>
          <p:cNvSpPr>
            <a:spLocks noChangeArrowheads="1"/>
          </p:cNvSpPr>
          <p:nvPr/>
        </p:nvSpPr>
        <p:spPr bwMode="auto">
          <a:xfrm>
            <a:off x="373063" y="7038975"/>
            <a:ext cx="28257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000">
                <a:latin typeface="Times New Roman" panose="02020603050405020304" pitchFamily="18" charset="0"/>
              </a:rPr>
              <a:t>Note:</a:t>
            </a:r>
            <a:r>
              <a:rPr lang="en-US" altLang="en-US" sz="1000" b="0">
                <a:latin typeface="Times New Roman" panose="02020603050405020304" pitchFamily="18" charset="0"/>
              </a:rPr>
              <a:t>  Portfolio characteristics  will vary over time.</a:t>
            </a:r>
          </a:p>
        </p:txBody>
      </p:sp>
      <p:sp>
        <p:nvSpPr>
          <p:cNvPr id="299019" name="Text Box 11">
            <a:extLst>
              <a:ext uri="{FF2B5EF4-FFF2-40B4-BE49-F238E27FC236}">
                <a16:creationId xmlns:a16="http://schemas.microsoft.com/office/drawing/2014/main" id="{5D0FA93F-5472-4817-D86E-9EE70E4CBBFB}"/>
              </a:ext>
            </a:extLst>
          </p:cNvPr>
          <p:cNvSpPr txBox="1">
            <a:spLocks noChangeArrowheads="1"/>
          </p:cNvSpPr>
          <p:nvPr/>
        </p:nvSpPr>
        <p:spPr bwMode="auto">
          <a:xfrm>
            <a:off x="576263" y="671513"/>
            <a:ext cx="929005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Portfolio Characteristics as of December 31, 2001</a:t>
            </a:r>
          </a:p>
        </p:txBody>
      </p:sp>
      <p:sp>
        <p:nvSpPr>
          <p:cNvPr id="299020" name="Text Box 12">
            <a:extLst>
              <a:ext uri="{FF2B5EF4-FFF2-40B4-BE49-F238E27FC236}">
                <a16:creationId xmlns:a16="http://schemas.microsoft.com/office/drawing/2014/main" id="{E9092FAB-A898-2C4D-1AD1-10E4FD652D27}"/>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graphicFrame>
        <p:nvGraphicFramePr>
          <p:cNvPr id="299024" name="Object 16">
            <a:extLst>
              <a:ext uri="{FF2B5EF4-FFF2-40B4-BE49-F238E27FC236}">
                <a16:creationId xmlns:a16="http://schemas.microsoft.com/office/drawing/2014/main" id="{A65F2229-F7D8-E25C-4FCD-AA7FE212330C}"/>
              </a:ext>
            </a:extLst>
          </p:cNvPr>
          <p:cNvGraphicFramePr>
            <a:graphicFrameLocks noChangeAspect="1"/>
          </p:cNvGraphicFramePr>
          <p:nvPr/>
        </p:nvGraphicFramePr>
        <p:xfrm>
          <a:off x="406400" y="5194300"/>
          <a:ext cx="4487863" cy="1774825"/>
        </p:xfrm>
        <a:graphic>
          <a:graphicData uri="http://schemas.openxmlformats.org/presentationml/2006/ole">
            <mc:AlternateContent xmlns:mc="http://schemas.openxmlformats.org/markup-compatibility/2006">
              <mc:Choice xmlns:v="urn:schemas-microsoft-com:vml" Requires="v">
                <p:oleObj name="Worksheet" r:id="rId4" imgW="4495800" imgH="1778000" progId="Excel.Sheet.8">
                  <p:link updateAutomatic="1"/>
                </p:oleObj>
              </mc:Choice>
              <mc:Fallback>
                <p:oleObj name="Worksheet" r:id="rId4" imgW="4495800" imgH="1778000" progId="Excel.Sheet.8">
                  <p:link updateAutomatic="1"/>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6400" y="5194300"/>
                        <a:ext cx="4487863" cy="177482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9025" name="Object 17">
            <a:extLst>
              <a:ext uri="{FF2B5EF4-FFF2-40B4-BE49-F238E27FC236}">
                <a16:creationId xmlns:a16="http://schemas.microsoft.com/office/drawing/2014/main" id="{F2E6162B-D64A-8255-C821-0E083A264BCE}"/>
              </a:ext>
            </a:extLst>
          </p:cNvPr>
          <p:cNvGraphicFramePr>
            <a:graphicFrameLocks noChangeAspect="1"/>
          </p:cNvGraphicFramePr>
          <p:nvPr/>
        </p:nvGraphicFramePr>
        <p:xfrm>
          <a:off x="5699125" y="2019300"/>
          <a:ext cx="4048125" cy="5283200"/>
        </p:xfrm>
        <a:graphic>
          <a:graphicData uri="http://schemas.openxmlformats.org/presentationml/2006/ole">
            <mc:AlternateContent xmlns:mc="http://schemas.openxmlformats.org/markup-compatibility/2006">
              <mc:Choice xmlns:v="urn:schemas-microsoft-com:vml" Requires="v">
                <p:oleObj name="Worksheet" r:id="rId6" imgW="4876800" imgH="5372100" progId="Excel.Sheet.8">
                  <p:link updateAutomatic="1"/>
                </p:oleObj>
              </mc:Choice>
              <mc:Fallback>
                <p:oleObj name="Worksheet" r:id="rId6" imgW="4876800" imgH="5372100" progId="Excel.Sheet.8">
                  <p:link updateAutomatic="1"/>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l="1663" t="1509" r="15195"/>
                      <a:stretch>
                        <a:fillRect/>
                      </a:stretch>
                    </p:blipFill>
                    <p:spPr bwMode="auto">
                      <a:xfrm>
                        <a:off x="5699125" y="2019300"/>
                        <a:ext cx="4048125" cy="5283200"/>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1124" name="Text Box 4">
            <a:extLst>
              <a:ext uri="{FF2B5EF4-FFF2-40B4-BE49-F238E27FC236}">
                <a16:creationId xmlns:a16="http://schemas.microsoft.com/office/drawing/2014/main" id="{8E1F3283-B49A-EB0E-EEF8-129FD01F7409}"/>
              </a:ext>
            </a:extLst>
          </p:cNvPr>
          <p:cNvSpPr txBox="1">
            <a:spLocks noChangeArrowheads="1"/>
          </p:cNvSpPr>
          <p:nvPr/>
        </p:nvSpPr>
        <p:spPr bwMode="auto">
          <a:xfrm>
            <a:off x="1498600" y="2638425"/>
            <a:ext cx="7023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0"/>
              <a:t>Performance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0578" name="Object 2">
            <a:extLst>
              <a:ext uri="{FF2B5EF4-FFF2-40B4-BE49-F238E27FC236}">
                <a16:creationId xmlns:a16="http://schemas.microsoft.com/office/drawing/2014/main" id="{1C2CE36A-6A46-0CE5-0E9E-7CBC0ABEDE81}"/>
              </a:ext>
            </a:extLst>
          </p:cNvPr>
          <p:cNvGraphicFramePr>
            <a:graphicFrameLocks noChangeAspect="1"/>
          </p:cNvGraphicFramePr>
          <p:nvPr/>
        </p:nvGraphicFramePr>
        <p:xfrm>
          <a:off x="2725738" y="714375"/>
          <a:ext cx="4595812" cy="4483100"/>
        </p:xfrm>
        <a:graphic>
          <a:graphicData uri="http://schemas.openxmlformats.org/presentationml/2006/ole">
            <mc:AlternateContent xmlns:mc="http://schemas.openxmlformats.org/markup-compatibility/2006">
              <mc:Choice xmlns:v="urn:schemas-microsoft-com:vml" Requires="v">
                <p:oleObj name="RPU Chart" r:id="rId2" imgW="3429000" imgH="3695700" progId="RPUChart.Document">
                  <p:link updateAutomatic="1"/>
                </p:oleObj>
              </mc:Choice>
              <mc:Fallback>
                <p:oleObj name="RPU Chart" r:id="rId2" imgW="3429000" imgH="3695700" progId="RPUChart.Document">
                  <p:link updateAutomatic="1"/>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r="5486" b="14528"/>
                      <a:stretch>
                        <a:fillRect/>
                      </a:stretch>
                    </p:blipFill>
                    <p:spPr bwMode="auto">
                      <a:xfrm>
                        <a:off x="2725738" y="714375"/>
                        <a:ext cx="4595812" cy="4483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0579" name="Rectangle 3">
            <a:extLst>
              <a:ext uri="{FF2B5EF4-FFF2-40B4-BE49-F238E27FC236}">
                <a16:creationId xmlns:a16="http://schemas.microsoft.com/office/drawing/2014/main" id="{97358C98-CD02-6999-72D3-F3966A4DB340}"/>
              </a:ext>
            </a:extLst>
          </p:cNvPr>
          <p:cNvSpPr>
            <a:spLocks noChangeArrowheads="1"/>
          </p:cNvSpPr>
          <p:nvPr/>
        </p:nvSpPr>
        <p:spPr bwMode="auto">
          <a:xfrm>
            <a:off x="0" y="0"/>
            <a:ext cx="10058400" cy="19319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580" name="Rectangle 4">
            <a:extLst>
              <a:ext uri="{FF2B5EF4-FFF2-40B4-BE49-F238E27FC236}">
                <a16:creationId xmlns:a16="http://schemas.microsoft.com/office/drawing/2014/main" id="{07DCD76A-E973-CBD7-4D47-F787A913E1B3}"/>
              </a:ext>
            </a:extLst>
          </p:cNvPr>
          <p:cNvSpPr>
            <a:spLocks noChangeArrowheads="1"/>
          </p:cNvSpPr>
          <p:nvPr/>
        </p:nvSpPr>
        <p:spPr bwMode="auto">
          <a:xfrm>
            <a:off x="2760663" y="5732463"/>
            <a:ext cx="2197100" cy="2794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581" name="Rectangle 5">
            <a:extLst>
              <a:ext uri="{FF2B5EF4-FFF2-40B4-BE49-F238E27FC236}">
                <a16:creationId xmlns:a16="http://schemas.microsoft.com/office/drawing/2014/main" id="{FCC8955F-8E13-8DFD-354A-DC61E4A127BF}"/>
              </a:ext>
            </a:extLst>
          </p:cNvPr>
          <p:cNvSpPr>
            <a:spLocks noChangeArrowheads="1"/>
          </p:cNvSpPr>
          <p:nvPr/>
        </p:nvSpPr>
        <p:spPr bwMode="auto">
          <a:xfrm>
            <a:off x="3668713" y="3671888"/>
            <a:ext cx="4873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1000">
                <a:solidFill>
                  <a:srgbClr val="339933"/>
                </a:solidFill>
              </a:rPr>
              <a:t>GMO</a:t>
            </a:r>
          </a:p>
        </p:txBody>
      </p:sp>
      <p:sp>
        <p:nvSpPr>
          <p:cNvPr id="280582" name="Oval 6">
            <a:extLst>
              <a:ext uri="{FF2B5EF4-FFF2-40B4-BE49-F238E27FC236}">
                <a16:creationId xmlns:a16="http://schemas.microsoft.com/office/drawing/2014/main" id="{5A69C67D-2F05-E578-F0DC-D96D9F4614CE}"/>
              </a:ext>
            </a:extLst>
          </p:cNvPr>
          <p:cNvSpPr>
            <a:spLocks noChangeArrowheads="1"/>
          </p:cNvSpPr>
          <p:nvPr/>
        </p:nvSpPr>
        <p:spPr bwMode="auto">
          <a:xfrm>
            <a:off x="3781425" y="3889375"/>
            <a:ext cx="95250" cy="100013"/>
          </a:xfrm>
          <a:prstGeom prst="ellipse">
            <a:avLst/>
          </a:prstGeom>
          <a:solidFill>
            <a:srgbClr val="339933"/>
          </a:solidFill>
          <a:ln w="12700">
            <a:solidFill>
              <a:srgbClr val="3399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583" name="Rectangle 7">
            <a:extLst>
              <a:ext uri="{FF2B5EF4-FFF2-40B4-BE49-F238E27FC236}">
                <a16:creationId xmlns:a16="http://schemas.microsoft.com/office/drawing/2014/main" id="{2473B061-13C1-1F8C-142C-5DF575836BEC}"/>
              </a:ext>
            </a:extLst>
          </p:cNvPr>
          <p:cNvSpPr>
            <a:spLocks noChangeArrowheads="1"/>
          </p:cNvSpPr>
          <p:nvPr/>
        </p:nvSpPr>
        <p:spPr bwMode="auto">
          <a:xfrm>
            <a:off x="3976688" y="4545013"/>
            <a:ext cx="95250" cy="90487"/>
          </a:xfrm>
          <a:prstGeom prst="rect">
            <a:avLst/>
          </a:prstGeom>
          <a:solidFill>
            <a:srgbClr val="002B7F"/>
          </a:solidFill>
          <a:ln w="12700">
            <a:solidFill>
              <a:srgbClr val="002B7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584" name="Rectangle 8">
            <a:extLst>
              <a:ext uri="{FF2B5EF4-FFF2-40B4-BE49-F238E27FC236}">
                <a16:creationId xmlns:a16="http://schemas.microsoft.com/office/drawing/2014/main" id="{04EEE4AD-8E53-7DB6-064F-20EFF4457CFD}"/>
              </a:ext>
            </a:extLst>
          </p:cNvPr>
          <p:cNvSpPr>
            <a:spLocks noChangeArrowheads="1"/>
          </p:cNvSpPr>
          <p:nvPr/>
        </p:nvSpPr>
        <p:spPr bwMode="auto">
          <a:xfrm>
            <a:off x="4624388" y="2105025"/>
            <a:ext cx="4873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1000">
                <a:solidFill>
                  <a:srgbClr val="339933"/>
                </a:solidFill>
              </a:rPr>
              <a:t>GMO</a:t>
            </a:r>
          </a:p>
        </p:txBody>
      </p:sp>
      <p:sp>
        <p:nvSpPr>
          <p:cNvPr id="280585" name="Oval 9">
            <a:extLst>
              <a:ext uri="{FF2B5EF4-FFF2-40B4-BE49-F238E27FC236}">
                <a16:creationId xmlns:a16="http://schemas.microsoft.com/office/drawing/2014/main" id="{C00B2421-C69B-7ED8-E87C-BB29F216850A}"/>
              </a:ext>
            </a:extLst>
          </p:cNvPr>
          <p:cNvSpPr>
            <a:spLocks noChangeArrowheads="1"/>
          </p:cNvSpPr>
          <p:nvPr/>
        </p:nvSpPr>
        <p:spPr bwMode="auto">
          <a:xfrm>
            <a:off x="4714875" y="2333625"/>
            <a:ext cx="95250" cy="100013"/>
          </a:xfrm>
          <a:prstGeom prst="ellipse">
            <a:avLst/>
          </a:prstGeom>
          <a:solidFill>
            <a:srgbClr val="339933"/>
          </a:solidFill>
          <a:ln w="12700">
            <a:solidFill>
              <a:srgbClr val="3399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586" name="Rectangle 10">
            <a:extLst>
              <a:ext uri="{FF2B5EF4-FFF2-40B4-BE49-F238E27FC236}">
                <a16:creationId xmlns:a16="http://schemas.microsoft.com/office/drawing/2014/main" id="{F1093804-A30E-AD72-63D9-F3DB33DFCFBF}"/>
              </a:ext>
            </a:extLst>
          </p:cNvPr>
          <p:cNvSpPr>
            <a:spLocks noChangeArrowheads="1"/>
          </p:cNvSpPr>
          <p:nvPr/>
        </p:nvSpPr>
        <p:spPr bwMode="auto">
          <a:xfrm>
            <a:off x="4902200" y="2867025"/>
            <a:ext cx="95250" cy="90488"/>
          </a:xfrm>
          <a:prstGeom prst="rect">
            <a:avLst/>
          </a:prstGeom>
          <a:solidFill>
            <a:srgbClr val="002B7F"/>
          </a:solidFill>
          <a:ln w="12700">
            <a:solidFill>
              <a:srgbClr val="002B7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587" name="Rectangle 11">
            <a:extLst>
              <a:ext uri="{FF2B5EF4-FFF2-40B4-BE49-F238E27FC236}">
                <a16:creationId xmlns:a16="http://schemas.microsoft.com/office/drawing/2014/main" id="{B710E5DC-9B0F-4A15-D10B-B7A66178FE76}"/>
              </a:ext>
            </a:extLst>
          </p:cNvPr>
          <p:cNvSpPr>
            <a:spLocks noChangeArrowheads="1"/>
          </p:cNvSpPr>
          <p:nvPr/>
        </p:nvSpPr>
        <p:spPr bwMode="auto">
          <a:xfrm>
            <a:off x="5564188" y="2868613"/>
            <a:ext cx="4873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1000">
                <a:solidFill>
                  <a:srgbClr val="339933"/>
                </a:solidFill>
              </a:rPr>
              <a:t>GMO</a:t>
            </a:r>
          </a:p>
        </p:txBody>
      </p:sp>
      <p:sp>
        <p:nvSpPr>
          <p:cNvPr id="280588" name="Oval 12">
            <a:extLst>
              <a:ext uri="{FF2B5EF4-FFF2-40B4-BE49-F238E27FC236}">
                <a16:creationId xmlns:a16="http://schemas.microsoft.com/office/drawing/2014/main" id="{55353A72-7BE2-E181-909D-9A070C7D5350}"/>
              </a:ext>
            </a:extLst>
          </p:cNvPr>
          <p:cNvSpPr>
            <a:spLocks noChangeArrowheads="1"/>
          </p:cNvSpPr>
          <p:nvPr/>
        </p:nvSpPr>
        <p:spPr bwMode="auto">
          <a:xfrm>
            <a:off x="5665788" y="3094038"/>
            <a:ext cx="95250" cy="100012"/>
          </a:xfrm>
          <a:prstGeom prst="ellipse">
            <a:avLst/>
          </a:prstGeom>
          <a:solidFill>
            <a:srgbClr val="339933"/>
          </a:solidFill>
          <a:ln w="12700">
            <a:solidFill>
              <a:srgbClr val="3399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589" name="Rectangle 13">
            <a:extLst>
              <a:ext uri="{FF2B5EF4-FFF2-40B4-BE49-F238E27FC236}">
                <a16:creationId xmlns:a16="http://schemas.microsoft.com/office/drawing/2014/main" id="{DBCA1546-1648-9BB2-6C8D-763490FE21FC}"/>
              </a:ext>
            </a:extLst>
          </p:cNvPr>
          <p:cNvSpPr>
            <a:spLocks noChangeArrowheads="1"/>
          </p:cNvSpPr>
          <p:nvPr/>
        </p:nvSpPr>
        <p:spPr bwMode="auto">
          <a:xfrm>
            <a:off x="5859463" y="3459163"/>
            <a:ext cx="95250" cy="90487"/>
          </a:xfrm>
          <a:prstGeom prst="rect">
            <a:avLst/>
          </a:prstGeom>
          <a:solidFill>
            <a:srgbClr val="002B7F"/>
          </a:solidFill>
          <a:ln w="12700">
            <a:solidFill>
              <a:srgbClr val="002B7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590" name="Oval 14">
            <a:extLst>
              <a:ext uri="{FF2B5EF4-FFF2-40B4-BE49-F238E27FC236}">
                <a16:creationId xmlns:a16="http://schemas.microsoft.com/office/drawing/2014/main" id="{EE4A6D71-036A-AB68-9CEB-127FFFCD54AD}"/>
              </a:ext>
            </a:extLst>
          </p:cNvPr>
          <p:cNvSpPr>
            <a:spLocks noChangeArrowheads="1"/>
          </p:cNvSpPr>
          <p:nvPr/>
        </p:nvSpPr>
        <p:spPr bwMode="auto">
          <a:xfrm>
            <a:off x="1346200" y="5214938"/>
            <a:ext cx="95250" cy="100012"/>
          </a:xfrm>
          <a:prstGeom prst="ellipse">
            <a:avLst/>
          </a:prstGeom>
          <a:solidFill>
            <a:srgbClr val="339933"/>
          </a:solidFill>
          <a:ln w="12700">
            <a:solidFill>
              <a:srgbClr val="3399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591" name="Rectangle 15">
            <a:extLst>
              <a:ext uri="{FF2B5EF4-FFF2-40B4-BE49-F238E27FC236}">
                <a16:creationId xmlns:a16="http://schemas.microsoft.com/office/drawing/2014/main" id="{D76B6E3B-59F3-09F8-4DD1-51219B27B16B}"/>
              </a:ext>
            </a:extLst>
          </p:cNvPr>
          <p:cNvSpPr>
            <a:spLocks noChangeArrowheads="1"/>
          </p:cNvSpPr>
          <p:nvPr/>
        </p:nvSpPr>
        <p:spPr bwMode="auto">
          <a:xfrm>
            <a:off x="1346200" y="5367338"/>
            <a:ext cx="95250" cy="90487"/>
          </a:xfrm>
          <a:prstGeom prst="rect">
            <a:avLst/>
          </a:prstGeom>
          <a:solidFill>
            <a:srgbClr val="002B7F"/>
          </a:solidFill>
          <a:ln w="12700">
            <a:solidFill>
              <a:srgbClr val="002B7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592" name="Rectangle 16">
            <a:extLst>
              <a:ext uri="{FF2B5EF4-FFF2-40B4-BE49-F238E27FC236}">
                <a16:creationId xmlns:a16="http://schemas.microsoft.com/office/drawing/2014/main" id="{933768FB-C5C2-6ECD-0960-056D9835F247}"/>
              </a:ext>
            </a:extLst>
          </p:cNvPr>
          <p:cNvSpPr>
            <a:spLocks noChangeArrowheads="1"/>
          </p:cNvSpPr>
          <p:nvPr/>
        </p:nvSpPr>
        <p:spPr bwMode="auto">
          <a:xfrm>
            <a:off x="6692900" y="2030413"/>
            <a:ext cx="523875" cy="147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593" name="Rectangle 17">
            <a:extLst>
              <a:ext uri="{FF2B5EF4-FFF2-40B4-BE49-F238E27FC236}">
                <a16:creationId xmlns:a16="http://schemas.microsoft.com/office/drawing/2014/main" id="{771C0FAC-CA9A-5478-8014-2F8A657A6BE0}"/>
              </a:ext>
            </a:extLst>
          </p:cNvPr>
          <p:cNvSpPr>
            <a:spLocks noChangeArrowheads="1"/>
          </p:cNvSpPr>
          <p:nvPr/>
        </p:nvSpPr>
        <p:spPr bwMode="auto">
          <a:xfrm>
            <a:off x="6486525" y="2852738"/>
            <a:ext cx="4873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1000">
                <a:solidFill>
                  <a:srgbClr val="339933"/>
                </a:solidFill>
              </a:rPr>
              <a:t>GMO</a:t>
            </a:r>
          </a:p>
        </p:txBody>
      </p:sp>
      <p:sp>
        <p:nvSpPr>
          <p:cNvPr id="280594" name="Oval 18">
            <a:extLst>
              <a:ext uri="{FF2B5EF4-FFF2-40B4-BE49-F238E27FC236}">
                <a16:creationId xmlns:a16="http://schemas.microsoft.com/office/drawing/2014/main" id="{A11E76D2-7D0B-E936-5C84-2E13FAB300F5}"/>
              </a:ext>
            </a:extLst>
          </p:cNvPr>
          <p:cNvSpPr>
            <a:spLocks noChangeArrowheads="1"/>
          </p:cNvSpPr>
          <p:nvPr/>
        </p:nvSpPr>
        <p:spPr bwMode="auto">
          <a:xfrm>
            <a:off x="6596063" y="3143250"/>
            <a:ext cx="95250" cy="100013"/>
          </a:xfrm>
          <a:prstGeom prst="ellipse">
            <a:avLst/>
          </a:prstGeom>
          <a:solidFill>
            <a:srgbClr val="339933"/>
          </a:solidFill>
          <a:ln w="12700">
            <a:solidFill>
              <a:srgbClr val="3399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595" name="Rectangle 19">
            <a:extLst>
              <a:ext uri="{FF2B5EF4-FFF2-40B4-BE49-F238E27FC236}">
                <a16:creationId xmlns:a16="http://schemas.microsoft.com/office/drawing/2014/main" id="{8DF08980-A149-1C87-837F-2B906E1737AC}"/>
              </a:ext>
            </a:extLst>
          </p:cNvPr>
          <p:cNvSpPr>
            <a:spLocks noChangeArrowheads="1"/>
          </p:cNvSpPr>
          <p:nvPr/>
        </p:nvSpPr>
        <p:spPr bwMode="auto">
          <a:xfrm>
            <a:off x="6794500" y="3436938"/>
            <a:ext cx="95250" cy="90487"/>
          </a:xfrm>
          <a:prstGeom prst="rect">
            <a:avLst/>
          </a:prstGeom>
          <a:solidFill>
            <a:srgbClr val="002B7F"/>
          </a:solidFill>
          <a:ln w="12700">
            <a:solidFill>
              <a:srgbClr val="002B7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596" name="Text Box 20">
            <a:extLst>
              <a:ext uri="{FF2B5EF4-FFF2-40B4-BE49-F238E27FC236}">
                <a16:creationId xmlns:a16="http://schemas.microsoft.com/office/drawing/2014/main" id="{CBB6E360-2411-38D6-505B-C68E1CFF13A4}"/>
              </a:ext>
            </a:extLst>
          </p:cNvPr>
          <p:cNvSpPr txBox="1">
            <a:spLocks noChangeArrowheads="1"/>
          </p:cNvSpPr>
          <p:nvPr/>
        </p:nvSpPr>
        <p:spPr bwMode="auto">
          <a:xfrm>
            <a:off x="1614488" y="6757988"/>
            <a:ext cx="75882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9" tIns="45715" rIns="91429" bIns="45715">
            <a:spAutoFit/>
          </a:bodyPr>
          <a:lstStyle>
            <a:lvl1pPr algn="l">
              <a:defRPr sz="2400">
                <a:solidFill>
                  <a:schemeClr val="tx1"/>
                </a:solidFill>
                <a:latin typeface="Times New Roman" panose="02020603050405020304" pitchFamily="18" charset="0"/>
              </a:defRPr>
            </a:lvl1pPr>
            <a:lvl2pPr marL="455613" algn="l">
              <a:defRPr sz="2400">
                <a:solidFill>
                  <a:schemeClr val="tx1"/>
                </a:solidFill>
                <a:latin typeface="Times New Roman" panose="02020603050405020304" pitchFamily="18" charset="0"/>
              </a:defRPr>
            </a:lvl2pPr>
            <a:lvl3pPr algn="l">
              <a:defRPr sz="2400">
                <a:solidFill>
                  <a:schemeClr val="tx1"/>
                </a:solidFill>
                <a:latin typeface="Times New Roman" panose="02020603050405020304" pitchFamily="18" charset="0"/>
              </a:defRPr>
            </a:lvl3pPr>
            <a:lvl4pPr algn="l">
              <a:defRPr sz="2400">
                <a:solidFill>
                  <a:schemeClr val="tx1"/>
                </a:solidFill>
                <a:latin typeface="Times New Roman" panose="02020603050405020304" pitchFamily="18" charset="0"/>
              </a:defRPr>
            </a:lvl4pPr>
            <a:lvl5pPr algn="l">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000" b="0" baseline="30000"/>
              <a:t>1  </a:t>
            </a:r>
            <a:r>
              <a:rPr lang="en-US" altLang="en-US" sz="1000" b="0"/>
              <a:t>Inception date:  12/9/93.</a:t>
            </a:r>
          </a:p>
          <a:p>
            <a:r>
              <a:rPr lang="en-US" altLang="en-US" sz="1000" b="0"/>
              <a:t>Universe source:  Frank Russell Company.  Returns for all managers are gross of fees.  Performance represents past performance and is not indicative of future results.  Data as of 9/30/01.</a:t>
            </a:r>
          </a:p>
        </p:txBody>
      </p:sp>
      <p:sp>
        <p:nvSpPr>
          <p:cNvPr id="280597" name="Text Box 21">
            <a:extLst>
              <a:ext uri="{FF2B5EF4-FFF2-40B4-BE49-F238E27FC236}">
                <a16:creationId xmlns:a16="http://schemas.microsoft.com/office/drawing/2014/main" id="{B89BEB75-1FB6-5E43-AE4F-3478559D0A36}"/>
              </a:ext>
            </a:extLst>
          </p:cNvPr>
          <p:cNvSpPr txBox="1">
            <a:spLocks noChangeArrowheads="1"/>
          </p:cNvSpPr>
          <p:nvPr/>
        </p:nvSpPr>
        <p:spPr bwMode="auto">
          <a:xfrm>
            <a:off x="571500" y="677863"/>
            <a:ext cx="90170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Markets Performance</a:t>
            </a:r>
          </a:p>
          <a:p>
            <a:pPr algn="l">
              <a:lnSpc>
                <a:spcPct val="125000"/>
              </a:lnSpc>
            </a:pPr>
            <a:r>
              <a:rPr lang="en-US" altLang="en-US" sz="1800" b="0" i="1"/>
              <a:t>Frank Russell Company Universe of Emerging Markets Equity Managers</a:t>
            </a:r>
          </a:p>
        </p:txBody>
      </p:sp>
      <p:grpSp>
        <p:nvGrpSpPr>
          <p:cNvPr id="280598" name="Group 22">
            <a:extLst>
              <a:ext uri="{FF2B5EF4-FFF2-40B4-BE49-F238E27FC236}">
                <a16:creationId xmlns:a16="http://schemas.microsoft.com/office/drawing/2014/main" id="{898AC23A-1CE0-BC6E-B005-0762CA5735E3}"/>
              </a:ext>
            </a:extLst>
          </p:cNvPr>
          <p:cNvGrpSpPr>
            <a:grpSpLocks/>
          </p:cNvGrpSpPr>
          <p:nvPr/>
        </p:nvGrpSpPr>
        <p:grpSpPr bwMode="auto">
          <a:xfrm>
            <a:off x="1612900" y="1839913"/>
            <a:ext cx="1223963" cy="823912"/>
            <a:chOff x="618" y="1118"/>
            <a:chExt cx="771" cy="519"/>
          </a:xfrm>
        </p:grpSpPr>
        <p:sp>
          <p:nvSpPr>
            <p:cNvPr id="280599" name="Rectangle 23">
              <a:extLst>
                <a:ext uri="{FF2B5EF4-FFF2-40B4-BE49-F238E27FC236}">
                  <a16:creationId xmlns:a16="http://schemas.microsoft.com/office/drawing/2014/main" id="{B328FF07-DD66-7DC8-C79B-54A6649E1F73}"/>
                </a:ext>
              </a:extLst>
            </p:cNvPr>
            <p:cNvSpPr>
              <a:spLocks noChangeArrowheads="1"/>
            </p:cNvSpPr>
            <p:nvPr/>
          </p:nvSpPr>
          <p:spPr bwMode="auto">
            <a:xfrm>
              <a:off x="790" y="1310"/>
              <a:ext cx="599"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800" b="0" i="1"/>
                <a:t>Median Manager</a:t>
              </a:r>
            </a:p>
          </p:txBody>
        </p:sp>
        <p:sp>
          <p:nvSpPr>
            <p:cNvPr id="280600" name="Rectangle 24">
              <a:extLst>
                <a:ext uri="{FF2B5EF4-FFF2-40B4-BE49-F238E27FC236}">
                  <a16:creationId xmlns:a16="http://schemas.microsoft.com/office/drawing/2014/main" id="{1A9F7975-6C8B-2AE9-7196-E5DA8B4DF1BA}"/>
                </a:ext>
              </a:extLst>
            </p:cNvPr>
            <p:cNvSpPr>
              <a:spLocks noChangeArrowheads="1"/>
            </p:cNvSpPr>
            <p:nvPr/>
          </p:nvSpPr>
          <p:spPr bwMode="auto">
            <a:xfrm>
              <a:off x="620" y="1181"/>
              <a:ext cx="183" cy="380"/>
            </a:xfrm>
            <a:prstGeom prst="rect">
              <a:avLst/>
            </a:prstGeom>
            <a:solidFill>
              <a:srgbClr val="FEFA63"/>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601" name="Line 25">
              <a:extLst>
                <a:ext uri="{FF2B5EF4-FFF2-40B4-BE49-F238E27FC236}">
                  <a16:creationId xmlns:a16="http://schemas.microsoft.com/office/drawing/2014/main" id="{BA56CB38-57B3-6023-9A35-ACBC3DD9DA4D}"/>
                </a:ext>
              </a:extLst>
            </p:cNvPr>
            <p:cNvSpPr>
              <a:spLocks noChangeShapeType="1"/>
            </p:cNvSpPr>
            <p:nvPr/>
          </p:nvSpPr>
          <p:spPr bwMode="auto">
            <a:xfrm>
              <a:off x="618" y="1363"/>
              <a:ext cx="188"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602" name="Line 26">
              <a:extLst>
                <a:ext uri="{FF2B5EF4-FFF2-40B4-BE49-F238E27FC236}">
                  <a16:creationId xmlns:a16="http://schemas.microsoft.com/office/drawing/2014/main" id="{81689641-7719-0C3E-03F2-49DA51217E80}"/>
                </a:ext>
              </a:extLst>
            </p:cNvPr>
            <p:cNvSpPr>
              <a:spLocks noChangeShapeType="1"/>
            </p:cNvSpPr>
            <p:nvPr/>
          </p:nvSpPr>
          <p:spPr bwMode="auto">
            <a:xfrm>
              <a:off x="621" y="1268"/>
              <a:ext cx="182" cy="0"/>
            </a:xfrm>
            <a:prstGeom prst="line">
              <a:avLst/>
            </a:prstGeom>
            <a:noFill/>
            <a:ln w="1270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603" name="Line 27">
              <a:extLst>
                <a:ext uri="{FF2B5EF4-FFF2-40B4-BE49-F238E27FC236}">
                  <a16:creationId xmlns:a16="http://schemas.microsoft.com/office/drawing/2014/main" id="{8FCA5ADE-A6A7-5025-05A4-CE93DE08CA2F}"/>
                </a:ext>
              </a:extLst>
            </p:cNvPr>
            <p:cNvSpPr>
              <a:spLocks noChangeShapeType="1"/>
            </p:cNvSpPr>
            <p:nvPr/>
          </p:nvSpPr>
          <p:spPr bwMode="auto">
            <a:xfrm>
              <a:off x="621" y="1473"/>
              <a:ext cx="182" cy="0"/>
            </a:xfrm>
            <a:prstGeom prst="line">
              <a:avLst/>
            </a:prstGeom>
            <a:noFill/>
            <a:ln w="12700">
              <a:solidFill>
                <a:srgbClr val="0000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0604" name="Rectangle 28">
              <a:extLst>
                <a:ext uri="{FF2B5EF4-FFF2-40B4-BE49-F238E27FC236}">
                  <a16:creationId xmlns:a16="http://schemas.microsoft.com/office/drawing/2014/main" id="{A232A722-882E-CC21-78D7-AB5F27D907F6}"/>
                </a:ext>
              </a:extLst>
            </p:cNvPr>
            <p:cNvSpPr>
              <a:spLocks noChangeArrowheads="1"/>
            </p:cNvSpPr>
            <p:nvPr/>
          </p:nvSpPr>
          <p:spPr bwMode="auto">
            <a:xfrm>
              <a:off x="774" y="1118"/>
              <a:ext cx="510"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800" b="0" i="1"/>
                <a:t>5th Percentile</a:t>
              </a:r>
            </a:p>
          </p:txBody>
        </p:sp>
        <p:sp>
          <p:nvSpPr>
            <p:cNvPr id="280605" name="Rectangle 29">
              <a:extLst>
                <a:ext uri="{FF2B5EF4-FFF2-40B4-BE49-F238E27FC236}">
                  <a16:creationId xmlns:a16="http://schemas.microsoft.com/office/drawing/2014/main" id="{EE8BCFFD-BA9C-2441-8B13-C6C39D0EC2F6}"/>
                </a:ext>
              </a:extLst>
            </p:cNvPr>
            <p:cNvSpPr>
              <a:spLocks noChangeArrowheads="1"/>
            </p:cNvSpPr>
            <p:nvPr/>
          </p:nvSpPr>
          <p:spPr bwMode="auto">
            <a:xfrm>
              <a:off x="774" y="1206"/>
              <a:ext cx="54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800" b="0" i="1"/>
                <a:t>25th Percentile</a:t>
              </a:r>
            </a:p>
          </p:txBody>
        </p:sp>
        <p:sp>
          <p:nvSpPr>
            <p:cNvPr id="280606" name="Rectangle 30">
              <a:extLst>
                <a:ext uri="{FF2B5EF4-FFF2-40B4-BE49-F238E27FC236}">
                  <a16:creationId xmlns:a16="http://schemas.microsoft.com/office/drawing/2014/main" id="{E40BB1E6-3868-E5EE-A3B1-30447A80987B}"/>
                </a:ext>
              </a:extLst>
            </p:cNvPr>
            <p:cNvSpPr>
              <a:spLocks noChangeArrowheads="1"/>
            </p:cNvSpPr>
            <p:nvPr/>
          </p:nvSpPr>
          <p:spPr bwMode="auto">
            <a:xfrm>
              <a:off x="774" y="1414"/>
              <a:ext cx="54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800" b="0" i="1"/>
                <a:t>75th Percentile</a:t>
              </a:r>
            </a:p>
          </p:txBody>
        </p:sp>
        <p:sp>
          <p:nvSpPr>
            <p:cNvPr id="280607" name="Rectangle 31">
              <a:extLst>
                <a:ext uri="{FF2B5EF4-FFF2-40B4-BE49-F238E27FC236}">
                  <a16:creationId xmlns:a16="http://schemas.microsoft.com/office/drawing/2014/main" id="{F0A54D58-B6DC-E704-9CE5-7A6236A55F4D}"/>
                </a:ext>
              </a:extLst>
            </p:cNvPr>
            <p:cNvSpPr>
              <a:spLocks noChangeArrowheads="1"/>
            </p:cNvSpPr>
            <p:nvPr/>
          </p:nvSpPr>
          <p:spPr bwMode="auto">
            <a:xfrm>
              <a:off x="774" y="1502"/>
              <a:ext cx="546"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r>
                <a:rPr lang="en-US" altLang="en-US" sz="800" b="0" i="1"/>
                <a:t>95th Percentile</a:t>
              </a:r>
            </a:p>
          </p:txBody>
        </p:sp>
      </p:grpSp>
      <p:sp>
        <p:nvSpPr>
          <p:cNvPr id="280608" name="Line 32">
            <a:extLst>
              <a:ext uri="{FF2B5EF4-FFF2-40B4-BE49-F238E27FC236}">
                <a16:creationId xmlns:a16="http://schemas.microsoft.com/office/drawing/2014/main" id="{EFBDC1E6-ABB9-DE94-8F91-36D618B8398C}"/>
              </a:ext>
            </a:extLst>
          </p:cNvPr>
          <p:cNvSpPr>
            <a:spLocks noChangeShapeType="1"/>
          </p:cNvSpPr>
          <p:nvPr/>
        </p:nvSpPr>
        <p:spPr bwMode="auto">
          <a:xfrm>
            <a:off x="449263" y="1254125"/>
            <a:ext cx="9153525"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aphicFrame>
        <p:nvGraphicFramePr>
          <p:cNvPr id="280609" name="Object 33">
            <a:extLst>
              <a:ext uri="{FF2B5EF4-FFF2-40B4-BE49-F238E27FC236}">
                <a16:creationId xmlns:a16="http://schemas.microsoft.com/office/drawing/2014/main" id="{E3163EC9-CB67-B24C-6A43-92FD0BAECF6D}"/>
              </a:ext>
            </a:extLst>
          </p:cNvPr>
          <p:cNvGraphicFramePr>
            <a:graphicFrameLocks noChangeAspect="1"/>
          </p:cNvGraphicFramePr>
          <p:nvPr/>
        </p:nvGraphicFramePr>
        <p:xfrm>
          <a:off x="1497013" y="5200650"/>
          <a:ext cx="5456237" cy="1447800"/>
        </p:xfrm>
        <a:graphic>
          <a:graphicData uri="http://schemas.openxmlformats.org/presentationml/2006/ole">
            <mc:AlternateContent xmlns:mc="http://schemas.openxmlformats.org/markup-compatibility/2006">
              <mc:Choice xmlns:v="urn:schemas-microsoft-com:vml" Requires="v">
                <p:oleObj name="Worksheet" r:id="rId4" imgW="5461000" imgH="1460500" progId="Excel.Sheet.8">
                  <p:link updateAutomatic="1"/>
                </p:oleObj>
              </mc:Choice>
              <mc:Fallback>
                <p:oleObj name="Worksheet" r:id="rId4" imgW="5461000" imgH="1460500" progId="Excel.Sheet.8">
                  <p:link updateAutomatic="1"/>
                  <p:pic>
                    <p:nvPicPr>
                      <p:cNvPr id="0" name="Object 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7013" y="5200650"/>
                        <a:ext cx="5456237"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0610" name="Text Box 34">
            <a:extLst>
              <a:ext uri="{FF2B5EF4-FFF2-40B4-BE49-F238E27FC236}">
                <a16:creationId xmlns:a16="http://schemas.microsoft.com/office/drawing/2014/main" id="{C1DF14CC-C71F-B391-27BD-443CB18A7FAE}"/>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70" name="Text Box 14">
            <a:extLst>
              <a:ext uri="{FF2B5EF4-FFF2-40B4-BE49-F238E27FC236}">
                <a16:creationId xmlns:a16="http://schemas.microsoft.com/office/drawing/2014/main" id="{F5D34E95-626E-7FD8-DD1A-F3F3CC1AEE65}"/>
              </a:ext>
            </a:extLst>
          </p:cNvPr>
          <p:cNvSpPr txBox="1">
            <a:spLocks noChangeArrowheads="1"/>
          </p:cNvSpPr>
          <p:nvPr/>
        </p:nvSpPr>
        <p:spPr bwMode="auto">
          <a:xfrm>
            <a:off x="1381125" y="6510338"/>
            <a:ext cx="8342313"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Aft>
                <a:spcPts val="200"/>
              </a:spcAft>
            </a:pPr>
            <a:r>
              <a:rPr lang="en-US" altLang="en-US" sz="1000" b="0" baseline="30000">
                <a:latin typeface="Times New Roman" panose="02020603050405020304" pitchFamily="18" charset="0"/>
              </a:rPr>
              <a:t>1  </a:t>
            </a:r>
            <a:r>
              <a:rPr lang="en-US" altLang="en-US" sz="1000" b="0">
                <a:latin typeface="Times New Roman" panose="02020603050405020304" pitchFamily="18" charset="0"/>
              </a:rPr>
              <a:t>Inception date:  12/9/93.</a:t>
            </a:r>
          </a:p>
          <a:p>
            <a:pPr algn="l">
              <a:spcAft>
                <a:spcPts val="200"/>
              </a:spcAft>
            </a:pPr>
            <a:r>
              <a:rPr lang="en-US" altLang="en-US" sz="1000" b="0">
                <a:latin typeface="Times New Roman" panose="02020603050405020304" pitchFamily="18" charset="0"/>
              </a:rPr>
              <a:t>Notes:  </a:t>
            </a:r>
            <a:r>
              <a:rPr lang="en-US" altLang="en-US" sz="1000">
                <a:latin typeface="Times New Roman" panose="02020603050405020304" pitchFamily="18" charset="0"/>
              </a:rPr>
              <a:t>Performance data quoted represents past performance.</a:t>
            </a:r>
            <a:r>
              <a:rPr lang="en-US" altLang="en-US" sz="1000" b="0">
                <a:latin typeface="Times New Roman" panose="02020603050405020304" pitchFamily="18" charset="0"/>
              </a:rPr>
              <a:t> The investment return and principle value of an investment will fluctuate so that an investor's shares, when redeemed, may be worth more or less than their original cost. Performance does not include advisory or other fees; if included, performance would be lower.  </a:t>
            </a:r>
          </a:p>
          <a:p>
            <a:pPr algn="l">
              <a:spcAft>
                <a:spcPts val="200"/>
              </a:spcAft>
            </a:pPr>
            <a:r>
              <a:rPr lang="en-US" altLang="en-US" sz="1000" b="0">
                <a:latin typeface="Times New Roman" panose="02020603050405020304" pitchFamily="18" charset="0"/>
              </a:rPr>
              <a:t>Returns are gross of fees.</a:t>
            </a:r>
          </a:p>
        </p:txBody>
      </p:sp>
      <p:sp>
        <p:nvSpPr>
          <p:cNvPr id="70677" name="Text Box 21">
            <a:extLst>
              <a:ext uri="{FF2B5EF4-FFF2-40B4-BE49-F238E27FC236}">
                <a16:creationId xmlns:a16="http://schemas.microsoft.com/office/drawing/2014/main" id="{3B266CC9-A219-531B-D579-D6864420E1EA}"/>
              </a:ext>
            </a:extLst>
          </p:cNvPr>
          <p:cNvSpPr txBox="1">
            <a:spLocks noChangeArrowheads="1"/>
          </p:cNvSpPr>
          <p:nvPr/>
        </p:nvSpPr>
        <p:spPr bwMode="auto">
          <a:xfrm>
            <a:off x="565150" y="752475"/>
            <a:ext cx="9304338" cy="1174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2800" b="0"/>
              <a:t>Emerging Equity</a:t>
            </a:r>
          </a:p>
          <a:p>
            <a:pPr algn="l">
              <a:lnSpc>
                <a:spcPct val="25000"/>
              </a:lnSpc>
            </a:pPr>
            <a:endParaRPr lang="en-US" altLang="en-US" sz="2800" b="0"/>
          </a:p>
          <a:p>
            <a:pPr algn="l"/>
            <a:r>
              <a:rPr lang="en-US" altLang="en-US" sz="1800" b="0" i="1"/>
              <a:t>Performance Attribution Analysis</a:t>
            </a:r>
          </a:p>
          <a:p>
            <a:pPr algn="l"/>
            <a:r>
              <a:rPr lang="en-US" altLang="en-US" sz="1800" b="0" i="1"/>
              <a:t>Period Ending December 31, 2001</a:t>
            </a:r>
          </a:p>
        </p:txBody>
      </p:sp>
      <p:sp>
        <p:nvSpPr>
          <p:cNvPr id="70684" name="Text Box 28">
            <a:extLst>
              <a:ext uri="{FF2B5EF4-FFF2-40B4-BE49-F238E27FC236}">
                <a16:creationId xmlns:a16="http://schemas.microsoft.com/office/drawing/2014/main" id="{1A785531-0065-10C3-9435-7538C53245B3}"/>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graphicFrame>
        <p:nvGraphicFramePr>
          <p:cNvPr id="70685" name="Object 29">
            <a:extLst>
              <a:ext uri="{FF2B5EF4-FFF2-40B4-BE49-F238E27FC236}">
                <a16:creationId xmlns:a16="http://schemas.microsoft.com/office/drawing/2014/main" id="{B633BFA2-040E-EDBD-2417-5194E2392D1B}"/>
              </a:ext>
            </a:extLst>
          </p:cNvPr>
          <p:cNvGraphicFramePr>
            <a:graphicFrameLocks noChangeAspect="1"/>
          </p:cNvGraphicFramePr>
          <p:nvPr/>
        </p:nvGraphicFramePr>
        <p:xfrm>
          <a:off x="1357313" y="2076450"/>
          <a:ext cx="7323137" cy="4503738"/>
        </p:xfrm>
        <a:graphic>
          <a:graphicData uri="http://schemas.openxmlformats.org/presentationml/2006/ole">
            <mc:AlternateContent xmlns:mc="http://schemas.openxmlformats.org/markup-compatibility/2006">
              <mc:Choice xmlns:v="urn:schemas-microsoft-com:vml" Requires="v">
                <p:oleObj name="Worksheet" r:id="rId2" imgW="7327900" imgH="4508500" progId="Excel.Sheet.8">
                  <p:link updateAutomatic="1"/>
                </p:oleObj>
              </mc:Choice>
              <mc:Fallback>
                <p:oleObj name="Worksheet" r:id="rId2" imgW="7327900" imgH="4508500" progId="Excel.Sheet.8">
                  <p:link updateAutomatic="1"/>
                  <p:pic>
                    <p:nvPicPr>
                      <p:cNvPr id="0" name="Object 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7313" y="2076450"/>
                        <a:ext cx="7323137" cy="4503738"/>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Text Box 2">
            <a:extLst>
              <a:ext uri="{FF2B5EF4-FFF2-40B4-BE49-F238E27FC236}">
                <a16:creationId xmlns:a16="http://schemas.microsoft.com/office/drawing/2014/main" id="{7EBAC7A7-CE40-9AB1-A0D8-CAAD2144519F}"/>
              </a:ext>
            </a:extLst>
          </p:cNvPr>
          <p:cNvSpPr txBox="1">
            <a:spLocks noChangeArrowheads="1"/>
          </p:cNvSpPr>
          <p:nvPr/>
        </p:nvSpPr>
        <p:spPr bwMode="auto">
          <a:xfrm>
            <a:off x="420688" y="792163"/>
            <a:ext cx="95313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2800" b="0"/>
              <a:t>Representative Clients</a:t>
            </a:r>
          </a:p>
        </p:txBody>
      </p:sp>
      <p:sp>
        <p:nvSpPr>
          <p:cNvPr id="245763" name="Text Box 3">
            <a:extLst>
              <a:ext uri="{FF2B5EF4-FFF2-40B4-BE49-F238E27FC236}">
                <a16:creationId xmlns:a16="http://schemas.microsoft.com/office/drawing/2014/main" id="{3776A80D-CB5A-9515-B31F-EC02C939DBF9}"/>
              </a:ext>
            </a:extLst>
          </p:cNvPr>
          <p:cNvSpPr txBox="1">
            <a:spLocks noChangeArrowheads="1"/>
          </p:cNvSpPr>
          <p:nvPr/>
        </p:nvSpPr>
        <p:spPr bwMode="auto">
          <a:xfrm>
            <a:off x="1349375" y="6696075"/>
            <a:ext cx="424497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80000"/>
              </a:lnSpc>
            </a:pPr>
            <a:r>
              <a:rPr lang="en-US" altLang="en-US" sz="800" b="0"/>
              <a:t>Note:  Clients listed here were chosen as generally representative of the types of clients that comprise GMO’s primary client base (Pension Funds, Educational Endowments, Foundations and International Organizations) and were not chosen based on performance-related criteria.  It is not known whether these clients approve or disapprove of the adviser or the advisory services provided.</a:t>
            </a:r>
          </a:p>
        </p:txBody>
      </p:sp>
      <p:sp>
        <p:nvSpPr>
          <p:cNvPr id="245764" name="Text Box 4">
            <a:extLst>
              <a:ext uri="{FF2B5EF4-FFF2-40B4-BE49-F238E27FC236}">
                <a16:creationId xmlns:a16="http://schemas.microsoft.com/office/drawing/2014/main" id="{D29CEBB8-2955-B21A-AF55-CF5891CCA2BC}"/>
              </a:ext>
            </a:extLst>
          </p:cNvPr>
          <p:cNvSpPr txBox="1">
            <a:spLocks noChangeArrowheads="1"/>
          </p:cNvSpPr>
          <p:nvPr/>
        </p:nvSpPr>
        <p:spPr bwMode="auto">
          <a:xfrm>
            <a:off x="8866188" y="7305675"/>
            <a:ext cx="884237" cy="20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85000"/>
              </a:lnSpc>
            </a:pPr>
            <a:r>
              <a:rPr lang="en-US" altLang="en-US" sz="900" b="0">
                <a:latin typeface="Times New Roman" panose="02020603050405020304" pitchFamily="18" charset="0"/>
              </a:rPr>
              <a:t>As of 3/01</a:t>
            </a:r>
          </a:p>
        </p:txBody>
      </p:sp>
      <p:graphicFrame>
        <p:nvGraphicFramePr>
          <p:cNvPr id="245765" name="Object 5">
            <a:extLst>
              <a:ext uri="{FF2B5EF4-FFF2-40B4-BE49-F238E27FC236}">
                <a16:creationId xmlns:a16="http://schemas.microsoft.com/office/drawing/2014/main" id="{CE2604D6-4F6E-B28A-86B5-A73CD501AA72}"/>
              </a:ext>
            </a:extLst>
          </p:cNvPr>
          <p:cNvGraphicFramePr>
            <a:graphicFrameLocks noChangeAspect="1"/>
          </p:cNvGraphicFramePr>
          <p:nvPr/>
        </p:nvGraphicFramePr>
        <p:xfrm>
          <a:off x="1355725" y="1317625"/>
          <a:ext cx="3943350" cy="438150"/>
        </p:xfrm>
        <a:graphic>
          <a:graphicData uri="http://schemas.openxmlformats.org/presentationml/2006/ole">
            <mc:AlternateContent xmlns:mc="http://schemas.openxmlformats.org/markup-compatibility/2006">
              <mc:Choice xmlns:v="urn:schemas-microsoft-com:vml" Requires="v">
                <p:oleObj name="Worksheet" r:id="rId2" imgW="4673600" imgH="533400" progId="Excel.Sheet.8">
                  <p:link updateAutomatic="1"/>
                </p:oleObj>
              </mc:Choice>
              <mc:Fallback>
                <p:oleObj name="Worksheet" r:id="rId2" imgW="4673600" imgH="533400" progId="Excel.Sheet.8">
                  <p:link updateAutomatic="1"/>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5725" y="1317625"/>
                        <a:ext cx="394335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766" name="Object 6">
            <a:extLst>
              <a:ext uri="{FF2B5EF4-FFF2-40B4-BE49-F238E27FC236}">
                <a16:creationId xmlns:a16="http://schemas.microsoft.com/office/drawing/2014/main" id="{575CDCA7-0B0F-42BB-3E1B-23AC9A216502}"/>
              </a:ext>
            </a:extLst>
          </p:cNvPr>
          <p:cNvGraphicFramePr>
            <a:graphicFrameLocks noChangeAspect="1"/>
          </p:cNvGraphicFramePr>
          <p:nvPr/>
        </p:nvGraphicFramePr>
        <p:xfrm>
          <a:off x="1360488" y="1743075"/>
          <a:ext cx="3943350" cy="3371850"/>
        </p:xfrm>
        <a:graphic>
          <a:graphicData uri="http://schemas.openxmlformats.org/presentationml/2006/ole">
            <mc:AlternateContent xmlns:mc="http://schemas.openxmlformats.org/markup-compatibility/2006">
              <mc:Choice xmlns:v="urn:schemas-microsoft-com:vml" Requires="v">
                <p:oleObj name="Worksheet" r:id="rId4" imgW="4673600" imgH="3987800" progId="Excel.Sheet.8">
                  <p:link updateAutomatic="1"/>
                </p:oleObj>
              </mc:Choice>
              <mc:Fallback>
                <p:oleObj name="Worksheet" r:id="rId4" imgW="4673600" imgH="3987800" progId="Excel.Sheet.8">
                  <p:link updateAutomatic="1"/>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0488" y="1743075"/>
                        <a:ext cx="3943350" cy="337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767" name="Object 7">
            <a:extLst>
              <a:ext uri="{FF2B5EF4-FFF2-40B4-BE49-F238E27FC236}">
                <a16:creationId xmlns:a16="http://schemas.microsoft.com/office/drawing/2014/main" id="{283BBE95-1A51-18CD-8EB0-79459EA36CFB}"/>
              </a:ext>
            </a:extLst>
          </p:cNvPr>
          <p:cNvGraphicFramePr>
            <a:graphicFrameLocks noChangeAspect="1"/>
          </p:cNvGraphicFramePr>
          <p:nvPr/>
        </p:nvGraphicFramePr>
        <p:xfrm>
          <a:off x="1360488" y="5057775"/>
          <a:ext cx="3943350" cy="1543050"/>
        </p:xfrm>
        <a:graphic>
          <a:graphicData uri="http://schemas.openxmlformats.org/presentationml/2006/ole">
            <mc:AlternateContent xmlns:mc="http://schemas.openxmlformats.org/markup-compatibility/2006">
              <mc:Choice xmlns:v="urn:schemas-microsoft-com:vml" Requires="v">
                <p:oleObj name="Worksheet" r:id="rId6" imgW="4673600" imgH="1828800" progId="Excel.Sheet.8">
                  <p:link updateAutomatic="1"/>
                </p:oleObj>
              </mc:Choice>
              <mc:Fallback>
                <p:oleObj name="Worksheet" r:id="rId6" imgW="4673600" imgH="1828800" progId="Excel.Sheet.8">
                  <p:link updateAutomatic="1"/>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60488" y="5057775"/>
                        <a:ext cx="3943350"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768" name="Object 8">
            <a:extLst>
              <a:ext uri="{FF2B5EF4-FFF2-40B4-BE49-F238E27FC236}">
                <a16:creationId xmlns:a16="http://schemas.microsoft.com/office/drawing/2014/main" id="{F12076BA-3C2B-E42C-BB66-BCAD34098106}"/>
              </a:ext>
            </a:extLst>
          </p:cNvPr>
          <p:cNvGraphicFramePr>
            <a:graphicFrameLocks noChangeAspect="1"/>
          </p:cNvGraphicFramePr>
          <p:nvPr/>
        </p:nvGraphicFramePr>
        <p:xfrm>
          <a:off x="5413375" y="1325563"/>
          <a:ext cx="3943350" cy="2447925"/>
        </p:xfrm>
        <a:graphic>
          <a:graphicData uri="http://schemas.openxmlformats.org/presentationml/2006/ole">
            <mc:AlternateContent xmlns:mc="http://schemas.openxmlformats.org/markup-compatibility/2006">
              <mc:Choice xmlns:v="urn:schemas-microsoft-com:vml" Requires="v">
                <p:oleObj name="Worksheet" r:id="rId8" imgW="4152900" imgH="2578100" progId="Excel.Sheet.8">
                  <p:link updateAutomatic="1"/>
                </p:oleObj>
              </mc:Choice>
              <mc:Fallback>
                <p:oleObj name="Worksheet" r:id="rId8" imgW="4152900" imgH="2578100" progId="Excel.Sheet.8">
                  <p:link updateAutomatic="1"/>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13375" y="1325563"/>
                        <a:ext cx="3943350" cy="244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769" name="Object 9">
            <a:extLst>
              <a:ext uri="{FF2B5EF4-FFF2-40B4-BE49-F238E27FC236}">
                <a16:creationId xmlns:a16="http://schemas.microsoft.com/office/drawing/2014/main" id="{A24F8841-713B-484A-8C1D-12AE18EE3792}"/>
              </a:ext>
            </a:extLst>
          </p:cNvPr>
          <p:cNvGraphicFramePr>
            <a:graphicFrameLocks noChangeAspect="1"/>
          </p:cNvGraphicFramePr>
          <p:nvPr/>
        </p:nvGraphicFramePr>
        <p:xfrm>
          <a:off x="5413375" y="3729038"/>
          <a:ext cx="3943350" cy="3514725"/>
        </p:xfrm>
        <a:graphic>
          <a:graphicData uri="http://schemas.openxmlformats.org/presentationml/2006/ole">
            <mc:AlternateContent xmlns:mc="http://schemas.openxmlformats.org/markup-compatibility/2006">
              <mc:Choice xmlns:v="urn:schemas-microsoft-com:vml" Requires="v">
                <p:oleObj name="Worksheet" r:id="rId10" imgW="4673600" imgH="4165600" progId="Excel.Sheet.8">
                  <p:link updateAutomatic="1"/>
                </p:oleObj>
              </mc:Choice>
              <mc:Fallback>
                <p:oleObj name="Worksheet" r:id="rId10" imgW="4673600" imgH="4165600" progId="Excel.Sheet.8">
                  <p:link updateAutomatic="1"/>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13375" y="3729038"/>
                        <a:ext cx="3943350" cy="351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770" name="Line 10">
            <a:extLst>
              <a:ext uri="{FF2B5EF4-FFF2-40B4-BE49-F238E27FC236}">
                <a16:creationId xmlns:a16="http://schemas.microsoft.com/office/drawing/2014/main" id="{19C3935B-93E5-DA70-BF11-4765E981DB6B}"/>
              </a:ext>
            </a:extLst>
          </p:cNvPr>
          <p:cNvSpPr>
            <a:spLocks noChangeShapeType="1"/>
          </p:cNvSpPr>
          <p:nvPr/>
        </p:nvSpPr>
        <p:spPr bwMode="auto">
          <a:xfrm>
            <a:off x="0" y="0"/>
            <a:ext cx="10058400" cy="777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771" name="Text Box 11">
            <a:extLst>
              <a:ext uri="{FF2B5EF4-FFF2-40B4-BE49-F238E27FC236}">
                <a16:creationId xmlns:a16="http://schemas.microsoft.com/office/drawing/2014/main" id="{E12D0E69-B9A5-9F47-3459-65712FD4A404}"/>
              </a:ext>
            </a:extLst>
          </p:cNvPr>
          <p:cNvSpPr txBox="1">
            <a:spLocks noChangeArrowheads="1"/>
          </p:cNvSpPr>
          <p:nvPr/>
        </p:nvSpPr>
        <p:spPr bwMode="auto">
          <a:xfrm rot="2227025">
            <a:off x="1277938" y="3544888"/>
            <a:ext cx="7464425"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rgbClr val="A50021"/>
                </a:solidFill>
              </a:rPr>
              <a:t>PULL CURRENT EXHIBIT FROM APPENDIX BIBLE</a:t>
            </a:r>
          </a:p>
        </p:txBody>
      </p:sp>
      <p:sp>
        <p:nvSpPr>
          <p:cNvPr id="245772" name="Text Box 12">
            <a:extLst>
              <a:ext uri="{FF2B5EF4-FFF2-40B4-BE49-F238E27FC236}">
                <a16:creationId xmlns:a16="http://schemas.microsoft.com/office/drawing/2014/main" id="{13858A9F-6B3C-B686-3863-40951D0B0D95}"/>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Text Box 2050">
            <a:extLst>
              <a:ext uri="{FF2B5EF4-FFF2-40B4-BE49-F238E27FC236}">
                <a16:creationId xmlns:a16="http://schemas.microsoft.com/office/drawing/2014/main" id="{7C346F8D-9B85-6B1B-1938-BB22B08B9628}"/>
              </a:ext>
            </a:extLst>
          </p:cNvPr>
          <p:cNvSpPr txBox="1">
            <a:spLocks noChangeArrowheads="1"/>
          </p:cNvSpPr>
          <p:nvPr/>
        </p:nvSpPr>
        <p:spPr bwMode="auto">
          <a:xfrm>
            <a:off x="1214438" y="1820863"/>
            <a:ext cx="7643812" cy="480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8600" indent="-228600" algn="l">
              <a:tabLst>
                <a:tab pos="2743200" algn="l"/>
              </a:tabLst>
              <a:defRPr sz="2400">
                <a:solidFill>
                  <a:schemeClr val="tx1"/>
                </a:solidFill>
                <a:latin typeface="Times New Roman" panose="02020603050405020304" pitchFamily="18" charset="0"/>
              </a:defRPr>
            </a:lvl1pPr>
            <a:lvl2pPr marL="685800" indent="-273050" algn="l">
              <a:tabLst>
                <a:tab pos="2743200" algn="l"/>
              </a:tabLst>
              <a:defRPr sz="2400">
                <a:solidFill>
                  <a:schemeClr val="tx1"/>
                </a:solidFill>
                <a:latin typeface="Times New Roman" panose="02020603050405020304" pitchFamily="18" charset="0"/>
              </a:defRPr>
            </a:lvl2pPr>
            <a:lvl3pPr marL="2743200" algn="l">
              <a:tabLst>
                <a:tab pos="2743200" algn="l"/>
              </a:tabLst>
              <a:defRPr sz="2400">
                <a:solidFill>
                  <a:schemeClr val="tx1"/>
                </a:solidFill>
                <a:latin typeface="Times New Roman" panose="02020603050405020304" pitchFamily="18" charset="0"/>
              </a:defRPr>
            </a:lvl3pPr>
            <a:lvl4pPr marL="2857500" algn="l">
              <a:tabLst>
                <a:tab pos="2743200" algn="l"/>
              </a:tabLst>
              <a:defRPr sz="2400">
                <a:solidFill>
                  <a:schemeClr val="tx1"/>
                </a:solidFill>
                <a:latin typeface="Times New Roman" panose="02020603050405020304" pitchFamily="18" charset="0"/>
              </a:defRPr>
            </a:lvl4pPr>
            <a:lvl5pPr marL="2971800" algn="l">
              <a:tabLst>
                <a:tab pos="2743200" algn="l"/>
              </a:tabLst>
              <a:defRPr sz="2400">
                <a:solidFill>
                  <a:schemeClr val="tx1"/>
                </a:solidFill>
                <a:latin typeface="Times New Roman" panose="02020603050405020304" pitchFamily="18" charset="0"/>
              </a:defRPr>
            </a:lvl5pPr>
            <a:lvl6pPr marL="3429000" eaLnBrk="0" fontAlgn="base" hangingPunct="0">
              <a:spcBef>
                <a:spcPct val="0"/>
              </a:spcBef>
              <a:spcAft>
                <a:spcPct val="0"/>
              </a:spcAft>
              <a:tabLst>
                <a:tab pos="2743200" algn="l"/>
              </a:tabLst>
              <a:defRPr sz="2400">
                <a:solidFill>
                  <a:schemeClr val="tx1"/>
                </a:solidFill>
                <a:latin typeface="Times New Roman" panose="02020603050405020304" pitchFamily="18" charset="0"/>
              </a:defRPr>
            </a:lvl6pPr>
            <a:lvl7pPr marL="3886200" eaLnBrk="0" fontAlgn="base" hangingPunct="0">
              <a:spcBef>
                <a:spcPct val="0"/>
              </a:spcBef>
              <a:spcAft>
                <a:spcPct val="0"/>
              </a:spcAft>
              <a:tabLst>
                <a:tab pos="2743200" algn="l"/>
              </a:tabLst>
              <a:defRPr sz="2400">
                <a:solidFill>
                  <a:schemeClr val="tx1"/>
                </a:solidFill>
                <a:latin typeface="Times New Roman" panose="02020603050405020304" pitchFamily="18" charset="0"/>
              </a:defRPr>
            </a:lvl7pPr>
            <a:lvl8pPr marL="4343400" eaLnBrk="0" fontAlgn="base" hangingPunct="0">
              <a:spcBef>
                <a:spcPct val="0"/>
              </a:spcBef>
              <a:spcAft>
                <a:spcPct val="0"/>
              </a:spcAft>
              <a:tabLst>
                <a:tab pos="2743200" algn="l"/>
              </a:tabLst>
              <a:defRPr sz="2400">
                <a:solidFill>
                  <a:schemeClr val="tx1"/>
                </a:solidFill>
                <a:latin typeface="Times New Roman" panose="02020603050405020304" pitchFamily="18" charset="0"/>
              </a:defRPr>
            </a:lvl8pPr>
            <a:lvl9pPr marL="4800600" eaLnBrk="0" fontAlgn="base" hangingPunct="0">
              <a:spcBef>
                <a:spcPct val="0"/>
              </a:spcBef>
              <a:spcAft>
                <a:spcPct val="0"/>
              </a:spcAft>
              <a:tabLst>
                <a:tab pos="2743200" algn="l"/>
              </a:tabLst>
              <a:defRPr sz="2400">
                <a:solidFill>
                  <a:schemeClr val="tx1"/>
                </a:solidFill>
                <a:latin typeface="Times New Roman" panose="02020603050405020304" pitchFamily="18" charset="0"/>
              </a:defRPr>
            </a:lvl9pPr>
          </a:lstStyle>
          <a:p>
            <a:pPr>
              <a:buSzPct val="75000"/>
              <a:buFont typeface="Wingdings" pitchFamily="2" charset="2"/>
              <a:buChar char="n"/>
            </a:pPr>
            <a:r>
              <a:rPr lang="en-US" altLang="en-US" sz="1800" b="0"/>
              <a:t>Quant works and GMO is a pioneer in using disciplined, quantitative research.</a:t>
            </a:r>
          </a:p>
          <a:p>
            <a:pPr>
              <a:buSzPct val="75000"/>
              <a:buFont typeface="Wingdings" pitchFamily="2" charset="2"/>
              <a:buChar char="n"/>
            </a:pPr>
            <a:endParaRPr lang="en-US" altLang="en-US" sz="1800" b="0"/>
          </a:p>
          <a:p>
            <a:pPr>
              <a:buSzPct val="75000"/>
              <a:buFont typeface="Wingdings" pitchFamily="2" charset="2"/>
              <a:buChar char="n"/>
            </a:pPr>
            <a:endParaRPr lang="en-US" altLang="en-US" sz="1800" b="0"/>
          </a:p>
          <a:p>
            <a:pPr>
              <a:buSzPct val="75000"/>
              <a:buFont typeface="Wingdings" pitchFamily="2" charset="2"/>
              <a:buChar char="n"/>
            </a:pPr>
            <a:r>
              <a:rPr lang="en-US" altLang="en-US" sz="1800" b="0"/>
              <a:t>Our dedicated Emerging Markets team leverages the research capabilities of GMO’s global research platform.</a:t>
            </a:r>
          </a:p>
          <a:p>
            <a:pPr>
              <a:buSzPct val="75000"/>
              <a:buFont typeface="Wingdings" pitchFamily="2" charset="2"/>
              <a:buChar char="n"/>
            </a:pPr>
            <a:endParaRPr lang="en-US" altLang="en-US" sz="1800" b="0"/>
          </a:p>
          <a:p>
            <a:pPr>
              <a:buSzPct val="75000"/>
              <a:buFont typeface="Wingdings" pitchFamily="2" charset="2"/>
              <a:buChar char="n"/>
            </a:pPr>
            <a:endParaRPr lang="en-US" altLang="en-US" sz="1800" b="0"/>
          </a:p>
          <a:p>
            <a:pPr>
              <a:buSzPct val="75000"/>
              <a:buFont typeface="Wingdings" pitchFamily="2" charset="2"/>
              <a:buChar char="n"/>
            </a:pPr>
            <a:r>
              <a:rPr lang="en-US" altLang="en-US" sz="1800" b="0"/>
              <a:t>We overweight countries that are:</a:t>
            </a:r>
          </a:p>
          <a:p>
            <a:pPr lvl="1">
              <a:spcBef>
                <a:spcPts val="500"/>
              </a:spcBef>
              <a:buFont typeface="Arial" panose="020B0604020202020204" pitchFamily="34" charset="0"/>
              <a:buChar char="–"/>
            </a:pPr>
            <a:r>
              <a:rPr lang="en-US" altLang="en-US" sz="1600" b="0"/>
              <a:t>Cheap (low price/earnings, low price/book, etc.).</a:t>
            </a:r>
          </a:p>
          <a:p>
            <a:pPr lvl="1">
              <a:spcBef>
                <a:spcPts val="500"/>
              </a:spcBef>
              <a:buFont typeface="Arial" panose="020B0604020202020204" pitchFamily="34" charset="0"/>
              <a:buChar char="–"/>
            </a:pPr>
            <a:r>
              <a:rPr lang="en-US" altLang="en-US" sz="1600" b="0"/>
              <a:t>Less vulnerable to currency shocks.</a:t>
            </a:r>
          </a:p>
          <a:p>
            <a:pPr lvl="1">
              <a:spcBef>
                <a:spcPts val="500"/>
              </a:spcBef>
              <a:buFont typeface="Arial" panose="020B0604020202020204" pitchFamily="34" charset="0"/>
              <a:buChar char="–"/>
            </a:pPr>
            <a:r>
              <a:rPr lang="en-US" altLang="en-US" sz="1600" b="0"/>
              <a:t>Set to surprise conventional wisdom.</a:t>
            </a:r>
          </a:p>
          <a:p>
            <a:pPr>
              <a:buSzPct val="110000"/>
              <a:buFont typeface="Wingdings" pitchFamily="2" charset="2"/>
              <a:buChar char="n"/>
            </a:pPr>
            <a:endParaRPr lang="en-US" altLang="en-US" sz="1600" b="0"/>
          </a:p>
          <a:p>
            <a:pPr>
              <a:buSzPct val="110000"/>
              <a:buFont typeface="Wingdings" pitchFamily="2" charset="2"/>
              <a:buChar char="n"/>
            </a:pPr>
            <a:endParaRPr lang="en-US" altLang="en-US" sz="1600" b="0"/>
          </a:p>
          <a:p>
            <a:pPr>
              <a:buSzPct val="75000"/>
              <a:buFont typeface="Wingdings" pitchFamily="2" charset="2"/>
              <a:buChar char="n"/>
            </a:pPr>
            <a:r>
              <a:rPr lang="en-US" altLang="en-US" sz="1800" b="0"/>
              <a:t>We employ a strong risk control discipline</a:t>
            </a:r>
          </a:p>
          <a:p>
            <a:pPr>
              <a:buSzPct val="75000"/>
              <a:buFont typeface="Wingdings" pitchFamily="2" charset="2"/>
              <a:buChar char="n"/>
            </a:pPr>
            <a:endParaRPr lang="en-US" altLang="en-US" sz="1800" b="0"/>
          </a:p>
          <a:p>
            <a:pPr>
              <a:buSzPct val="75000"/>
              <a:buFont typeface="Wingdings" pitchFamily="2" charset="2"/>
              <a:buChar char="n"/>
            </a:pPr>
            <a:endParaRPr lang="en-US" altLang="en-US" sz="1800" b="0"/>
          </a:p>
          <a:p>
            <a:pPr>
              <a:buSzPct val="75000"/>
              <a:buFont typeface="Wingdings" pitchFamily="2" charset="2"/>
              <a:buChar char="n"/>
            </a:pPr>
            <a:r>
              <a:rPr lang="en-US" altLang="en-US" sz="1800" b="0"/>
              <a:t>We have exceeded our performance objectives</a:t>
            </a:r>
          </a:p>
        </p:txBody>
      </p:sp>
      <p:sp>
        <p:nvSpPr>
          <p:cNvPr id="303107" name="Text Box 2051">
            <a:extLst>
              <a:ext uri="{FF2B5EF4-FFF2-40B4-BE49-F238E27FC236}">
                <a16:creationId xmlns:a16="http://schemas.microsoft.com/office/drawing/2014/main" id="{4702FB7E-DC9A-BE00-8609-C3D722D283E8}"/>
              </a:ext>
            </a:extLst>
          </p:cNvPr>
          <p:cNvSpPr txBox="1">
            <a:spLocks noChangeArrowheads="1"/>
          </p:cNvSpPr>
          <p:nvPr/>
        </p:nvSpPr>
        <p:spPr bwMode="auto">
          <a:xfrm>
            <a:off x="577850" y="679450"/>
            <a:ext cx="4418013"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Summary</a:t>
            </a:r>
          </a:p>
        </p:txBody>
      </p:sp>
      <p:sp>
        <p:nvSpPr>
          <p:cNvPr id="303108" name="Text Box 2052">
            <a:extLst>
              <a:ext uri="{FF2B5EF4-FFF2-40B4-BE49-F238E27FC236}">
                <a16:creationId xmlns:a16="http://schemas.microsoft.com/office/drawing/2014/main" id="{8C20BA91-4360-E37E-E995-E8F9ABE84355}"/>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5220" name="Text Box 4">
            <a:extLst>
              <a:ext uri="{FF2B5EF4-FFF2-40B4-BE49-F238E27FC236}">
                <a16:creationId xmlns:a16="http://schemas.microsoft.com/office/drawing/2014/main" id="{E1B6715B-5A86-5D8B-F254-CD1B2FBAB13E}"/>
              </a:ext>
            </a:extLst>
          </p:cNvPr>
          <p:cNvSpPr txBox="1">
            <a:spLocks noChangeArrowheads="1"/>
          </p:cNvSpPr>
          <p:nvPr/>
        </p:nvSpPr>
        <p:spPr bwMode="auto">
          <a:xfrm>
            <a:off x="1500188" y="2643188"/>
            <a:ext cx="7023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0"/>
              <a:t>Supplemental Materials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4" name="Text Box 1028">
            <a:extLst>
              <a:ext uri="{FF2B5EF4-FFF2-40B4-BE49-F238E27FC236}">
                <a16:creationId xmlns:a16="http://schemas.microsoft.com/office/drawing/2014/main" id="{0AD29231-5D88-1CFC-1203-117FBE016F5A}"/>
              </a:ext>
            </a:extLst>
          </p:cNvPr>
          <p:cNvSpPr txBox="1">
            <a:spLocks noChangeArrowheads="1"/>
          </p:cNvSpPr>
          <p:nvPr/>
        </p:nvSpPr>
        <p:spPr bwMode="auto">
          <a:xfrm>
            <a:off x="574675" y="758825"/>
            <a:ext cx="7978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2800" b="0"/>
              <a:t>Don’t Fire Until You See the Whites of Their Eyes</a:t>
            </a:r>
            <a:endParaRPr lang="en-US" altLang="en-US" sz="2800" b="0" i="1" baseline="50000"/>
          </a:p>
        </p:txBody>
      </p:sp>
      <p:graphicFrame>
        <p:nvGraphicFramePr>
          <p:cNvPr id="307206" name="Object 1030">
            <a:extLst>
              <a:ext uri="{FF2B5EF4-FFF2-40B4-BE49-F238E27FC236}">
                <a16:creationId xmlns:a16="http://schemas.microsoft.com/office/drawing/2014/main" id="{CA37BBBA-9A0E-A173-EAEE-B476EC00D777}"/>
              </a:ext>
            </a:extLst>
          </p:cNvPr>
          <p:cNvGraphicFramePr>
            <a:graphicFrameLocks noChangeAspect="1"/>
          </p:cNvGraphicFramePr>
          <p:nvPr/>
        </p:nvGraphicFramePr>
        <p:xfrm>
          <a:off x="622300" y="1782763"/>
          <a:ext cx="8783638" cy="5387975"/>
        </p:xfrm>
        <a:graphic>
          <a:graphicData uri="http://schemas.openxmlformats.org/presentationml/2006/ole">
            <mc:AlternateContent xmlns:mc="http://schemas.openxmlformats.org/markup-compatibility/2006">
              <mc:Choice xmlns:v="urn:schemas-microsoft-com:vml" Requires="v">
                <p:oleObj name="Worksheet" r:id="rId2" imgW="9105900" imgH="6553200" progId="Excel.Sheet.8">
                  <p:link updateAutomatic="1"/>
                </p:oleObj>
              </mc:Choice>
              <mc:Fallback>
                <p:oleObj name="Worksheet" r:id="rId2" imgW="9105900" imgH="6553200" progId="Excel.Sheet.8">
                  <p:link updateAutomatic="1"/>
                  <p:pic>
                    <p:nvPicPr>
                      <p:cNvPr id="0" name="Object 1030"/>
                      <p:cNvPicPr>
                        <a:picLocks noChangeAspect="1" noChangeArrowheads="1"/>
                      </p:cNvPicPr>
                      <p:nvPr/>
                    </p:nvPicPr>
                    <p:blipFill>
                      <a:blip r:embed="rId3">
                        <a:extLst>
                          <a:ext uri="{28A0092B-C50C-407E-A947-70E740481C1C}">
                            <a14:useLocalDpi xmlns:a14="http://schemas.microsoft.com/office/drawing/2010/main" val="0"/>
                          </a:ext>
                        </a:extLst>
                      </a:blip>
                      <a:srcRect l="2202" t="11377" r="1253" b="6287"/>
                      <a:stretch>
                        <a:fillRect/>
                      </a:stretch>
                    </p:blipFill>
                    <p:spPr bwMode="auto">
                      <a:xfrm>
                        <a:off x="622300" y="1782763"/>
                        <a:ext cx="8783638" cy="538797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207" name="Text Box 1031">
            <a:extLst>
              <a:ext uri="{FF2B5EF4-FFF2-40B4-BE49-F238E27FC236}">
                <a16:creationId xmlns:a16="http://schemas.microsoft.com/office/drawing/2014/main" id="{33DB3E46-B878-759A-1701-868B18531007}"/>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Text Box 2">
            <a:extLst>
              <a:ext uri="{FF2B5EF4-FFF2-40B4-BE49-F238E27FC236}">
                <a16:creationId xmlns:a16="http://schemas.microsoft.com/office/drawing/2014/main" id="{80DF5AF5-DD4D-FA1F-276D-600EF9184BDE}"/>
              </a:ext>
            </a:extLst>
          </p:cNvPr>
          <p:cNvSpPr txBox="1">
            <a:spLocks noChangeArrowheads="1"/>
          </p:cNvSpPr>
          <p:nvPr/>
        </p:nvSpPr>
        <p:spPr bwMode="auto">
          <a:xfrm>
            <a:off x="7715250" y="7038975"/>
            <a:ext cx="181768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000" b="0">
                <a:latin typeface="Times New Roman" panose="02020603050405020304" pitchFamily="18" charset="0"/>
              </a:rPr>
              <a:t>Source:  Political Risk Services.</a:t>
            </a:r>
          </a:p>
        </p:txBody>
      </p:sp>
      <p:sp>
        <p:nvSpPr>
          <p:cNvPr id="304131" name="Text Box 3">
            <a:extLst>
              <a:ext uri="{FF2B5EF4-FFF2-40B4-BE49-F238E27FC236}">
                <a16:creationId xmlns:a16="http://schemas.microsoft.com/office/drawing/2014/main" id="{78EB1DD2-607A-0D14-91E7-8EA93D9D18E3}"/>
              </a:ext>
            </a:extLst>
          </p:cNvPr>
          <p:cNvSpPr txBox="1">
            <a:spLocks noChangeArrowheads="1"/>
          </p:cNvSpPr>
          <p:nvPr/>
        </p:nvSpPr>
        <p:spPr bwMode="auto">
          <a:xfrm>
            <a:off x="576263" y="685800"/>
            <a:ext cx="9172575"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Economic Risk Regresses Quickly, But Not Fully, Valuations Follow</a:t>
            </a:r>
          </a:p>
        </p:txBody>
      </p:sp>
      <p:graphicFrame>
        <p:nvGraphicFramePr>
          <p:cNvPr id="304132" name="Object 4">
            <a:extLst>
              <a:ext uri="{FF2B5EF4-FFF2-40B4-BE49-F238E27FC236}">
                <a16:creationId xmlns:a16="http://schemas.microsoft.com/office/drawing/2014/main" id="{CDFEC4CD-5E52-5F18-6D77-D613D407A558}"/>
              </a:ext>
            </a:extLst>
          </p:cNvPr>
          <p:cNvGraphicFramePr>
            <a:graphicFrameLocks noChangeAspect="1"/>
          </p:cNvGraphicFramePr>
          <p:nvPr/>
        </p:nvGraphicFramePr>
        <p:xfrm>
          <a:off x="690563" y="1838325"/>
          <a:ext cx="8685212" cy="5200650"/>
        </p:xfrm>
        <a:graphic>
          <a:graphicData uri="http://schemas.openxmlformats.org/presentationml/2006/ole">
            <mc:AlternateContent xmlns:mc="http://schemas.openxmlformats.org/markup-compatibility/2006">
              <mc:Choice xmlns:v="urn:schemas-microsoft-com:vml" Requires="v">
                <p:oleObj name="Worksheet" r:id="rId2" imgW="10820400" imgH="6159500" progId="Excel.Sheet.8">
                  <p:link updateAutomatic="1"/>
                </p:oleObj>
              </mc:Choice>
              <mc:Fallback>
                <p:oleObj name="Worksheet" r:id="rId2" imgW="10820400" imgH="6159500" progId="Excel.Sheet.8">
                  <p:link updateAutomatic="1"/>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l="5116"/>
                      <a:stretch>
                        <a:fillRect/>
                      </a:stretch>
                    </p:blipFill>
                    <p:spPr bwMode="auto">
                      <a:xfrm>
                        <a:off x="690563" y="1838325"/>
                        <a:ext cx="8685212" cy="5200650"/>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4133" name="Text Box 5">
            <a:extLst>
              <a:ext uri="{FF2B5EF4-FFF2-40B4-BE49-F238E27FC236}">
                <a16:creationId xmlns:a16="http://schemas.microsoft.com/office/drawing/2014/main" id="{9854131A-CA6D-8669-A11B-91180900EEE5}"/>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Text Box 2">
            <a:extLst>
              <a:ext uri="{FF2B5EF4-FFF2-40B4-BE49-F238E27FC236}">
                <a16:creationId xmlns:a16="http://schemas.microsoft.com/office/drawing/2014/main" id="{47F78FCB-F8D9-E7B2-5350-8F2935BAE5C4}"/>
              </a:ext>
            </a:extLst>
          </p:cNvPr>
          <p:cNvSpPr txBox="1">
            <a:spLocks noChangeArrowheads="1"/>
          </p:cNvSpPr>
          <p:nvPr/>
        </p:nvSpPr>
        <p:spPr bwMode="auto">
          <a:xfrm>
            <a:off x="576263" y="685800"/>
            <a:ext cx="9240837"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Growth Regresses to Trend Quickly and Fully</a:t>
            </a:r>
          </a:p>
        </p:txBody>
      </p:sp>
      <p:sp>
        <p:nvSpPr>
          <p:cNvPr id="319492" name="Text Box 4">
            <a:extLst>
              <a:ext uri="{FF2B5EF4-FFF2-40B4-BE49-F238E27FC236}">
                <a16:creationId xmlns:a16="http://schemas.microsoft.com/office/drawing/2014/main" id="{BA76ADFB-9F24-3AF1-E889-5CF95BFA164C}"/>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graphicFrame>
        <p:nvGraphicFramePr>
          <p:cNvPr id="319493" name="Object 5">
            <a:extLst>
              <a:ext uri="{FF2B5EF4-FFF2-40B4-BE49-F238E27FC236}">
                <a16:creationId xmlns:a16="http://schemas.microsoft.com/office/drawing/2014/main" id="{168E673E-C951-DFD8-8ABD-89B66345A1A4}"/>
              </a:ext>
            </a:extLst>
          </p:cNvPr>
          <p:cNvGraphicFramePr>
            <a:graphicFrameLocks noChangeAspect="1"/>
          </p:cNvGraphicFramePr>
          <p:nvPr/>
        </p:nvGraphicFramePr>
        <p:xfrm>
          <a:off x="152400" y="1976438"/>
          <a:ext cx="9723438" cy="4930775"/>
        </p:xfrm>
        <a:graphic>
          <a:graphicData uri="http://schemas.openxmlformats.org/presentationml/2006/ole">
            <mc:AlternateContent xmlns:mc="http://schemas.openxmlformats.org/markup-compatibility/2006">
              <mc:Choice xmlns:v="urn:schemas-microsoft-com:vml" Requires="v">
                <p:oleObj name="Worksheet" r:id="rId2" imgW="9728200" imgH="4940300" progId="Excel.Sheet.8">
                  <p:link updateAutomatic="1"/>
                </p:oleObj>
              </mc:Choice>
              <mc:Fallback>
                <p:oleObj name="Worksheet" r:id="rId2" imgW="9728200" imgH="4940300" progId="Excel.Sheet.8">
                  <p:link updateAutomatic="1"/>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976438"/>
                        <a:ext cx="9723438" cy="493077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Text Box 2">
            <a:extLst>
              <a:ext uri="{FF2B5EF4-FFF2-40B4-BE49-F238E27FC236}">
                <a16:creationId xmlns:a16="http://schemas.microsoft.com/office/drawing/2014/main" id="{F11D19CF-6AF1-C707-30FE-C17C57D3DB0B}"/>
              </a:ext>
            </a:extLst>
          </p:cNvPr>
          <p:cNvSpPr txBox="1">
            <a:spLocks noChangeArrowheads="1"/>
          </p:cNvSpPr>
          <p:nvPr/>
        </p:nvSpPr>
        <p:spPr bwMode="auto">
          <a:xfrm>
            <a:off x="619125" y="2093913"/>
            <a:ext cx="2306638" cy="319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sz="2400">
                <a:solidFill>
                  <a:schemeClr val="tx1"/>
                </a:solidFill>
                <a:latin typeface="Times New Roman" panose="02020603050405020304" pitchFamily="18" charset="0"/>
              </a:defRPr>
            </a:lvl1pPr>
            <a:lvl2pPr marL="288925" indent="-174625" algn="l">
              <a:defRPr sz="2400">
                <a:solidFill>
                  <a:schemeClr val="tx1"/>
                </a:solidFill>
                <a:latin typeface="Times New Roman" panose="02020603050405020304" pitchFamily="18" charset="0"/>
              </a:defRPr>
            </a:lvl2pPr>
            <a:lvl3pPr algn="l">
              <a:defRPr sz="2400">
                <a:solidFill>
                  <a:schemeClr val="tx1"/>
                </a:solidFill>
                <a:latin typeface="Times New Roman" panose="02020603050405020304" pitchFamily="18" charset="0"/>
              </a:defRPr>
            </a:lvl3pPr>
            <a:lvl4pPr algn="l">
              <a:defRPr sz="2400">
                <a:solidFill>
                  <a:schemeClr val="tx1"/>
                </a:solidFill>
                <a:latin typeface="Times New Roman" panose="02020603050405020304" pitchFamily="18" charset="0"/>
              </a:defRPr>
            </a:lvl4pPr>
            <a:lvl5pPr algn="l">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b="0"/>
              <a:t>Get to the heart of a dividend discount model without all the dangers of a dividend discount model. </a:t>
            </a:r>
          </a:p>
          <a:p>
            <a:endParaRPr lang="en-US" altLang="en-US" sz="1200" b="0"/>
          </a:p>
          <a:p>
            <a:endParaRPr lang="en-US" altLang="en-US" sz="1200" b="0"/>
          </a:p>
          <a:p>
            <a:pPr lvl="1">
              <a:buFont typeface="Wingdings" pitchFamily="2" charset="2"/>
              <a:buChar char="ü"/>
            </a:pPr>
            <a:r>
              <a:rPr lang="en-US" altLang="en-US" sz="1200" b="0"/>
              <a:t>Start with historical P/E ratio.</a:t>
            </a:r>
          </a:p>
          <a:p>
            <a:pPr lvl="1">
              <a:buFont typeface="Wingdings" pitchFamily="2" charset="2"/>
              <a:buChar char="ü"/>
            </a:pPr>
            <a:endParaRPr lang="en-US" altLang="en-US" sz="1200" b="0"/>
          </a:p>
          <a:p>
            <a:pPr lvl="1">
              <a:buFont typeface="Wingdings" pitchFamily="2" charset="2"/>
              <a:buChar char="ü"/>
            </a:pPr>
            <a:endParaRPr lang="en-US" altLang="en-US" sz="1200" b="0"/>
          </a:p>
          <a:p>
            <a:pPr lvl="1">
              <a:buFont typeface="Wingdings" pitchFamily="2" charset="2"/>
              <a:buChar char="ü"/>
            </a:pPr>
            <a:r>
              <a:rPr lang="en-US" altLang="en-US" sz="1200" b="0"/>
              <a:t>Grow earnings by predicted annual GDP Growth (over three years).</a:t>
            </a:r>
          </a:p>
          <a:p>
            <a:pPr lvl="1">
              <a:buFont typeface="Wingdings" pitchFamily="2" charset="2"/>
              <a:buChar char="ü"/>
            </a:pPr>
            <a:endParaRPr lang="en-US" altLang="en-US" sz="1200" b="0"/>
          </a:p>
          <a:p>
            <a:pPr lvl="1">
              <a:buFont typeface="Wingdings" pitchFamily="2" charset="2"/>
              <a:buChar char="ü"/>
            </a:pPr>
            <a:endParaRPr lang="en-US" altLang="en-US" sz="1200" b="0"/>
          </a:p>
          <a:p>
            <a:pPr lvl="1">
              <a:buFont typeface="Wingdings" pitchFamily="2" charset="2"/>
              <a:buChar char="ü"/>
            </a:pPr>
            <a:r>
              <a:rPr lang="en-US" altLang="en-US" sz="1200" b="0"/>
              <a:t>Adjust for country economic risk (from Political Risk Services).</a:t>
            </a:r>
          </a:p>
        </p:txBody>
      </p:sp>
      <p:sp>
        <p:nvSpPr>
          <p:cNvPr id="320515" name="Text Box 3">
            <a:extLst>
              <a:ext uri="{FF2B5EF4-FFF2-40B4-BE49-F238E27FC236}">
                <a16:creationId xmlns:a16="http://schemas.microsoft.com/office/drawing/2014/main" id="{23523836-704C-F4F9-922A-3C1F9CF8B8C4}"/>
              </a:ext>
            </a:extLst>
          </p:cNvPr>
          <p:cNvSpPr txBox="1">
            <a:spLocks noChangeArrowheads="1"/>
          </p:cNvSpPr>
          <p:nvPr/>
        </p:nvSpPr>
        <p:spPr bwMode="auto">
          <a:xfrm>
            <a:off x="576263" y="685800"/>
            <a:ext cx="9285287"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Adjusted Price/Earnings</a:t>
            </a:r>
          </a:p>
        </p:txBody>
      </p:sp>
      <p:grpSp>
        <p:nvGrpSpPr>
          <p:cNvPr id="320516" name="Group 4">
            <a:extLst>
              <a:ext uri="{FF2B5EF4-FFF2-40B4-BE49-F238E27FC236}">
                <a16:creationId xmlns:a16="http://schemas.microsoft.com/office/drawing/2014/main" id="{ADCF3EC1-6E96-DEAD-0990-5B1903499E1E}"/>
              </a:ext>
            </a:extLst>
          </p:cNvPr>
          <p:cNvGrpSpPr>
            <a:grpSpLocks/>
          </p:cNvGrpSpPr>
          <p:nvPr/>
        </p:nvGrpSpPr>
        <p:grpSpPr bwMode="auto">
          <a:xfrm>
            <a:off x="533400" y="6016625"/>
            <a:ext cx="1612900" cy="1092200"/>
            <a:chOff x="336" y="3790"/>
            <a:chExt cx="1016" cy="688"/>
          </a:xfrm>
        </p:grpSpPr>
        <p:sp>
          <p:nvSpPr>
            <p:cNvPr id="320517" name="Oval 5">
              <a:extLst>
                <a:ext uri="{FF2B5EF4-FFF2-40B4-BE49-F238E27FC236}">
                  <a16:creationId xmlns:a16="http://schemas.microsoft.com/office/drawing/2014/main" id="{E7152FD2-48AF-7928-72D3-E387062F82AC}"/>
                </a:ext>
              </a:extLst>
            </p:cNvPr>
            <p:cNvSpPr>
              <a:spLocks noChangeArrowheads="1"/>
            </p:cNvSpPr>
            <p:nvPr/>
          </p:nvSpPr>
          <p:spPr bwMode="auto">
            <a:xfrm>
              <a:off x="337" y="3790"/>
              <a:ext cx="321" cy="321"/>
            </a:xfrm>
            <a:prstGeom prst="ellipse">
              <a:avLst/>
            </a:prstGeom>
            <a:solidFill>
              <a:srgbClr val="002B7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0518" name="Oval 6">
              <a:extLst>
                <a:ext uri="{FF2B5EF4-FFF2-40B4-BE49-F238E27FC236}">
                  <a16:creationId xmlns:a16="http://schemas.microsoft.com/office/drawing/2014/main" id="{21F993FC-F27C-AA3F-1697-AE39EEDC6800}"/>
                </a:ext>
              </a:extLst>
            </p:cNvPr>
            <p:cNvSpPr>
              <a:spLocks noChangeArrowheads="1"/>
            </p:cNvSpPr>
            <p:nvPr/>
          </p:nvSpPr>
          <p:spPr bwMode="auto">
            <a:xfrm>
              <a:off x="336" y="4157"/>
              <a:ext cx="321" cy="321"/>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0519" name="Rectangle 7">
              <a:extLst>
                <a:ext uri="{FF2B5EF4-FFF2-40B4-BE49-F238E27FC236}">
                  <a16:creationId xmlns:a16="http://schemas.microsoft.com/office/drawing/2014/main" id="{0E1654D6-D8D5-8DBA-968F-3C167C02709B}"/>
                </a:ext>
              </a:extLst>
            </p:cNvPr>
            <p:cNvSpPr>
              <a:spLocks noChangeArrowheads="1"/>
            </p:cNvSpPr>
            <p:nvPr/>
          </p:nvSpPr>
          <p:spPr bwMode="auto">
            <a:xfrm>
              <a:off x="792" y="3900"/>
              <a:ext cx="222"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0520" name="Rectangle 8">
              <a:extLst>
                <a:ext uri="{FF2B5EF4-FFF2-40B4-BE49-F238E27FC236}">
                  <a16:creationId xmlns:a16="http://schemas.microsoft.com/office/drawing/2014/main" id="{BE6F5396-A9D2-E1D2-EB90-050EED7297D1}"/>
                </a:ext>
              </a:extLst>
            </p:cNvPr>
            <p:cNvSpPr>
              <a:spLocks noChangeArrowheads="1"/>
            </p:cNvSpPr>
            <p:nvPr/>
          </p:nvSpPr>
          <p:spPr bwMode="auto">
            <a:xfrm>
              <a:off x="792" y="4266"/>
              <a:ext cx="221"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0521" name="Rectangle 9">
              <a:extLst>
                <a:ext uri="{FF2B5EF4-FFF2-40B4-BE49-F238E27FC236}">
                  <a16:creationId xmlns:a16="http://schemas.microsoft.com/office/drawing/2014/main" id="{1BDA1237-55D4-D686-9EDB-0CA1A428B307}"/>
                </a:ext>
              </a:extLst>
            </p:cNvPr>
            <p:cNvSpPr>
              <a:spLocks noChangeArrowheads="1"/>
            </p:cNvSpPr>
            <p:nvPr/>
          </p:nvSpPr>
          <p:spPr bwMode="auto">
            <a:xfrm>
              <a:off x="1131" y="4037"/>
              <a:ext cx="221" cy="193"/>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0522" name="Line 10">
              <a:extLst>
                <a:ext uri="{FF2B5EF4-FFF2-40B4-BE49-F238E27FC236}">
                  <a16:creationId xmlns:a16="http://schemas.microsoft.com/office/drawing/2014/main" id="{F5416ACE-917B-F0D4-6CC1-B817F81BA385}"/>
                </a:ext>
              </a:extLst>
            </p:cNvPr>
            <p:cNvSpPr>
              <a:spLocks noChangeShapeType="1"/>
            </p:cNvSpPr>
            <p:nvPr/>
          </p:nvSpPr>
          <p:spPr bwMode="auto">
            <a:xfrm>
              <a:off x="659" y="3951"/>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0523" name="Line 11">
              <a:extLst>
                <a:ext uri="{FF2B5EF4-FFF2-40B4-BE49-F238E27FC236}">
                  <a16:creationId xmlns:a16="http://schemas.microsoft.com/office/drawing/2014/main" id="{A7E86422-1E75-A6AE-A09D-736859C00A72}"/>
                </a:ext>
              </a:extLst>
            </p:cNvPr>
            <p:cNvSpPr>
              <a:spLocks noChangeShapeType="1"/>
            </p:cNvSpPr>
            <p:nvPr/>
          </p:nvSpPr>
          <p:spPr bwMode="auto">
            <a:xfrm>
              <a:off x="659" y="4317"/>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0524" name="Line 12">
              <a:extLst>
                <a:ext uri="{FF2B5EF4-FFF2-40B4-BE49-F238E27FC236}">
                  <a16:creationId xmlns:a16="http://schemas.microsoft.com/office/drawing/2014/main" id="{95A20536-5C3C-1DCF-0408-50A27138730C}"/>
                </a:ext>
              </a:extLst>
            </p:cNvPr>
            <p:cNvSpPr>
              <a:spLocks noChangeShapeType="1"/>
            </p:cNvSpPr>
            <p:nvPr/>
          </p:nvSpPr>
          <p:spPr bwMode="auto">
            <a:xfrm>
              <a:off x="903" y="3998"/>
              <a:ext cx="0" cy="12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0525" name="Line 13">
              <a:extLst>
                <a:ext uri="{FF2B5EF4-FFF2-40B4-BE49-F238E27FC236}">
                  <a16:creationId xmlns:a16="http://schemas.microsoft.com/office/drawing/2014/main" id="{C223639E-4ECD-F4BD-E8AD-893711F677EC}"/>
                </a:ext>
              </a:extLst>
            </p:cNvPr>
            <p:cNvSpPr>
              <a:spLocks noChangeShapeType="1"/>
            </p:cNvSpPr>
            <p:nvPr/>
          </p:nvSpPr>
          <p:spPr bwMode="auto">
            <a:xfrm flipV="1">
              <a:off x="903" y="4142"/>
              <a:ext cx="0" cy="121"/>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0526" name="Line 14">
              <a:extLst>
                <a:ext uri="{FF2B5EF4-FFF2-40B4-BE49-F238E27FC236}">
                  <a16:creationId xmlns:a16="http://schemas.microsoft.com/office/drawing/2014/main" id="{83437141-8BFC-EDD3-16C6-F1A36E4CE199}"/>
                </a:ext>
              </a:extLst>
            </p:cNvPr>
            <p:cNvSpPr>
              <a:spLocks noChangeShapeType="1"/>
            </p:cNvSpPr>
            <p:nvPr/>
          </p:nvSpPr>
          <p:spPr bwMode="auto">
            <a:xfrm>
              <a:off x="915" y="4136"/>
              <a:ext cx="2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20527" name="Text Box 15">
            <a:extLst>
              <a:ext uri="{FF2B5EF4-FFF2-40B4-BE49-F238E27FC236}">
                <a16:creationId xmlns:a16="http://schemas.microsoft.com/office/drawing/2014/main" id="{64851024-4A81-3C95-FCA6-21BFF0673DCC}"/>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graphicFrame>
        <p:nvGraphicFramePr>
          <p:cNvPr id="320528" name="Object 16">
            <a:extLst>
              <a:ext uri="{FF2B5EF4-FFF2-40B4-BE49-F238E27FC236}">
                <a16:creationId xmlns:a16="http://schemas.microsoft.com/office/drawing/2014/main" id="{3CC40F93-A9D8-3303-4E02-BC9FECC8440D}"/>
              </a:ext>
            </a:extLst>
          </p:cNvPr>
          <p:cNvGraphicFramePr>
            <a:graphicFrameLocks noChangeAspect="1"/>
          </p:cNvGraphicFramePr>
          <p:nvPr/>
        </p:nvGraphicFramePr>
        <p:xfrm>
          <a:off x="3756025" y="2657475"/>
          <a:ext cx="4838700" cy="2066925"/>
        </p:xfrm>
        <a:graphic>
          <a:graphicData uri="http://schemas.openxmlformats.org/presentationml/2006/ole">
            <mc:AlternateContent xmlns:mc="http://schemas.openxmlformats.org/markup-compatibility/2006">
              <mc:Choice xmlns:v="urn:schemas-microsoft-com:vml" Requires="v">
                <p:oleObj name="Worksheet" r:id="rId2" imgW="5727700" imgH="2451100" progId="Excel.Sheet.8">
                  <p:link updateAutomatic="1"/>
                </p:oleObj>
              </mc:Choice>
              <mc:Fallback>
                <p:oleObj name="Worksheet" r:id="rId2" imgW="5727700" imgH="2451100" progId="Excel.Sheet.8">
                  <p:link updateAutomatic="1"/>
                  <p:pic>
                    <p:nvPicPr>
                      <p:cNvPr id="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6025" y="2657475"/>
                        <a:ext cx="4838700" cy="206692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Text Box 2">
            <a:extLst>
              <a:ext uri="{FF2B5EF4-FFF2-40B4-BE49-F238E27FC236}">
                <a16:creationId xmlns:a16="http://schemas.microsoft.com/office/drawing/2014/main" id="{FDC07684-30B2-9E84-CDC4-5F2916C5B3B9}"/>
              </a:ext>
            </a:extLst>
          </p:cNvPr>
          <p:cNvSpPr txBox="1">
            <a:spLocks noChangeArrowheads="1"/>
          </p:cNvSpPr>
          <p:nvPr/>
        </p:nvSpPr>
        <p:spPr bwMode="auto">
          <a:xfrm>
            <a:off x="6340475" y="5248275"/>
            <a:ext cx="16827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t>Some Vital Statistics</a:t>
            </a:r>
            <a:endParaRPr lang="en-US" altLang="en-US" sz="1200" b="0"/>
          </a:p>
        </p:txBody>
      </p:sp>
      <p:sp>
        <p:nvSpPr>
          <p:cNvPr id="321539" name="Rectangle 3">
            <a:extLst>
              <a:ext uri="{FF2B5EF4-FFF2-40B4-BE49-F238E27FC236}">
                <a16:creationId xmlns:a16="http://schemas.microsoft.com/office/drawing/2014/main" id="{D3C730D8-8436-3704-6343-934A8A298ACA}"/>
              </a:ext>
            </a:extLst>
          </p:cNvPr>
          <p:cNvSpPr>
            <a:spLocks noChangeArrowheads="1"/>
          </p:cNvSpPr>
          <p:nvPr/>
        </p:nvSpPr>
        <p:spPr bwMode="auto">
          <a:xfrm>
            <a:off x="8586788" y="7213600"/>
            <a:ext cx="9461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000" b="0">
                <a:latin typeface="Times New Roman" panose="02020603050405020304" pitchFamily="18" charset="0"/>
              </a:rPr>
              <a:t>As of 12/31/99</a:t>
            </a:r>
          </a:p>
        </p:txBody>
      </p:sp>
      <p:sp>
        <p:nvSpPr>
          <p:cNvPr id="321540" name="Text Box 4">
            <a:extLst>
              <a:ext uri="{FF2B5EF4-FFF2-40B4-BE49-F238E27FC236}">
                <a16:creationId xmlns:a16="http://schemas.microsoft.com/office/drawing/2014/main" id="{E97C477F-F3CD-52C9-801B-7F4F0B834131}"/>
              </a:ext>
            </a:extLst>
          </p:cNvPr>
          <p:cNvSpPr txBox="1">
            <a:spLocks noChangeArrowheads="1"/>
          </p:cNvSpPr>
          <p:nvPr/>
        </p:nvSpPr>
        <p:spPr bwMode="auto">
          <a:xfrm>
            <a:off x="561975" y="671513"/>
            <a:ext cx="9212263"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Simulation of Adjusted P/E Model</a:t>
            </a:r>
          </a:p>
        </p:txBody>
      </p:sp>
      <p:graphicFrame>
        <p:nvGraphicFramePr>
          <p:cNvPr id="321541" name="Object 5">
            <a:extLst>
              <a:ext uri="{FF2B5EF4-FFF2-40B4-BE49-F238E27FC236}">
                <a16:creationId xmlns:a16="http://schemas.microsoft.com/office/drawing/2014/main" id="{234CF951-189D-B680-691F-7547224E0318}"/>
              </a:ext>
            </a:extLst>
          </p:cNvPr>
          <p:cNvGraphicFramePr>
            <a:graphicFrameLocks noChangeAspect="1"/>
          </p:cNvGraphicFramePr>
          <p:nvPr/>
        </p:nvGraphicFramePr>
        <p:xfrm>
          <a:off x="6262688" y="5521325"/>
          <a:ext cx="1838325" cy="1628775"/>
        </p:xfrm>
        <a:graphic>
          <a:graphicData uri="http://schemas.openxmlformats.org/presentationml/2006/ole">
            <mc:AlternateContent xmlns:mc="http://schemas.openxmlformats.org/markup-compatibility/2006">
              <mc:Choice xmlns:v="urn:schemas-microsoft-com:vml" Requires="v">
                <p:oleObj name="Worksheet" r:id="rId2" imgW="2184400" imgH="1930400" progId="Excel.Sheet.8">
                  <p:link updateAutomatic="1"/>
                </p:oleObj>
              </mc:Choice>
              <mc:Fallback>
                <p:oleObj name="Worksheet" r:id="rId2" imgW="2184400" imgH="1930400" progId="Excel.Sheet.8">
                  <p:link updateAutomatic="1"/>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2688" y="5521325"/>
                        <a:ext cx="1838325" cy="162877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21542" name="Group 6">
            <a:extLst>
              <a:ext uri="{FF2B5EF4-FFF2-40B4-BE49-F238E27FC236}">
                <a16:creationId xmlns:a16="http://schemas.microsoft.com/office/drawing/2014/main" id="{69E0EEC8-2F28-6E11-9E09-211F53C8F377}"/>
              </a:ext>
            </a:extLst>
          </p:cNvPr>
          <p:cNvGrpSpPr>
            <a:grpSpLocks/>
          </p:cNvGrpSpPr>
          <p:nvPr/>
        </p:nvGrpSpPr>
        <p:grpSpPr bwMode="auto">
          <a:xfrm>
            <a:off x="533400" y="6016625"/>
            <a:ext cx="1612900" cy="1092200"/>
            <a:chOff x="336" y="3790"/>
            <a:chExt cx="1016" cy="688"/>
          </a:xfrm>
        </p:grpSpPr>
        <p:sp>
          <p:nvSpPr>
            <p:cNvPr id="321543" name="Oval 7">
              <a:extLst>
                <a:ext uri="{FF2B5EF4-FFF2-40B4-BE49-F238E27FC236}">
                  <a16:creationId xmlns:a16="http://schemas.microsoft.com/office/drawing/2014/main" id="{65869CF0-B417-7441-E356-FBF3DD4F2D66}"/>
                </a:ext>
              </a:extLst>
            </p:cNvPr>
            <p:cNvSpPr>
              <a:spLocks noChangeArrowheads="1"/>
            </p:cNvSpPr>
            <p:nvPr/>
          </p:nvSpPr>
          <p:spPr bwMode="auto">
            <a:xfrm>
              <a:off x="337" y="3790"/>
              <a:ext cx="321" cy="321"/>
            </a:xfrm>
            <a:prstGeom prst="ellipse">
              <a:avLst/>
            </a:prstGeom>
            <a:solidFill>
              <a:srgbClr val="002B7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1544" name="Oval 8">
              <a:extLst>
                <a:ext uri="{FF2B5EF4-FFF2-40B4-BE49-F238E27FC236}">
                  <a16:creationId xmlns:a16="http://schemas.microsoft.com/office/drawing/2014/main" id="{4A02D805-A26E-9769-975C-396655D0C08E}"/>
                </a:ext>
              </a:extLst>
            </p:cNvPr>
            <p:cNvSpPr>
              <a:spLocks noChangeArrowheads="1"/>
            </p:cNvSpPr>
            <p:nvPr/>
          </p:nvSpPr>
          <p:spPr bwMode="auto">
            <a:xfrm>
              <a:off x="336" y="4157"/>
              <a:ext cx="321" cy="321"/>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1545" name="Rectangle 9">
              <a:extLst>
                <a:ext uri="{FF2B5EF4-FFF2-40B4-BE49-F238E27FC236}">
                  <a16:creationId xmlns:a16="http://schemas.microsoft.com/office/drawing/2014/main" id="{BA7211BC-21FD-980D-F044-E7A11228DAE5}"/>
                </a:ext>
              </a:extLst>
            </p:cNvPr>
            <p:cNvSpPr>
              <a:spLocks noChangeArrowheads="1"/>
            </p:cNvSpPr>
            <p:nvPr/>
          </p:nvSpPr>
          <p:spPr bwMode="auto">
            <a:xfrm>
              <a:off x="792" y="3900"/>
              <a:ext cx="222"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1546" name="Rectangle 10">
              <a:extLst>
                <a:ext uri="{FF2B5EF4-FFF2-40B4-BE49-F238E27FC236}">
                  <a16:creationId xmlns:a16="http://schemas.microsoft.com/office/drawing/2014/main" id="{8F5AF481-6F41-2548-0697-53A25CB39D5B}"/>
                </a:ext>
              </a:extLst>
            </p:cNvPr>
            <p:cNvSpPr>
              <a:spLocks noChangeArrowheads="1"/>
            </p:cNvSpPr>
            <p:nvPr/>
          </p:nvSpPr>
          <p:spPr bwMode="auto">
            <a:xfrm>
              <a:off x="792" y="4266"/>
              <a:ext cx="221"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1547" name="Rectangle 11">
              <a:extLst>
                <a:ext uri="{FF2B5EF4-FFF2-40B4-BE49-F238E27FC236}">
                  <a16:creationId xmlns:a16="http://schemas.microsoft.com/office/drawing/2014/main" id="{3A48E47B-66E7-301D-DEDF-D82770C13CEC}"/>
                </a:ext>
              </a:extLst>
            </p:cNvPr>
            <p:cNvSpPr>
              <a:spLocks noChangeArrowheads="1"/>
            </p:cNvSpPr>
            <p:nvPr/>
          </p:nvSpPr>
          <p:spPr bwMode="auto">
            <a:xfrm>
              <a:off x="1131" y="4037"/>
              <a:ext cx="221" cy="193"/>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1548" name="Line 12">
              <a:extLst>
                <a:ext uri="{FF2B5EF4-FFF2-40B4-BE49-F238E27FC236}">
                  <a16:creationId xmlns:a16="http://schemas.microsoft.com/office/drawing/2014/main" id="{2D7FD2A5-837B-8078-9178-E4507C6A8233}"/>
                </a:ext>
              </a:extLst>
            </p:cNvPr>
            <p:cNvSpPr>
              <a:spLocks noChangeShapeType="1"/>
            </p:cNvSpPr>
            <p:nvPr/>
          </p:nvSpPr>
          <p:spPr bwMode="auto">
            <a:xfrm>
              <a:off x="659" y="3951"/>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1549" name="Line 13">
              <a:extLst>
                <a:ext uri="{FF2B5EF4-FFF2-40B4-BE49-F238E27FC236}">
                  <a16:creationId xmlns:a16="http://schemas.microsoft.com/office/drawing/2014/main" id="{EA07C136-46C2-52B5-6B7D-6CC5CF2E8FF9}"/>
                </a:ext>
              </a:extLst>
            </p:cNvPr>
            <p:cNvSpPr>
              <a:spLocks noChangeShapeType="1"/>
            </p:cNvSpPr>
            <p:nvPr/>
          </p:nvSpPr>
          <p:spPr bwMode="auto">
            <a:xfrm>
              <a:off x="659" y="4317"/>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1550" name="Line 14">
              <a:extLst>
                <a:ext uri="{FF2B5EF4-FFF2-40B4-BE49-F238E27FC236}">
                  <a16:creationId xmlns:a16="http://schemas.microsoft.com/office/drawing/2014/main" id="{E944C618-1B8C-A2B2-B0F1-14221444971A}"/>
                </a:ext>
              </a:extLst>
            </p:cNvPr>
            <p:cNvSpPr>
              <a:spLocks noChangeShapeType="1"/>
            </p:cNvSpPr>
            <p:nvPr/>
          </p:nvSpPr>
          <p:spPr bwMode="auto">
            <a:xfrm>
              <a:off x="903" y="3998"/>
              <a:ext cx="0" cy="12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1551" name="Line 15">
              <a:extLst>
                <a:ext uri="{FF2B5EF4-FFF2-40B4-BE49-F238E27FC236}">
                  <a16:creationId xmlns:a16="http://schemas.microsoft.com/office/drawing/2014/main" id="{519B75F1-8CD4-016E-27CE-5F1726B819D4}"/>
                </a:ext>
              </a:extLst>
            </p:cNvPr>
            <p:cNvSpPr>
              <a:spLocks noChangeShapeType="1"/>
            </p:cNvSpPr>
            <p:nvPr/>
          </p:nvSpPr>
          <p:spPr bwMode="auto">
            <a:xfrm flipV="1">
              <a:off x="903" y="4142"/>
              <a:ext cx="0" cy="121"/>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1552" name="Line 16">
              <a:extLst>
                <a:ext uri="{FF2B5EF4-FFF2-40B4-BE49-F238E27FC236}">
                  <a16:creationId xmlns:a16="http://schemas.microsoft.com/office/drawing/2014/main" id="{807275AA-80AA-24B1-C5E2-FC9AC3232C46}"/>
                </a:ext>
              </a:extLst>
            </p:cNvPr>
            <p:cNvSpPr>
              <a:spLocks noChangeShapeType="1"/>
            </p:cNvSpPr>
            <p:nvPr/>
          </p:nvSpPr>
          <p:spPr bwMode="auto">
            <a:xfrm>
              <a:off x="915" y="4136"/>
              <a:ext cx="2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21553" name="Text Box 17">
            <a:extLst>
              <a:ext uri="{FF2B5EF4-FFF2-40B4-BE49-F238E27FC236}">
                <a16:creationId xmlns:a16="http://schemas.microsoft.com/office/drawing/2014/main" id="{CDB41066-2D62-9004-CA6F-30E8D410B967}"/>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graphicFrame>
        <p:nvGraphicFramePr>
          <p:cNvPr id="321554" name="Object 18">
            <a:extLst>
              <a:ext uri="{FF2B5EF4-FFF2-40B4-BE49-F238E27FC236}">
                <a16:creationId xmlns:a16="http://schemas.microsoft.com/office/drawing/2014/main" id="{9570A25C-0176-8DC0-8130-9D345324428B}"/>
              </a:ext>
            </a:extLst>
          </p:cNvPr>
          <p:cNvGraphicFramePr>
            <a:graphicFrameLocks noChangeAspect="1"/>
          </p:cNvGraphicFramePr>
          <p:nvPr/>
        </p:nvGraphicFramePr>
        <p:xfrm>
          <a:off x="2805113" y="1638300"/>
          <a:ext cx="5638800" cy="1666875"/>
        </p:xfrm>
        <a:graphic>
          <a:graphicData uri="http://schemas.openxmlformats.org/presentationml/2006/ole">
            <mc:AlternateContent xmlns:mc="http://schemas.openxmlformats.org/markup-compatibility/2006">
              <mc:Choice xmlns:v="urn:schemas-microsoft-com:vml" Requires="v">
                <p:oleObj name="Worksheet" r:id="rId4" imgW="6781800" imgH="2552700" progId="Excel.Sheet.8">
                  <p:link updateAutomatic="1"/>
                </p:oleObj>
              </mc:Choice>
              <mc:Fallback>
                <p:oleObj name="Worksheet" r:id="rId4" imgW="6781800" imgH="2552700" progId="Excel.Sheet.8">
                  <p:link updateAutomatic="1"/>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t="15044" r="1662" b="7523"/>
                      <a:stretch>
                        <a:fillRect/>
                      </a:stretch>
                    </p:blipFill>
                    <p:spPr bwMode="auto">
                      <a:xfrm>
                        <a:off x="2805113" y="1638300"/>
                        <a:ext cx="5638800" cy="166687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1555" name="Object 19">
            <a:extLst>
              <a:ext uri="{FF2B5EF4-FFF2-40B4-BE49-F238E27FC236}">
                <a16:creationId xmlns:a16="http://schemas.microsoft.com/office/drawing/2014/main" id="{675AF49B-450C-60B7-8FC0-69B0C13351AC}"/>
              </a:ext>
            </a:extLst>
          </p:cNvPr>
          <p:cNvGraphicFramePr>
            <a:graphicFrameLocks noChangeAspect="1"/>
          </p:cNvGraphicFramePr>
          <p:nvPr/>
        </p:nvGraphicFramePr>
        <p:xfrm>
          <a:off x="2681288" y="3286125"/>
          <a:ext cx="2962275" cy="2047875"/>
        </p:xfrm>
        <a:graphic>
          <a:graphicData uri="http://schemas.openxmlformats.org/presentationml/2006/ole">
            <mc:AlternateContent xmlns:mc="http://schemas.openxmlformats.org/markup-compatibility/2006">
              <mc:Choice xmlns:v="urn:schemas-microsoft-com:vml" Requires="v">
                <p:oleObj name="Worksheet" r:id="rId6" imgW="3505200" imgH="2514600" progId="Excel.Sheet.8">
                  <p:link updateAutomatic="1"/>
                </p:oleObj>
              </mc:Choice>
              <mc:Fallback>
                <p:oleObj name="Worksheet" r:id="rId6" imgW="3505200" imgH="2514600" progId="Excel.Sheet.8">
                  <p:link updateAutomatic="1"/>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t="3152"/>
                      <a:stretch>
                        <a:fillRect/>
                      </a:stretch>
                    </p:blipFill>
                    <p:spPr bwMode="auto">
                      <a:xfrm>
                        <a:off x="2681288" y="3286125"/>
                        <a:ext cx="2962275" cy="204787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1556" name="Object 20">
            <a:extLst>
              <a:ext uri="{FF2B5EF4-FFF2-40B4-BE49-F238E27FC236}">
                <a16:creationId xmlns:a16="http://schemas.microsoft.com/office/drawing/2014/main" id="{5AF10F82-B4CB-AAEF-E76F-72BBE81F4507}"/>
              </a:ext>
            </a:extLst>
          </p:cNvPr>
          <p:cNvGraphicFramePr>
            <a:graphicFrameLocks noChangeAspect="1"/>
          </p:cNvGraphicFramePr>
          <p:nvPr/>
        </p:nvGraphicFramePr>
        <p:xfrm>
          <a:off x="5781675" y="3295650"/>
          <a:ext cx="2800350" cy="1971675"/>
        </p:xfrm>
        <a:graphic>
          <a:graphicData uri="http://schemas.openxmlformats.org/presentationml/2006/ole">
            <mc:AlternateContent xmlns:mc="http://schemas.openxmlformats.org/markup-compatibility/2006">
              <mc:Choice xmlns:v="urn:schemas-microsoft-com:vml" Requires="v">
                <p:oleObj name="Worksheet" r:id="rId8" imgW="3314700" imgH="2489200" progId="Excel.Sheet.8">
                  <p:link updateAutomatic="1"/>
                </p:oleObj>
              </mc:Choice>
              <mc:Fallback>
                <p:oleObj name="Worksheet" r:id="rId8" imgW="3314700" imgH="2489200" progId="Excel.Sheet.8">
                  <p:link updateAutomatic="1"/>
                  <p:pic>
                    <p:nvPicPr>
                      <p:cNvPr id="0" name="Object 20"/>
                      <p:cNvPicPr>
                        <a:picLocks noChangeAspect="1" noChangeArrowheads="1"/>
                      </p:cNvPicPr>
                      <p:nvPr/>
                    </p:nvPicPr>
                    <p:blipFill>
                      <a:blip r:embed="rId9">
                        <a:extLst>
                          <a:ext uri="{28A0092B-C50C-407E-A947-70E740481C1C}">
                            <a14:useLocalDpi xmlns:a14="http://schemas.microsoft.com/office/drawing/2010/main" val="0"/>
                          </a:ext>
                        </a:extLst>
                      </a:blip>
                      <a:srcRect t="3636" b="2272"/>
                      <a:stretch>
                        <a:fillRect/>
                      </a:stretch>
                    </p:blipFill>
                    <p:spPr bwMode="auto">
                      <a:xfrm>
                        <a:off x="5781675" y="3295650"/>
                        <a:ext cx="2800350" cy="197167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1557" name="Object 21">
            <a:extLst>
              <a:ext uri="{FF2B5EF4-FFF2-40B4-BE49-F238E27FC236}">
                <a16:creationId xmlns:a16="http://schemas.microsoft.com/office/drawing/2014/main" id="{DDA46816-7CD5-31CD-C27A-6C19A5A72E20}"/>
              </a:ext>
            </a:extLst>
          </p:cNvPr>
          <p:cNvGraphicFramePr>
            <a:graphicFrameLocks noChangeAspect="1"/>
          </p:cNvGraphicFramePr>
          <p:nvPr/>
        </p:nvGraphicFramePr>
        <p:xfrm>
          <a:off x="2709863" y="5257800"/>
          <a:ext cx="2867025" cy="2038350"/>
        </p:xfrm>
        <a:graphic>
          <a:graphicData uri="http://schemas.openxmlformats.org/presentationml/2006/ole">
            <mc:AlternateContent xmlns:mc="http://schemas.openxmlformats.org/markup-compatibility/2006">
              <mc:Choice xmlns:v="urn:schemas-microsoft-com:vml" Requires="v">
                <p:oleObj name="Worksheet" r:id="rId10" imgW="3403600" imgH="2578100" progId="Excel.Sheet.8">
                  <p:link updateAutomatic="1"/>
                </p:oleObj>
              </mc:Choice>
              <mc:Fallback>
                <p:oleObj name="Worksheet" r:id="rId10" imgW="3403600" imgH="2578100" progId="Excel.Sheet.8">
                  <p:link updateAutomatic="1"/>
                  <p:pic>
                    <p:nvPicPr>
                      <p:cNvPr id="0" name="Object 21"/>
                      <p:cNvPicPr>
                        <a:picLocks noChangeAspect="1" noChangeArrowheads="1"/>
                      </p:cNvPicPr>
                      <p:nvPr/>
                    </p:nvPicPr>
                    <p:blipFill>
                      <a:blip r:embed="rId11">
                        <a:extLst>
                          <a:ext uri="{28A0092B-C50C-407E-A947-70E740481C1C}">
                            <a14:useLocalDpi xmlns:a14="http://schemas.microsoft.com/office/drawing/2010/main" val="0"/>
                          </a:ext>
                        </a:extLst>
                      </a:blip>
                      <a:srcRect t="3947" b="2193"/>
                      <a:stretch>
                        <a:fillRect/>
                      </a:stretch>
                    </p:blipFill>
                    <p:spPr bwMode="auto">
                      <a:xfrm>
                        <a:off x="2709863" y="5257800"/>
                        <a:ext cx="2867025" cy="2038350"/>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a:extLst>
              <a:ext uri="{FF2B5EF4-FFF2-40B4-BE49-F238E27FC236}">
                <a16:creationId xmlns:a16="http://schemas.microsoft.com/office/drawing/2014/main" id="{46BE44E6-801F-D4AA-FF54-01EBEF0854AF}"/>
              </a:ext>
            </a:extLst>
          </p:cNvPr>
          <p:cNvSpPr>
            <a:spLocks noChangeArrowheads="1"/>
          </p:cNvSpPr>
          <p:nvPr/>
        </p:nvSpPr>
        <p:spPr bwMode="auto">
          <a:xfrm>
            <a:off x="8696325" y="7385050"/>
            <a:ext cx="7207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000" b="0">
                <a:latin typeface="Times New Roman" panose="02020603050405020304" pitchFamily="18" charset="0"/>
              </a:rPr>
              <a:t>As of 3/00</a:t>
            </a:r>
          </a:p>
        </p:txBody>
      </p:sp>
      <p:sp>
        <p:nvSpPr>
          <p:cNvPr id="322563" name="Text Box 3">
            <a:extLst>
              <a:ext uri="{FF2B5EF4-FFF2-40B4-BE49-F238E27FC236}">
                <a16:creationId xmlns:a16="http://schemas.microsoft.com/office/drawing/2014/main" id="{EA284E89-C47B-6499-236F-6F8A87149F74}"/>
              </a:ext>
            </a:extLst>
          </p:cNvPr>
          <p:cNvSpPr txBox="1">
            <a:spLocks noChangeArrowheads="1"/>
          </p:cNvSpPr>
          <p:nvPr/>
        </p:nvSpPr>
        <p:spPr bwMode="auto">
          <a:xfrm>
            <a:off x="576263" y="685800"/>
            <a:ext cx="9240837"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Price Momentum</a:t>
            </a:r>
          </a:p>
        </p:txBody>
      </p:sp>
      <p:grpSp>
        <p:nvGrpSpPr>
          <p:cNvPr id="322564" name="Group 4">
            <a:extLst>
              <a:ext uri="{FF2B5EF4-FFF2-40B4-BE49-F238E27FC236}">
                <a16:creationId xmlns:a16="http://schemas.microsoft.com/office/drawing/2014/main" id="{D23441A2-A809-A8D6-1398-B981C69335F0}"/>
              </a:ext>
            </a:extLst>
          </p:cNvPr>
          <p:cNvGrpSpPr>
            <a:grpSpLocks/>
          </p:cNvGrpSpPr>
          <p:nvPr/>
        </p:nvGrpSpPr>
        <p:grpSpPr bwMode="auto">
          <a:xfrm>
            <a:off x="533400" y="6016625"/>
            <a:ext cx="1612900" cy="1092200"/>
            <a:chOff x="336" y="3790"/>
            <a:chExt cx="1016" cy="688"/>
          </a:xfrm>
        </p:grpSpPr>
        <p:sp>
          <p:nvSpPr>
            <p:cNvPr id="322565" name="Oval 5">
              <a:extLst>
                <a:ext uri="{FF2B5EF4-FFF2-40B4-BE49-F238E27FC236}">
                  <a16:creationId xmlns:a16="http://schemas.microsoft.com/office/drawing/2014/main" id="{88DF749C-3C9F-D74B-B055-7960E1A261D2}"/>
                </a:ext>
              </a:extLst>
            </p:cNvPr>
            <p:cNvSpPr>
              <a:spLocks noChangeArrowheads="1"/>
            </p:cNvSpPr>
            <p:nvPr/>
          </p:nvSpPr>
          <p:spPr bwMode="auto">
            <a:xfrm>
              <a:off x="337" y="3790"/>
              <a:ext cx="321" cy="321"/>
            </a:xfrm>
            <a:prstGeom prst="ellipse">
              <a:avLst/>
            </a:prstGeom>
            <a:solidFill>
              <a:srgbClr val="002B7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2566" name="Oval 6">
              <a:extLst>
                <a:ext uri="{FF2B5EF4-FFF2-40B4-BE49-F238E27FC236}">
                  <a16:creationId xmlns:a16="http://schemas.microsoft.com/office/drawing/2014/main" id="{DD222303-4474-5EE6-FA38-124C1D8017DE}"/>
                </a:ext>
              </a:extLst>
            </p:cNvPr>
            <p:cNvSpPr>
              <a:spLocks noChangeArrowheads="1"/>
            </p:cNvSpPr>
            <p:nvPr/>
          </p:nvSpPr>
          <p:spPr bwMode="auto">
            <a:xfrm>
              <a:off x="336" y="4157"/>
              <a:ext cx="321" cy="321"/>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2567" name="Rectangle 7">
              <a:extLst>
                <a:ext uri="{FF2B5EF4-FFF2-40B4-BE49-F238E27FC236}">
                  <a16:creationId xmlns:a16="http://schemas.microsoft.com/office/drawing/2014/main" id="{9703026F-6E15-3129-792C-5BEBF697D3B1}"/>
                </a:ext>
              </a:extLst>
            </p:cNvPr>
            <p:cNvSpPr>
              <a:spLocks noChangeArrowheads="1"/>
            </p:cNvSpPr>
            <p:nvPr/>
          </p:nvSpPr>
          <p:spPr bwMode="auto">
            <a:xfrm>
              <a:off x="792" y="3900"/>
              <a:ext cx="222"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2568" name="Rectangle 8">
              <a:extLst>
                <a:ext uri="{FF2B5EF4-FFF2-40B4-BE49-F238E27FC236}">
                  <a16:creationId xmlns:a16="http://schemas.microsoft.com/office/drawing/2014/main" id="{FF690A2B-254D-5850-333D-D005E7537248}"/>
                </a:ext>
              </a:extLst>
            </p:cNvPr>
            <p:cNvSpPr>
              <a:spLocks noChangeArrowheads="1"/>
            </p:cNvSpPr>
            <p:nvPr/>
          </p:nvSpPr>
          <p:spPr bwMode="auto">
            <a:xfrm>
              <a:off x="792" y="4266"/>
              <a:ext cx="221" cy="1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2569" name="Rectangle 9">
              <a:extLst>
                <a:ext uri="{FF2B5EF4-FFF2-40B4-BE49-F238E27FC236}">
                  <a16:creationId xmlns:a16="http://schemas.microsoft.com/office/drawing/2014/main" id="{C73073E1-CE14-1BA6-69BA-14C1A1FA3E5B}"/>
                </a:ext>
              </a:extLst>
            </p:cNvPr>
            <p:cNvSpPr>
              <a:spLocks noChangeArrowheads="1"/>
            </p:cNvSpPr>
            <p:nvPr/>
          </p:nvSpPr>
          <p:spPr bwMode="auto">
            <a:xfrm>
              <a:off x="1131" y="4037"/>
              <a:ext cx="221" cy="193"/>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2570" name="Line 10">
              <a:extLst>
                <a:ext uri="{FF2B5EF4-FFF2-40B4-BE49-F238E27FC236}">
                  <a16:creationId xmlns:a16="http://schemas.microsoft.com/office/drawing/2014/main" id="{952B6BA8-60C3-EA16-2BFC-2DB5A7A0B9C6}"/>
                </a:ext>
              </a:extLst>
            </p:cNvPr>
            <p:cNvSpPr>
              <a:spLocks noChangeShapeType="1"/>
            </p:cNvSpPr>
            <p:nvPr/>
          </p:nvSpPr>
          <p:spPr bwMode="auto">
            <a:xfrm>
              <a:off x="659" y="3951"/>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2571" name="Line 11">
              <a:extLst>
                <a:ext uri="{FF2B5EF4-FFF2-40B4-BE49-F238E27FC236}">
                  <a16:creationId xmlns:a16="http://schemas.microsoft.com/office/drawing/2014/main" id="{0F4925FD-4CE2-1AC5-598D-2C2EF0BCA710}"/>
                </a:ext>
              </a:extLst>
            </p:cNvPr>
            <p:cNvSpPr>
              <a:spLocks noChangeShapeType="1"/>
            </p:cNvSpPr>
            <p:nvPr/>
          </p:nvSpPr>
          <p:spPr bwMode="auto">
            <a:xfrm>
              <a:off x="659" y="4317"/>
              <a:ext cx="121"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2572" name="Line 12">
              <a:extLst>
                <a:ext uri="{FF2B5EF4-FFF2-40B4-BE49-F238E27FC236}">
                  <a16:creationId xmlns:a16="http://schemas.microsoft.com/office/drawing/2014/main" id="{C61BC53A-1642-D05B-339C-73A3A2ADE36A}"/>
                </a:ext>
              </a:extLst>
            </p:cNvPr>
            <p:cNvSpPr>
              <a:spLocks noChangeShapeType="1"/>
            </p:cNvSpPr>
            <p:nvPr/>
          </p:nvSpPr>
          <p:spPr bwMode="auto">
            <a:xfrm>
              <a:off x="903" y="3998"/>
              <a:ext cx="0" cy="128"/>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2573" name="Line 13">
              <a:extLst>
                <a:ext uri="{FF2B5EF4-FFF2-40B4-BE49-F238E27FC236}">
                  <a16:creationId xmlns:a16="http://schemas.microsoft.com/office/drawing/2014/main" id="{0747D58E-0EC7-7F7A-6391-5693136A9A9B}"/>
                </a:ext>
              </a:extLst>
            </p:cNvPr>
            <p:cNvSpPr>
              <a:spLocks noChangeShapeType="1"/>
            </p:cNvSpPr>
            <p:nvPr/>
          </p:nvSpPr>
          <p:spPr bwMode="auto">
            <a:xfrm flipV="1">
              <a:off x="903" y="4142"/>
              <a:ext cx="0" cy="121"/>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2574" name="Line 14">
              <a:extLst>
                <a:ext uri="{FF2B5EF4-FFF2-40B4-BE49-F238E27FC236}">
                  <a16:creationId xmlns:a16="http://schemas.microsoft.com/office/drawing/2014/main" id="{67481B0F-B33F-5FFD-E7BE-CBDBC47EF26B}"/>
                </a:ext>
              </a:extLst>
            </p:cNvPr>
            <p:cNvSpPr>
              <a:spLocks noChangeShapeType="1"/>
            </p:cNvSpPr>
            <p:nvPr/>
          </p:nvSpPr>
          <p:spPr bwMode="auto">
            <a:xfrm>
              <a:off x="915" y="4136"/>
              <a:ext cx="210" cy="0"/>
            </a:xfrm>
            <a:prstGeom prst="line">
              <a:avLst/>
            </a:prstGeom>
            <a:noFill/>
            <a:ln w="190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22575" name="Text Box 15">
            <a:extLst>
              <a:ext uri="{FF2B5EF4-FFF2-40B4-BE49-F238E27FC236}">
                <a16:creationId xmlns:a16="http://schemas.microsoft.com/office/drawing/2014/main" id="{84DC21B7-A6BF-08A8-DD17-A4F149357D34}"/>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graphicFrame>
        <p:nvGraphicFramePr>
          <p:cNvPr id="322576" name="Object 16">
            <a:extLst>
              <a:ext uri="{FF2B5EF4-FFF2-40B4-BE49-F238E27FC236}">
                <a16:creationId xmlns:a16="http://schemas.microsoft.com/office/drawing/2014/main" id="{C70228D6-DAB8-3E14-3B31-7BA26BFC1B64}"/>
              </a:ext>
            </a:extLst>
          </p:cNvPr>
          <p:cNvGraphicFramePr>
            <a:graphicFrameLocks noChangeAspect="1"/>
          </p:cNvGraphicFramePr>
          <p:nvPr/>
        </p:nvGraphicFramePr>
        <p:xfrm>
          <a:off x="2128838" y="1471613"/>
          <a:ext cx="7115175" cy="2114550"/>
        </p:xfrm>
        <a:graphic>
          <a:graphicData uri="http://schemas.openxmlformats.org/presentationml/2006/ole">
            <mc:AlternateContent xmlns:mc="http://schemas.openxmlformats.org/markup-compatibility/2006">
              <mc:Choice xmlns:v="urn:schemas-microsoft-com:vml" Requires="v">
                <p:oleObj name="Worksheet" r:id="rId2" imgW="8420100" imgH="2514600" progId="Excel.Sheet.8">
                  <p:link updateAutomatic="1"/>
                </p:oleObj>
              </mc:Choice>
              <mc:Fallback>
                <p:oleObj name="Worksheet" r:id="rId2" imgW="8420100" imgH="2514600" progId="Excel.Sheet.8">
                  <p:link updateAutomatic="1"/>
                  <p:pic>
                    <p:nvPicPr>
                      <p:cNvPr id="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8838" y="1471613"/>
                        <a:ext cx="7115175" cy="2114550"/>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2577" name="Object 17">
            <a:extLst>
              <a:ext uri="{FF2B5EF4-FFF2-40B4-BE49-F238E27FC236}">
                <a16:creationId xmlns:a16="http://schemas.microsoft.com/office/drawing/2014/main" id="{51400EF6-D367-1220-57B1-AFBC58FE15C1}"/>
              </a:ext>
            </a:extLst>
          </p:cNvPr>
          <p:cNvGraphicFramePr>
            <a:graphicFrameLocks noChangeAspect="1"/>
          </p:cNvGraphicFramePr>
          <p:nvPr/>
        </p:nvGraphicFramePr>
        <p:xfrm>
          <a:off x="2222500" y="3402013"/>
          <a:ext cx="6934200" cy="2143125"/>
        </p:xfrm>
        <a:graphic>
          <a:graphicData uri="http://schemas.openxmlformats.org/presentationml/2006/ole">
            <mc:AlternateContent xmlns:mc="http://schemas.openxmlformats.org/markup-compatibility/2006">
              <mc:Choice xmlns:v="urn:schemas-microsoft-com:vml" Requires="v">
                <p:oleObj name="Worksheet" r:id="rId4" imgW="8204200" imgH="2540000" progId="Excel.Sheet.8">
                  <p:link updateAutomatic="1"/>
                </p:oleObj>
              </mc:Choice>
              <mc:Fallback>
                <p:oleObj name="Worksheet" r:id="rId4" imgW="8204200" imgH="2540000" progId="Excel.Sheet.8">
                  <p:link updateAutomatic="1"/>
                  <p:pic>
                    <p:nvPicPr>
                      <p:cNvPr id="0"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2500" y="3402013"/>
                        <a:ext cx="6934200" cy="214312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2578" name="Object 18">
            <a:extLst>
              <a:ext uri="{FF2B5EF4-FFF2-40B4-BE49-F238E27FC236}">
                <a16:creationId xmlns:a16="http://schemas.microsoft.com/office/drawing/2014/main" id="{94E36FE3-A605-EBF1-DB13-548DA4966D97}"/>
              </a:ext>
            </a:extLst>
          </p:cNvPr>
          <p:cNvGraphicFramePr>
            <a:graphicFrameLocks noChangeAspect="1"/>
          </p:cNvGraphicFramePr>
          <p:nvPr/>
        </p:nvGraphicFramePr>
        <p:xfrm>
          <a:off x="2222500" y="5313363"/>
          <a:ext cx="6934200" cy="2143125"/>
        </p:xfrm>
        <a:graphic>
          <a:graphicData uri="http://schemas.openxmlformats.org/presentationml/2006/ole">
            <mc:AlternateContent xmlns:mc="http://schemas.openxmlformats.org/markup-compatibility/2006">
              <mc:Choice xmlns:v="urn:schemas-microsoft-com:vml" Requires="v">
                <p:oleObj name="Worksheet" r:id="rId6" imgW="8204200" imgH="2540000" progId="Excel.Sheet.8">
                  <p:link updateAutomatic="1"/>
                </p:oleObj>
              </mc:Choice>
              <mc:Fallback>
                <p:oleObj name="Worksheet" r:id="rId6" imgW="8204200" imgH="2540000" progId="Excel.Sheet.8">
                  <p:link updateAutomatic="1"/>
                  <p:pic>
                    <p:nvPicPr>
                      <p:cNvPr id="0"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22500" y="5313363"/>
                        <a:ext cx="6934200" cy="214312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Text Box 2">
            <a:extLst>
              <a:ext uri="{FF2B5EF4-FFF2-40B4-BE49-F238E27FC236}">
                <a16:creationId xmlns:a16="http://schemas.microsoft.com/office/drawing/2014/main" id="{999AB59F-51A5-BCD6-276B-B1FDF8783DD9}"/>
              </a:ext>
            </a:extLst>
          </p:cNvPr>
          <p:cNvSpPr txBox="1">
            <a:spLocks noChangeArrowheads="1"/>
          </p:cNvSpPr>
          <p:nvPr/>
        </p:nvSpPr>
        <p:spPr bwMode="auto">
          <a:xfrm>
            <a:off x="576263" y="685800"/>
            <a:ext cx="9285287"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Value Burns Slowly:  Price/Book Return</a:t>
            </a:r>
          </a:p>
        </p:txBody>
      </p:sp>
      <p:sp>
        <p:nvSpPr>
          <p:cNvPr id="323587" name="Text Box 3">
            <a:extLst>
              <a:ext uri="{FF2B5EF4-FFF2-40B4-BE49-F238E27FC236}">
                <a16:creationId xmlns:a16="http://schemas.microsoft.com/office/drawing/2014/main" id="{A5FF0173-636C-1810-491C-60AF65D125EF}"/>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graphicFrame>
        <p:nvGraphicFramePr>
          <p:cNvPr id="323589" name="Object 5">
            <a:extLst>
              <a:ext uri="{FF2B5EF4-FFF2-40B4-BE49-F238E27FC236}">
                <a16:creationId xmlns:a16="http://schemas.microsoft.com/office/drawing/2014/main" id="{F12EEC30-175A-62EA-DCC3-C7EEE95B6229}"/>
              </a:ext>
            </a:extLst>
          </p:cNvPr>
          <p:cNvGraphicFramePr>
            <a:graphicFrameLocks noChangeAspect="1"/>
          </p:cNvGraphicFramePr>
          <p:nvPr/>
        </p:nvGraphicFramePr>
        <p:xfrm>
          <a:off x="323850" y="1976438"/>
          <a:ext cx="9380538" cy="4868862"/>
        </p:xfrm>
        <a:graphic>
          <a:graphicData uri="http://schemas.openxmlformats.org/presentationml/2006/ole">
            <mc:AlternateContent xmlns:mc="http://schemas.openxmlformats.org/markup-compatibility/2006">
              <mc:Choice xmlns:v="urn:schemas-microsoft-com:vml" Requires="v">
                <p:oleObj name="Worksheet" r:id="rId2" imgW="9385300" imgH="4876800" progId="Excel.Sheet.8">
                  <p:link updateAutomatic="1"/>
                </p:oleObj>
              </mc:Choice>
              <mc:Fallback>
                <p:oleObj name="Worksheet" r:id="rId2" imgW="9385300" imgH="4876800" progId="Excel.Sheet.8">
                  <p:link updateAutomatic="1"/>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976438"/>
                        <a:ext cx="9380538" cy="4868862"/>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Text Box 2">
            <a:extLst>
              <a:ext uri="{FF2B5EF4-FFF2-40B4-BE49-F238E27FC236}">
                <a16:creationId xmlns:a16="http://schemas.microsoft.com/office/drawing/2014/main" id="{A6F2D8C1-9FD0-FC6F-7B59-5C522A24781B}"/>
              </a:ext>
            </a:extLst>
          </p:cNvPr>
          <p:cNvSpPr txBox="1">
            <a:spLocks noChangeArrowheads="1"/>
          </p:cNvSpPr>
          <p:nvPr/>
        </p:nvSpPr>
        <p:spPr bwMode="auto">
          <a:xfrm>
            <a:off x="561975" y="685800"/>
            <a:ext cx="9299575"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Equity</a:t>
            </a:r>
          </a:p>
          <a:p>
            <a:pPr algn="l">
              <a:lnSpc>
                <a:spcPct val="125000"/>
              </a:lnSpc>
            </a:pPr>
            <a:r>
              <a:rPr lang="en-US" altLang="en-US" sz="1800" b="0" i="1"/>
              <a:t>Momentum Burns Quickly:  Acceleration Return</a:t>
            </a:r>
          </a:p>
        </p:txBody>
      </p:sp>
      <p:sp>
        <p:nvSpPr>
          <p:cNvPr id="324611" name="Text Box 3">
            <a:extLst>
              <a:ext uri="{FF2B5EF4-FFF2-40B4-BE49-F238E27FC236}">
                <a16:creationId xmlns:a16="http://schemas.microsoft.com/office/drawing/2014/main" id="{A3A5352E-6185-8D0B-2947-353DFFA2AF8B}"/>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graphicFrame>
        <p:nvGraphicFramePr>
          <p:cNvPr id="324613" name="Object 5">
            <a:extLst>
              <a:ext uri="{FF2B5EF4-FFF2-40B4-BE49-F238E27FC236}">
                <a16:creationId xmlns:a16="http://schemas.microsoft.com/office/drawing/2014/main" id="{6F0D8942-00BF-EDB9-9416-7840F64F84D0}"/>
              </a:ext>
            </a:extLst>
          </p:cNvPr>
          <p:cNvGraphicFramePr>
            <a:graphicFrameLocks noChangeAspect="1"/>
          </p:cNvGraphicFramePr>
          <p:nvPr/>
        </p:nvGraphicFramePr>
        <p:xfrm>
          <a:off x="323850" y="1987550"/>
          <a:ext cx="9380538" cy="4846638"/>
        </p:xfrm>
        <a:graphic>
          <a:graphicData uri="http://schemas.openxmlformats.org/presentationml/2006/ole">
            <mc:AlternateContent xmlns:mc="http://schemas.openxmlformats.org/markup-compatibility/2006">
              <mc:Choice xmlns:v="urn:schemas-microsoft-com:vml" Requires="v">
                <p:oleObj name="Worksheet" r:id="rId2" imgW="9385300" imgH="4851400" progId="Excel.Sheet.8">
                  <p:link updateAutomatic="1"/>
                </p:oleObj>
              </mc:Choice>
              <mc:Fallback>
                <p:oleObj name="Worksheet" r:id="rId2" imgW="9385300" imgH="4851400" progId="Excel.Sheet.8">
                  <p:link updateAutomatic="1"/>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987550"/>
                        <a:ext cx="9380538" cy="4846638"/>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a:extLst>
              <a:ext uri="{FF2B5EF4-FFF2-40B4-BE49-F238E27FC236}">
                <a16:creationId xmlns:a16="http://schemas.microsoft.com/office/drawing/2014/main" id="{03858A41-05AA-8E67-F2CA-2D4A028F83F7}"/>
              </a:ext>
            </a:extLst>
          </p:cNvPr>
          <p:cNvSpPr>
            <a:spLocks noChangeArrowheads="1"/>
          </p:cNvSpPr>
          <p:nvPr/>
        </p:nvSpPr>
        <p:spPr bwMode="auto">
          <a:xfrm>
            <a:off x="477838" y="1654175"/>
            <a:ext cx="9118600" cy="407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marL="1658938" indent="-1658938" algn="l">
              <a:tabLst>
                <a:tab pos="1371600" algn="r"/>
                <a:tab pos="1658938" algn="l"/>
              </a:tabLst>
              <a:defRPr sz="2400">
                <a:solidFill>
                  <a:schemeClr val="tx1"/>
                </a:solidFill>
                <a:latin typeface="Times New Roman" panose="02020603050405020304" pitchFamily="18" charset="0"/>
              </a:defRPr>
            </a:lvl1pPr>
            <a:lvl2pPr marL="1773238" algn="l">
              <a:tabLst>
                <a:tab pos="1371600" algn="r"/>
                <a:tab pos="1658938" algn="l"/>
              </a:tabLst>
              <a:defRPr sz="2400">
                <a:solidFill>
                  <a:schemeClr val="tx1"/>
                </a:solidFill>
                <a:latin typeface="Times New Roman" panose="02020603050405020304" pitchFamily="18" charset="0"/>
              </a:defRPr>
            </a:lvl2pPr>
            <a:lvl3pPr marL="1887538" algn="l">
              <a:tabLst>
                <a:tab pos="1371600" algn="r"/>
                <a:tab pos="1658938" algn="l"/>
              </a:tabLst>
              <a:defRPr sz="2400">
                <a:solidFill>
                  <a:schemeClr val="tx1"/>
                </a:solidFill>
                <a:latin typeface="Times New Roman" panose="02020603050405020304" pitchFamily="18" charset="0"/>
              </a:defRPr>
            </a:lvl3pPr>
            <a:lvl4pPr marL="2001838" algn="l">
              <a:tabLst>
                <a:tab pos="1371600" algn="r"/>
                <a:tab pos="1658938" algn="l"/>
              </a:tabLst>
              <a:defRPr sz="2400">
                <a:solidFill>
                  <a:schemeClr val="tx1"/>
                </a:solidFill>
                <a:latin typeface="Times New Roman" panose="02020603050405020304" pitchFamily="18" charset="0"/>
              </a:defRPr>
            </a:lvl4pPr>
            <a:lvl5pPr marL="2116138" algn="l">
              <a:tabLst>
                <a:tab pos="1371600" algn="r"/>
                <a:tab pos="1658938" algn="l"/>
              </a:tabLst>
              <a:defRPr sz="2400">
                <a:solidFill>
                  <a:schemeClr val="tx1"/>
                </a:solidFill>
                <a:latin typeface="Times New Roman" panose="02020603050405020304" pitchFamily="18" charset="0"/>
              </a:defRPr>
            </a:lvl5pPr>
            <a:lvl6pPr marL="2573338" eaLnBrk="0" fontAlgn="base" hangingPunct="0">
              <a:spcBef>
                <a:spcPct val="0"/>
              </a:spcBef>
              <a:spcAft>
                <a:spcPct val="0"/>
              </a:spcAft>
              <a:tabLst>
                <a:tab pos="1371600" algn="r"/>
                <a:tab pos="1658938" algn="l"/>
              </a:tabLst>
              <a:defRPr sz="2400">
                <a:solidFill>
                  <a:schemeClr val="tx1"/>
                </a:solidFill>
                <a:latin typeface="Times New Roman" panose="02020603050405020304" pitchFamily="18" charset="0"/>
              </a:defRPr>
            </a:lvl6pPr>
            <a:lvl7pPr marL="3030538" eaLnBrk="0" fontAlgn="base" hangingPunct="0">
              <a:spcBef>
                <a:spcPct val="0"/>
              </a:spcBef>
              <a:spcAft>
                <a:spcPct val="0"/>
              </a:spcAft>
              <a:tabLst>
                <a:tab pos="1371600" algn="r"/>
                <a:tab pos="1658938" algn="l"/>
              </a:tabLst>
              <a:defRPr sz="2400">
                <a:solidFill>
                  <a:schemeClr val="tx1"/>
                </a:solidFill>
                <a:latin typeface="Times New Roman" panose="02020603050405020304" pitchFamily="18" charset="0"/>
              </a:defRPr>
            </a:lvl7pPr>
            <a:lvl8pPr marL="3487738" eaLnBrk="0" fontAlgn="base" hangingPunct="0">
              <a:spcBef>
                <a:spcPct val="0"/>
              </a:spcBef>
              <a:spcAft>
                <a:spcPct val="0"/>
              </a:spcAft>
              <a:tabLst>
                <a:tab pos="1371600" algn="r"/>
                <a:tab pos="1658938" algn="l"/>
              </a:tabLst>
              <a:defRPr sz="2400">
                <a:solidFill>
                  <a:schemeClr val="tx1"/>
                </a:solidFill>
                <a:latin typeface="Times New Roman" panose="02020603050405020304" pitchFamily="18" charset="0"/>
              </a:defRPr>
            </a:lvl8pPr>
            <a:lvl9pPr marL="3944938" eaLnBrk="0" fontAlgn="base" hangingPunct="0">
              <a:spcBef>
                <a:spcPct val="0"/>
              </a:spcBef>
              <a:spcAft>
                <a:spcPct val="0"/>
              </a:spcAft>
              <a:tabLst>
                <a:tab pos="1371600" algn="r"/>
                <a:tab pos="1658938" algn="l"/>
              </a:tabLst>
              <a:defRPr sz="2400">
                <a:solidFill>
                  <a:schemeClr val="tx1"/>
                </a:solidFill>
                <a:latin typeface="Times New Roman" panose="02020603050405020304" pitchFamily="18" charset="0"/>
              </a:defRPr>
            </a:lvl9pPr>
          </a:lstStyle>
          <a:p>
            <a:pPr algn="just"/>
            <a:r>
              <a:rPr lang="en-US" altLang="en-US" sz="1200" i="1">
                <a:latin typeface="Arial" panose="020B0604020202020204" pitchFamily="34" charset="0"/>
              </a:rPr>
              <a:t>	Arjun Divecha</a:t>
            </a:r>
            <a:r>
              <a:rPr lang="en-US" altLang="en-US" sz="1100"/>
              <a:t>	</a:t>
            </a:r>
            <a:r>
              <a:rPr lang="en-US" altLang="en-US" sz="1100" b="0">
                <a:cs typeface="Times New Roman" panose="02020603050405020304" pitchFamily="18" charset="0"/>
              </a:rPr>
              <a:t>Mr. Divecha is based in Berkeley, California and is responsible for managing the GMO Emerging Markets Fund, the GMO Evolving Countries Fund and the GMO Asia Fund.  Prior to his affiliation with GMO in 1993, he spent 12 years at BARRA directing software development, marketing, client service and emerging markets research and development.  Mr. Divecha holds a Bachelor of Technology in Aeronautical Engineering from the Indian Institute of Technology, Bombay and an M.B.A. in Finance from Cornell University.</a:t>
            </a:r>
            <a:endParaRPr lang="en-US" altLang="en-US" sz="1100" b="0">
              <a:latin typeface="New Century Schlbk" charset="0"/>
              <a:cs typeface="Times New Roman" panose="02020603050405020304" pitchFamily="18" charset="0"/>
            </a:endParaRPr>
          </a:p>
          <a:p>
            <a:pPr algn="just"/>
            <a:endParaRPr lang="en-US" altLang="en-US" sz="1100" b="0"/>
          </a:p>
          <a:p>
            <a:pPr algn="just"/>
            <a:endParaRPr lang="en-US" altLang="en-US" sz="1200" i="1">
              <a:latin typeface="Arial" panose="020B0604020202020204" pitchFamily="34" charset="0"/>
            </a:endParaRPr>
          </a:p>
          <a:p>
            <a:pPr algn="just"/>
            <a:r>
              <a:rPr lang="en-US" altLang="en-US" sz="1200" i="1">
                <a:latin typeface="Arial" panose="020B0604020202020204" pitchFamily="34" charset="0"/>
              </a:rPr>
              <a:t>	</a:t>
            </a:r>
          </a:p>
          <a:p>
            <a:pPr algn="just"/>
            <a:r>
              <a:rPr lang="en-US" altLang="en-US" sz="1200" i="1">
                <a:latin typeface="Arial" panose="020B0604020202020204" pitchFamily="34" charset="0"/>
              </a:rPr>
              <a:t>	</a:t>
            </a:r>
            <a:r>
              <a:rPr lang="en-US" altLang="en-US" sz="1200" i="1">
                <a:latin typeface="Arial" panose="020B0604020202020204" pitchFamily="34" charset="0"/>
                <a:cs typeface="Times New Roman" panose="02020603050405020304" pitchFamily="18" charset="0"/>
              </a:rPr>
              <a:t>Amit Bhartia	</a:t>
            </a:r>
            <a:r>
              <a:rPr lang="en-US" altLang="en-US" sz="1100" b="0">
                <a:cs typeface="Times New Roman" panose="02020603050405020304" pitchFamily="18" charset="0"/>
              </a:rPr>
              <a:t>Mr. Bhartia is engaged in portfolio management for the GMO Emerging Markets Fund.  Prior to joining GMO in 1995, he worked as an investment advisor in India.  Mr. Bhartia earned a Bachelor of Engineering at the University of Bombay and an M.B.A. at the Institute for Technology and Management in Bombay.  He is a Chartered Financial Analyst.</a:t>
            </a:r>
            <a:endParaRPr lang="en-US" altLang="en-US" sz="1100" b="0">
              <a:latin typeface="New Century Schlbk" charset="0"/>
              <a:cs typeface="Times New Roman" panose="02020603050405020304" pitchFamily="18" charset="0"/>
            </a:endParaRPr>
          </a:p>
          <a:p>
            <a:pPr algn="just"/>
            <a:endParaRPr lang="en-US" altLang="en-US" sz="1100" b="0"/>
          </a:p>
          <a:p>
            <a:pPr algn="just"/>
            <a:endParaRPr lang="en-US" altLang="en-US" sz="1100" b="0"/>
          </a:p>
          <a:p>
            <a:pPr algn="just"/>
            <a:r>
              <a:rPr lang="en-US" altLang="en-US" sz="1200">
                <a:latin typeface="Arial" panose="020B0604020202020204" pitchFamily="34" charset="0"/>
              </a:rPr>
              <a:t>	</a:t>
            </a:r>
          </a:p>
          <a:p>
            <a:pPr algn="just"/>
            <a:r>
              <a:rPr lang="en-US" altLang="en-US" sz="1200">
                <a:latin typeface="Arial" panose="020B0604020202020204" pitchFamily="34" charset="0"/>
              </a:rPr>
              <a:t>	</a:t>
            </a:r>
            <a:r>
              <a:rPr lang="en-US" altLang="en-US" sz="1200" i="1">
                <a:latin typeface="Arial" panose="020B0604020202020204" pitchFamily="34" charset="0"/>
                <a:cs typeface="Times New Roman" panose="02020603050405020304" pitchFamily="18" charset="0"/>
              </a:rPr>
              <a:t>Clifford Gong	</a:t>
            </a:r>
            <a:r>
              <a:rPr lang="en-US" altLang="en-US" sz="1100" b="0">
                <a:cs typeface="Times New Roman" panose="02020603050405020304" pitchFamily="18" charset="0"/>
              </a:rPr>
              <a:t>Mr. Gong is engaged in research and analysis for the GMO Emerging Markets Fund.  Prior to joining GMO in 1998, he was a quantitative research analyst at BARRA, Inc.  Mr. Gong earned his B.A. in Computer Information Systems from the University of California, Santa Cruz.</a:t>
            </a:r>
            <a:endParaRPr lang="en-US" altLang="en-US" sz="1100" b="0">
              <a:latin typeface="New Century Schlbk" charset="0"/>
              <a:cs typeface="Times New Roman" panose="02020603050405020304" pitchFamily="18" charset="0"/>
            </a:endParaRPr>
          </a:p>
          <a:p>
            <a:pPr algn="just"/>
            <a:r>
              <a:rPr lang="en-US" altLang="en-US" sz="1100">
                <a:cs typeface="Times New Roman" panose="02020603050405020304" pitchFamily="18" charset="0"/>
              </a:rPr>
              <a:t> </a:t>
            </a:r>
            <a:endParaRPr lang="en-US" altLang="en-US" sz="1100" b="0">
              <a:latin typeface="New Century Schlbk" charset="0"/>
              <a:cs typeface="Times New Roman" panose="02020603050405020304" pitchFamily="18" charset="0"/>
            </a:endParaRPr>
          </a:p>
          <a:p>
            <a:pPr algn="just"/>
            <a:endParaRPr lang="en-US" altLang="en-US" sz="1100" b="0"/>
          </a:p>
          <a:p>
            <a:pPr algn="just"/>
            <a:r>
              <a:rPr lang="en-US" altLang="en-US" sz="1200" i="1">
                <a:latin typeface="Arial" panose="020B0604020202020204" pitchFamily="34" charset="0"/>
                <a:cs typeface="Times New Roman" panose="02020603050405020304" pitchFamily="18" charset="0"/>
              </a:rPr>
              <a:t>	</a:t>
            </a:r>
          </a:p>
          <a:p>
            <a:pPr algn="just"/>
            <a:r>
              <a:rPr lang="en-US" altLang="en-US" sz="1200" i="1">
                <a:latin typeface="Arial" panose="020B0604020202020204" pitchFamily="34" charset="0"/>
                <a:cs typeface="Times New Roman" panose="02020603050405020304" pitchFamily="18" charset="0"/>
              </a:rPr>
              <a:t>	Sam Wilderman	</a:t>
            </a:r>
            <a:r>
              <a:rPr lang="en-US" altLang="en-US" sz="1100" b="0">
                <a:cs typeface="Times New Roman" panose="02020603050405020304" pitchFamily="18" charset="0"/>
              </a:rPr>
              <a:t>Mr. Wilderman is based in Berkeley, California and is responsible for portfolio management and research for the GMO Emerging Markets Fund, the GMO Evolving Countries Fund and the GMO Asia Fund.  He joined GMO in 1996 following the completion of his B.A. in Economics from Yale University.  Mr. Wilderman is a Chartered Financial Analyst.</a:t>
            </a:r>
          </a:p>
        </p:txBody>
      </p:sp>
      <p:sp>
        <p:nvSpPr>
          <p:cNvPr id="234499" name="Text Box 3">
            <a:extLst>
              <a:ext uri="{FF2B5EF4-FFF2-40B4-BE49-F238E27FC236}">
                <a16:creationId xmlns:a16="http://schemas.microsoft.com/office/drawing/2014/main" id="{74E151DA-87AB-CE6F-4664-6AF8F548BB64}"/>
              </a:ext>
            </a:extLst>
          </p:cNvPr>
          <p:cNvSpPr txBox="1">
            <a:spLocks noChangeArrowheads="1"/>
          </p:cNvSpPr>
          <p:nvPr/>
        </p:nvSpPr>
        <p:spPr bwMode="auto">
          <a:xfrm>
            <a:off x="571500" y="781050"/>
            <a:ext cx="6381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2800" b="0"/>
              <a:t>Capsule Biographies:  Emerging Equity</a:t>
            </a:r>
            <a:endParaRPr lang="en-US" altLang="en-US" sz="2800" b="0" i="1" baseline="50000"/>
          </a:p>
        </p:txBody>
      </p:sp>
      <p:sp>
        <p:nvSpPr>
          <p:cNvPr id="234500" name="Text Box 4">
            <a:extLst>
              <a:ext uri="{FF2B5EF4-FFF2-40B4-BE49-F238E27FC236}">
                <a16:creationId xmlns:a16="http://schemas.microsoft.com/office/drawing/2014/main" id="{FC55B5A8-452C-A7AE-6122-F14C77E7096D}"/>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a:extLst>
              <a:ext uri="{FF2B5EF4-FFF2-40B4-BE49-F238E27FC236}">
                <a16:creationId xmlns:a16="http://schemas.microsoft.com/office/drawing/2014/main" id="{F43B2E74-BBCF-6D57-72C5-3EE20BC530D0}"/>
              </a:ext>
            </a:extLst>
          </p:cNvPr>
          <p:cNvSpPr>
            <a:spLocks noChangeArrowheads="1"/>
          </p:cNvSpPr>
          <p:nvPr/>
        </p:nvSpPr>
        <p:spPr bwMode="auto">
          <a:xfrm>
            <a:off x="477838" y="1665288"/>
            <a:ext cx="9118600" cy="3557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marL="1658938" indent="-1658938" algn="l">
              <a:tabLst>
                <a:tab pos="1371600" algn="r"/>
                <a:tab pos="1658938" algn="l"/>
              </a:tabLst>
              <a:defRPr sz="2400">
                <a:solidFill>
                  <a:schemeClr val="tx1"/>
                </a:solidFill>
                <a:latin typeface="Times New Roman" panose="02020603050405020304" pitchFamily="18" charset="0"/>
              </a:defRPr>
            </a:lvl1pPr>
            <a:lvl2pPr marL="1773238" algn="l">
              <a:tabLst>
                <a:tab pos="1371600" algn="r"/>
                <a:tab pos="1658938" algn="l"/>
              </a:tabLst>
              <a:defRPr sz="2400">
                <a:solidFill>
                  <a:schemeClr val="tx1"/>
                </a:solidFill>
                <a:latin typeface="Times New Roman" panose="02020603050405020304" pitchFamily="18" charset="0"/>
              </a:defRPr>
            </a:lvl2pPr>
            <a:lvl3pPr marL="1887538" algn="l">
              <a:tabLst>
                <a:tab pos="1371600" algn="r"/>
                <a:tab pos="1658938" algn="l"/>
              </a:tabLst>
              <a:defRPr sz="2400">
                <a:solidFill>
                  <a:schemeClr val="tx1"/>
                </a:solidFill>
                <a:latin typeface="Times New Roman" panose="02020603050405020304" pitchFamily="18" charset="0"/>
              </a:defRPr>
            </a:lvl3pPr>
            <a:lvl4pPr marL="2001838" algn="l">
              <a:tabLst>
                <a:tab pos="1371600" algn="r"/>
                <a:tab pos="1658938" algn="l"/>
              </a:tabLst>
              <a:defRPr sz="2400">
                <a:solidFill>
                  <a:schemeClr val="tx1"/>
                </a:solidFill>
                <a:latin typeface="Times New Roman" panose="02020603050405020304" pitchFamily="18" charset="0"/>
              </a:defRPr>
            </a:lvl4pPr>
            <a:lvl5pPr marL="2116138" algn="l">
              <a:tabLst>
                <a:tab pos="1371600" algn="r"/>
                <a:tab pos="1658938" algn="l"/>
              </a:tabLst>
              <a:defRPr sz="2400">
                <a:solidFill>
                  <a:schemeClr val="tx1"/>
                </a:solidFill>
                <a:latin typeface="Times New Roman" panose="02020603050405020304" pitchFamily="18" charset="0"/>
              </a:defRPr>
            </a:lvl5pPr>
            <a:lvl6pPr marL="2573338" eaLnBrk="0" fontAlgn="base" hangingPunct="0">
              <a:spcBef>
                <a:spcPct val="0"/>
              </a:spcBef>
              <a:spcAft>
                <a:spcPct val="0"/>
              </a:spcAft>
              <a:tabLst>
                <a:tab pos="1371600" algn="r"/>
                <a:tab pos="1658938" algn="l"/>
              </a:tabLst>
              <a:defRPr sz="2400">
                <a:solidFill>
                  <a:schemeClr val="tx1"/>
                </a:solidFill>
                <a:latin typeface="Times New Roman" panose="02020603050405020304" pitchFamily="18" charset="0"/>
              </a:defRPr>
            </a:lvl6pPr>
            <a:lvl7pPr marL="3030538" eaLnBrk="0" fontAlgn="base" hangingPunct="0">
              <a:spcBef>
                <a:spcPct val="0"/>
              </a:spcBef>
              <a:spcAft>
                <a:spcPct val="0"/>
              </a:spcAft>
              <a:tabLst>
                <a:tab pos="1371600" algn="r"/>
                <a:tab pos="1658938" algn="l"/>
              </a:tabLst>
              <a:defRPr sz="2400">
                <a:solidFill>
                  <a:schemeClr val="tx1"/>
                </a:solidFill>
                <a:latin typeface="Times New Roman" panose="02020603050405020304" pitchFamily="18" charset="0"/>
              </a:defRPr>
            </a:lvl7pPr>
            <a:lvl8pPr marL="3487738" eaLnBrk="0" fontAlgn="base" hangingPunct="0">
              <a:spcBef>
                <a:spcPct val="0"/>
              </a:spcBef>
              <a:spcAft>
                <a:spcPct val="0"/>
              </a:spcAft>
              <a:tabLst>
                <a:tab pos="1371600" algn="r"/>
                <a:tab pos="1658938" algn="l"/>
              </a:tabLst>
              <a:defRPr sz="2400">
                <a:solidFill>
                  <a:schemeClr val="tx1"/>
                </a:solidFill>
                <a:latin typeface="Times New Roman" panose="02020603050405020304" pitchFamily="18" charset="0"/>
              </a:defRPr>
            </a:lvl8pPr>
            <a:lvl9pPr marL="3944938" eaLnBrk="0" fontAlgn="base" hangingPunct="0">
              <a:spcBef>
                <a:spcPct val="0"/>
              </a:spcBef>
              <a:spcAft>
                <a:spcPct val="0"/>
              </a:spcAft>
              <a:tabLst>
                <a:tab pos="1371600" algn="r"/>
                <a:tab pos="1658938" algn="l"/>
              </a:tabLst>
              <a:defRPr sz="2400">
                <a:solidFill>
                  <a:schemeClr val="tx1"/>
                </a:solidFill>
                <a:latin typeface="Times New Roman" panose="02020603050405020304" pitchFamily="18" charset="0"/>
              </a:defRPr>
            </a:lvl9pPr>
          </a:lstStyle>
          <a:p>
            <a:pPr algn="just"/>
            <a:r>
              <a:rPr lang="en-US" altLang="en-US" sz="1200" i="1">
                <a:latin typeface="Arial" panose="020B0604020202020204" pitchFamily="34" charset="0"/>
              </a:rPr>
              <a:t>	 </a:t>
            </a:r>
            <a:r>
              <a:rPr lang="en-US" altLang="en-US" sz="1200" i="1">
                <a:latin typeface="Arial" panose="020B0604020202020204" pitchFamily="34" charset="0"/>
                <a:cs typeface="Times New Roman" panose="02020603050405020304" pitchFamily="18" charset="0"/>
              </a:rPr>
              <a:t>Christine Ferrara	</a:t>
            </a:r>
            <a:r>
              <a:rPr lang="en-US" altLang="en-US" sz="1100" b="0">
                <a:cs typeface="Times New Roman" panose="02020603050405020304" pitchFamily="18" charset="0"/>
              </a:rPr>
              <a:t>Ms. Ferrara is the Investment Division Controller for GMO’s Emerging Markets Group.  Prior to joining GMO in 1993, she worked as an operations supervisor at Boston Overseas Investors.  Ms. Ferrara received her B.A. in Psychology from the University of New Hampshire.</a:t>
            </a:r>
            <a:endParaRPr lang="en-US" altLang="en-US" sz="1100" b="0"/>
          </a:p>
          <a:p>
            <a:pPr algn="just"/>
            <a:endParaRPr lang="en-US" altLang="en-US" sz="1100" b="0"/>
          </a:p>
          <a:p>
            <a:pPr algn="just"/>
            <a:endParaRPr lang="en-US" altLang="en-US" sz="1100" b="0"/>
          </a:p>
          <a:p>
            <a:pPr algn="just"/>
            <a:r>
              <a:rPr lang="en-US" altLang="en-US" sz="1200" i="1">
                <a:latin typeface="Arial" panose="020B0604020202020204" pitchFamily="34" charset="0"/>
                <a:cs typeface="Times New Roman" panose="02020603050405020304" pitchFamily="18" charset="0"/>
              </a:rPr>
              <a:t>	</a:t>
            </a:r>
          </a:p>
          <a:p>
            <a:pPr algn="just"/>
            <a:r>
              <a:rPr lang="en-US" altLang="en-US" sz="1200" i="1">
                <a:latin typeface="Arial" panose="020B0604020202020204" pitchFamily="34" charset="0"/>
                <a:cs typeface="Times New Roman" panose="02020603050405020304" pitchFamily="18" charset="0"/>
              </a:rPr>
              <a:t>	Melanie Nason	</a:t>
            </a:r>
            <a:r>
              <a:rPr lang="en-US" altLang="en-US" sz="1100" b="0">
                <a:cs typeface="Times New Roman" panose="02020603050405020304" pitchFamily="18" charset="0"/>
              </a:rPr>
              <a:t>Ms. Nason is part of the administrative team that supports GMO’s Emerging Markets Funds.  Prior to joining GMO in 1996, she was employed by State Street Bank &amp; Trust Co. in the Mutual Fund Services Division as a fund accountant.  Ms. Nason earned her B.S. in Finance from Bentley College.</a:t>
            </a:r>
            <a:r>
              <a:rPr lang="en-US" altLang="en-US" sz="1100">
                <a:cs typeface="Times New Roman" panose="02020603050405020304" pitchFamily="18" charset="0"/>
              </a:rPr>
              <a:t> </a:t>
            </a:r>
            <a:endParaRPr lang="en-US" altLang="en-US" sz="1100"/>
          </a:p>
          <a:p>
            <a:pPr algn="just"/>
            <a:endParaRPr lang="en-US" altLang="en-US" sz="1100"/>
          </a:p>
          <a:p>
            <a:pPr algn="just"/>
            <a:endParaRPr lang="en-US" altLang="en-US" sz="1100"/>
          </a:p>
          <a:p>
            <a:pPr algn="just"/>
            <a:r>
              <a:rPr lang="en-US" altLang="en-US" sz="1200">
                <a:latin typeface="Arial" panose="020B0604020202020204" pitchFamily="34" charset="0"/>
              </a:rPr>
              <a:t>	</a:t>
            </a:r>
          </a:p>
          <a:p>
            <a:pPr algn="just"/>
            <a:r>
              <a:rPr lang="en-US" altLang="en-US" sz="1200">
                <a:latin typeface="Arial" panose="020B0604020202020204" pitchFamily="34" charset="0"/>
              </a:rPr>
              <a:t>	</a:t>
            </a:r>
            <a:r>
              <a:rPr lang="en-US" altLang="en-US" sz="1200" i="1">
                <a:latin typeface="Arial" panose="020B0604020202020204" pitchFamily="34" charset="0"/>
                <a:cs typeface="Times New Roman" panose="02020603050405020304" pitchFamily="18" charset="0"/>
              </a:rPr>
              <a:t>Caroline Norgeot	</a:t>
            </a:r>
            <a:r>
              <a:rPr lang="en-US" altLang="en-US" sz="1100" b="0">
                <a:cs typeface="Times New Roman" panose="02020603050405020304" pitchFamily="18" charset="0"/>
              </a:rPr>
              <a:t>Ms. Norgeot works on trading support for GMO’s Emerging Markets Funds.  Prior to joining GMO in 1996, she was employed at State Street Bank &amp; Trust Co. as a senior mutual fund accountant.  Ms. Norgeot received her B.A. in Mathematics from Lynchburg College in Virginia.</a:t>
            </a:r>
            <a:endParaRPr lang="en-US" altLang="en-US" sz="1100" b="0">
              <a:latin typeface="New Century Schlbk" charset="0"/>
              <a:cs typeface="Times New Roman" panose="02020603050405020304" pitchFamily="18" charset="0"/>
            </a:endParaRPr>
          </a:p>
          <a:p>
            <a:pPr algn="just"/>
            <a:endParaRPr lang="en-US" altLang="en-US" sz="1100" b="0"/>
          </a:p>
          <a:p>
            <a:pPr algn="just"/>
            <a:endParaRPr lang="en-US" altLang="en-US" sz="1100" b="0"/>
          </a:p>
          <a:p>
            <a:pPr algn="just"/>
            <a:r>
              <a:rPr lang="en-US" altLang="en-US" sz="1200">
                <a:latin typeface="Arial" panose="020B0604020202020204" pitchFamily="34" charset="0"/>
              </a:rPr>
              <a:t>	</a:t>
            </a:r>
          </a:p>
          <a:p>
            <a:pPr algn="just"/>
            <a:r>
              <a:rPr lang="en-US" altLang="en-US" sz="1200">
                <a:latin typeface="Arial" panose="020B0604020202020204" pitchFamily="34" charset="0"/>
              </a:rPr>
              <a:t>	</a:t>
            </a:r>
            <a:r>
              <a:rPr lang="en-US" altLang="en-US" sz="1200" i="1">
                <a:latin typeface="Arial" panose="020B0604020202020204" pitchFamily="34" charset="0"/>
                <a:cs typeface="Times New Roman" panose="02020603050405020304" pitchFamily="18" charset="0"/>
              </a:rPr>
              <a:t>Luz Perla	</a:t>
            </a:r>
            <a:r>
              <a:rPr lang="en-US" altLang="en-US" sz="1100" b="0">
                <a:cs typeface="Times New Roman" panose="02020603050405020304" pitchFamily="18" charset="0"/>
              </a:rPr>
              <a:t>Ms. Perla is a member of GMO’s Investments Control Group.  She joined GMO following the completion of her Associate degree in Business Management at Mitchell College.</a:t>
            </a:r>
            <a:r>
              <a:rPr lang="en-US" altLang="en-US" sz="1100" b="0"/>
              <a:t> </a:t>
            </a:r>
          </a:p>
        </p:txBody>
      </p:sp>
      <p:sp>
        <p:nvSpPr>
          <p:cNvPr id="235523" name="Text Box 3">
            <a:extLst>
              <a:ext uri="{FF2B5EF4-FFF2-40B4-BE49-F238E27FC236}">
                <a16:creationId xmlns:a16="http://schemas.microsoft.com/office/drawing/2014/main" id="{A0A979B5-29F3-E2B9-A084-00D18584F828}"/>
              </a:ext>
            </a:extLst>
          </p:cNvPr>
          <p:cNvSpPr txBox="1">
            <a:spLocks noChangeArrowheads="1"/>
          </p:cNvSpPr>
          <p:nvPr/>
        </p:nvSpPr>
        <p:spPr bwMode="auto">
          <a:xfrm>
            <a:off x="585788" y="781050"/>
            <a:ext cx="6381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2800" b="0"/>
              <a:t>Capsule Biographies:  Emerging Equity</a:t>
            </a:r>
            <a:endParaRPr lang="en-US" altLang="en-US" sz="2800" b="0" i="1" baseline="50000"/>
          </a:p>
        </p:txBody>
      </p:sp>
      <p:sp>
        <p:nvSpPr>
          <p:cNvPr id="235524" name="Text Box 4">
            <a:extLst>
              <a:ext uri="{FF2B5EF4-FFF2-40B4-BE49-F238E27FC236}">
                <a16:creationId xmlns:a16="http://schemas.microsoft.com/office/drawing/2014/main" id="{4FEF0855-EA38-4534-518E-72EE1DD59109}"/>
              </a:ext>
            </a:extLst>
          </p:cNvPr>
          <p:cNvSpPr txBox="1">
            <a:spLocks noChangeArrowheads="1"/>
          </p:cNvSpPr>
          <p:nvPr/>
        </p:nvSpPr>
        <p:spPr bwMode="auto">
          <a:xfrm>
            <a:off x="1031875" y="7332663"/>
            <a:ext cx="852488" cy="19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00" b="0">
                <a:latin typeface="Times New Roman" panose="02020603050405020304" pitchFamily="18" charset="0"/>
              </a:rPr>
              <a:t>Emerging Markets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D28BC8CC-2FA0-F041-4EE0-CBB395A04CA7}"/>
              </a:ext>
            </a:extLst>
          </p:cNvPr>
          <p:cNvSpPr>
            <a:spLocks noChangeArrowheads="1"/>
          </p:cNvSpPr>
          <p:nvPr/>
        </p:nvSpPr>
        <p:spPr bwMode="auto">
          <a:xfrm>
            <a:off x="0" y="0"/>
            <a:ext cx="10058400" cy="77724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67267" name="Text Box 3">
            <a:extLst>
              <a:ext uri="{FF2B5EF4-FFF2-40B4-BE49-F238E27FC236}">
                <a16:creationId xmlns:a16="http://schemas.microsoft.com/office/drawing/2014/main" id="{84D29BD9-65C8-176E-D882-366C53BCFDF6}"/>
              </a:ext>
            </a:extLst>
          </p:cNvPr>
          <p:cNvSpPr txBox="1">
            <a:spLocks noChangeArrowheads="1"/>
          </p:cNvSpPr>
          <p:nvPr/>
        </p:nvSpPr>
        <p:spPr bwMode="auto">
          <a:xfrm>
            <a:off x="1089025" y="1066800"/>
            <a:ext cx="2554288"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8000" b="0">
                <a:solidFill>
                  <a:srgbClr val="002B7F"/>
                </a:solidFill>
                <a:latin typeface="Times New Roman" panose="02020603050405020304" pitchFamily="18" charset="0"/>
              </a:rPr>
              <a:t>GMO</a:t>
            </a:r>
          </a:p>
        </p:txBody>
      </p:sp>
      <p:sp>
        <p:nvSpPr>
          <p:cNvPr id="267268" name="Text Box 4">
            <a:extLst>
              <a:ext uri="{FF2B5EF4-FFF2-40B4-BE49-F238E27FC236}">
                <a16:creationId xmlns:a16="http://schemas.microsoft.com/office/drawing/2014/main" id="{D6D3524E-3D53-BEC9-F42E-B7F84FA35AC5}"/>
              </a:ext>
            </a:extLst>
          </p:cNvPr>
          <p:cNvSpPr txBox="1">
            <a:spLocks noChangeArrowheads="1"/>
          </p:cNvSpPr>
          <p:nvPr/>
        </p:nvSpPr>
        <p:spPr bwMode="auto">
          <a:xfrm>
            <a:off x="960438" y="4041775"/>
            <a:ext cx="4800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000"/>
              <a:t>Emerging Equities</a:t>
            </a:r>
          </a:p>
          <a:p>
            <a:pPr algn="l"/>
            <a:endParaRPr lang="en-US" altLang="en-US" sz="2000" b="0"/>
          </a:p>
          <a:p>
            <a:pPr algn="l"/>
            <a:r>
              <a:rPr lang="en-US" altLang="en-US" sz="1600" b="0"/>
              <a:t>November 2001</a:t>
            </a:r>
            <a:endParaRPr lang="en-US" altLang="en-US" sz="1600" b="0" i="1"/>
          </a:p>
        </p:txBody>
      </p:sp>
      <p:sp>
        <p:nvSpPr>
          <p:cNvPr id="267269" name="Text Box 5">
            <a:extLst>
              <a:ext uri="{FF2B5EF4-FFF2-40B4-BE49-F238E27FC236}">
                <a16:creationId xmlns:a16="http://schemas.microsoft.com/office/drawing/2014/main" id="{D02E8D1C-2C3F-E1C4-4D82-EE7354DB9DEF}"/>
              </a:ext>
            </a:extLst>
          </p:cNvPr>
          <p:cNvSpPr txBox="1">
            <a:spLocks noChangeArrowheads="1"/>
          </p:cNvSpPr>
          <p:nvPr/>
        </p:nvSpPr>
        <p:spPr bwMode="auto">
          <a:xfrm>
            <a:off x="6503988" y="1912938"/>
            <a:ext cx="2828925"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buSzPct val="85000"/>
              <a:buFont typeface="Wingdings" pitchFamily="2" charset="2"/>
              <a:buNone/>
            </a:pPr>
            <a:r>
              <a:rPr lang="en-US" altLang="en-US" sz="1100" b="0">
                <a:solidFill>
                  <a:srgbClr val="003399"/>
                </a:solidFill>
                <a:latin typeface="Times New Roman" panose="02020603050405020304" pitchFamily="18" charset="0"/>
              </a:rPr>
              <a:t>Boston  </a:t>
            </a:r>
            <a:r>
              <a:rPr lang="en-US" altLang="en-US" sz="1100" b="0">
                <a:solidFill>
                  <a:srgbClr val="003399"/>
                </a:solidFill>
                <a:latin typeface="Wingdings" pitchFamily="2" charset="2"/>
              </a:rPr>
              <a:t>Ÿ</a:t>
            </a:r>
            <a:r>
              <a:rPr lang="en-US" altLang="en-US" sz="1100" b="0">
                <a:solidFill>
                  <a:srgbClr val="003399"/>
                </a:solidFill>
                <a:latin typeface="Times New Roman" panose="02020603050405020304" pitchFamily="18" charset="0"/>
              </a:rPr>
              <a:t>  London  </a:t>
            </a:r>
            <a:r>
              <a:rPr lang="en-US" altLang="en-US" sz="1100" b="0">
                <a:solidFill>
                  <a:srgbClr val="003399"/>
                </a:solidFill>
                <a:latin typeface="Wingdings" pitchFamily="2" charset="2"/>
              </a:rPr>
              <a:t>Ÿ</a:t>
            </a:r>
            <a:r>
              <a:rPr lang="en-US" altLang="en-US" sz="1100" b="0">
                <a:solidFill>
                  <a:srgbClr val="003399"/>
                </a:solidFill>
                <a:latin typeface="Times New Roman" panose="02020603050405020304" pitchFamily="18" charset="0"/>
              </a:rPr>
              <a:t>  San Francisco  </a:t>
            </a:r>
            <a:r>
              <a:rPr lang="en-US" altLang="en-US" sz="1100" b="0">
                <a:solidFill>
                  <a:srgbClr val="003399"/>
                </a:solidFill>
                <a:latin typeface="Wingdings" pitchFamily="2" charset="2"/>
              </a:rPr>
              <a:t>Ÿ</a:t>
            </a:r>
            <a:r>
              <a:rPr lang="en-US" altLang="en-US" sz="1100" b="0">
                <a:solidFill>
                  <a:srgbClr val="003399"/>
                </a:solidFill>
                <a:latin typeface="Times New Roman" panose="02020603050405020304" pitchFamily="18" charset="0"/>
              </a:rPr>
              <a:t>  Sydney</a:t>
            </a:r>
          </a:p>
        </p:txBody>
      </p:sp>
      <p:sp>
        <p:nvSpPr>
          <p:cNvPr id="267270" name="Text Box 6">
            <a:extLst>
              <a:ext uri="{FF2B5EF4-FFF2-40B4-BE49-F238E27FC236}">
                <a16:creationId xmlns:a16="http://schemas.microsoft.com/office/drawing/2014/main" id="{3F8AFD8B-B32A-9B11-C03E-B7F00977863C}"/>
              </a:ext>
            </a:extLst>
          </p:cNvPr>
          <p:cNvSpPr txBox="1">
            <a:spLocks noChangeArrowheads="1"/>
          </p:cNvSpPr>
          <p:nvPr/>
        </p:nvSpPr>
        <p:spPr bwMode="auto">
          <a:xfrm flipH="1">
            <a:off x="6605588" y="6045200"/>
            <a:ext cx="292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0" i="1">
                <a:latin typeface="Times New Roman" panose="02020603050405020304" pitchFamily="18" charset="0"/>
              </a:rPr>
              <a:t>Portfolio Review</a:t>
            </a:r>
          </a:p>
        </p:txBody>
      </p:sp>
      <p:sp>
        <p:nvSpPr>
          <p:cNvPr id="267271" name="Rectangle 7">
            <a:extLst>
              <a:ext uri="{FF2B5EF4-FFF2-40B4-BE49-F238E27FC236}">
                <a16:creationId xmlns:a16="http://schemas.microsoft.com/office/drawing/2014/main" id="{6B87B4E5-7595-244D-50E3-4AD81179C3C5}"/>
              </a:ext>
            </a:extLst>
          </p:cNvPr>
          <p:cNvSpPr>
            <a:spLocks noChangeArrowheads="1"/>
          </p:cNvSpPr>
          <p:nvPr/>
        </p:nvSpPr>
        <p:spPr bwMode="auto">
          <a:xfrm>
            <a:off x="960438" y="6240463"/>
            <a:ext cx="1158875" cy="325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pPr algn="l">
              <a:lnSpc>
                <a:spcPct val="110000"/>
              </a:lnSpc>
            </a:pPr>
            <a:r>
              <a:rPr lang="en-US" altLang="en-US" b="0"/>
              <a:t>Presenter(s)</a:t>
            </a:r>
            <a:endParaRPr lang="en-US" altLang="en-US" sz="1200" b="0"/>
          </a:p>
        </p:txBody>
      </p:sp>
      <p:sp>
        <p:nvSpPr>
          <p:cNvPr id="267272" name="Line 8">
            <a:extLst>
              <a:ext uri="{FF2B5EF4-FFF2-40B4-BE49-F238E27FC236}">
                <a16:creationId xmlns:a16="http://schemas.microsoft.com/office/drawing/2014/main" id="{65205AA7-8826-1B08-C5E5-82F6D3EEE4F8}"/>
              </a:ext>
            </a:extLst>
          </p:cNvPr>
          <p:cNvSpPr>
            <a:spLocks noChangeShapeType="1"/>
          </p:cNvSpPr>
          <p:nvPr/>
        </p:nvSpPr>
        <p:spPr bwMode="auto">
          <a:xfrm>
            <a:off x="1041400" y="1371600"/>
            <a:ext cx="0" cy="2552700"/>
          </a:xfrm>
          <a:prstGeom prst="line">
            <a:avLst/>
          </a:prstGeom>
          <a:noFill/>
          <a:ln w="9525">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67273" name="Line 9">
            <a:extLst>
              <a:ext uri="{FF2B5EF4-FFF2-40B4-BE49-F238E27FC236}">
                <a16:creationId xmlns:a16="http://schemas.microsoft.com/office/drawing/2014/main" id="{A14C3B20-65A4-B413-06DF-49ACF0CEC529}"/>
              </a:ext>
            </a:extLst>
          </p:cNvPr>
          <p:cNvSpPr>
            <a:spLocks noChangeShapeType="1"/>
          </p:cNvSpPr>
          <p:nvPr/>
        </p:nvSpPr>
        <p:spPr bwMode="auto">
          <a:xfrm>
            <a:off x="1038225" y="3937000"/>
            <a:ext cx="5559425" cy="0"/>
          </a:xfrm>
          <a:prstGeom prst="line">
            <a:avLst/>
          </a:prstGeom>
          <a:noFill/>
          <a:ln w="381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67274" name="Line 10">
            <a:extLst>
              <a:ext uri="{FF2B5EF4-FFF2-40B4-BE49-F238E27FC236}">
                <a16:creationId xmlns:a16="http://schemas.microsoft.com/office/drawing/2014/main" id="{9890DADF-C89F-8F76-1EFD-8F0C717544EC}"/>
              </a:ext>
            </a:extLst>
          </p:cNvPr>
          <p:cNvSpPr>
            <a:spLocks noChangeShapeType="1"/>
          </p:cNvSpPr>
          <p:nvPr/>
        </p:nvSpPr>
        <p:spPr bwMode="auto">
          <a:xfrm>
            <a:off x="6591300" y="3937000"/>
            <a:ext cx="0" cy="2552700"/>
          </a:xfrm>
          <a:prstGeom prst="line">
            <a:avLst/>
          </a:prstGeom>
          <a:noFill/>
          <a:ln w="9525">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a:extLst>
              <a:ext uri="{FF2B5EF4-FFF2-40B4-BE49-F238E27FC236}">
                <a16:creationId xmlns:a16="http://schemas.microsoft.com/office/drawing/2014/main" id="{DA895A04-5836-C51F-CF14-5FB7DB2F68E5}"/>
              </a:ext>
            </a:extLst>
          </p:cNvPr>
          <p:cNvSpPr>
            <a:spLocks noChangeArrowheads="1"/>
          </p:cNvSpPr>
          <p:nvPr/>
        </p:nvSpPr>
        <p:spPr bwMode="auto">
          <a:xfrm>
            <a:off x="0" y="0"/>
            <a:ext cx="10058400" cy="77724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71363" name="Text Box 3">
            <a:extLst>
              <a:ext uri="{FF2B5EF4-FFF2-40B4-BE49-F238E27FC236}">
                <a16:creationId xmlns:a16="http://schemas.microsoft.com/office/drawing/2014/main" id="{49F6A9C2-7A71-63FD-E5D3-1F82D20D2495}"/>
              </a:ext>
            </a:extLst>
          </p:cNvPr>
          <p:cNvSpPr txBox="1">
            <a:spLocks noChangeArrowheads="1"/>
          </p:cNvSpPr>
          <p:nvPr/>
        </p:nvSpPr>
        <p:spPr bwMode="auto">
          <a:xfrm>
            <a:off x="3695700" y="6781800"/>
            <a:ext cx="2614613" cy="77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spAutoFit/>
          </a:bodyPr>
          <a:lstStyle/>
          <a:p>
            <a:pPr>
              <a:lnSpc>
                <a:spcPct val="90000"/>
              </a:lnSpc>
            </a:pPr>
            <a:r>
              <a:rPr lang="en-US" altLang="en-US" sz="1100" b="0">
                <a:latin typeface="Times New Roman" panose="02020603050405020304" pitchFamily="18" charset="0"/>
              </a:rPr>
              <a:t>Grantham, Mayo, Van Otterloo &amp; Co. LLC</a:t>
            </a:r>
          </a:p>
          <a:p>
            <a:pPr>
              <a:lnSpc>
                <a:spcPct val="90000"/>
              </a:lnSpc>
            </a:pPr>
            <a:r>
              <a:rPr lang="en-US" altLang="en-US" sz="1100" b="0">
                <a:latin typeface="Times New Roman" panose="02020603050405020304" pitchFamily="18" charset="0"/>
              </a:rPr>
              <a:t>40 Rowes Wharf </a:t>
            </a:r>
          </a:p>
          <a:p>
            <a:pPr>
              <a:lnSpc>
                <a:spcPct val="90000"/>
              </a:lnSpc>
            </a:pPr>
            <a:r>
              <a:rPr lang="en-US" altLang="en-US" sz="1100" b="0">
                <a:latin typeface="Times New Roman" panose="02020603050405020304" pitchFamily="18" charset="0"/>
              </a:rPr>
              <a:t>Boston, Massachusetts  02110</a:t>
            </a:r>
          </a:p>
          <a:p>
            <a:pPr>
              <a:lnSpc>
                <a:spcPct val="125000"/>
              </a:lnSpc>
            </a:pPr>
            <a:r>
              <a:rPr lang="en-US" altLang="en-US" sz="1100" b="0">
                <a:latin typeface="Times New Roman" panose="02020603050405020304" pitchFamily="18" charset="0"/>
              </a:rPr>
              <a:t>(617) 346-7500  </a:t>
            </a:r>
            <a:r>
              <a:rPr lang="en-US" altLang="en-US" sz="1200" b="0">
                <a:latin typeface="Wingdings" pitchFamily="2" charset="2"/>
              </a:rPr>
              <a:t>Ÿ</a:t>
            </a:r>
            <a:r>
              <a:rPr lang="en-US" altLang="en-US" sz="1200" b="0">
                <a:latin typeface="Times New Roman" panose="02020603050405020304" pitchFamily="18" charset="0"/>
              </a:rPr>
              <a:t>  </a:t>
            </a:r>
            <a:r>
              <a:rPr lang="en-US" altLang="en-US" sz="1100" b="0">
                <a:latin typeface="Times New Roman" panose="02020603050405020304" pitchFamily="18" charset="0"/>
              </a:rPr>
              <a:t>www.gmo.com</a:t>
            </a:r>
          </a:p>
        </p:txBody>
      </p:sp>
      <p:grpSp>
        <p:nvGrpSpPr>
          <p:cNvPr id="271364" name="Group 4">
            <a:extLst>
              <a:ext uri="{FF2B5EF4-FFF2-40B4-BE49-F238E27FC236}">
                <a16:creationId xmlns:a16="http://schemas.microsoft.com/office/drawing/2014/main" id="{EC1C513F-A310-AE98-CE67-57F8E50BEF40}"/>
              </a:ext>
            </a:extLst>
          </p:cNvPr>
          <p:cNvGrpSpPr>
            <a:grpSpLocks/>
          </p:cNvGrpSpPr>
          <p:nvPr/>
        </p:nvGrpSpPr>
        <p:grpSpPr bwMode="auto">
          <a:xfrm>
            <a:off x="3595688" y="5751513"/>
            <a:ext cx="2813050" cy="927100"/>
            <a:chOff x="2265" y="3711"/>
            <a:chExt cx="1772" cy="584"/>
          </a:xfrm>
        </p:grpSpPr>
        <p:sp>
          <p:nvSpPr>
            <p:cNvPr id="271365" name="Text Box 5">
              <a:extLst>
                <a:ext uri="{FF2B5EF4-FFF2-40B4-BE49-F238E27FC236}">
                  <a16:creationId xmlns:a16="http://schemas.microsoft.com/office/drawing/2014/main" id="{76ABEFB3-57D5-9537-9EC1-C83616DCB4C3}"/>
                </a:ext>
              </a:extLst>
            </p:cNvPr>
            <p:cNvSpPr txBox="1">
              <a:spLocks noChangeArrowheads="1"/>
            </p:cNvSpPr>
            <p:nvPr/>
          </p:nvSpPr>
          <p:spPr bwMode="auto">
            <a:xfrm>
              <a:off x="2646" y="3711"/>
              <a:ext cx="1011" cy="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4800" b="0">
                  <a:solidFill>
                    <a:srgbClr val="002B7F"/>
                  </a:solidFill>
                  <a:latin typeface="Times New Roman" panose="02020603050405020304" pitchFamily="18" charset="0"/>
                </a:rPr>
                <a:t>GMO</a:t>
              </a:r>
            </a:p>
          </p:txBody>
        </p:sp>
        <p:sp>
          <p:nvSpPr>
            <p:cNvPr id="271366" name="Text Box 6">
              <a:extLst>
                <a:ext uri="{FF2B5EF4-FFF2-40B4-BE49-F238E27FC236}">
                  <a16:creationId xmlns:a16="http://schemas.microsoft.com/office/drawing/2014/main" id="{390903C2-52C9-E599-ECE9-47DE42E2B340}"/>
                </a:ext>
              </a:extLst>
            </p:cNvPr>
            <p:cNvSpPr txBox="1">
              <a:spLocks noChangeArrowheads="1"/>
            </p:cNvSpPr>
            <p:nvPr/>
          </p:nvSpPr>
          <p:spPr bwMode="auto">
            <a:xfrm>
              <a:off x="2265" y="4122"/>
              <a:ext cx="177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buSzPct val="85000"/>
                <a:buFont typeface="Wingdings" pitchFamily="2" charset="2"/>
                <a:buNone/>
              </a:pPr>
              <a:r>
                <a:rPr lang="en-US" altLang="en-US" sz="1100" b="0">
                  <a:latin typeface="Times New Roman" panose="02020603050405020304" pitchFamily="18" charset="0"/>
                </a:rPr>
                <a:t>Boston  </a:t>
              </a:r>
              <a:r>
                <a:rPr lang="en-US" altLang="en-US" sz="1200" b="0">
                  <a:latin typeface="Wingdings" pitchFamily="2" charset="2"/>
                </a:rPr>
                <a:t>Ÿ</a:t>
              </a:r>
              <a:r>
                <a:rPr lang="en-US" altLang="en-US" sz="1100" b="0">
                  <a:latin typeface="Times New Roman" panose="02020603050405020304" pitchFamily="18" charset="0"/>
                </a:rPr>
                <a:t>  London  </a:t>
              </a:r>
              <a:r>
                <a:rPr lang="en-US" altLang="en-US" sz="1200" b="0">
                  <a:latin typeface="Wingdings" pitchFamily="2" charset="2"/>
                </a:rPr>
                <a:t>Ÿ</a:t>
              </a:r>
              <a:r>
                <a:rPr lang="en-US" altLang="en-US" sz="1100" b="0">
                  <a:latin typeface="Times New Roman" panose="02020603050405020304" pitchFamily="18" charset="0"/>
                </a:rPr>
                <a:t>  San Francisco </a:t>
              </a:r>
              <a:r>
                <a:rPr lang="en-US" altLang="en-US" sz="1200" b="0">
                  <a:latin typeface="Wingdings" pitchFamily="2" charset="2"/>
                </a:rPr>
                <a:t>Ÿ</a:t>
              </a:r>
              <a:r>
                <a:rPr lang="en-US" altLang="en-US" sz="1100" b="0">
                  <a:latin typeface="Times New Roman" panose="02020603050405020304" pitchFamily="18" charset="0"/>
                </a:rPr>
                <a:t>  Sydney</a:t>
              </a: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a:extLst>
              <a:ext uri="{FF2B5EF4-FFF2-40B4-BE49-F238E27FC236}">
                <a16:creationId xmlns:a16="http://schemas.microsoft.com/office/drawing/2014/main" id="{B238D68A-1223-7417-0231-5446DED0DF39}"/>
              </a:ext>
            </a:extLst>
          </p:cNvPr>
          <p:cNvSpPr>
            <a:spLocks noChangeArrowheads="1"/>
          </p:cNvSpPr>
          <p:nvPr/>
        </p:nvSpPr>
        <p:spPr bwMode="auto">
          <a:xfrm>
            <a:off x="901700" y="5440363"/>
            <a:ext cx="171450" cy="161925"/>
          </a:xfrm>
          <a:prstGeom prst="rect">
            <a:avLst/>
          </a:prstGeom>
          <a:solidFill>
            <a:srgbClr val="002B7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23" name="Rectangle 3">
            <a:extLst>
              <a:ext uri="{FF2B5EF4-FFF2-40B4-BE49-F238E27FC236}">
                <a16:creationId xmlns:a16="http://schemas.microsoft.com/office/drawing/2014/main" id="{E917D446-EDC1-1B47-FC24-0CAE0830AF55}"/>
              </a:ext>
            </a:extLst>
          </p:cNvPr>
          <p:cNvSpPr>
            <a:spLocks noChangeArrowheads="1"/>
          </p:cNvSpPr>
          <p:nvPr/>
        </p:nvSpPr>
        <p:spPr bwMode="auto">
          <a:xfrm>
            <a:off x="901700" y="5719763"/>
            <a:ext cx="171450" cy="161925"/>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2324" name="Freeform 4">
            <a:extLst>
              <a:ext uri="{FF2B5EF4-FFF2-40B4-BE49-F238E27FC236}">
                <a16:creationId xmlns:a16="http://schemas.microsoft.com/office/drawing/2014/main" id="{EE39555D-711F-F6D7-82A1-C6A624962FB7}"/>
              </a:ext>
            </a:extLst>
          </p:cNvPr>
          <p:cNvSpPr>
            <a:spLocks/>
          </p:cNvSpPr>
          <p:nvPr/>
        </p:nvSpPr>
        <p:spPr bwMode="auto">
          <a:xfrm>
            <a:off x="7951788" y="5407025"/>
            <a:ext cx="522287" cy="493713"/>
          </a:xfrm>
          <a:custGeom>
            <a:avLst/>
            <a:gdLst>
              <a:gd name="T0" fmla="*/ 0 w 440"/>
              <a:gd name="T1" fmla="*/ 0 h 318"/>
              <a:gd name="T2" fmla="*/ 440 w 440"/>
              <a:gd name="T3" fmla="*/ 0 h 318"/>
              <a:gd name="T4" fmla="*/ 440 w 440"/>
              <a:gd name="T5" fmla="*/ 318 h 318"/>
              <a:gd name="T6" fmla="*/ 31 w 440"/>
              <a:gd name="T7" fmla="*/ 318 h 318"/>
            </a:gdLst>
            <a:ahLst/>
            <a:cxnLst>
              <a:cxn ang="0">
                <a:pos x="T0" y="T1"/>
              </a:cxn>
              <a:cxn ang="0">
                <a:pos x="T2" y="T3"/>
              </a:cxn>
              <a:cxn ang="0">
                <a:pos x="T4" y="T5"/>
              </a:cxn>
              <a:cxn ang="0">
                <a:pos x="T6" y="T7"/>
              </a:cxn>
            </a:cxnLst>
            <a:rect l="0" t="0" r="r" b="b"/>
            <a:pathLst>
              <a:path w="440" h="318">
                <a:moveTo>
                  <a:pt x="0" y="0"/>
                </a:moveTo>
                <a:lnTo>
                  <a:pt x="440" y="0"/>
                </a:lnTo>
                <a:lnTo>
                  <a:pt x="440" y="318"/>
                </a:lnTo>
                <a:lnTo>
                  <a:pt x="31" y="318"/>
                </a:lnTo>
              </a:path>
            </a:pathLst>
          </a:custGeom>
          <a:noFill/>
          <a:ln w="63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312325" name="Text Box 5">
            <a:extLst>
              <a:ext uri="{FF2B5EF4-FFF2-40B4-BE49-F238E27FC236}">
                <a16:creationId xmlns:a16="http://schemas.microsoft.com/office/drawing/2014/main" id="{88D0F2CE-5935-71A9-6907-DD4D53952516}"/>
              </a:ext>
            </a:extLst>
          </p:cNvPr>
          <p:cNvSpPr txBox="1">
            <a:spLocks noChangeArrowheads="1"/>
          </p:cNvSpPr>
          <p:nvPr/>
        </p:nvSpPr>
        <p:spPr bwMode="auto">
          <a:xfrm>
            <a:off x="7885113" y="5421313"/>
            <a:ext cx="1241425"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i="1"/>
              <a:t>Annualized </a:t>
            </a:r>
            <a:br>
              <a:rPr lang="en-US" altLang="en-US" sz="1200" i="1"/>
            </a:br>
            <a:r>
              <a:rPr lang="en-US" altLang="en-US" sz="1200" i="1"/>
              <a:t>Gross Returns</a:t>
            </a:r>
          </a:p>
        </p:txBody>
      </p:sp>
      <p:sp>
        <p:nvSpPr>
          <p:cNvPr id="312326" name="Text Box 6">
            <a:extLst>
              <a:ext uri="{FF2B5EF4-FFF2-40B4-BE49-F238E27FC236}">
                <a16:creationId xmlns:a16="http://schemas.microsoft.com/office/drawing/2014/main" id="{60C07E95-83B1-8039-7B6E-1F8EF3977C46}"/>
              </a:ext>
            </a:extLst>
          </p:cNvPr>
          <p:cNvSpPr txBox="1">
            <a:spLocks noChangeArrowheads="1"/>
          </p:cNvSpPr>
          <p:nvPr/>
        </p:nvSpPr>
        <p:spPr bwMode="auto">
          <a:xfrm>
            <a:off x="7923213" y="6007100"/>
            <a:ext cx="1108075"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i="1"/>
              <a:t>Value Added</a:t>
            </a:r>
          </a:p>
        </p:txBody>
      </p:sp>
      <p:sp>
        <p:nvSpPr>
          <p:cNvPr id="312329" name="Text Box 9">
            <a:extLst>
              <a:ext uri="{FF2B5EF4-FFF2-40B4-BE49-F238E27FC236}">
                <a16:creationId xmlns:a16="http://schemas.microsoft.com/office/drawing/2014/main" id="{D4E0266B-722D-D40F-E55E-C5ABF2C029C6}"/>
              </a:ext>
            </a:extLst>
          </p:cNvPr>
          <p:cNvSpPr txBox="1">
            <a:spLocks noChangeArrowheads="1"/>
          </p:cNvSpPr>
          <p:nvPr/>
        </p:nvSpPr>
        <p:spPr bwMode="auto">
          <a:xfrm>
            <a:off x="481013" y="6473825"/>
            <a:ext cx="91614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spcAft>
                <a:spcPts val="500"/>
              </a:spcAft>
            </a:pPr>
            <a:r>
              <a:rPr lang="en-US" altLang="en-US" sz="900">
                <a:latin typeface="Times New Roman" panose="02020603050405020304" pitchFamily="18" charset="0"/>
              </a:rPr>
              <a:t>Performance data quoted represents past performance</a:t>
            </a:r>
            <a:r>
              <a:rPr lang="en-US" altLang="en-US" sz="900" b="0">
                <a:latin typeface="Times New Roman" panose="02020603050405020304" pitchFamily="18" charset="0"/>
              </a:rPr>
              <a:t> </a:t>
            </a:r>
            <a:r>
              <a:rPr lang="en-US" altLang="en-US" sz="900">
                <a:latin typeface="Times New Roman" panose="02020603050405020304" pitchFamily="18" charset="0"/>
              </a:rPr>
              <a:t>and is not indicative of future performance.</a:t>
            </a:r>
            <a:r>
              <a:rPr lang="en-US" altLang="en-US" sz="900" b="0">
                <a:latin typeface="Times New Roman" panose="02020603050405020304" pitchFamily="18" charset="0"/>
              </a:rPr>
              <a:t>  Performance reflects the reinvestment of dividends and interest.  Performance does not include advisory or other fees; if included, performance would be lower.</a:t>
            </a:r>
          </a:p>
          <a:p>
            <a:pPr algn="l">
              <a:spcAft>
                <a:spcPts val="500"/>
              </a:spcAft>
            </a:pPr>
            <a:r>
              <a:rPr lang="en-US" altLang="en-US" sz="900" b="0">
                <a:latin typeface="Times New Roman" panose="02020603050405020304" pitchFamily="18" charset="0"/>
                <a:cs typeface="Times New Roman" panose="02020603050405020304" pitchFamily="18" charset="0"/>
              </a:rPr>
              <a:t>There are risks associated with investing in a fund of this type that invests in securities of foreign countries, such as erratic market conditions, economic and political instability, and fluctuations in currency exchange rates.</a:t>
            </a:r>
            <a:r>
              <a:rPr lang="en-US" altLang="en-US" sz="900" b="0">
                <a:latin typeface="Times New Roman" panose="02020603050405020304" pitchFamily="18" charset="0"/>
              </a:rPr>
              <a:t> </a:t>
            </a:r>
          </a:p>
        </p:txBody>
      </p:sp>
      <p:sp>
        <p:nvSpPr>
          <p:cNvPr id="312330" name="Text Box 10">
            <a:extLst>
              <a:ext uri="{FF2B5EF4-FFF2-40B4-BE49-F238E27FC236}">
                <a16:creationId xmlns:a16="http://schemas.microsoft.com/office/drawing/2014/main" id="{EECD4168-5ADD-280A-2DE7-66F36344EDE0}"/>
              </a:ext>
            </a:extLst>
          </p:cNvPr>
          <p:cNvSpPr txBox="1">
            <a:spLocks noChangeArrowheads="1"/>
          </p:cNvSpPr>
          <p:nvPr/>
        </p:nvSpPr>
        <p:spPr bwMode="auto">
          <a:xfrm>
            <a:off x="541338" y="671513"/>
            <a:ext cx="897255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Markets Strategy</a:t>
            </a:r>
          </a:p>
          <a:p>
            <a:pPr algn="l">
              <a:lnSpc>
                <a:spcPct val="125000"/>
              </a:lnSpc>
            </a:pPr>
            <a:r>
              <a:rPr lang="en-US" altLang="en-US" sz="1800" b="0" i="1"/>
              <a:t>Performance, Gross of Fees as of 12/31/01</a:t>
            </a:r>
          </a:p>
        </p:txBody>
      </p:sp>
      <p:graphicFrame>
        <p:nvGraphicFramePr>
          <p:cNvPr id="312331" name="Object 11">
            <a:extLst>
              <a:ext uri="{FF2B5EF4-FFF2-40B4-BE49-F238E27FC236}">
                <a16:creationId xmlns:a16="http://schemas.microsoft.com/office/drawing/2014/main" id="{6FBD27E4-F108-EAF8-34F3-71E4F82F6814}"/>
              </a:ext>
            </a:extLst>
          </p:cNvPr>
          <p:cNvGraphicFramePr>
            <a:graphicFrameLocks noChangeAspect="1"/>
          </p:cNvGraphicFramePr>
          <p:nvPr/>
        </p:nvGraphicFramePr>
        <p:xfrm>
          <a:off x="2035175" y="1827213"/>
          <a:ext cx="6477000" cy="3638550"/>
        </p:xfrm>
        <a:graphic>
          <a:graphicData uri="http://schemas.openxmlformats.org/presentationml/2006/ole">
            <mc:AlternateContent xmlns:mc="http://schemas.openxmlformats.org/markup-compatibility/2006">
              <mc:Choice xmlns:v="urn:schemas-microsoft-com:vml" Requires="v">
                <p:oleObj name="Worksheet" r:id="rId3" imgW="6489700" imgH="3797300" progId="Excel.Sheet.8">
                  <p:link updateAutomatic="1"/>
                </p:oleObj>
              </mc:Choice>
              <mc:Fallback>
                <p:oleObj name="Worksheet" r:id="rId3" imgW="6489700" imgH="3797300" progId="Excel.Sheet.8">
                  <p:link updateAutomatic="1"/>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t="1509" b="2431"/>
                      <a:stretch>
                        <a:fillRect/>
                      </a:stretch>
                    </p:blipFill>
                    <p:spPr bwMode="auto">
                      <a:xfrm>
                        <a:off x="2035175" y="1827213"/>
                        <a:ext cx="6477000" cy="3638550"/>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2332" name="Object 12">
            <a:extLst>
              <a:ext uri="{FF2B5EF4-FFF2-40B4-BE49-F238E27FC236}">
                <a16:creationId xmlns:a16="http://schemas.microsoft.com/office/drawing/2014/main" id="{C9E11BAB-7616-BA17-EB26-320CE0F380D8}"/>
              </a:ext>
            </a:extLst>
          </p:cNvPr>
          <p:cNvGraphicFramePr>
            <a:graphicFrameLocks noChangeAspect="1"/>
          </p:cNvGraphicFramePr>
          <p:nvPr/>
        </p:nvGraphicFramePr>
        <p:xfrm>
          <a:off x="1123950" y="5337175"/>
          <a:ext cx="6765925" cy="968375"/>
        </p:xfrm>
        <a:graphic>
          <a:graphicData uri="http://schemas.openxmlformats.org/presentationml/2006/ole">
            <mc:AlternateContent xmlns:mc="http://schemas.openxmlformats.org/markup-compatibility/2006">
              <mc:Choice xmlns:v="urn:schemas-microsoft-com:vml" Requires="v">
                <p:oleObj name="Worksheet" r:id="rId5" imgW="6769100" imgH="977900" progId="Excel.Sheet.8">
                  <p:link updateAutomatic="1"/>
                </p:oleObj>
              </mc:Choice>
              <mc:Fallback>
                <p:oleObj name="Worksheet" r:id="rId5" imgW="6769100" imgH="977900" progId="Excel.Sheet.8">
                  <p:link updateAutomatic="1"/>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3950" y="5337175"/>
                        <a:ext cx="6765925" cy="968375"/>
                      </a:xfrm>
                      <a:prstGeom prst="rect">
                        <a:avLst/>
                      </a:prstGeom>
                      <a:noFill/>
                      <a:ln>
                        <a:noFill/>
                      </a:ln>
                      <a:effectLst/>
                      <a:extLst>
                        <a:ext uri="{909E8E84-426E-40DD-AFC4-6F175D3DCCD1}">
                          <a14:hiddenFill xmlns:a14="http://schemas.microsoft.com/office/drawing/2010/main">
                            <a:solidFill>
                              <a:srgbClr val="005C5A"/>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Text Box 2">
            <a:extLst>
              <a:ext uri="{FF2B5EF4-FFF2-40B4-BE49-F238E27FC236}">
                <a16:creationId xmlns:a16="http://schemas.microsoft.com/office/drawing/2014/main" id="{27479D9E-9F5B-FDDA-0819-6C440A667BDB}"/>
              </a:ext>
            </a:extLst>
          </p:cNvPr>
          <p:cNvSpPr txBox="1">
            <a:spLocks noChangeArrowheads="1"/>
          </p:cNvSpPr>
          <p:nvPr/>
        </p:nvSpPr>
        <p:spPr bwMode="auto">
          <a:xfrm>
            <a:off x="1004888" y="2025650"/>
            <a:ext cx="63103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8600" indent="-228600" algn="l">
              <a:tabLst>
                <a:tab pos="2171700" algn="l"/>
              </a:tabLst>
              <a:defRPr sz="2400">
                <a:solidFill>
                  <a:schemeClr val="tx1"/>
                </a:solidFill>
                <a:latin typeface="Times New Roman" panose="02020603050405020304" pitchFamily="18" charset="0"/>
              </a:defRPr>
            </a:lvl1pPr>
            <a:lvl2pPr marL="342900" algn="l">
              <a:tabLst>
                <a:tab pos="2171700" algn="l"/>
              </a:tabLst>
              <a:defRPr sz="2400">
                <a:solidFill>
                  <a:schemeClr val="tx1"/>
                </a:solidFill>
                <a:latin typeface="Times New Roman" panose="02020603050405020304" pitchFamily="18" charset="0"/>
              </a:defRPr>
            </a:lvl2pPr>
            <a:lvl3pPr marL="1371600" algn="l">
              <a:tabLst>
                <a:tab pos="2171700" algn="l"/>
              </a:tabLst>
              <a:defRPr sz="2400">
                <a:solidFill>
                  <a:schemeClr val="tx1"/>
                </a:solidFill>
                <a:latin typeface="Times New Roman" panose="02020603050405020304" pitchFamily="18" charset="0"/>
              </a:defRPr>
            </a:lvl3pPr>
            <a:lvl4pPr marL="1485900" algn="l">
              <a:tabLst>
                <a:tab pos="2171700" algn="l"/>
              </a:tabLst>
              <a:defRPr sz="2400">
                <a:solidFill>
                  <a:schemeClr val="tx1"/>
                </a:solidFill>
                <a:latin typeface="Times New Roman" panose="02020603050405020304" pitchFamily="18" charset="0"/>
              </a:defRPr>
            </a:lvl4pPr>
            <a:lvl5pPr algn="l">
              <a:tabLst>
                <a:tab pos="21717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21717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21717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21717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2171700" algn="l"/>
              </a:tabLst>
              <a:defRPr sz="2400">
                <a:solidFill>
                  <a:schemeClr val="tx1"/>
                </a:solidFill>
                <a:latin typeface="Times New Roman" panose="02020603050405020304" pitchFamily="18" charset="0"/>
              </a:defRPr>
            </a:lvl9pPr>
          </a:lstStyle>
          <a:p>
            <a:pPr>
              <a:spcBef>
                <a:spcPts val="500"/>
              </a:spcBef>
              <a:buClr>
                <a:schemeClr val="tx1"/>
              </a:buClr>
              <a:buFont typeface="Wingdings" pitchFamily="2" charset="2"/>
              <a:buNone/>
            </a:pPr>
            <a:r>
              <a:rPr lang="en-US" altLang="en-US" sz="1800" b="0"/>
              <a:t>Number of Holdings:  418</a:t>
            </a:r>
          </a:p>
        </p:txBody>
      </p:sp>
      <p:sp>
        <p:nvSpPr>
          <p:cNvPr id="316419" name="Rectangle 3">
            <a:extLst>
              <a:ext uri="{FF2B5EF4-FFF2-40B4-BE49-F238E27FC236}">
                <a16:creationId xmlns:a16="http://schemas.microsoft.com/office/drawing/2014/main" id="{9B8BA98D-5A50-7368-CCEB-E17BD90F6548}"/>
              </a:ext>
            </a:extLst>
          </p:cNvPr>
          <p:cNvSpPr>
            <a:spLocks noChangeArrowheads="1"/>
          </p:cNvSpPr>
          <p:nvPr/>
        </p:nvSpPr>
        <p:spPr bwMode="auto">
          <a:xfrm>
            <a:off x="1644650" y="6934200"/>
            <a:ext cx="3756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000" b="0">
                <a:latin typeface="Times New Roman" panose="02020603050405020304" pitchFamily="18" charset="0"/>
              </a:rPr>
              <a:t>Portfolio holdings are subject to change and should not be considered </a:t>
            </a:r>
            <a:br>
              <a:rPr lang="en-US" altLang="en-US" sz="1000" b="0">
                <a:latin typeface="Times New Roman" panose="02020603050405020304" pitchFamily="18" charset="0"/>
              </a:rPr>
            </a:br>
            <a:r>
              <a:rPr lang="en-US" altLang="en-US" sz="1000" b="0">
                <a:latin typeface="Times New Roman" panose="02020603050405020304" pitchFamily="18" charset="0"/>
              </a:rPr>
              <a:t>a recommendation to buy individual securities.</a:t>
            </a:r>
          </a:p>
        </p:txBody>
      </p:sp>
      <p:sp>
        <p:nvSpPr>
          <p:cNvPr id="316420" name="Text Box 4">
            <a:extLst>
              <a:ext uri="{FF2B5EF4-FFF2-40B4-BE49-F238E27FC236}">
                <a16:creationId xmlns:a16="http://schemas.microsoft.com/office/drawing/2014/main" id="{786FAC52-E353-AE76-0CAB-C7584F42E20F}"/>
              </a:ext>
            </a:extLst>
          </p:cNvPr>
          <p:cNvSpPr txBox="1">
            <a:spLocks noChangeArrowheads="1"/>
          </p:cNvSpPr>
          <p:nvPr/>
        </p:nvSpPr>
        <p:spPr bwMode="auto">
          <a:xfrm>
            <a:off x="584200" y="673100"/>
            <a:ext cx="60071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en-US" altLang="en-US" sz="2800" b="0"/>
              <a:t>Emerging Markets</a:t>
            </a:r>
          </a:p>
          <a:p>
            <a:pPr algn="l">
              <a:lnSpc>
                <a:spcPct val="125000"/>
              </a:lnSpc>
            </a:pPr>
            <a:r>
              <a:rPr lang="en-US" altLang="en-US" sz="1800" b="0" i="1"/>
              <a:t>Top Holdings As of December 31, 2001</a:t>
            </a:r>
          </a:p>
        </p:txBody>
      </p:sp>
      <p:graphicFrame>
        <p:nvGraphicFramePr>
          <p:cNvPr id="316421" name="Object 5">
            <a:extLst>
              <a:ext uri="{FF2B5EF4-FFF2-40B4-BE49-F238E27FC236}">
                <a16:creationId xmlns:a16="http://schemas.microsoft.com/office/drawing/2014/main" id="{2837284E-2033-A6BB-9115-7E6CF2E4B4FA}"/>
              </a:ext>
            </a:extLst>
          </p:cNvPr>
          <p:cNvGraphicFramePr>
            <a:graphicFrameLocks noChangeAspect="1"/>
          </p:cNvGraphicFramePr>
          <p:nvPr/>
        </p:nvGraphicFramePr>
        <p:xfrm>
          <a:off x="1104900" y="2424113"/>
          <a:ext cx="7639050" cy="4105275"/>
        </p:xfrm>
        <a:graphic>
          <a:graphicData uri="http://schemas.openxmlformats.org/presentationml/2006/ole">
            <mc:AlternateContent xmlns:mc="http://schemas.openxmlformats.org/markup-compatibility/2006">
              <mc:Choice xmlns:v="urn:schemas-microsoft-com:vml" Requires="v">
                <p:oleObj name="Worksheet" r:id="rId3" imgW="7226300" imgH="3644900" progId="Excel.Sheet.8">
                  <p:link updateAutomatic="1"/>
                </p:oleObj>
              </mc:Choice>
              <mc:Fallback>
                <p:oleObj name="Worksheet" r:id="rId3" imgW="7226300" imgH="3644900" progId="Excel.Sheet.8">
                  <p:link updateAutomatic="1"/>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4900" y="2424113"/>
                        <a:ext cx="7639050" cy="41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5C5A"/>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altLang="en-US" sz="14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rgbClr val="005C5A"/>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altLang="en-US" sz="14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92012</TotalTime>
  <Words>2918</Words>
  <Application>Microsoft Macintosh PowerPoint</Application>
  <PresentationFormat>Custom</PresentationFormat>
  <Paragraphs>484</Paragraphs>
  <Slides>56</Slides>
  <Notes>17</Notes>
  <HiddenSlides>0</HiddenSlides>
  <MMClips>0</MMClips>
  <ScaleCrop>false</ScaleCrop>
  <HeadingPairs>
    <vt:vector size="8" baseType="variant">
      <vt:variant>
        <vt:lpstr>Fonts Used</vt:lpstr>
      </vt:variant>
      <vt:variant>
        <vt:i4>5</vt:i4>
      </vt:variant>
      <vt:variant>
        <vt:lpstr>Theme</vt:lpstr>
      </vt:variant>
      <vt:variant>
        <vt:i4>1</vt:i4>
      </vt:variant>
      <vt:variant>
        <vt:lpstr>Links</vt:lpstr>
      </vt:variant>
      <vt:variant>
        <vt:i4>55</vt:i4>
      </vt:variant>
      <vt:variant>
        <vt:lpstr>Slide Titles</vt:lpstr>
      </vt:variant>
      <vt:variant>
        <vt:i4>56</vt:i4>
      </vt:variant>
    </vt:vector>
  </HeadingPairs>
  <TitlesOfParts>
    <vt:vector size="117" baseType="lpstr">
      <vt:lpstr>Times New Roman</vt:lpstr>
      <vt:lpstr>Garamond</vt:lpstr>
      <vt:lpstr>Arial</vt:lpstr>
      <vt:lpstr>Wingdings</vt:lpstr>
      <vt:lpstr>New Century Schlbk</vt:lpstr>
      <vt:lpstr>Default Design</vt:lpstr>
      <vt:lpstr>///gmo/data/Graphics/Graphics Shared/Int'l. Equities/Emerging Markets/Emerging Markets Bible.xls!Added Value Over Time![Emerging Markets Bible.xls]Added Value Over Time Chart 1</vt:lpstr>
      <vt:lpstr>///gmo/data/Graphics/Graphics Shared/Int'l. Equities/Emerging Markets/Emerging Markets Bible.xls!Value Philosophy Ver 1!R2C2:R7C4</vt:lpstr>
      <vt:lpstr>///gmo/data/Graphics/Graphics Shared/Int'l. Equities/Emerging Markets/Emerging Markets Bible.xls!Value Philosophy Ver 2!R2C2:R9C8</vt:lpstr>
      <vt:lpstr>///fap_bos/graphic/Graphics Shared/Int'l. Equities/Emerging Markets/Emerging Markets Bible.xls!Risk Control!Emerging Markets Bible.xls Chart 1</vt:lpstr>
      <vt:lpstr>///fap_bos/graphic/Graphics Shared/Int'l. Equities/Emerging Markets/Emerging Markets Bible.xls!Risk Control!Emerging Markets Bible.xls Chart 4</vt:lpstr>
      <vt:lpstr>///fap_bos/graphic/Graphics Shared/Int'l. Equities/Emerging Markets/Emerging Markets Bible.xls!Risk Control![Emerging Markets Bible.xls]Risk Control Chart 2</vt:lpstr>
      <vt:lpstr>///fap_bos/graphic/Graphics Shared/Int'l. Equities/Emerging Markets/Emerging Markets Bible.xls!Risk Control![Emerging Markets Bible.xls]Risk Control Chart 5</vt:lpstr>
      <vt:lpstr>///gmo/data/Graphics/Graphics Shared/Int'l. Equities/Emerging Markets/Emerging Markets Bible.xls!Country Emphasis![Emerging Markets Bible.xls]Country Emphasis Chart 1</vt:lpstr>
      <vt:lpstr>///fap_bos/graphic/Graphics Shared/Int'l. Equities/Emerging Markets/Emerging Markets Bible.xls!EMF Process![Emerging Markets Bible.xls]EMF Process Chart 1</vt:lpstr>
      <vt:lpstr>///gmo/data/Graphics/Graphics Shared/Int'l. Equities/Emerging Markets/Emerging Markets Bible.xls!EMF Process![Emerging Markets Bible.xls]EMF Process Chart 2</vt:lpstr>
      <vt:lpstr>///gmo/data/Graphics/Graphics Shared/Int'l. Equities/Emerging Markets/Emerging Markets Bible.xls!Country Allocation!R2C1:R11C4</vt:lpstr>
      <vt:lpstr>///gmo/data/Graphics/Graphics Shared/Int'l. Equities/Emerging Markets/Emerging Markets Bible.xls!Mexico Cty Selection![Emerging Markets Bible.xls]Mexico Cty Selection Chart 1</vt:lpstr>
      <vt:lpstr>///fap_bos/graphic/Graphics Shared/Int'l. Equities/Emerging Markets/Emerging Markets Bible.xls!History Rhymes Mexico!Emerging Markets Bible.xls Chart 1</vt:lpstr>
      <vt:lpstr>///gmo/data/Graphics/Graphics Shared/Int'l. Equities/Emerging Markets/Emerging Markets Bible.xls!But It Rhymes![Emerging Markets Bible.xls]But It Rhymes Chart 1</vt:lpstr>
      <vt:lpstr>///fap_bos/graphic/Graphics Shared/Int'l. Equities/Emerging Markets/Emerging Markets Bible.xls!$ Vulnerability Frame!R1C4:R28C16</vt:lpstr>
      <vt:lpstr>///gmo/data/Graphics/Graphics Shared/Int'l. Equities/Emerging Markets/Emerging Markets Bible.xls!Mexico Currency Situation 9-01!R2C7:R28C18</vt:lpstr>
      <vt:lpstr>///fap_bos/graphic/Graphics Shared/Int'l. Equities/Emerging Markets/Emerging Markets Bible.xls!Currency Vulnerability Top!R1C5:R24C12</vt:lpstr>
      <vt:lpstr>///fap_bos/graphic/Graphics Shared/Int'l. Equities/Emerging Markets/Emerging Markets Bible.xls!Currency Vulnerability Bottom!R3C4:R26C11</vt:lpstr>
      <vt:lpstr>///gmo/data/Graphics/Graphics Shared/Int'l. Equities/Emerging Markets/Emerging Markets Bible.xls!Currency Vulnerability 1-02!R1C7:R26C18</vt:lpstr>
      <vt:lpstr>///gmo/data/Graphics/Graphics Shared/Int'l. Equities/Emerging Markets/Emerging Markets Bible.xls!Stock Sel Val &amp; Mom![Emerging Markets Bible.xls]Stock Sel Val &amp; Mom Chart 1</vt:lpstr>
      <vt:lpstr>/C:/Documents and Settings/RGilkey/Local Settings/Temporary Internet Files/OLK28/stock selection exhibit.xls!Sheet1!R3C1:R27C9</vt:lpstr>
      <vt:lpstr>///gmo/data/Graphics/Graphics Shared/Int'l. Equities/Emerging Markets/Emerging Markets Bible.xls!Proprietary Risk Control![Emerging Markets Bible.xls]Proprietary Risk Control Chart 1</vt:lpstr>
      <vt:lpstr>///gmo/data/Graphics/Graphics Shared/Int'l. Equities/Emerging Markets/Emerging Markets Bible.xls!Modeling Risk![Emerging Markets Bible.xls]Modeling Risk Chart 1</vt:lpstr>
      <vt:lpstr>///gmo/data/Graphics/Graphics Shared/Int'l. Equities/Emerging Markets/Emerging Markets Bible.xls!Portfolio Postioning!R1C1:R6C7</vt:lpstr>
      <vt:lpstr>///gmo/data/Graphics/Graphics Shared/Int'l. Equities/Emerging Markets/Emerging Markets Bible.xls!Positioning Value &amp; Small![Emerging Markets Bible.xls]Positioning Value &amp; Small Chart 2</vt:lpstr>
      <vt:lpstr>///gmo/data/Graphics/Graphics Shared/Int'l. Equities/Emerging Markets/Emerging Markets Bible.xls!Positioning Value &amp; Small![Emerging Markets Bible.xls]Positioning Value &amp; Small Chart 3</vt:lpstr>
      <vt:lpstr>///gmo/data/Graphics/Graphics Shared/Int'l. Equities/Emerging Markets/Emerging Markets Bible.xls!Cap Size Allocation![Emerging Markets Bible.xls]Cap Size Allocation Chart 2</vt:lpstr>
      <vt:lpstr>///gmo/data/Graphics/Graphics Shared/Int'l. Equities/Emerging Markets/Emerging Markets Bible.xls!Valuation Measures!R7C2:R12C6</vt:lpstr>
      <vt:lpstr>///gmo/data/Graphics/Graphics Shared/Int'l. Equities/Emerging Markets/Emerging Markets Bible.xls!Regional Allocation![Emerging Markets Bible.xls]Regional Allocation Chart 1</vt:lpstr>
      <vt:lpstr>///gmobosfap01/clientserv/Consultants/Rpuw20/Quarter End Charts/EMF_New.cha</vt:lpstr>
      <vt:lpstr>///gmo/data/Graphics/Graphics Shared/FrankRussell/Frank Russell Charts 2001/Frank Russell 3Q-01.xls!EMF!R7C2:R18C9</vt:lpstr>
      <vt:lpstr>///gmo/data/Graphics/Graphics Shared/Int'l. Equities/Emerging Markets/Emerging Markets Bible.xls!Performance Attrib Analysis!R4C1:R28C13</vt:lpstr>
      <vt:lpstr>///fap_bos/graphic/Graphics Shared/Appendix/Appendix Land.xls!Representative Clients 3-01!R1C1:R2C4</vt:lpstr>
      <vt:lpstr>///fap_bos/graphic/Graphics Shared/Appendix/Appendix Land.xls!Representative Clients 3-01!R5C1:R29C4</vt:lpstr>
      <vt:lpstr>///fap_bos/graphic/Graphics Shared/Appendix/Appendix Land.xls!Representative Clients 3-01!R50C1:R60C4</vt:lpstr>
      <vt:lpstr>///fap_bos/graphic/Graphics Shared/Appendix/Appendix Land.xls!Representative Clients 5-01!R31C1:R48C4</vt:lpstr>
      <vt:lpstr>///fap_bos/graphic/Graphics Shared/Appendix/Appendix Land.xls!Representative Clients 3-01!R63C1:R88C4</vt:lpstr>
      <vt:lpstr>///gmo/data/Graphics/Graphics Shared/Int'l. Equities/Emerging Markets/Emerging Markets Bible.xls!Main Sheet!R1C34:R40C44</vt:lpstr>
      <vt:lpstr>///gmo/data/Graphics/Graphics Shared/Int'l. Equities/Emerging Markets/Emerging Markets Bible.xls!Don't Fire![Emerging Markets Bible.xls]Don't Fire Chart 1</vt:lpstr>
      <vt:lpstr>///fap_bos/graphic/Graphics Shared/Int'l. Equities/Emerging Markets/Emerging Markets Bible.xls!Economic Risk Regresses![Emerging Markets Bible.xls]Economic Risk Regresses Chart 1</vt:lpstr>
      <vt:lpstr>///gmo/data/Graphics/Graphics Shared/Int'l. Equities/Emerging Markets/Emerging Markets Bible.xls!Growth Regresses Quickly![Emerging Markets Bible.xls]Growth Regresses Quickly Chart 1</vt:lpstr>
      <vt:lpstr>///fap_bos/graphic/Graphics Shared/Int'l. Equities/Emerging Markets/EMF Supplemental Matls.xls!Adj Price Earnings!R2C1:R9C6</vt:lpstr>
      <vt:lpstr>///fap_bos/graphic/Graphics Shared/Int'l. Equities/Emerging Markets/EMF Supplemental Matls.xls!Simulated Adj PE Model!R40C20:R49C22</vt:lpstr>
      <vt:lpstr>///fap_bos/graphic/Graphics Shared/Int'l. Equities/Emerging Markets/EMF Supplemental Matls.xls!Simulated Adj PE Model![EMF Supplemental Matls.xls]Simulated Adj PE Model Chart 1</vt:lpstr>
      <vt:lpstr>///fap_bos/graphic/Graphics Shared/Int'l. Equities/Emerging Markets/EMF Supplemental Matls.xls!Simulated Adj PE Model![EMF Supplemental Matls.xls]Simulated Adj PE Model Chart 2</vt:lpstr>
      <vt:lpstr>///fap_bos/graphic/Graphics Shared/Int'l. Equities/Emerging Markets/EMF Supplemental Matls.xls!Simulated Adj PE Model![EMF Supplemental Matls.xls]Simulated Adj PE Model Chart 3</vt:lpstr>
      <vt:lpstr>///fap_bos/graphic/Graphics Shared/Int'l. Equities/Emerging Markets/EMF Supplemental Matls.xls!Simulated Adj PE Model![EMF Supplemental Matls.xls]Simulated Adj PE Model Chart 4</vt:lpstr>
      <vt:lpstr>///fap_bos/graphic/Graphics Shared/Int'l. Equities/Emerging Markets/EMF Supplemental Matls.xls!Price Momentum Mexico![EMF Supplemental Matls.xls]Price Momentum Mexico Chart 1</vt:lpstr>
      <vt:lpstr>///fap_bos/graphic/Graphics Shared/Int'l. Equities/Emerging Markets/EMF Supplemental Matls.xls!Price Momentum Mexico![EMF Supplemental Matls.xls]Price Momentum Mexico Chart 2</vt:lpstr>
      <vt:lpstr>///fap_bos/graphic/Graphics Shared/Int'l. Equities/Emerging Markets/EMF Supplemental Matls.xls!Price Momentum Mexico![EMF Supplemental Matls.xls]Price Momentum Mexico Chart 3</vt:lpstr>
      <vt:lpstr>///gmo/data/Graphics/Graphics Shared/Int'l. Equities/Emerging Markets/Emerging Markets Bible.xls!Value Burns Slowly![Emerging Markets Bible.xls]Value Burns Slowly Chart 1</vt:lpstr>
      <vt:lpstr>///gmo/data/Graphics/Graphics Shared/Int'l. Equities/Emerging Markets/Emerging Markets Bible.xls!Momentum Burns Quickly![Emerging Markets Bible.xls]Momentum Burns Quickly Chart 1</vt:lpstr>
      <vt:lpstr>///gmo/data/Graphics/Graphics Shared/Int'l. Equities/Emerging Markets/Emerging Markets Bible.xls!EMF 1,3,5,ITD Perf Gross!Emerging Markets Bible.xls Chart 1</vt:lpstr>
      <vt:lpstr>///gmo/data/Graphics/Graphics Shared/Int'l. Equities/Emerging Markets/Emerging Markets Bible.xls!EMF 1,3,5,ITD Perf Gross!R6C2:R8C6</vt:lpstr>
      <vt:lpstr>/Users/corona2020/Dropbox/GMO/GMO Historical Stuff/NewMexicoStateEndow_1-02.xls!EMF 15 Holdings!R3C1:R21C5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GMO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RGilkey</dc:creator>
  <cp:lastModifiedBy>arjun divecha</cp:lastModifiedBy>
  <cp:revision>779</cp:revision>
  <cp:lastPrinted>2000-08-04T19:57:03Z</cp:lastPrinted>
  <dcterms:created xsi:type="dcterms:W3CDTF">2000-04-26T17:47:11Z</dcterms:created>
  <dcterms:modified xsi:type="dcterms:W3CDTF">2022-09-07T23:49:42Z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1892075489</vt:i4>
  </property>
  <property fmtid="{D5CDD505-2E9C-101B-9397-08002B2CF9AE}" pid="3" name="_EmailSubject">
    <vt:lpwstr>Updated bible with added exhibits</vt:lpwstr>
  </property>
  <property fmtid="{D5CDD505-2E9C-101B-9397-08002B2CF9AE}" pid="4" name="_AuthorEmail">
    <vt:lpwstr>Rebecca_Gilkey@gmo.com</vt:lpwstr>
  </property>
  <property fmtid="{D5CDD505-2E9C-101B-9397-08002B2CF9AE}" pid="5" name="_AuthorEmailDisplayName">
    <vt:lpwstr>Rebecca Gilkey</vt:lpwstr>
  </property>
</Properties>
</file>