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3.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4.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5.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60" r:id="rId8"/>
  </p:sldMasterIdLst>
  <p:notesMasterIdLst>
    <p:notesMasterId r:id="rId50"/>
  </p:notesMasterIdLst>
  <p:handoutMasterIdLst>
    <p:handoutMasterId r:id="rId51"/>
  </p:handoutMasterIdLst>
  <p:sldIdLst>
    <p:sldId id="310" r:id="rId9"/>
    <p:sldId id="336" r:id="rId10"/>
    <p:sldId id="377" r:id="rId11"/>
    <p:sldId id="338" r:id="rId12"/>
    <p:sldId id="339" r:id="rId13"/>
    <p:sldId id="340" r:id="rId14"/>
    <p:sldId id="341" r:id="rId15"/>
    <p:sldId id="342" r:id="rId16"/>
    <p:sldId id="343" r:id="rId17"/>
    <p:sldId id="344" r:id="rId18"/>
    <p:sldId id="345" r:id="rId19"/>
    <p:sldId id="363" r:id="rId20"/>
    <p:sldId id="361" r:id="rId21"/>
    <p:sldId id="348" r:id="rId22"/>
    <p:sldId id="366" r:id="rId23"/>
    <p:sldId id="349" r:id="rId24"/>
    <p:sldId id="367" r:id="rId25"/>
    <p:sldId id="352" r:id="rId26"/>
    <p:sldId id="374" r:id="rId27"/>
    <p:sldId id="355" r:id="rId28"/>
    <p:sldId id="371" r:id="rId29"/>
    <p:sldId id="373" r:id="rId30"/>
    <p:sldId id="356" r:id="rId31"/>
    <p:sldId id="372" r:id="rId32"/>
    <p:sldId id="357" r:id="rId33"/>
    <p:sldId id="358" r:id="rId34"/>
    <p:sldId id="359" r:id="rId35"/>
    <p:sldId id="320" r:id="rId36"/>
    <p:sldId id="318" r:id="rId37"/>
    <p:sldId id="319" r:id="rId38"/>
    <p:sldId id="346" r:id="rId39"/>
    <p:sldId id="364" r:id="rId40"/>
    <p:sldId id="362" r:id="rId41"/>
    <p:sldId id="347" r:id="rId42"/>
    <p:sldId id="365" r:id="rId43"/>
    <p:sldId id="350" r:id="rId44"/>
    <p:sldId id="375" r:id="rId45"/>
    <p:sldId id="351" r:id="rId46"/>
    <p:sldId id="376" r:id="rId47"/>
    <p:sldId id="370" r:id="rId48"/>
    <p:sldId id="353" r:id="rId49"/>
  </p:sldIdLst>
  <p:sldSz cx="13817600" cy="7772400"/>
  <p:notesSz cx="7315200" cy="9601200"/>
  <p:custDataLst>
    <p:custData r:id="rId7"/>
    <p:custData r:id="rId5"/>
    <p:custData r:id="rId2"/>
    <p:custData r:id="rId1"/>
    <p:custData r:id="rId6"/>
    <p:custData r:id="rId4"/>
    <p:custData r:id="rId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36" userDrawn="1">
          <p15:clr>
            <a:srgbClr val="A4A3A4"/>
          </p15:clr>
        </p15:guide>
        <p15:guide id="2" pos="2600" userDrawn="1">
          <p15:clr>
            <a:srgbClr val="A4A3A4"/>
          </p15:clr>
        </p15:guide>
        <p15:guide id="3" orient="horz" pos="4080" userDrawn="1">
          <p15:clr>
            <a:srgbClr val="A4A3A4"/>
          </p15:clr>
        </p15:guide>
        <p15:guide id="4" orient="horz" pos="3528" userDrawn="1">
          <p15:clr>
            <a:srgbClr val="A4A3A4"/>
          </p15:clr>
        </p15:guide>
        <p15:guide id="5" orient="horz" pos="1464" userDrawn="1">
          <p15:clr>
            <a:srgbClr val="A4A3A4"/>
          </p15:clr>
        </p15:guide>
        <p15:guide id="6" orient="horz" pos="3864" userDrawn="1">
          <p15:clr>
            <a:srgbClr val="A4A3A4"/>
          </p15:clr>
        </p15:guide>
        <p15:guide id="7" orient="horz" pos="2280" userDrawn="1">
          <p15:clr>
            <a:srgbClr val="A4A3A4"/>
          </p15:clr>
        </p15:guide>
        <p15:guide id="8" pos="4352" userDrawn="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7A4B"/>
    <a:srgbClr val="9A8C7B"/>
    <a:srgbClr val="407D98"/>
    <a:srgbClr val="76637F"/>
    <a:srgbClr val="478976"/>
    <a:srgbClr val="AF332B"/>
    <a:srgbClr val="013957"/>
    <a:srgbClr val="D6A72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98" autoAdjust="0"/>
    <p:restoredTop sz="94660"/>
  </p:normalViewPr>
  <p:slideViewPr>
    <p:cSldViewPr snapToGrid="0">
      <p:cViewPr varScale="1">
        <p:scale>
          <a:sx n="113" d="100"/>
          <a:sy n="113" d="100"/>
        </p:scale>
        <p:origin x="1008" y="184"/>
      </p:cViewPr>
      <p:guideLst>
        <p:guide orient="horz" pos="2736"/>
        <p:guide pos="2600"/>
        <p:guide orient="horz" pos="4080"/>
        <p:guide orient="horz" pos="3528"/>
        <p:guide orient="horz" pos="1464"/>
        <p:guide orient="horz" pos="3864"/>
        <p:guide orient="horz" pos="2280"/>
        <p:guide pos="4352"/>
      </p:guideLst>
    </p:cSldViewPr>
  </p:slideViewPr>
  <p:notesTextViewPr>
    <p:cViewPr>
      <p:scale>
        <a:sx n="1" d="1"/>
        <a:sy n="1" d="1"/>
      </p:scale>
      <p:origin x="0" y="0"/>
    </p:cViewPr>
  </p:notesTextViewPr>
  <p:sorterViewPr>
    <p:cViewPr varScale="1">
      <p:scale>
        <a:sx n="1" d="1"/>
        <a:sy n="1" d="1"/>
      </p:scale>
      <p:origin x="0" y="-2316"/>
    </p:cViewPr>
  </p:sorterViewPr>
  <p:notesViewPr>
    <p:cSldViewPr snapToGrid="0">
      <p:cViewPr varScale="1">
        <p:scale>
          <a:sx n="66" d="100"/>
          <a:sy n="66"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viewProps" Target="viewProps.xml"/><Relationship Id="rId5" Type="http://schemas.openxmlformats.org/officeDocument/2006/relationships/customXml" Target="../customXml/item5.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8" Type="http://schemas.openxmlformats.org/officeDocument/2006/relationships/slideMaster" Target="slideMasters/slideMaster1.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pascual\AppData\Roaming\Microsoft\Excel\Returns%20and%20Turnover%20(003)%20(version%201)%20(version%201).xlsb"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pascual\AppData\Roaming\Microsoft\Excel\Returns%20and%20Turnover%20(003)%20(version%201)%20(version%201).xlsb"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corona2020\Dropbox\GMO\2022%20Fall%20Conference\India%20and%20China%20Demographic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corona2020\Dropbox\GMO\2022%20Fall%20Conference\Data%20Concentration.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RGilkey\AppData\Local\Microsoft\Windows\INetCache\Content.Outlook\7N7KWR0O\Table%20and%20Chart%20-%20Master.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Users\corona2020\Dropbox\GMO\2022%20Fall%20Conference\Data%20-%20Sector%20Weight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pascual\AppData\Roaming\Microsoft\Excel\Returns%20and%20Turnover%20(003)%20(version%201)%20(version%201).xlsb"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Users\corona2020\Dropbox\GMO\2022%20Fall%20Conference\Vietname%20vs%20Brazil%20GDP%20Growth.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Concentration!$A$36</c:f>
              <c:strCache>
                <c:ptCount val="1"/>
                <c:pt idx="0">
                  <c:v>China</c:v>
                </c:pt>
              </c:strCache>
            </c:strRef>
          </c:tx>
          <c:spPr>
            <a:ln w="38100" cap="rnd">
              <a:solidFill>
                <a:schemeClr val="bg2"/>
              </a:solidFill>
              <a:round/>
            </a:ln>
            <a:effectLst/>
          </c:spPr>
          <c:marker>
            <c:symbol val="none"/>
          </c:marker>
          <c:cat>
            <c:numRef>
              <c:f>Concentration!$B$35:$LV$35</c:f>
              <c:numCache>
                <c:formatCode>mmm\-yy</c:formatCode>
                <c:ptCount val="333"/>
                <c:pt idx="0">
                  <c:v>44805</c:v>
                </c:pt>
                <c:pt idx="1">
                  <c:v>44774</c:v>
                </c:pt>
                <c:pt idx="2">
                  <c:v>44743</c:v>
                </c:pt>
                <c:pt idx="3">
                  <c:v>44713</c:v>
                </c:pt>
                <c:pt idx="4">
                  <c:v>44682</c:v>
                </c:pt>
                <c:pt idx="5">
                  <c:v>44652</c:v>
                </c:pt>
                <c:pt idx="6">
                  <c:v>44621</c:v>
                </c:pt>
                <c:pt idx="7">
                  <c:v>44593</c:v>
                </c:pt>
                <c:pt idx="8">
                  <c:v>44562</c:v>
                </c:pt>
                <c:pt idx="9">
                  <c:v>44531</c:v>
                </c:pt>
                <c:pt idx="10">
                  <c:v>44501</c:v>
                </c:pt>
                <c:pt idx="11">
                  <c:v>44470</c:v>
                </c:pt>
                <c:pt idx="12">
                  <c:v>44440</c:v>
                </c:pt>
                <c:pt idx="13">
                  <c:v>44409</c:v>
                </c:pt>
                <c:pt idx="14">
                  <c:v>44378</c:v>
                </c:pt>
                <c:pt idx="15">
                  <c:v>44348</c:v>
                </c:pt>
                <c:pt idx="16">
                  <c:v>44317</c:v>
                </c:pt>
                <c:pt idx="17">
                  <c:v>44287</c:v>
                </c:pt>
                <c:pt idx="18">
                  <c:v>44256</c:v>
                </c:pt>
                <c:pt idx="19">
                  <c:v>44228</c:v>
                </c:pt>
                <c:pt idx="20">
                  <c:v>44197</c:v>
                </c:pt>
                <c:pt idx="21">
                  <c:v>44166</c:v>
                </c:pt>
                <c:pt idx="22">
                  <c:v>44136</c:v>
                </c:pt>
                <c:pt idx="23">
                  <c:v>44105</c:v>
                </c:pt>
                <c:pt idx="24">
                  <c:v>44075</c:v>
                </c:pt>
                <c:pt idx="25">
                  <c:v>44044</c:v>
                </c:pt>
                <c:pt idx="26">
                  <c:v>44013</c:v>
                </c:pt>
                <c:pt idx="27">
                  <c:v>43983</c:v>
                </c:pt>
                <c:pt idx="28">
                  <c:v>43952</c:v>
                </c:pt>
                <c:pt idx="29">
                  <c:v>43922</c:v>
                </c:pt>
                <c:pt idx="30">
                  <c:v>43891</c:v>
                </c:pt>
                <c:pt idx="31">
                  <c:v>43862</c:v>
                </c:pt>
                <c:pt idx="32">
                  <c:v>43831</c:v>
                </c:pt>
                <c:pt idx="33">
                  <c:v>43800</c:v>
                </c:pt>
                <c:pt idx="34">
                  <c:v>43770</c:v>
                </c:pt>
                <c:pt idx="35">
                  <c:v>43739</c:v>
                </c:pt>
                <c:pt idx="36">
                  <c:v>43709</c:v>
                </c:pt>
                <c:pt idx="37">
                  <c:v>43678</c:v>
                </c:pt>
                <c:pt idx="38">
                  <c:v>43647</c:v>
                </c:pt>
                <c:pt idx="39">
                  <c:v>43617</c:v>
                </c:pt>
                <c:pt idx="40">
                  <c:v>43586</c:v>
                </c:pt>
                <c:pt idx="41">
                  <c:v>43556</c:v>
                </c:pt>
                <c:pt idx="42">
                  <c:v>43525</c:v>
                </c:pt>
                <c:pt idx="43">
                  <c:v>43497</c:v>
                </c:pt>
                <c:pt idx="44">
                  <c:v>43466</c:v>
                </c:pt>
                <c:pt idx="45">
                  <c:v>43435</c:v>
                </c:pt>
                <c:pt idx="46">
                  <c:v>43405</c:v>
                </c:pt>
                <c:pt idx="47">
                  <c:v>43374</c:v>
                </c:pt>
                <c:pt idx="48">
                  <c:v>43344</c:v>
                </c:pt>
                <c:pt idx="49">
                  <c:v>43313</c:v>
                </c:pt>
                <c:pt idx="50">
                  <c:v>43282</c:v>
                </c:pt>
                <c:pt idx="51">
                  <c:v>43252</c:v>
                </c:pt>
                <c:pt idx="52">
                  <c:v>43221</c:v>
                </c:pt>
                <c:pt idx="53">
                  <c:v>43191</c:v>
                </c:pt>
                <c:pt idx="54">
                  <c:v>43160</c:v>
                </c:pt>
                <c:pt idx="55">
                  <c:v>43132</c:v>
                </c:pt>
                <c:pt idx="56">
                  <c:v>43101</c:v>
                </c:pt>
                <c:pt idx="57">
                  <c:v>43070</c:v>
                </c:pt>
                <c:pt idx="58">
                  <c:v>43040</c:v>
                </c:pt>
                <c:pt idx="59">
                  <c:v>43009</c:v>
                </c:pt>
                <c:pt idx="60">
                  <c:v>42979</c:v>
                </c:pt>
                <c:pt idx="61">
                  <c:v>42948</c:v>
                </c:pt>
                <c:pt idx="62">
                  <c:v>42917</c:v>
                </c:pt>
                <c:pt idx="63">
                  <c:v>42887</c:v>
                </c:pt>
                <c:pt idx="64">
                  <c:v>42856</c:v>
                </c:pt>
                <c:pt idx="65">
                  <c:v>42826</c:v>
                </c:pt>
                <c:pt idx="66">
                  <c:v>42795</c:v>
                </c:pt>
                <c:pt idx="67">
                  <c:v>42767</c:v>
                </c:pt>
                <c:pt idx="68">
                  <c:v>42736</c:v>
                </c:pt>
                <c:pt idx="69">
                  <c:v>42705</c:v>
                </c:pt>
                <c:pt idx="70">
                  <c:v>42675</c:v>
                </c:pt>
                <c:pt idx="71">
                  <c:v>42644</c:v>
                </c:pt>
                <c:pt idx="72">
                  <c:v>42614</c:v>
                </c:pt>
                <c:pt idx="73">
                  <c:v>42583</c:v>
                </c:pt>
                <c:pt idx="74">
                  <c:v>42552</c:v>
                </c:pt>
                <c:pt idx="75">
                  <c:v>42522</c:v>
                </c:pt>
                <c:pt idx="76">
                  <c:v>42491</c:v>
                </c:pt>
                <c:pt idx="77">
                  <c:v>42461</c:v>
                </c:pt>
                <c:pt idx="78">
                  <c:v>42430</c:v>
                </c:pt>
                <c:pt idx="79">
                  <c:v>42401</c:v>
                </c:pt>
                <c:pt idx="80">
                  <c:v>42370</c:v>
                </c:pt>
                <c:pt idx="81">
                  <c:v>42339</c:v>
                </c:pt>
                <c:pt idx="82">
                  <c:v>42309</c:v>
                </c:pt>
                <c:pt idx="83">
                  <c:v>42278</c:v>
                </c:pt>
                <c:pt idx="84">
                  <c:v>42248</c:v>
                </c:pt>
                <c:pt idx="85">
                  <c:v>42217</c:v>
                </c:pt>
                <c:pt idx="86">
                  <c:v>42186</c:v>
                </c:pt>
                <c:pt idx="87">
                  <c:v>42156</c:v>
                </c:pt>
                <c:pt idx="88">
                  <c:v>42125</c:v>
                </c:pt>
                <c:pt idx="89">
                  <c:v>42095</c:v>
                </c:pt>
                <c:pt idx="90">
                  <c:v>42064</c:v>
                </c:pt>
                <c:pt idx="91">
                  <c:v>42036</c:v>
                </c:pt>
                <c:pt idx="92">
                  <c:v>42005</c:v>
                </c:pt>
                <c:pt idx="93">
                  <c:v>41974</c:v>
                </c:pt>
                <c:pt idx="94">
                  <c:v>41944</c:v>
                </c:pt>
                <c:pt idx="95">
                  <c:v>41913</c:v>
                </c:pt>
                <c:pt idx="96">
                  <c:v>41883</c:v>
                </c:pt>
                <c:pt idx="97">
                  <c:v>41852</c:v>
                </c:pt>
                <c:pt idx="98">
                  <c:v>41821</c:v>
                </c:pt>
                <c:pt idx="99">
                  <c:v>41791</c:v>
                </c:pt>
                <c:pt idx="100">
                  <c:v>41760</c:v>
                </c:pt>
                <c:pt idx="101">
                  <c:v>41730</c:v>
                </c:pt>
                <c:pt idx="102">
                  <c:v>41699</c:v>
                </c:pt>
                <c:pt idx="103">
                  <c:v>41671</c:v>
                </c:pt>
                <c:pt idx="104">
                  <c:v>41640</c:v>
                </c:pt>
                <c:pt idx="105">
                  <c:v>41609</c:v>
                </c:pt>
                <c:pt idx="106">
                  <c:v>41579</c:v>
                </c:pt>
                <c:pt idx="107">
                  <c:v>41548</c:v>
                </c:pt>
                <c:pt idx="108">
                  <c:v>41518</c:v>
                </c:pt>
                <c:pt idx="109">
                  <c:v>41487</c:v>
                </c:pt>
                <c:pt idx="110">
                  <c:v>41456</c:v>
                </c:pt>
                <c:pt idx="111">
                  <c:v>41426</c:v>
                </c:pt>
                <c:pt idx="112">
                  <c:v>41395</c:v>
                </c:pt>
                <c:pt idx="113">
                  <c:v>41365</c:v>
                </c:pt>
                <c:pt idx="114">
                  <c:v>41334</c:v>
                </c:pt>
                <c:pt idx="115">
                  <c:v>41306</c:v>
                </c:pt>
                <c:pt idx="116">
                  <c:v>41275</c:v>
                </c:pt>
                <c:pt idx="117">
                  <c:v>41244</c:v>
                </c:pt>
                <c:pt idx="118">
                  <c:v>41214</c:v>
                </c:pt>
                <c:pt idx="119">
                  <c:v>41183</c:v>
                </c:pt>
                <c:pt idx="120">
                  <c:v>41153</c:v>
                </c:pt>
                <c:pt idx="121">
                  <c:v>41122</c:v>
                </c:pt>
                <c:pt idx="122">
                  <c:v>41091</c:v>
                </c:pt>
                <c:pt idx="123">
                  <c:v>41061</c:v>
                </c:pt>
                <c:pt idx="124">
                  <c:v>41030</c:v>
                </c:pt>
                <c:pt idx="125">
                  <c:v>41000</c:v>
                </c:pt>
                <c:pt idx="126">
                  <c:v>40969</c:v>
                </c:pt>
                <c:pt idx="127">
                  <c:v>40940</c:v>
                </c:pt>
                <c:pt idx="128">
                  <c:v>40909</c:v>
                </c:pt>
                <c:pt idx="129">
                  <c:v>40878</c:v>
                </c:pt>
                <c:pt idx="130">
                  <c:v>40848</c:v>
                </c:pt>
                <c:pt idx="131">
                  <c:v>40817</c:v>
                </c:pt>
                <c:pt idx="132">
                  <c:v>40787</c:v>
                </c:pt>
                <c:pt idx="133">
                  <c:v>40756</c:v>
                </c:pt>
                <c:pt idx="134">
                  <c:v>40725</c:v>
                </c:pt>
                <c:pt idx="135">
                  <c:v>40695</c:v>
                </c:pt>
                <c:pt idx="136">
                  <c:v>40664</c:v>
                </c:pt>
                <c:pt idx="137">
                  <c:v>40634</c:v>
                </c:pt>
                <c:pt idx="138">
                  <c:v>40603</c:v>
                </c:pt>
                <c:pt idx="139">
                  <c:v>40575</c:v>
                </c:pt>
                <c:pt idx="140">
                  <c:v>40544</c:v>
                </c:pt>
                <c:pt idx="141">
                  <c:v>40513</c:v>
                </c:pt>
                <c:pt idx="142">
                  <c:v>40483</c:v>
                </c:pt>
                <c:pt idx="143">
                  <c:v>40452</c:v>
                </c:pt>
                <c:pt idx="144">
                  <c:v>40422</c:v>
                </c:pt>
                <c:pt idx="145">
                  <c:v>40391</c:v>
                </c:pt>
                <c:pt idx="146">
                  <c:v>40360</c:v>
                </c:pt>
                <c:pt idx="147">
                  <c:v>40330</c:v>
                </c:pt>
                <c:pt idx="148">
                  <c:v>40299</c:v>
                </c:pt>
                <c:pt idx="149">
                  <c:v>40269</c:v>
                </c:pt>
                <c:pt idx="150">
                  <c:v>40238</c:v>
                </c:pt>
                <c:pt idx="151">
                  <c:v>40210</c:v>
                </c:pt>
                <c:pt idx="152">
                  <c:v>40179</c:v>
                </c:pt>
                <c:pt idx="153">
                  <c:v>40148</c:v>
                </c:pt>
                <c:pt idx="154">
                  <c:v>40118</c:v>
                </c:pt>
                <c:pt idx="155">
                  <c:v>40087</c:v>
                </c:pt>
                <c:pt idx="156">
                  <c:v>40057</c:v>
                </c:pt>
                <c:pt idx="157">
                  <c:v>40026</c:v>
                </c:pt>
                <c:pt idx="158">
                  <c:v>39995</c:v>
                </c:pt>
                <c:pt idx="159">
                  <c:v>39965</c:v>
                </c:pt>
                <c:pt idx="160">
                  <c:v>39934</c:v>
                </c:pt>
                <c:pt idx="161">
                  <c:v>39904</c:v>
                </c:pt>
                <c:pt idx="162">
                  <c:v>39873</c:v>
                </c:pt>
                <c:pt idx="163">
                  <c:v>39845</c:v>
                </c:pt>
                <c:pt idx="164">
                  <c:v>39814</c:v>
                </c:pt>
                <c:pt idx="165">
                  <c:v>39783</c:v>
                </c:pt>
                <c:pt idx="166">
                  <c:v>39753</c:v>
                </c:pt>
                <c:pt idx="167">
                  <c:v>39722</c:v>
                </c:pt>
                <c:pt idx="168">
                  <c:v>39692</c:v>
                </c:pt>
                <c:pt idx="169">
                  <c:v>39661</c:v>
                </c:pt>
                <c:pt idx="170">
                  <c:v>39630</c:v>
                </c:pt>
                <c:pt idx="171">
                  <c:v>39600</c:v>
                </c:pt>
                <c:pt idx="172">
                  <c:v>39569</c:v>
                </c:pt>
                <c:pt idx="173">
                  <c:v>39539</c:v>
                </c:pt>
                <c:pt idx="174">
                  <c:v>39508</c:v>
                </c:pt>
                <c:pt idx="175">
                  <c:v>39479</c:v>
                </c:pt>
                <c:pt idx="176">
                  <c:v>39448</c:v>
                </c:pt>
                <c:pt idx="177">
                  <c:v>39417</c:v>
                </c:pt>
                <c:pt idx="178">
                  <c:v>39387</c:v>
                </c:pt>
                <c:pt idx="179">
                  <c:v>39356</c:v>
                </c:pt>
                <c:pt idx="180">
                  <c:v>39326</c:v>
                </c:pt>
                <c:pt idx="181">
                  <c:v>39295</c:v>
                </c:pt>
                <c:pt idx="182">
                  <c:v>39264</c:v>
                </c:pt>
                <c:pt idx="183">
                  <c:v>39234</c:v>
                </c:pt>
                <c:pt idx="184">
                  <c:v>39203</c:v>
                </c:pt>
                <c:pt idx="185">
                  <c:v>39173</c:v>
                </c:pt>
                <c:pt idx="186">
                  <c:v>39142</c:v>
                </c:pt>
                <c:pt idx="187">
                  <c:v>39114</c:v>
                </c:pt>
                <c:pt idx="188">
                  <c:v>39083</c:v>
                </c:pt>
                <c:pt idx="189">
                  <c:v>39052</c:v>
                </c:pt>
                <c:pt idx="190">
                  <c:v>39022</c:v>
                </c:pt>
                <c:pt idx="191">
                  <c:v>38991</c:v>
                </c:pt>
                <c:pt idx="192">
                  <c:v>38961</c:v>
                </c:pt>
                <c:pt idx="193">
                  <c:v>38930</c:v>
                </c:pt>
                <c:pt idx="194">
                  <c:v>38899</c:v>
                </c:pt>
                <c:pt idx="195">
                  <c:v>38869</c:v>
                </c:pt>
                <c:pt idx="196">
                  <c:v>38838</c:v>
                </c:pt>
                <c:pt idx="197">
                  <c:v>38808</c:v>
                </c:pt>
                <c:pt idx="198">
                  <c:v>38777</c:v>
                </c:pt>
                <c:pt idx="199">
                  <c:v>38749</c:v>
                </c:pt>
                <c:pt idx="200">
                  <c:v>38718</c:v>
                </c:pt>
                <c:pt idx="201">
                  <c:v>38687</c:v>
                </c:pt>
                <c:pt idx="202">
                  <c:v>38657</c:v>
                </c:pt>
                <c:pt idx="203">
                  <c:v>38626</c:v>
                </c:pt>
                <c:pt idx="204">
                  <c:v>38596</c:v>
                </c:pt>
                <c:pt idx="205">
                  <c:v>38565</c:v>
                </c:pt>
                <c:pt idx="206">
                  <c:v>38534</c:v>
                </c:pt>
                <c:pt idx="207">
                  <c:v>38504</c:v>
                </c:pt>
                <c:pt idx="208">
                  <c:v>38473</c:v>
                </c:pt>
                <c:pt idx="209">
                  <c:v>38443</c:v>
                </c:pt>
                <c:pt idx="210">
                  <c:v>38412</c:v>
                </c:pt>
                <c:pt idx="211">
                  <c:v>38384</c:v>
                </c:pt>
                <c:pt idx="212">
                  <c:v>38353</c:v>
                </c:pt>
                <c:pt idx="213">
                  <c:v>38322</c:v>
                </c:pt>
                <c:pt idx="214">
                  <c:v>38292</c:v>
                </c:pt>
                <c:pt idx="215">
                  <c:v>38261</c:v>
                </c:pt>
                <c:pt idx="216">
                  <c:v>38231</c:v>
                </c:pt>
                <c:pt idx="217">
                  <c:v>38200</c:v>
                </c:pt>
                <c:pt idx="218">
                  <c:v>38169</c:v>
                </c:pt>
                <c:pt idx="219">
                  <c:v>38139</c:v>
                </c:pt>
                <c:pt idx="220">
                  <c:v>38108</c:v>
                </c:pt>
                <c:pt idx="221">
                  <c:v>38078</c:v>
                </c:pt>
                <c:pt idx="222">
                  <c:v>38047</c:v>
                </c:pt>
                <c:pt idx="223">
                  <c:v>38018</c:v>
                </c:pt>
                <c:pt idx="224">
                  <c:v>37987</c:v>
                </c:pt>
                <c:pt idx="225">
                  <c:v>37956</c:v>
                </c:pt>
                <c:pt idx="226">
                  <c:v>37926</c:v>
                </c:pt>
                <c:pt idx="227">
                  <c:v>37895</c:v>
                </c:pt>
                <c:pt idx="228">
                  <c:v>37865</c:v>
                </c:pt>
                <c:pt idx="229">
                  <c:v>37834</c:v>
                </c:pt>
                <c:pt idx="230">
                  <c:v>37803</c:v>
                </c:pt>
                <c:pt idx="231">
                  <c:v>37773</c:v>
                </c:pt>
                <c:pt idx="232">
                  <c:v>37742</c:v>
                </c:pt>
                <c:pt idx="233">
                  <c:v>37712</c:v>
                </c:pt>
                <c:pt idx="234">
                  <c:v>37681</c:v>
                </c:pt>
                <c:pt idx="235">
                  <c:v>37653</c:v>
                </c:pt>
                <c:pt idx="236">
                  <c:v>37622</c:v>
                </c:pt>
                <c:pt idx="237">
                  <c:v>37591</c:v>
                </c:pt>
                <c:pt idx="238">
                  <c:v>37561</c:v>
                </c:pt>
                <c:pt idx="239">
                  <c:v>37530</c:v>
                </c:pt>
                <c:pt idx="240">
                  <c:v>37500</c:v>
                </c:pt>
                <c:pt idx="241">
                  <c:v>37469</c:v>
                </c:pt>
                <c:pt idx="242">
                  <c:v>37438</c:v>
                </c:pt>
                <c:pt idx="243">
                  <c:v>37408</c:v>
                </c:pt>
                <c:pt idx="244">
                  <c:v>37377</c:v>
                </c:pt>
                <c:pt idx="245">
                  <c:v>37347</c:v>
                </c:pt>
                <c:pt idx="246">
                  <c:v>37316</c:v>
                </c:pt>
                <c:pt idx="247">
                  <c:v>37288</c:v>
                </c:pt>
                <c:pt idx="248">
                  <c:v>37257</c:v>
                </c:pt>
                <c:pt idx="249">
                  <c:v>37226</c:v>
                </c:pt>
                <c:pt idx="250">
                  <c:v>37196</c:v>
                </c:pt>
                <c:pt idx="251">
                  <c:v>37165</c:v>
                </c:pt>
                <c:pt idx="252">
                  <c:v>37135</c:v>
                </c:pt>
                <c:pt idx="253">
                  <c:v>37104</c:v>
                </c:pt>
                <c:pt idx="254">
                  <c:v>37073</c:v>
                </c:pt>
                <c:pt idx="255">
                  <c:v>37043</c:v>
                </c:pt>
                <c:pt idx="256">
                  <c:v>37012</c:v>
                </c:pt>
                <c:pt idx="257">
                  <c:v>36982</c:v>
                </c:pt>
                <c:pt idx="258">
                  <c:v>36951</c:v>
                </c:pt>
                <c:pt idx="259">
                  <c:v>36923</c:v>
                </c:pt>
                <c:pt idx="260">
                  <c:v>36892</c:v>
                </c:pt>
                <c:pt idx="261">
                  <c:v>36861</c:v>
                </c:pt>
                <c:pt idx="262">
                  <c:v>36831</c:v>
                </c:pt>
                <c:pt idx="263">
                  <c:v>36800</c:v>
                </c:pt>
                <c:pt idx="264">
                  <c:v>36770</c:v>
                </c:pt>
                <c:pt idx="265">
                  <c:v>36739</c:v>
                </c:pt>
                <c:pt idx="266">
                  <c:v>36708</c:v>
                </c:pt>
                <c:pt idx="267">
                  <c:v>36678</c:v>
                </c:pt>
                <c:pt idx="268">
                  <c:v>36647</c:v>
                </c:pt>
                <c:pt idx="269">
                  <c:v>36617</c:v>
                </c:pt>
                <c:pt idx="270">
                  <c:v>36586</c:v>
                </c:pt>
                <c:pt idx="271">
                  <c:v>36557</c:v>
                </c:pt>
                <c:pt idx="272">
                  <c:v>36526</c:v>
                </c:pt>
                <c:pt idx="273">
                  <c:v>36495</c:v>
                </c:pt>
                <c:pt idx="274">
                  <c:v>36465</c:v>
                </c:pt>
                <c:pt idx="275">
                  <c:v>36434</c:v>
                </c:pt>
                <c:pt idx="276">
                  <c:v>36404</c:v>
                </c:pt>
                <c:pt idx="277">
                  <c:v>36373</c:v>
                </c:pt>
                <c:pt idx="278">
                  <c:v>36342</c:v>
                </c:pt>
                <c:pt idx="279">
                  <c:v>36312</c:v>
                </c:pt>
                <c:pt idx="280">
                  <c:v>36281</c:v>
                </c:pt>
                <c:pt idx="281">
                  <c:v>36251</c:v>
                </c:pt>
                <c:pt idx="282">
                  <c:v>36220</c:v>
                </c:pt>
                <c:pt idx="283">
                  <c:v>36192</c:v>
                </c:pt>
                <c:pt idx="284">
                  <c:v>36161</c:v>
                </c:pt>
                <c:pt idx="285">
                  <c:v>36130</c:v>
                </c:pt>
                <c:pt idx="286">
                  <c:v>36100</c:v>
                </c:pt>
                <c:pt idx="287">
                  <c:v>36069</c:v>
                </c:pt>
                <c:pt idx="288">
                  <c:v>36039</c:v>
                </c:pt>
                <c:pt idx="289">
                  <c:v>36008</c:v>
                </c:pt>
                <c:pt idx="290">
                  <c:v>35977</c:v>
                </c:pt>
                <c:pt idx="291">
                  <c:v>35947</c:v>
                </c:pt>
                <c:pt idx="292">
                  <c:v>35916</c:v>
                </c:pt>
                <c:pt idx="293">
                  <c:v>35886</c:v>
                </c:pt>
                <c:pt idx="294">
                  <c:v>35855</c:v>
                </c:pt>
                <c:pt idx="295">
                  <c:v>35827</c:v>
                </c:pt>
                <c:pt idx="296">
                  <c:v>35796</c:v>
                </c:pt>
                <c:pt idx="297">
                  <c:v>35765</c:v>
                </c:pt>
                <c:pt idx="298">
                  <c:v>35735</c:v>
                </c:pt>
                <c:pt idx="299">
                  <c:v>35704</c:v>
                </c:pt>
                <c:pt idx="300">
                  <c:v>35674</c:v>
                </c:pt>
                <c:pt idx="301">
                  <c:v>35643</c:v>
                </c:pt>
                <c:pt idx="302">
                  <c:v>35612</c:v>
                </c:pt>
                <c:pt idx="303">
                  <c:v>35582</c:v>
                </c:pt>
                <c:pt idx="304">
                  <c:v>35551</c:v>
                </c:pt>
                <c:pt idx="305">
                  <c:v>35521</c:v>
                </c:pt>
                <c:pt idx="306">
                  <c:v>35490</c:v>
                </c:pt>
                <c:pt idx="307">
                  <c:v>35462</c:v>
                </c:pt>
                <c:pt idx="308">
                  <c:v>35431</c:v>
                </c:pt>
                <c:pt idx="309">
                  <c:v>35400</c:v>
                </c:pt>
                <c:pt idx="310">
                  <c:v>35370</c:v>
                </c:pt>
                <c:pt idx="311">
                  <c:v>35339</c:v>
                </c:pt>
                <c:pt idx="312">
                  <c:v>35309</c:v>
                </c:pt>
                <c:pt idx="313">
                  <c:v>35278</c:v>
                </c:pt>
                <c:pt idx="314">
                  <c:v>35247</c:v>
                </c:pt>
                <c:pt idx="315">
                  <c:v>35217</c:v>
                </c:pt>
                <c:pt idx="316">
                  <c:v>35186</c:v>
                </c:pt>
                <c:pt idx="317">
                  <c:v>35156</c:v>
                </c:pt>
                <c:pt idx="318">
                  <c:v>35125</c:v>
                </c:pt>
                <c:pt idx="319">
                  <c:v>35096</c:v>
                </c:pt>
                <c:pt idx="320">
                  <c:v>35065</c:v>
                </c:pt>
                <c:pt idx="321">
                  <c:v>35034</c:v>
                </c:pt>
                <c:pt idx="322">
                  <c:v>35004</c:v>
                </c:pt>
                <c:pt idx="323">
                  <c:v>34973</c:v>
                </c:pt>
                <c:pt idx="324">
                  <c:v>34943</c:v>
                </c:pt>
                <c:pt idx="325">
                  <c:v>34912</c:v>
                </c:pt>
                <c:pt idx="326">
                  <c:v>34881</c:v>
                </c:pt>
                <c:pt idx="327">
                  <c:v>34851</c:v>
                </c:pt>
                <c:pt idx="328">
                  <c:v>34820</c:v>
                </c:pt>
                <c:pt idx="329">
                  <c:v>34790</c:v>
                </c:pt>
                <c:pt idx="330">
                  <c:v>34759</c:v>
                </c:pt>
                <c:pt idx="331">
                  <c:v>34731</c:v>
                </c:pt>
                <c:pt idx="332">
                  <c:v>34700</c:v>
                </c:pt>
              </c:numCache>
            </c:numRef>
          </c:cat>
          <c:val>
            <c:numRef>
              <c:f>Concentration!$B$36:$LV$36</c:f>
              <c:numCache>
                <c:formatCode>0%</c:formatCode>
                <c:ptCount val="333"/>
                <c:pt idx="0">
                  <c:v>0.31346214897792735</c:v>
                </c:pt>
                <c:pt idx="1">
                  <c:v>0.32086755289733582</c:v>
                </c:pt>
                <c:pt idx="2">
                  <c:v>0.32042746311270537</c:v>
                </c:pt>
                <c:pt idx="3">
                  <c:v>0.35381273042507871</c:v>
                </c:pt>
                <c:pt idx="4">
                  <c:v>0.30776792502362443</c:v>
                </c:pt>
                <c:pt idx="5">
                  <c:v>0.30572855307667479</c:v>
                </c:pt>
                <c:pt idx="6">
                  <c:v>0.30041916894263127</c:v>
                </c:pt>
                <c:pt idx="7">
                  <c:v>0.31760324921145255</c:v>
                </c:pt>
                <c:pt idx="8">
                  <c:v>0.32084243252051808</c:v>
                </c:pt>
                <c:pt idx="9">
                  <c:v>0.32411753443027497</c:v>
                </c:pt>
                <c:pt idx="10">
                  <c:v>0.34024977579675669</c:v>
                </c:pt>
                <c:pt idx="11">
                  <c:v>0.34715158474463126</c:v>
                </c:pt>
                <c:pt idx="12">
                  <c:v>0.33967758586865521</c:v>
                </c:pt>
                <c:pt idx="13">
                  <c:v>0.33936137712036818</c:v>
                </c:pt>
                <c:pt idx="14">
                  <c:v>0.34617880294408876</c:v>
                </c:pt>
                <c:pt idx="15">
                  <c:v>0.375023335852254</c:v>
                </c:pt>
                <c:pt idx="16">
                  <c:v>0.37593018024501956</c:v>
                </c:pt>
                <c:pt idx="17">
                  <c:v>0.37536389616686366</c:v>
                </c:pt>
                <c:pt idx="18">
                  <c:v>0.37902568717323587</c:v>
                </c:pt>
                <c:pt idx="19">
                  <c:v>0.39481150567962986</c:v>
                </c:pt>
                <c:pt idx="20">
                  <c:v>0.40130352810383424</c:v>
                </c:pt>
                <c:pt idx="21">
                  <c:v>0.39093703462216767</c:v>
                </c:pt>
                <c:pt idx="22">
                  <c:v>0.40720873698805737</c:v>
                </c:pt>
                <c:pt idx="23">
                  <c:v>0.43236422862088919</c:v>
                </c:pt>
                <c:pt idx="24">
                  <c:v>0.41936314274347941</c:v>
                </c:pt>
                <c:pt idx="25">
                  <c:v>0.42530671883014698</c:v>
                </c:pt>
                <c:pt idx="26">
                  <c:v>0.41123720482064291</c:v>
                </c:pt>
                <c:pt idx="27">
                  <c:v>0.4095279061957604</c:v>
                </c:pt>
                <c:pt idx="28">
                  <c:v>0.39083623245331006</c:v>
                </c:pt>
                <c:pt idx="29">
                  <c:v>0.39632535069222741</c:v>
                </c:pt>
                <c:pt idx="30">
                  <c:v>0.40652723427862886</c:v>
                </c:pt>
                <c:pt idx="31">
                  <c:v>0.36428216056104407</c:v>
                </c:pt>
                <c:pt idx="32">
                  <c:v>0.34215243084844321</c:v>
                </c:pt>
                <c:pt idx="33">
                  <c:v>0.34281637612003435</c:v>
                </c:pt>
                <c:pt idx="34">
                  <c:v>0.34020390078735635</c:v>
                </c:pt>
                <c:pt idx="35">
                  <c:v>0.31852269117877841</c:v>
                </c:pt>
                <c:pt idx="36">
                  <c:v>0.31892179204572674</c:v>
                </c:pt>
                <c:pt idx="37">
                  <c:v>0.32298482940138512</c:v>
                </c:pt>
                <c:pt idx="38">
                  <c:v>0.31773562820417162</c:v>
                </c:pt>
                <c:pt idx="39">
                  <c:v>0.31552654621010379</c:v>
                </c:pt>
                <c:pt idx="40">
                  <c:v>0.31112496390477978</c:v>
                </c:pt>
                <c:pt idx="41">
                  <c:v>0.33040336619427174</c:v>
                </c:pt>
                <c:pt idx="42">
                  <c:v>0.33001793954836911</c:v>
                </c:pt>
                <c:pt idx="43">
                  <c:v>0.32116928260257577</c:v>
                </c:pt>
                <c:pt idx="44">
                  <c:v>0.31082001768191975</c:v>
                </c:pt>
                <c:pt idx="45">
                  <c:v>0.30405771611798144</c:v>
                </c:pt>
                <c:pt idx="46">
                  <c:v>0.30993612250996216</c:v>
                </c:pt>
                <c:pt idx="47">
                  <c:v>0.30040892628508664</c:v>
                </c:pt>
                <c:pt idx="48">
                  <c:v>0.30986611101136369</c:v>
                </c:pt>
                <c:pt idx="49">
                  <c:v>0.30941749756808756</c:v>
                </c:pt>
                <c:pt idx="50">
                  <c:v>0.31182140202471681</c:v>
                </c:pt>
                <c:pt idx="51">
                  <c:v>0.32720656144233973</c:v>
                </c:pt>
                <c:pt idx="52">
                  <c:v>0.31735064334781982</c:v>
                </c:pt>
                <c:pt idx="53">
                  <c:v>0.30104726260528625</c:v>
                </c:pt>
                <c:pt idx="54">
                  <c:v>0.2992143075603329</c:v>
                </c:pt>
                <c:pt idx="55">
                  <c:v>0.3030210138707497</c:v>
                </c:pt>
                <c:pt idx="56">
                  <c:v>0.30841945675480875</c:v>
                </c:pt>
                <c:pt idx="57">
                  <c:v>0.29670983838191395</c:v>
                </c:pt>
                <c:pt idx="58">
                  <c:v>0.30097324343816378</c:v>
                </c:pt>
                <c:pt idx="59">
                  <c:v>0.29680555042179418</c:v>
                </c:pt>
                <c:pt idx="60">
                  <c:v>0.29549702377955145</c:v>
                </c:pt>
                <c:pt idx="61">
                  <c:v>0.29095572846613671</c:v>
                </c:pt>
                <c:pt idx="62">
                  <c:v>0.28547847864446785</c:v>
                </c:pt>
                <c:pt idx="63">
                  <c:v>0.27896278661778739</c:v>
                </c:pt>
                <c:pt idx="64">
                  <c:v>0.27657854858578651</c:v>
                </c:pt>
                <c:pt idx="65">
                  <c:v>0.27053791151064638</c:v>
                </c:pt>
                <c:pt idx="66">
                  <c:v>0.2689774219187972</c:v>
                </c:pt>
                <c:pt idx="67">
                  <c:v>0.26976805147804545</c:v>
                </c:pt>
                <c:pt idx="68">
                  <c:v>0.26847930477812187</c:v>
                </c:pt>
                <c:pt idx="69">
                  <c:v>0.26518597583241421</c:v>
                </c:pt>
                <c:pt idx="70">
                  <c:v>0.27550610850390139</c:v>
                </c:pt>
                <c:pt idx="71">
                  <c:v>0.26373625806423312</c:v>
                </c:pt>
                <c:pt idx="72">
                  <c:v>0.26962659107751946</c:v>
                </c:pt>
                <c:pt idx="73">
                  <c:v>0.26561538123077777</c:v>
                </c:pt>
                <c:pt idx="74">
                  <c:v>0.25321928089728823</c:v>
                </c:pt>
                <c:pt idx="75">
                  <c:v>0.25798656196517389</c:v>
                </c:pt>
                <c:pt idx="76">
                  <c:v>0.24363215117957907</c:v>
                </c:pt>
                <c:pt idx="77">
                  <c:v>0.23637962716886715</c:v>
                </c:pt>
                <c:pt idx="78">
                  <c:v>0.23890675901351119</c:v>
                </c:pt>
                <c:pt idx="79">
                  <c:v>0.24279953592900719</c:v>
                </c:pt>
                <c:pt idx="80">
                  <c:v>0.2480798559676051</c:v>
                </c:pt>
                <c:pt idx="81">
                  <c:v>0.26561090100527818</c:v>
                </c:pt>
                <c:pt idx="82">
                  <c:v>0.24005572474850387</c:v>
                </c:pt>
                <c:pt idx="83">
                  <c:v>0.23921473966852677</c:v>
                </c:pt>
                <c:pt idx="84">
                  <c:v>0.23443378393913919</c:v>
                </c:pt>
                <c:pt idx="85">
                  <c:v>0.23255141257002054</c:v>
                </c:pt>
                <c:pt idx="86">
                  <c:v>0.23925460036905519</c:v>
                </c:pt>
                <c:pt idx="87">
                  <c:v>0.24843698459150149</c:v>
                </c:pt>
                <c:pt idx="88">
                  <c:v>0.25261272781495114</c:v>
                </c:pt>
                <c:pt idx="89">
                  <c:v>0.25069749757345372</c:v>
                </c:pt>
                <c:pt idx="90">
                  <c:v>0.23106783813867923</c:v>
                </c:pt>
                <c:pt idx="91">
                  <c:v>0.22305534834285357</c:v>
                </c:pt>
                <c:pt idx="92">
                  <c:v>0.22253993929745583</c:v>
                </c:pt>
                <c:pt idx="93">
                  <c:v>0.21833076493887221</c:v>
                </c:pt>
                <c:pt idx="94">
                  <c:v>0.20371281372797195</c:v>
                </c:pt>
                <c:pt idx="95">
                  <c:v>0.19855929675651332</c:v>
                </c:pt>
                <c:pt idx="96">
                  <c:v>0.19237269880924915</c:v>
                </c:pt>
                <c:pt idx="97">
                  <c:v>0.19081831600210694</c:v>
                </c:pt>
                <c:pt idx="98">
                  <c:v>0.19442263818605954</c:v>
                </c:pt>
                <c:pt idx="99">
                  <c:v>0.18336042978990827</c:v>
                </c:pt>
                <c:pt idx="100">
                  <c:v>0.18627307601243004</c:v>
                </c:pt>
                <c:pt idx="101">
                  <c:v>0.18452836344688595</c:v>
                </c:pt>
                <c:pt idx="102">
                  <c:v>0.18943214025229332</c:v>
                </c:pt>
                <c:pt idx="103">
                  <c:v>0.1970097282362876</c:v>
                </c:pt>
                <c:pt idx="104">
                  <c:v>0.19812925265946005</c:v>
                </c:pt>
                <c:pt idx="105">
                  <c:v>0.19805345944618188</c:v>
                </c:pt>
                <c:pt idx="106">
                  <c:v>0.20174770292954483</c:v>
                </c:pt>
                <c:pt idx="107">
                  <c:v>0.18958102958158485</c:v>
                </c:pt>
                <c:pt idx="108">
                  <c:v>0.19378286580006382</c:v>
                </c:pt>
                <c:pt idx="109">
                  <c:v>0.19631134923456942</c:v>
                </c:pt>
                <c:pt idx="110">
                  <c:v>0.18758002924443376</c:v>
                </c:pt>
                <c:pt idx="111">
                  <c:v>0.18195629711330419</c:v>
                </c:pt>
                <c:pt idx="112">
                  <c:v>0.18479353193540435</c:v>
                </c:pt>
                <c:pt idx="113">
                  <c:v>0.18211231555963875</c:v>
                </c:pt>
                <c:pt idx="114">
                  <c:v>0.1806645565907665</c:v>
                </c:pt>
                <c:pt idx="115">
                  <c:v>0.18405827819178258</c:v>
                </c:pt>
                <c:pt idx="116">
                  <c:v>0.18858776113971795</c:v>
                </c:pt>
                <c:pt idx="117">
                  <c:v>0.183401643720084</c:v>
                </c:pt>
                <c:pt idx="118">
                  <c:v>0.18587674044746819</c:v>
                </c:pt>
                <c:pt idx="119">
                  <c:v>0.18443272188726792</c:v>
                </c:pt>
                <c:pt idx="120">
                  <c:v>0.17358727154276235</c:v>
                </c:pt>
                <c:pt idx="121">
                  <c:v>0.17301957510707447</c:v>
                </c:pt>
                <c:pt idx="122">
                  <c:v>0.17787009025341738</c:v>
                </c:pt>
                <c:pt idx="123">
                  <c:v>0.17848731174430107</c:v>
                </c:pt>
                <c:pt idx="124">
                  <c:v>0.18187997722156996</c:v>
                </c:pt>
                <c:pt idx="125">
                  <c:v>0.18127980536411839</c:v>
                </c:pt>
                <c:pt idx="126">
                  <c:v>0.17212508182706893</c:v>
                </c:pt>
                <c:pt idx="127">
                  <c:v>0.17859324772030322</c:v>
                </c:pt>
                <c:pt idx="128">
                  <c:v>0.17757810990961617</c:v>
                </c:pt>
                <c:pt idx="129">
                  <c:v>0.1781775441915677</c:v>
                </c:pt>
                <c:pt idx="130">
                  <c:v>0.16822114589035103</c:v>
                </c:pt>
                <c:pt idx="131">
                  <c:v>0.17100318891811644</c:v>
                </c:pt>
                <c:pt idx="132">
                  <c:v>0.16791249470626488</c:v>
                </c:pt>
                <c:pt idx="133">
                  <c:v>0.17248376224430803</c:v>
                </c:pt>
                <c:pt idx="134">
                  <c:v>0.17297994318924972</c:v>
                </c:pt>
                <c:pt idx="135">
                  <c:v>0.17341996685953517</c:v>
                </c:pt>
                <c:pt idx="136">
                  <c:v>0.17672506940511759</c:v>
                </c:pt>
                <c:pt idx="137">
                  <c:v>0.17162189092471541</c:v>
                </c:pt>
                <c:pt idx="138">
                  <c:v>0.17446857275704325</c:v>
                </c:pt>
                <c:pt idx="139">
                  <c:v>0.17515260482914097</c:v>
                </c:pt>
                <c:pt idx="140">
                  <c:v>0.17657716916728067</c:v>
                </c:pt>
                <c:pt idx="141">
                  <c:v>0.17255353388369979</c:v>
                </c:pt>
                <c:pt idx="142">
                  <c:v>0.18324218724740798</c:v>
                </c:pt>
                <c:pt idx="143">
                  <c:v>0.18192755823541393</c:v>
                </c:pt>
                <c:pt idx="144">
                  <c:v>0.17996426860139969</c:v>
                </c:pt>
                <c:pt idx="145">
                  <c:v>0.18495348162206304</c:v>
                </c:pt>
                <c:pt idx="146">
                  <c:v>0.18601674278874386</c:v>
                </c:pt>
                <c:pt idx="147">
                  <c:v>0.19107175397336076</c:v>
                </c:pt>
                <c:pt idx="148">
                  <c:v>0.18716068662757734</c:v>
                </c:pt>
                <c:pt idx="149">
                  <c:v>0.17287853711039242</c:v>
                </c:pt>
                <c:pt idx="150">
                  <c:v>0.17517028595731654</c:v>
                </c:pt>
                <c:pt idx="151">
                  <c:v>0.17747521790000825</c:v>
                </c:pt>
                <c:pt idx="152">
                  <c:v>0.17412512046484271</c:v>
                </c:pt>
                <c:pt idx="153">
                  <c:v>0.17898943793687552</c:v>
                </c:pt>
                <c:pt idx="154">
                  <c:v>0.18268475252421293</c:v>
                </c:pt>
                <c:pt idx="155">
                  <c:v>0.18612806621653555</c:v>
                </c:pt>
                <c:pt idx="156">
                  <c:v>0.17511645454712785</c:v>
                </c:pt>
                <c:pt idx="157">
                  <c:v>0.18130533433757981</c:v>
                </c:pt>
                <c:pt idx="158">
                  <c:v>0.19428973289019033</c:v>
                </c:pt>
                <c:pt idx="159">
                  <c:v>0.19438734178445036</c:v>
                </c:pt>
                <c:pt idx="160">
                  <c:v>0.17927086944636955</c:v>
                </c:pt>
                <c:pt idx="161">
                  <c:v>0.17994802043305724</c:v>
                </c:pt>
                <c:pt idx="162">
                  <c:v>0.18866316154569246</c:v>
                </c:pt>
                <c:pt idx="163">
                  <c:v>0.18383908852233855</c:v>
                </c:pt>
                <c:pt idx="164">
                  <c:v>0.17875868651208318</c:v>
                </c:pt>
                <c:pt idx="165">
                  <c:v>0.18175212111985831</c:v>
                </c:pt>
                <c:pt idx="166">
                  <c:v>0.17730034351142376</c:v>
                </c:pt>
                <c:pt idx="167">
                  <c:v>0.15449204875918335</c:v>
                </c:pt>
                <c:pt idx="168">
                  <c:v>0.14430257041943134</c:v>
                </c:pt>
                <c:pt idx="169">
                  <c:v>0.14972919758797301</c:v>
                </c:pt>
                <c:pt idx="170">
                  <c:v>0.14989517651488934</c:v>
                </c:pt>
                <c:pt idx="171">
                  <c:v>0.1406233133617372</c:v>
                </c:pt>
                <c:pt idx="172">
                  <c:v>0.13843357303429832</c:v>
                </c:pt>
                <c:pt idx="173">
                  <c:v>0.14868103832598581</c:v>
                </c:pt>
                <c:pt idx="174">
                  <c:v>0.13907795702504538</c:v>
                </c:pt>
                <c:pt idx="175">
                  <c:v>0.14704569687738886</c:v>
                </c:pt>
                <c:pt idx="176">
                  <c:v>0.14237436520323302</c:v>
                </c:pt>
                <c:pt idx="177">
                  <c:v>0.15889139589313747</c:v>
                </c:pt>
                <c:pt idx="178">
                  <c:v>0.16037080957742511</c:v>
                </c:pt>
                <c:pt idx="179">
                  <c:v>0.17141103894750168</c:v>
                </c:pt>
                <c:pt idx="180">
                  <c:v>0.1624395574502483</c:v>
                </c:pt>
                <c:pt idx="181">
                  <c:v>0.14588379904529677</c:v>
                </c:pt>
                <c:pt idx="182">
                  <c:v>0.13283325093068774</c:v>
                </c:pt>
                <c:pt idx="183">
                  <c:v>0.12651841496412383</c:v>
                </c:pt>
                <c:pt idx="184">
                  <c:v>0.11680073580554182</c:v>
                </c:pt>
                <c:pt idx="185">
                  <c:v>0.11247859430733542</c:v>
                </c:pt>
                <c:pt idx="186">
                  <c:v>0.11362305536077505</c:v>
                </c:pt>
                <c:pt idx="187">
                  <c:v>0.11456660152683545</c:v>
                </c:pt>
                <c:pt idx="188">
                  <c:v>0.11597132335463985</c:v>
                </c:pt>
                <c:pt idx="189">
                  <c:v>0.11797228779695834</c:v>
                </c:pt>
                <c:pt idx="190">
                  <c:v>0.10671149630714892</c:v>
                </c:pt>
                <c:pt idx="191">
                  <c:v>9.7269765899540075E-2</c:v>
                </c:pt>
                <c:pt idx="192">
                  <c:v>9.5010692037736738E-2</c:v>
                </c:pt>
                <c:pt idx="193">
                  <c:v>9.5195217076158606E-2</c:v>
                </c:pt>
                <c:pt idx="194">
                  <c:v>9.5318483144224045E-2</c:v>
                </c:pt>
                <c:pt idx="195">
                  <c:v>9.3952900061138572E-2</c:v>
                </c:pt>
                <c:pt idx="196">
                  <c:v>8.8543386886159911E-2</c:v>
                </c:pt>
                <c:pt idx="197">
                  <c:v>8.270309361496328E-2</c:v>
                </c:pt>
                <c:pt idx="198">
                  <c:v>8.4361836274872606E-2</c:v>
                </c:pt>
                <c:pt idx="199">
                  <c:v>8.1680853183154725E-2</c:v>
                </c:pt>
                <c:pt idx="200">
                  <c:v>7.8435681669216384E-2</c:v>
                </c:pt>
                <c:pt idx="201">
                  <c:v>7.6430560787980703E-2</c:v>
                </c:pt>
                <c:pt idx="202">
                  <c:v>7.8325951694733678E-2</c:v>
                </c:pt>
                <c:pt idx="203">
                  <c:v>7.4777031759433565E-2</c:v>
                </c:pt>
                <c:pt idx="204">
                  <c:v>7.7483352165518313E-2</c:v>
                </c:pt>
                <c:pt idx="205">
                  <c:v>7.8300470386168358E-2</c:v>
                </c:pt>
                <c:pt idx="206">
                  <c:v>7.8837369223780512E-2</c:v>
                </c:pt>
                <c:pt idx="207">
                  <c:v>7.6395831295669264E-2</c:v>
                </c:pt>
                <c:pt idx="208">
                  <c:v>7.6657105223013333E-2</c:v>
                </c:pt>
                <c:pt idx="209">
                  <c:v>7.9398131308261469E-2</c:v>
                </c:pt>
                <c:pt idx="210">
                  <c:v>7.7324262434167457E-2</c:v>
                </c:pt>
                <c:pt idx="211">
                  <c:v>7.4785386472362145E-2</c:v>
                </c:pt>
                <c:pt idx="212">
                  <c:v>7.5564553910094229E-2</c:v>
                </c:pt>
                <c:pt idx="213">
                  <c:v>7.7231865308395722E-2</c:v>
                </c:pt>
                <c:pt idx="214">
                  <c:v>8.3550043058370646E-2</c:v>
                </c:pt>
                <c:pt idx="215">
                  <c:v>8.2942888325500258E-2</c:v>
                </c:pt>
                <c:pt idx="216">
                  <c:v>8.6906248856608789E-2</c:v>
                </c:pt>
                <c:pt idx="217">
                  <c:v>8.654225061490127E-2</c:v>
                </c:pt>
                <c:pt idx="218">
                  <c:v>8.9535291654027474E-2</c:v>
                </c:pt>
                <c:pt idx="219">
                  <c:v>8.4583264248117448E-2</c:v>
                </c:pt>
                <c:pt idx="220">
                  <c:v>8.544191486386124E-2</c:v>
                </c:pt>
                <c:pt idx="221">
                  <c:v>7.3874319968281352E-2</c:v>
                </c:pt>
                <c:pt idx="222">
                  <c:v>7.7191920370478034E-2</c:v>
                </c:pt>
                <c:pt idx="223">
                  <c:v>8.2716466825141485E-2</c:v>
                </c:pt>
                <c:pt idx="224">
                  <c:v>8.1172801086499199E-2</c:v>
                </c:pt>
                <c:pt idx="225">
                  <c:v>7.8579785968156401E-2</c:v>
                </c:pt>
                <c:pt idx="226">
                  <c:v>7.2797025862389259E-2</c:v>
                </c:pt>
                <c:pt idx="227">
                  <c:v>7.2975148369106943E-2</c:v>
                </c:pt>
                <c:pt idx="228">
                  <c:v>6.8828046772218918E-2</c:v>
                </c:pt>
                <c:pt idx="229">
                  <c:v>6.9722433697370093E-2</c:v>
                </c:pt>
                <c:pt idx="230">
                  <c:v>7.0045233616994398E-2</c:v>
                </c:pt>
                <c:pt idx="231">
                  <c:v>6.7746743531871351E-2</c:v>
                </c:pt>
                <c:pt idx="232">
                  <c:v>6.6115175566592993E-2</c:v>
                </c:pt>
                <c:pt idx="233">
                  <c:v>6.3419211286179888E-2</c:v>
                </c:pt>
                <c:pt idx="234">
                  <c:v>7.0019449972580083E-2</c:v>
                </c:pt>
                <c:pt idx="235">
                  <c:v>7.0098484547321455E-2</c:v>
                </c:pt>
                <c:pt idx="236">
                  <c:v>6.9374308131197743E-2</c:v>
                </c:pt>
                <c:pt idx="237">
                  <c:v>6.5878064507254558E-2</c:v>
                </c:pt>
                <c:pt idx="238">
                  <c:v>6.4118430567015661E-2</c:v>
                </c:pt>
                <c:pt idx="239">
                  <c:v>6.5759385557346089E-2</c:v>
                </c:pt>
                <c:pt idx="240">
                  <c:v>6.9697436108709918E-2</c:v>
                </c:pt>
                <c:pt idx="241">
                  <c:v>6.7194911544398356E-2</c:v>
                </c:pt>
                <c:pt idx="242">
                  <c:v>6.9585170212973946E-2</c:v>
                </c:pt>
                <c:pt idx="243">
                  <c:v>6.6213244409495831E-2</c:v>
                </c:pt>
                <c:pt idx="244">
                  <c:v>5.7210308722218779E-2</c:v>
                </c:pt>
                <c:pt idx="245">
                  <c:v>5.5693223850688874E-2</c:v>
                </c:pt>
                <c:pt idx="246">
                  <c:v>5.3816438700545421E-2</c:v>
                </c:pt>
                <c:pt idx="247">
                  <c:v>5.3889723202001201E-2</c:v>
                </c:pt>
                <c:pt idx="248">
                  <c:v>5.4272088359978841E-2</c:v>
                </c:pt>
                <c:pt idx="249">
                  <c:v>6.1958456746722242E-2</c:v>
                </c:pt>
                <c:pt idx="250">
                  <c:v>5.861867658329821E-2</c:v>
                </c:pt>
                <c:pt idx="251">
                  <c:v>5.9384638328101494E-2</c:v>
                </c:pt>
                <c:pt idx="252">
                  <c:v>6.1524253176470353E-2</c:v>
                </c:pt>
                <c:pt idx="253">
                  <c:v>5.3930780400177729E-2</c:v>
                </c:pt>
                <c:pt idx="254">
                  <c:v>6.7135109768952886E-2</c:v>
                </c:pt>
                <c:pt idx="255">
                  <c:v>7.2436555516804432E-2</c:v>
                </c:pt>
                <c:pt idx="256">
                  <c:v>6.5497763962921646E-2</c:v>
                </c:pt>
                <c:pt idx="257">
                  <c:v>6.5081999329443641E-2</c:v>
                </c:pt>
                <c:pt idx="258">
                  <c:v>6.1766112767007622E-2</c:v>
                </c:pt>
                <c:pt idx="259">
                  <c:v>6.6212913720846894E-2</c:v>
                </c:pt>
                <c:pt idx="260">
                  <c:v>6.7072826126892776E-2</c:v>
                </c:pt>
                <c:pt idx="261">
                  <c:v>6.6551306212901215E-2</c:v>
                </c:pt>
                <c:pt idx="262">
                  <c:v>7.019726950713033E-2</c:v>
                </c:pt>
                <c:pt idx="263">
                  <c:v>6.2478164015716708E-2</c:v>
                </c:pt>
                <c:pt idx="264">
                  <c:v>6.0878077869334205E-2</c:v>
                </c:pt>
                <c:pt idx="265">
                  <c:v>6.4282955871344166E-2</c:v>
                </c:pt>
                <c:pt idx="266">
                  <c:v>6.7237852356498429E-2</c:v>
                </c:pt>
                <c:pt idx="267">
                  <c:v>6.5189204301243406E-2</c:v>
                </c:pt>
                <c:pt idx="268">
                  <c:v>4.3076884243234709E-3</c:v>
                </c:pt>
                <c:pt idx="269">
                  <c:v>4.0865358060806697E-3</c:v>
                </c:pt>
                <c:pt idx="270">
                  <c:v>3.4153584195300139E-3</c:v>
                </c:pt>
                <c:pt idx="271">
                  <c:v>3.3732234691364244E-3</c:v>
                </c:pt>
                <c:pt idx="272">
                  <c:v>4.1917068901107342E-3</c:v>
                </c:pt>
                <c:pt idx="273">
                  <c:v>4.4233381648996406E-3</c:v>
                </c:pt>
                <c:pt idx="274">
                  <c:v>5.4244076829510534E-3</c:v>
                </c:pt>
                <c:pt idx="275">
                  <c:v>6.0363886432976731E-3</c:v>
                </c:pt>
                <c:pt idx="276">
                  <c:v>6.732099488827927E-3</c:v>
                </c:pt>
                <c:pt idx="277">
                  <c:v>6.8514445237472374E-3</c:v>
                </c:pt>
                <c:pt idx="278">
                  <c:v>6.9860378170664757E-3</c:v>
                </c:pt>
                <c:pt idx="279">
                  <c:v>7.7855154140786618E-3</c:v>
                </c:pt>
                <c:pt idx="280">
                  <c:v>6.1325653098466175E-3</c:v>
                </c:pt>
                <c:pt idx="281">
                  <c:v>6.1890150246081601E-3</c:v>
                </c:pt>
                <c:pt idx="282">
                  <c:v>5.5982225218634916E-3</c:v>
                </c:pt>
                <c:pt idx="283">
                  <c:v>5.5524459405024706E-3</c:v>
                </c:pt>
                <c:pt idx="284">
                  <c:v>5.8514383093221925E-3</c:v>
                </c:pt>
                <c:pt idx="285">
                  <c:v>7.0871858668432874E-3</c:v>
                </c:pt>
                <c:pt idx="286">
                  <c:v>7.3126344964751788E-3</c:v>
                </c:pt>
                <c:pt idx="287">
                  <c:v>7.6549710316672227E-3</c:v>
                </c:pt>
                <c:pt idx="288">
                  <c:v>7.6535001236768922E-3</c:v>
                </c:pt>
                <c:pt idx="289">
                  <c:v>5.9551799005051146E-3</c:v>
                </c:pt>
                <c:pt idx="290">
                  <c:v>5.8188806128748015E-3</c:v>
                </c:pt>
                <c:pt idx="291">
                  <c:v>7.3140319225900438E-3</c:v>
                </c:pt>
                <c:pt idx="292">
                  <c:v>7.8928440879820622E-3</c:v>
                </c:pt>
                <c:pt idx="293">
                  <c:v>7.961688422151874E-3</c:v>
                </c:pt>
                <c:pt idx="294">
                  <c:v>8.8086196071613648E-3</c:v>
                </c:pt>
                <c:pt idx="295">
                  <c:v>4.8681500432491099E-3</c:v>
                </c:pt>
                <c:pt idx="296">
                  <c:v>3.9732566680621704E-3</c:v>
                </c:pt>
                <c:pt idx="297">
                  <c:v>4.8185106822884374E-3</c:v>
                </c:pt>
                <c:pt idx="298">
                  <c:v>5.160644168863554E-3</c:v>
                </c:pt>
                <c:pt idx="299">
                  <c:v>6.0727836059683302E-3</c:v>
                </c:pt>
                <c:pt idx="300">
                  <c:v>6.0644817107631723E-3</c:v>
                </c:pt>
                <c:pt idx="301">
                  <c:v>7.5622992138322416E-3</c:v>
                </c:pt>
                <c:pt idx="302">
                  <c:v>6.2309132696733213E-3</c:v>
                </c:pt>
                <c:pt idx="303">
                  <c:v>5.5955116574705026E-3</c:v>
                </c:pt>
                <c:pt idx="304">
                  <c:v>5.8595818232294351E-3</c:v>
                </c:pt>
                <c:pt idx="305">
                  <c:v>6.0773075850272763E-3</c:v>
                </c:pt>
                <c:pt idx="306">
                  <c:v>5.3560310171827455E-3</c:v>
                </c:pt>
                <c:pt idx="307">
                  <c:v>5.1927475204817924E-3</c:v>
                </c:pt>
                <c:pt idx="308">
                  <c:v>5.2618052736401457E-3</c:v>
                </c:pt>
                <c:pt idx="309">
                  <c:v>5.8498211242160826E-3</c:v>
                </c:pt>
                <c:pt idx="310">
                  <c:v>5.0815664645941548E-3</c:v>
                </c:pt>
                <c:pt idx="311">
                  <c:v>4.6259180581914279E-3</c:v>
                </c:pt>
                <c:pt idx="312">
                  <c:v>4.6213163401938378E-3</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numCache>
            </c:numRef>
          </c:val>
          <c:smooth val="0"/>
          <c:extLst>
            <c:ext xmlns:c16="http://schemas.microsoft.com/office/drawing/2014/chart" uri="{C3380CC4-5D6E-409C-BE32-E72D297353CC}">
              <c16:uniqueId val="{00000000-2581-4C0E-BCEF-B519E7F6B5C9}"/>
            </c:ext>
          </c:extLst>
        </c:ser>
        <c:ser>
          <c:idx val="1"/>
          <c:order val="1"/>
          <c:tx>
            <c:strRef>
              <c:f>Concentration!$A$37</c:f>
              <c:strCache>
                <c:ptCount val="1"/>
                <c:pt idx="0">
                  <c:v>China + Taiwan</c:v>
                </c:pt>
              </c:strCache>
            </c:strRef>
          </c:tx>
          <c:spPr>
            <a:ln w="38100" cap="rnd">
              <a:solidFill>
                <a:schemeClr val="accent1"/>
              </a:solidFill>
              <a:round/>
            </a:ln>
            <a:effectLst/>
          </c:spPr>
          <c:marker>
            <c:symbol val="none"/>
          </c:marker>
          <c:cat>
            <c:numRef>
              <c:f>Concentration!$B$35:$LV$35</c:f>
              <c:numCache>
                <c:formatCode>mmm\-yy</c:formatCode>
                <c:ptCount val="333"/>
                <c:pt idx="0">
                  <c:v>44805</c:v>
                </c:pt>
                <c:pt idx="1">
                  <c:v>44774</c:v>
                </c:pt>
                <c:pt idx="2">
                  <c:v>44743</c:v>
                </c:pt>
                <c:pt idx="3">
                  <c:v>44713</c:v>
                </c:pt>
                <c:pt idx="4">
                  <c:v>44682</c:v>
                </c:pt>
                <c:pt idx="5">
                  <c:v>44652</c:v>
                </c:pt>
                <c:pt idx="6">
                  <c:v>44621</c:v>
                </c:pt>
                <c:pt idx="7">
                  <c:v>44593</c:v>
                </c:pt>
                <c:pt idx="8">
                  <c:v>44562</c:v>
                </c:pt>
                <c:pt idx="9">
                  <c:v>44531</c:v>
                </c:pt>
                <c:pt idx="10">
                  <c:v>44501</c:v>
                </c:pt>
                <c:pt idx="11">
                  <c:v>44470</c:v>
                </c:pt>
                <c:pt idx="12">
                  <c:v>44440</c:v>
                </c:pt>
                <c:pt idx="13">
                  <c:v>44409</c:v>
                </c:pt>
                <c:pt idx="14">
                  <c:v>44378</c:v>
                </c:pt>
                <c:pt idx="15">
                  <c:v>44348</c:v>
                </c:pt>
                <c:pt idx="16">
                  <c:v>44317</c:v>
                </c:pt>
                <c:pt idx="17">
                  <c:v>44287</c:v>
                </c:pt>
                <c:pt idx="18">
                  <c:v>44256</c:v>
                </c:pt>
                <c:pt idx="19">
                  <c:v>44228</c:v>
                </c:pt>
                <c:pt idx="20">
                  <c:v>44197</c:v>
                </c:pt>
                <c:pt idx="21">
                  <c:v>44166</c:v>
                </c:pt>
                <c:pt idx="22">
                  <c:v>44136</c:v>
                </c:pt>
                <c:pt idx="23">
                  <c:v>44105</c:v>
                </c:pt>
                <c:pt idx="24">
                  <c:v>44075</c:v>
                </c:pt>
                <c:pt idx="25">
                  <c:v>44044</c:v>
                </c:pt>
                <c:pt idx="26">
                  <c:v>44013</c:v>
                </c:pt>
                <c:pt idx="27">
                  <c:v>43983</c:v>
                </c:pt>
                <c:pt idx="28">
                  <c:v>43952</c:v>
                </c:pt>
                <c:pt idx="29">
                  <c:v>43922</c:v>
                </c:pt>
                <c:pt idx="30">
                  <c:v>43891</c:v>
                </c:pt>
                <c:pt idx="31">
                  <c:v>43862</c:v>
                </c:pt>
                <c:pt idx="32">
                  <c:v>43831</c:v>
                </c:pt>
                <c:pt idx="33">
                  <c:v>43800</c:v>
                </c:pt>
                <c:pt idx="34">
                  <c:v>43770</c:v>
                </c:pt>
                <c:pt idx="35">
                  <c:v>43739</c:v>
                </c:pt>
                <c:pt idx="36">
                  <c:v>43709</c:v>
                </c:pt>
                <c:pt idx="37">
                  <c:v>43678</c:v>
                </c:pt>
                <c:pt idx="38">
                  <c:v>43647</c:v>
                </c:pt>
                <c:pt idx="39">
                  <c:v>43617</c:v>
                </c:pt>
                <c:pt idx="40">
                  <c:v>43586</c:v>
                </c:pt>
                <c:pt idx="41">
                  <c:v>43556</c:v>
                </c:pt>
                <c:pt idx="42">
                  <c:v>43525</c:v>
                </c:pt>
                <c:pt idx="43">
                  <c:v>43497</c:v>
                </c:pt>
                <c:pt idx="44">
                  <c:v>43466</c:v>
                </c:pt>
                <c:pt idx="45">
                  <c:v>43435</c:v>
                </c:pt>
                <c:pt idx="46">
                  <c:v>43405</c:v>
                </c:pt>
                <c:pt idx="47">
                  <c:v>43374</c:v>
                </c:pt>
                <c:pt idx="48">
                  <c:v>43344</c:v>
                </c:pt>
                <c:pt idx="49">
                  <c:v>43313</c:v>
                </c:pt>
                <c:pt idx="50">
                  <c:v>43282</c:v>
                </c:pt>
                <c:pt idx="51">
                  <c:v>43252</c:v>
                </c:pt>
                <c:pt idx="52">
                  <c:v>43221</c:v>
                </c:pt>
                <c:pt idx="53">
                  <c:v>43191</c:v>
                </c:pt>
                <c:pt idx="54">
                  <c:v>43160</c:v>
                </c:pt>
                <c:pt idx="55">
                  <c:v>43132</c:v>
                </c:pt>
                <c:pt idx="56">
                  <c:v>43101</c:v>
                </c:pt>
                <c:pt idx="57">
                  <c:v>43070</c:v>
                </c:pt>
                <c:pt idx="58">
                  <c:v>43040</c:v>
                </c:pt>
                <c:pt idx="59">
                  <c:v>43009</c:v>
                </c:pt>
                <c:pt idx="60">
                  <c:v>42979</c:v>
                </c:pt>
                <c:pt idx="61">
                  <c:v>42948</c:v>
                </c:pt>
                <c:pt idx="62">
                  <c:v>42917</c:v>
                </c:pt>
                <c:pt idx="63">
                  <c:v>42887</c:v>
                </c:pt>
                <c:pt idx="64">
                  <c:v>42856</c:v>
                </c:pt>
                <c:pt idx="65">
                  <c:v>42826</c:v>
                </c:pt>
                <c:pt idx="66">
                  <c:v>42795</c:v>
                </c:pt>
                <c:pt idx="67">
                  <c:v>42767</c:v>
                </c:pt>
                <c:pt idx="68">
                  <c:v>42736</c:v>
                </c:pt>
                <c:pt idx="69">
                  <c:v>42705</c:v>
                </c:pt>
                <c:pt idx="70">
                  <c:v>42675</c:v>
                </c:pt>
                <c:pt idx="71">
                  <c:v>42644</c:v>
                </c:pt>
                <c:pt idx="72">
                  <c:v>42614</c:v>
                </c:pt>
                <c:pt idx="73">
                  <c:v>42583</c:v>
                </c:pt>
                <c:pt idx="74">
                  <c:v>42552</c:v>
                </c:pt>
                <c:pt idx="75">
                  <c:v>42522</c:v>
                </c:pt>
                <c:pt idx="76">
                  <c:v>42491</c:v>
                </c:pt>
                <c:pt idx="77">
                  <c:v>42461</c:v>
                </c:pt>
                <c:pt idx="78">
                  <c:v>42430</c:v>
                </c:pt>
                <c:pt idx="79">
                  <c:v>42401</c:v>
                </c:pt>
                <c:pt idx="80">
                  <c:v>42370</c:v>
                </c:pt>
                <c:pt idx="81">
                  <c:v>42339</c:v>
                </c:pt>
                <c:pt idx="82">
                  <c:v>42309</c:v>
                </c:pt>
                <c:pt idx="83">
                  <c:v>42278</c:v>
                </c:pt>
                <c:pt idx="84">
                  <c:v>42248</c:v>
                </c:pt>
                <c:pt idx="85">
                  <c:v>42217</c:v>
                </c:pt>
                <c:pt idx="86">
                  <c:v>42186</c:v>
                </c:pt>
                <c:pt idx="87">
                  <c:v>42156</c:v>
                </c:pt>
                <c:pt idx="88">
                  <c:v>42125</c:v>
                </c:pt>
                <c:pt idx="89">
                  <c:v>42095</c:v>
                </c:pt>
                <c:pt idx="90">
                  <c:v>42064</c:v>
                </c:pt>
                <c:pt idx="91">
                  <c:v>42036</c:v>
                </c:pt>
                <c:pt idx="92">
                  <c:v>42005</c:v>
                </c:pt>
                <c:pt idx="93">
                  <c:v>41974</c:v>
                </c:pt>
                <c:pt idx="94">
                  <c:v>41944</c:v>
                </c:pt>
                <c:pt idx="95">
                  <c:v>41913</c:v>
                </c:pt>
                <c:pt idx="96">
                  <c:v>41883</c:v>
                </c:pt>
                <c:pt idx="97">
                  <c:v>41852</c:v>
                </c:pt>
                <c:pt idx="98">
                  <c:v>41821</c:v>
                </c:pt>
                <c:pt idx="99">
                  <c:v>41791</c:v>
                </c:pt>
                <c:pt idx="100">
                  <c:v>41760</c:v>
                </c:pt>
                <c:pt idx="101">
                  <c:v>41730</c:v>
                </c:pt>
                <c:pt idx="102">
                  <c:v>41699</c:v>
                </c:pt>
                <c:pt idx="103">
                  <c:v>41671</c:v>
                </c:pt>
                <c:pt idx="104">
                  <c:v>41640</c:v>
                </c:pt>
                <c:pt idx="105">
                  <c:v>41609</c:v>
                </c:pt>
                <c:pt idx="106">
                  <c:v>41579</c:v>
                </c:pt>
                <c:pt idx="107">
                  <c:v>41548</c:v>
                </c:pt>
                <c:pt idx="108">
                  <c:v>41518</c:v>
                </c:pt>
                <c:pt idx="109">
                  <c:v>41487</c:v>
                </c:pt>
                <c:pt idx="110">
                  <c:v>41456</c:v>
                </c:pt>
                <c:pt idx="111">
                  <c:v>41426</c:v>
                </c:pt>
                <c:pt idx="112">
                  <c:v>41395</c:v>
                </c:pt>
                <c:pt idx="113">
                  <c:v>41365</c:v>
                </c:pt>
                <c:pt idx="114">
                  <c:v>41334</c:v>
                </c:pt>
                <c:pt idx="115">
                  <c:v>41306</c:v>
                </c:pt>
                <c:pt idx="116">
                  <c:v>41275</c:v>
                </c:pt>
                <c:pt idx="117">
                  <c:v>41244</c:v>
                </c:pt>
                <c:pt idx="118">
                  <c:v>41214</c:v>
                </c:pt>
                <c:pt idx="119">
                  <c:v>41183</c:v>
                </c:pt>
                <c:pt idx="120">
                  <c:v>41153</c:v>
                </c:pt>
                <c:pt idx="121">
                  <c:v>41122</c:v>
                </c:pt>
                <c:pt idx="122">
                  <c:v>41091</c:v>
                </c:pt>
                <c:pt idx="123">
                  <c:v>41061</c:v>
                </c:pt>
                <c:pt idx="124">
                  <c:v>41030</c:v>
                </c:pt>
                <c:pt idx="125">
                  <c:v>41000</c:v>
                </c:pt>
                <c:pt idx="126">
                  <c:v>40969</c:v>
                </c:pt>
                <c:pt idx="127">
                  <c:v>40940</c:v>
                </c:pt>
                <c:pt idx="128">
                  <c:v>40909</c:v>
                </c:pt>
                <c:pt idx="129">
                  <c:v>40878</c:v>
                </c:pt>
                <c:pt idx="130">
                  <c:v>40848</c:v>
                </c:pt>
                <c:pt idx="131">
                  <c:v>40817</c:v>
                </c:pt>
                <c:pt idx="132">
                  <c:v>40787</c:v>
                </c:pt>
                <c:pt idx="133">
                  <c:v>40756</c:v>
                </c:pt>
                <c:pt idx="134">
                  <c:v>40725</c:v>
                </c:pt>
                <c:pt idx="135">
                  <c:v>40695</c:v>
                </c:pt>
                <c:pt idx="136">
                  <c:v>40664</c:v>
                </c:pt>
                <c:pt idx="137">
                  <c:v>40634</c:v>
                </c:pt>
                <c:pt idx="138">
                  <c:v>40603</c:v>
                </c:pt>
                <c:pt idx="139">
                  <c:v>40575</c:v>
                </c:pt>
                <c:pt idx="140">
                  <c:v>40544</c:v>
                </c:pt>
                <c:pt idx="141">
                  <c:v>40513</c:v>
                </c:pt>
                <c:pt idx="142">
                  <c:v>40483</c:v>
                </c:pt>
                <c:pt idx="143">
                  <c:v>40452</c:v>
                </c:pt>
                <c:pt idx="144">
                  <c:v>40422</c:v>
                </c:pt>
                <c:pt idx="145">
                  <c:v>40391</c:v>
                </c:pt>
                <c:pt idx="146">
                  <c:v>40360</c:v>
                </c:pt>
                <c:pt idx="147">
                  <c:v>40330</c:v>
                </c:pt>
                <c:pt idx="148">
                  <c:v>40299</c:v>
                </c:pt>
                <c:pt idx="149">
                  <c:v>40269</c:v>
                </c:pt>
                <c:pt idx="150">
                  <c:v>40238</c:v>
                </c:pt>
                <c:pt idx="151">
                  <c:v>40210</c:v>
                </c:pt>
                <c:pt idx="152">
                  <c:v>40179</c:v>
                </c:pt>
                <c:pt idx="153">
                  <c:v>40148</c:v>
                </c:pt>
                <c:pt idx="154">
                  <c:v>40118</c:v>
                </c:pt>
                <c:pt idx="155">
                  <c:v>40087</c:v>
                </c:pt>
                <c:pt idx="156">
                  <c:v>40057</c:v>
                </c:pt>
                <c:pt idx="157">
                  <c:v>40026</c:v>
                </c:pt>
                <c:pt idx="158">
                  <c:v>39995</c:v>
                </c:pt>
                <c:pt idx="159">
                  <c:v>39965</c:v>
                </c:pt>
                <c:pt idx="160">
                  <c:v>39934</c:v>
                </c:pt>
                <c:pt idx="161">
                  <c:v>39904</c:v>
                </c:pt>
                <c:pt idx="162">
                  <c:v>39873</c:v>
                </c:pt>
                <c:pt idx="163">
                  <c:v>39845</c:v>
                </c:pt>
                <c:pt idx="164">
                  <c:v>39814</c:v>
                </c:pt>
                <c:pt idx="165">
                  <c:v>39783</c:v>
                </c:pt>
                <c:pt idx="166">
                  <c:v>39753</c:v>
                </c:pt>
                <c:pt idx="167">
                  <c:v>39722</c:v>
                </c:pt>
                <c:pt idx="168">
                  <c:v>39692</c:v>
                </c:pt>
                <c:pt idx="169">
                  <c:v>39661</c:v>
                </c:pt>
                <c:pt idx="170">
                  <c:v>39630</c:v>
                </c:pt>
                <c:pt idx="171">
                  <c:v>39600</c:v>
                </c:pt>
                <c:pt idx="172">
                  <c:v>39569</c:v>
                </c:pt>
                <c:pt idx="173">
                  <c:v>39539</c:v>
                </c:pt>
                <c:pt idx="174">
                  <c:v>39508</c:v>
                </c:pt>
                <c:pt idx="175">
                  <c:v>39479</c:v>
                </c:pt>
                <c:pt idx="176">
                  <c:v>39448</c:v>
                </c:pt>
                <c:pt idx="177">
                  <c:v>39417</c:v>
                </c:pt>
                <c:pt idx="178">
                  <c:v>39387</c:v>
                </c:pt>
                <c:pt idx="179">
                  <c:v>39356</c:v>
                </c:pt>
                <c:pt idx="180">
                  <c:v>39326</c:v>
                </c:pt>
                <c:pt idx="181">
                  <c:v>39295</c:v>
                </c:pt>
                <c:pt idx="182">
                  <c:v>39264</c:v>
                </c:pt>
                <c:pt idx="183">
                  <c:v>39234</c:v>
                </c:pt>
                <c:pt idx="184">
                  <c:v>39203</c:v>
                </c:pt>
                <c:pt idx="185">
                  <c:v>39173</c:v>
                </c:pt>
                <c:pt idx="186">
                  <c:v>39142</c:v>
                </c:pt>
                <c:pt idx="187">
                  <c:v>39114</c:v>
                </c:pt>
                <c:pt idx="188">
                  <c:v>39083</c:v>
                </c:pt>
                <c:pt idx="189">
                  <c:v>39052</c:v>
                </c:pt>
                <c:pt idx="190">
                  <c:v>39022</c:v>
                </c:pt>
                <c:pt idx="191">
                  <c:v>38991</c:v>
                </c:pt>
                <c:pt idx="192">
                  <c:v>38961</c:v>
                </c:pt>
                <c:pt idx="193">
                  <c:v>38930</c:v>
                </c:pt>
                <c:pt idx="194">
                  <c:v>38899</c:v>
                </c:pt>
                <c:pt idx="195">
                  <c:v>38869</c:v>
                </c:pt>
                <c:pt idx="196">
                  <c:v>38838</c:v>
                </c:pt>
                <c:pt idx="197">
                  <c:v>38808</c:v>
                </c:pt>
                <c:pt idx="198">
                  <c:v>38777</c:v>
                </c:pt>
                <c:pt idx="199">
                  <c:v>38749</c:v>
                </c:pt>
                <c:pt idx="200">
                  <c:v>38718</c:v>
                </c:pt>
                <c:pt idx="201">
                  <c:v>38687</c:v>
                </c:pt>
                <c:pt idx="202">
                  <c:v>38657</c:v>
                </c:pt>
                <c:pt idx="203">
                  <c:v>38626</c:v>
                </c:pt>
                <c:pt idx="204">
                  <c:v>38596</c:v>
                </c:pt>
                <c:pt idx="205">
                  <c:v>38565</c:v>
                </c:pt>
                <c:pt idx="206">
                  <c:v>38534</c:v>
                </c:pt>
                <c:pt idx="207">
                  <c:v>38504</c:v>
                </c:pt>
                <c:pt idx="208">
                  <c:v>38473</c:v>
                </c:pt>
                <c:pt idx="209">
                  <c:v>38443</c:v>
                </c:pt>
                <c:pt idx="210">
                  <c:v>38412</c:v>
                </c:pt>
                <c:pt idx="211">
                  <c:v>38384</c:v>
                </c:pt>
                <c:pt idx="212">
                  <c:v>38353</c:v>
                </c:pt>
                <c:pt idx="213">
                  <c:v>38322</c:v>
                </c:pt>
                <c:pt idx="214">
                  <c:v>38292</c:v>
                </c:pt>
                <c:pt idx="215">
                  <c:v>38261</c:v>
                </c:pt>
                <c:pt idx="216">
                  <c:v>38231</c:v>
                </c:pt>
                <c:pt idx="217">
                  <c:v>38200</c:v>
                </c:pt>
                <c:pt idx="218">
                  <c:v>38169</c:v>
                </c:pt>
                <c:pt idx="219">
                  <c:v>38139</c:v>
                </c:pt>
                <c:pt idx="220">
                  <c:v>38108</c:v>
                </c:pt>
                <c:pt idx="221">
                  <c:v>38078</c:v>
                </c:pt>
                <c:pt idx="222">
                  <c:v>38047</c:v>
                </c:pt>
                <c:pt idx="223">
                  <c:v>38018</c:v>
                </c:pt>
                <c:pt idx="224">
                  <c:v>37987</c:v>
                </c:pt>
                <c:pt idx="225">
                  <c:v>37956</c:v>
                </c:pt>
                <c:pt idx="226">
                  <c:v>37926</c:v>
                </c:pt>
                <c:pt idx="227">
                  <c:v>37895</c:v>
                </c:pt>
                <c:pt idx="228">
                  <c:v>37865</c:v>
                </c:pt>
                <c:pt idx="229">
                  <c:v>37834</c:v>
                </c:pt>
                <c:pt idx="230">
                  <c:v>37803</c:v>
                </c:pt>
                <c:pt idx="231">
                  <c:v>37773</c:v>
                </c:pt>
                <c:pt idx="232">
                  <c:v>37742</c:v>
                </c:pt>
                <c:pt idx="233">
                  <c:v>37712</c:v>
                </c:pt>
                <c:pt idx="234">
                  <c:v>37681</c:v>
                </c:pt>
                <c:pt idx="235">
                  <c:v>37653</c:v>
                </c:pt>
                <c:pt idx="236">
                  <c:v>37622</c:v>
                </c:pt>
                <c:pt idx="237">
                  <c:v>37591</c:v>
                </c:pt>
                <c:pt idx="238">
                  <c:v>37561</c:v>
                </c:pt>
                <c:pt idx="239">
                  <c:v>37530</c:v>
                </c:pt>
                <c:pt idx="240">
                  <c:v>37500</c:v>
                </c:pt>
                <c:pt idx="241">
                  <c:v>37469</c:v>
                </c:pt>
                <c:pt idx="242">
                  <c:v>37438</c:v>
                </c:pt>
                <c:pt idx="243">
                  <c:v>37408</c:v>
                </c:pt>
                <c:pt idx="244">
                  <c:v>37377</c:v>
                </c:pt>
                <c:pt idx="245">
                  <c:v>37347</c:v>
                </c:pt>
                <c:pt idx="246">
                  <c:v>37316</c:v>
                </c:pt>
                <c:pt idx="247">
                  <c:v>37288</c:v>
                </c:pt>
                <c:pt idx="248">
                  <c:v>37257</c:v>
                </c:pt>
                <c:pt idx="249">
                  <c:v>37226</c:v>
                </c:pt>
                <c:pt idx="250">
                  <c:v>37196</c:v>
                </c:pt>
                <c:pt idx="251">
                  <c:v>37165</c:v>
                </c:pt>
                <c:pt idx="252">
                  <c:v>37135</c:v>
                </c:pt>
                <c:pt idx="253">
                  <c:v>37104</c:v>
                </c:pt>
                <c:pt idx="254">
                  <c:v>37073</c:v>
                </c:pt>
                <c:pt idx="255">
                  <c:v>37043</c:v>
                </c:pt>
                <c:pt idx="256">
                  <c:v>37012</c:v>
                </c:pt>
                <c:pt idx="257">
                  <c:v>36982</c:v>
                </c:pt>
                <c:pt idx="258">
                  <c:v>36951</c:v>
                </c:pt>
                <c:pt idx="259">
                  <c:v>36923</c:v>
                </c:pt>
                <c:pt idx="260">
                  <c:v>36892</c:v>
                </c:pt>
                <c:pt idx="261">
                  <c:v>36861</c:v>
                </c:pt>
                <c:pt idx="262">
                  <c:v>36831</c:v>
                </c:pt>
                <c:pt idx="263">
                  <c:v>36800</c:v>
                </c:pt>
                <c:pt idx="264">
                  <c:v>36770</c:v>
                </c:pt>
                <c:pt idx="265">
                  <c:v>36739</c:v>
                </c:pt>
                <c:pt idx="266">
                  <c:v>36708</c:v>
                </c:pt>
                <c:pt idx="267">
                  <c:v>36678</c:v>
                </c:pt>
                <c:pt idx="268">
                  <c:v>36647</c:v>
                </c:pt>
                <c:pt idx="269">
                  <c:v>36617</c:v>
                </c:pt>
                <c:pt idx="270">
                  <c:v>36586</c:v>
                </c:pt>
                <c:pt idx="271">
                  <c:v>36557</c:v>
                </c:pt>
                <c:pt idx="272">
                  <c:v>36526</c:v>
                </c:pt>
                <c:pt idx="273">
                  <c:v>36495</c:v>
                </c:pt>
                <c:pt idx="274">
                  <c:v>36465</c:v>
                </c:pt>
                <c:pt idx="275">
                  <c:v>36434</c:v>
                </c:pt>
                <c:pt idx="276">
                  <c:v>36404</c:v>
                </c:pt>
                <c:pt idx="277">
                  <c:v>36373</c:v>
                </c:pt>
                <c:pt idx="278">
                  <c:v>36342</c:v>
                </c:pt>
                <c:pt idx="279">
                  <c:v>36312</c:v>
                </c:pt>
                <c:pt idx="280">
                  <c:v>36281</c:v>
                </c:pt>
                <c:pt idx="281">
                  <c:v>36251</c:v>
                </c:pt>
                <c:pt idx="282">
                  <c:v>36220</c:v>
                </c:pt>
                <c:pt idx="283">
                  <c:v>36192</c:v>
                </c:pt>
                <c:pt idx="284">
                  <c:v>36161</c:v>
                </c:pt>
                <c:pt idx="285">
                  <c:v>36130</c:v>
                </c:pt>
                <c:pt idx="286">
                  <c:v>36100</c:v>
                </c:pt>
                <c:pt idx="287">
                  <c:v>36069</c:v>
                </c:pt>
                <c:pt idx="288">
                  <c:v>36039</c:v>
                </c:pt>
                <c:pt idx="289">
                  <c:v>36008</c:v>
                </c:pt>
                <c:pt idx="290">
                  <c:v>35977</c:v>
                </c:pt>
                <c:pt idx="291">
                  <c:v>35947</c:v>
                </c:pt>
                <c:pt idx="292">
                  <c:v>35916</c:v>
                </c:pt>
                <c:pt idx="293">
                  <c:v>35886</c:v>
                </c:pt>
                <c:pt idx="294">
                  <c:v>35855</c:v>
                </c:pt>
                <c:pt idx="295">
                  <c:v>35827</c:v>
                </c:pt>
                <c:pt idx="296">
                  <c:v>35796</c:v>
                </c:pt>
                <c:pt idx="297">
                  <c:v>35765</c:v>
                </c:pt>
                <c:pt idx="298">
                  <c:v>35735</c:v>
                </c:pt>
                <c:pt idx="299">
                  <c:v>35704</c:v>
                </c:pt>
                <c:pt idx="300">
                  <c:v>35674</c:v>
                </c:pt>
                <c:pt idx="301">
                  <c:v>35643</c:v>
                </c:pt>
                <c:pt idx="302">
                  <c:v>35612</c:v>
                </c:pt>
                <c:pt idx="303">
                  <c:v>35582</c:v>
                </c:pt>
                <c:pt idx="304">
                  <c:v>35551</c:v>
                </c:pt>
                <c:pt idx="305">
                  <c:v>35521</c:v>
                </c:pt>
                <c:pt idx="306">
                  <c:v>35490</c:v>
                </c:pt>
                <c:pt idx="307">
                  <c:v>35462</c:v>
                </c:pt>
                <c:pt idx="308">
                  <c:v>35431</c:v>
                </c:pt>
                <c:pt idx="309">
                  <c:v>35400</c:v>
                </c:pt>
                <c:pt idx="310">
                  <c:v>35370</c:v>
                </c:pt>
                <c:pt idx="311">
                  <c:v>35339</c:v>
                </c:pt>
                <c:pt idx="312">
                  <c:v>35309</c:v>
                </c:pt>
                <c:pt idx="313">
                  <c:v>35278</c:v>
                </c:pt>
                <c:pt idx="314">
                  <c:v>35247</c:v>
                </c:pt>
                <c:pt idx="315">
                  <c:v>35217</c:v>
                </c:pt>
                <c:pt idx="316">
                  <c:v>35186</c:v>
                </c:pt>
                <c:pt idx="317">
                  <c:v>35156</c:v>
                </c:pt>
                <c:pt idx="318">
                  <c:v>35125</c:v>
                </c:pt>
                <c:pt idx="319">
                  <c:v>35096</c:v>
                </c:pt>
                <c:pt idx="320">
                  <c:v>35065</c:v>
                </c:pt>
                <c:pt idx="321">
                  <c:v>35034</c:v>
                </c:pt>
                <c:pt idx="322">
                  <c:v>35004</c:v>
                </c:pt>
                <c:pt idx="323">
                  <c:v>34973</c:v>
                </c:pt>
                <c:pt idx="324">
                  <c:v>34943</c:v>
                </c:pt>
                <c:pt idx="325">
                  <c:v>34912</c:v>
                </c:pt>
                <c:pt idx="326">
                  <c:v>34881</c:v>
                </c:pt>
                <c:pt idx="327">
                  <c:v>34851</c:v>
                </c:pt>
                <c:pt idx="328">
                  <c:v>34820</c:v>
                </c:pt>
                <c:pt idx="329">
                  <c:v>34790</c:v>
                </c:pt>
                <c:pt idx="330">
                  <c:v>34759</c:v>
                </c:pt>
                <c:pt idx="331">
                  <c:v>34731</c:v>
                </c:pt>
                <c:pt idx="332">
                  <c:v>34700</c:v>
                </c:pt>
              </c:numCache>
            </c:numRef>
          </c:cat>
          <c:val>
            <c:numRef>
              <c:f>Concentration!$B$37:$LV$37</c:f>
              <c:numCache>
                <c:formatCode>0%</c:formatCode>
                <c:ptCount val="333"/>
                <c:pt idx="0">
                  <c:v>0.45165929397115284</c:v>
                </c:pt>
                <c:pt idx="1">
                  <c:v>0.46683283297465406</c:v>
                </c:pt>
                <c:pt idx="2">
                  <c:v>0.46877217213594546</c:v>
                </c:pt>
                <c:pt idx="3">
                  <c:v>0.49880438635181379</c:v>
                </c:pt>
                <c:pt idx="4">
                  <c:v>0.46771427316696634</c:v>
                </c:pt>
                <c:pt idx="5">
                  <c:v>0.46022318880609026</c:v>
                </c:pt>
                <c:pt idx="6">
                  <c:v>0.46187370862963867</c:v>
                </c:pt>
                <c:pt idx="7">
                  <c:v>0.47907405548839055</c:v>
                </c:pt>
                <c:pt idx="8">
                  <c:v>0.48167445557406185</c:v>
                </c:pt>
                <c:pt idx="9">
                  <c:v>0.48506605753478771</c:v>
                </c:pt>
                <c:pt idx="10">
                  <c:v>0.49666995727838575</c:v>
                </c:pt>
                <c:pt idx="11">
                  <c:v>0.49398543941791262</c:v>
                </c:pt>
                <c:pt idx="12">
                  <c:v>0.48679953141475607</c:v>
                </c:pt>
                <c:pt idx="13">
                  <c:v>0.48757445439762148</c:v>
                </c:pt>
                <c:pt idx="14">
                  <c:v>0.49172488200534115</c:v>
                </c:pt>
                <c:pt idx="15">
                  <c:v>0.51451124850342633</c:v>
                </c:pt>
                <c:pt idx="16">
                  <c:v>0.51466680111427277</c:v>
                </c:pt>
                <c:pt idx="17">
                  <c:v>0.52093117862700777</c:v>
                </c:pt>
                <c:pt idx="18">
                  <c:v>0.51744714212465026</c:v>
                </c:pt>
                <c:pt idx="19">
                  <c:v>0.53289944816933132</c:v>
                </c:pt>
                <c:pt idx="20">
                  <c:v>0.5345083025134505</c:v>
                </c:pt>
                <c:pt idx="21">
                  <c:v>0.51846414445310529</c:v>
                </c:pt>
                <c:pt idx="22">
                  <c:v>0.53478533078658685</c:v>
                </c:pt>
                <c:pt idx="23">
                  <c:v>0.55908928641385003</c:v>
                </c:pt>
                <c:pt idx="24">
                  <c:v>0.54720928429653737</c:v>
                </c:pt>
                <c:pt idx="25">
                  <c:v>0.54983194562434345</c:v>
                </c:pt>
                <c:pt idx="26">
                  <c:v>0.54134565161844195</c:v>
                </c:pt>
                <c:pt idx="27">
                  <c:v>0.53230799753214331</c:v>
                </c:pt>
                <c:pt idx="28">
                  <c:v>0.51541910696316073</c:v>
                </c:pt>
                <c:pt idx="29">
                  <c:v>0.52488517742364738</c:v>
                </c:pt>
                <c:pt idx="30">
                  <c:v>0.52954440447458317</c:v>
                </c:pt>
                <c:pt idx="31">
                  <c:v>0.48534849004234892</c:v>
                </c:pt>
                <c:pt idx="32">
                  <c:v>0.45908227885654823</c:v>
                </c:pt>
                <c:pt idx="33">
                  <c:v>0.45981869488675053</c:v>
                </c:pt>
                <c:pt idx="34">
                  <c:v>0.45744473088363174</c:v>
                </c:pt>
                <c:pt idx="35">
                  <c:v>0.43771075359105394</c:v>
                </c:pt>
                <c:pt idx="36">
                  <c:v>0.43370069624651142</c:v>
                </c:pt>
                <c:pt idx="37">
                  <c:v>0.4345280294427708</c:v>
                </c:pt>
                <c:pt idx="38">
                  <c:v>0.42953006329242388</c:v>
                </c:pt>
                <c:pt idx="39">
                  <c:v>0.42382696185442481</c:v>
                </c:pt>
                <c:pt idx="40">
                  <c:v>0.42101356040214388</c:v>
                </c:pt>
                <c:pt idx="41">
                  <c:v>0.44591267736288026</c:v>
                </c:pt>
                <c:pt idx="42">
                  <c:v>0.44348746867866212</c:v>
                </c:pt>
                <c:pt idx="43">
                  <c:v>0.43272570898299223</c:v>
                </c:pt>
                <c:pt idx="44">
                  <c:v>0.4174400319003348</c:v>
                </c:pt>
                <c:pt idx="45">
                  <c:v>0.4179486072763498</c:v>
                </c:pt>
                <c:pt idx="46">
                  <c:v>0.42300011837259643</c:v>
                </c:pt>
                <c:pt idx="47">
                  <c:v>0.41890074141608941</c:v>
                </c:pt>
                <c:pt idx="48">
                  <c:v>0.43272872601974594</c:v>
                </c:pt>
                <c:pt idx="49">
                  <c:v>0.43186987408111338</c:v>
                </c:pt>
                <c:pt idx="50">
                  <c:v>0.4302236285796201</c:v>
                </c:pt>
                <c:pt idx="51">
                  <c:v>0.44344967948457459</c:v>
                </c:pt>
                <c:pt idx="52">
                  <c:v>0.4338486603522565</c:v>
                </c:pt>
                <c:pt idx="53">
                  <c:v>0.41336462962221021</c:v>
                </c:pt>
                <c:pt idx="54">
                  <c:v>0.41686702418498528</c:v>
                </c:pt>
                <c:pt idx="55">
                  <c:v>0.4169030012022491</c:v>
                </c:pt>
                <c:pt idx="56">
                  <c:v>0.4203450992126222</c:v>
                </c:pt>
                <c:pt idx="57">
                  <c:v>0.40943963447150633</c:v>
                </c:pt>
                <c:pt idx="58">
                  <c:v>0.41521802553468284</c:v>
                </c:pt>
                <c:pt idx="59">
                  <c:v>0.41512752259668806</c:v>
                </c:pt>
                <c:pt idx="60">
                  <c:v>0.41057549233104895</c:v>
                </c:pt>
                <c:pt idx="61">
                  <c:v>0.40948296806028039</c:v>
                </c:pt>
                <c:pt idx="62">
                  <c:v>0.40527775570372837</c:v>
                </c:pt>
                <c:pt idx="63">
                  <c:v>0.40378319297420018</c:v>
                </c:pt>
                <c:pt idx="64">
                  <c:v>0.39884978950409666</c:v>
                </c:pt>
                <c:pt idx="65">
                  <c:v>0.3932610823299037</c:v>
                </c:pt>
                <c:pt idx="66">
                  <c:v>0.39168294377404334</c:v>
                </c:pt>
                <c:pt idx="67">
                  <c:v>0.39308616892470899</c:v>
                </c:pt>
                <c:pt idx="68">
                  <c:v>0.38982996335692205</c:v>
                </c:pt>
                <c:pt idx="69">
                  <c:v>0.38714240666754623</c:v>
                </c:pt>
                <c:pt idx="70">
                  <c:v>0.40001169810560394</c:v>
                </c:pt>
                <c:pt idx="71">
                  <c:v>0.38547399918549241</c:v>
                </c:pt>
                <c:pt idx="72">
                  <c:v>0.38995582173206</c:v>
                </c:pt>
                <c:pt idx="73">
                  <c:v>0.38500966037124001</c:v>
                </c:pt>
                <c:pt idx="74">
                  <c:v>0.37400039304122445</c:v>
                </c:pt>
                <c:pt idx="75">
                  <c:v>0.37767052395111855</c:v>
                </c:pt>
                <c:pt idx="76">
                  <c:v>0.36617641172522963</c:v>
                </c:pt>
                <c:pt idx="77">
                  <c:v>0.35223778873802858</c:v>
                </c:pt>
                <c:pt idx="78">
                  <c:v>0.36174340835062424</c:v>
                </c:pt>
                <c:pt idx="79">
                  <c:v>0.37101175062853226</c:v>
                </c:pt>
                <c:pt idx="80">
                  <c:v>0.37071672065251737</c:v>
                </c:pt>
                <c:pt idx="81">
                  <c:v>0.38561727140093494</c:v>
                </c:pt>
                <c:pt idx="82">
                  <c:v>0.36355617141980534</c:v>
                </c:pt>
                <c:pt idx="83">
                  <c:v>0.36187381220922399</c:v>
                </c:pt>
                <c:pt idx="84">
                  <c:v>0.35888469135802203</c:v>
                </c:pt>
                <c:pt idx="85">
                  <c:v>0.35726753986678039</c:v>
                </c:pt>
                <c:pt idx="86">
                  <c:v>0.36316952905993055</c:v>
                </c:pt>
                <c:pt idx="87">
                  <c:v>0.37372102708763527</c:v>
                </c:pt>
                <c:pt idx="88">
                  <c:v>0.38072672362494919</c:v>
                </c:pt>
                <c:pt idx="89">
                  <c:v>0.37408490625700436</c:v>
                </c:pt>
                <c:pt idx="90">
                  <c:v>0.35796242572475667</c:v>
                </c:pt>
                <c:pt idx="91">
                  <c:v>0.34932168981396694</c:v>
                </c:pt>
                <c:pt idx="92">
                  <c:v>0.34788676879416863</c:v>
                </c:pt>
                <c:pt idx="93">
                  <c:v>0.34313003629450228</c:v>
                </c:pt>
                <c:pt idx="94">
                  <c:v>0.32539176794160474</c:v>
                </c:pt>
                <c:pt idx="95">
                  <c:v>0.31845508044659543</c:v>
                </c:pt>
                <c:pt idx="96">
                  <c:v>0.31061203221836153</c:v>
                </c:pt>
                <c:pt idx="97">
                  <c:v>0.30899636235129907</c:v>
                </c:pt>
                <c:pt idx="98">
                  <c:v>0.31151929332930173</c:v>
                </c:pt>
                <c:pt idx="99">
                  <c:v>0.30350386348476671</c:v>
                </c:pt>
                <c:pt idx="100">
                  <c:v>0.30643219423877222</c:v>
                </c:pt>
                <c:pt idx="101">
                  <c:v>0.3040008025058904</c:v>
                </c:pt>
                <c:pt idx="102">
                  <c:v>0.30781610030744172</c:v>
                </c:pt>
                <c:pt idx="103">
                  <c:v>0.31577992236525887</c:v>
                </c:pt>
                <c:pt idx="104">
                  <c:v>0.31869595331537448</c:v>
                </c:pt>
                <c:pt idx="105">
                  <c:v>0.31427275960074563</c:v>
                </c:pt>
                <c:pt idx="106">
                  <c:v>0.31455894432718856</c:v>
                </c:pt>
                <c:pt idx="107">
                  <c:v>0.30380848353817935</c:v>
                </c:pt>
                <c:pt idx="108">
                  <c:v>0.30828602368726643</c:v>
                </c:pt>
                <c:pt idx="109">
                  <c:v>0.31460397640078669</c:v>
                </c:pt>
                <c:pt idx="110">
                  <c:v>0.30469292967586575</c:v>
                </c:pt>
                <c:pt idx="111">
                  <c:v>0.30049475459939118</c:v>
                </c:pt>
                <c:pt idx="112">
                  <c:v>0.29952063485584307</c:v>
                </c:pt>
                <c:pt idx="113">
                  <c:v>0.29368458094184863</c:v>
                </c:pt>
                <c:pt idx="114">
                  <c:v>0.28844042948767562</c:v>
                </c:pt>
                <c:pt idx="115">
                  <c:v>0.29103885605823965</c:v>
                </c:pt>
                <c:pt idx="116">
                  <c:v>0.29383666011804954</c:v>
                </c:pt>
                <c:pt idx="117">
                  <c:v>0.28963575243004447</c:v>
                </c:pt>
                <c:pt idx="118">
                  <c:v>0.29693829088044488</c:v>
                </c:pt>
                <c:pt idx="119">
                  <c:v>0.28935957204520546</c:v>
                </c:pt>
                <c:pt idx="120">
                  <c:v>0.28465641517282131</c:v>
                </c:pt>
                <c:pt idx="121">
                  <c:v>0.28245211591536801</c:v>
                </c:pt>
                <c:pt idx="122">
                  <c:v>0.28460085475885311</c:v>
                </c:pt>
                <c:pt idx="123">
                  <c:v>0.28834983828304833</c:v>
                </c:pt>
                <c:pt idx="124">
                  <c:v>0.29669279551630284</c:v>
                </c:pt>
                <c:pt idx="125">
                  <c:v>0.288156774958505</c:v>
                </c:pt>
                <c:pt idx="126">
                  <c:v>0.28209299132084203</c:v>
                </c:pt>
                <c:pt idx="127">
                  <c:v>0.28724745847182082</c:v>
                </c:pt>
                <c:pt idx="128">
                  <c:v>0.28468385352616377</c:v>
                </c:pt>
                <c:pt idx="129">
                  <c:v>0.28742815379875913</c:v>
                </c:pt>
                <c:pt idx="130">
                  <c:v>0.27377816235225561</c:v>
                </c:pt>
                <c:pt idx="131">
                  <c:v>0.2794478661300373</c:v>
                </c:pt>
                <c:pt idx="132">
                  <c:v>0.28257370915737978</c:v>
                </c:pt>
                <c:pt idx="133">
                  <c:v>0.28227989443210838</c:v>
                </c:pt>
                <c:pt idx="134">
                  <c:v>0.28339554024323077</c:v>
                </c:pt>
                <c:pt idx="135">
                  <c:v>0.28453041867649004</c:v>
                </c:pt>
                <c:pt idx="136">
                  <c:v>0.29227571454558909</c:v>
                </c:pt>
                <c:pt idx="137">
                  <c:v>0.28413587510926269</c:v>
                </c:pt>
                <c:pt idx="138">
                  <c:v>0.28302143770645272</c:v>
                </c:pt>
                <c:pt idx="139">
                  <c:v>0.2870009896912088</c:v>
                </c:pt>
                <c:pt idx="140">
                  <c:v>0.29792311991543075</c:v>
                </c:pt>
                <c:pt idx="141">
                  <c:v>0.28685177926223682</c:v>
                </c:pt>
                <c:pt idx="142">
                  <c:v>0.29327292419019613</c:v>
                </c:pt>
                <c:pt idx="143">
                  <c:v>0.28727273046581409</c:v>
                </c:pt>
                <c:pt idx="144">
                  <c:v>0.285373506232596</c:v>
                </c:pt>
                <c:pt idx="145">
                  <c:v>0.29161295694485989</c:v>
                </c:pt>
                <c:pt idx="146">
                  <c:v>0.29280883105884509</c:v>
                </c:pt>
                <c:pt idx="147">
                  <c:v>0.29926451632387457</c:v>
                </c:pt>
                <c:pt idx="148">
                  <c:v>0.29639880787038286</c:v>
                </c:pt>
                <c:pt idx="149">
                  <c:v>0.28172996713032439</c:v>
                </c:pt>
                <c:pt idx="150">
                  <c:v>0.28218856653195934</c:v>
                </c:pt>
                <c:pt idx="151">
                  <c:v>0.28549548567639643</c:v>
                </c:pt>
                <c:pt idx="152">
                  <c:v>0.28652157980110082</c:v>
                </c:pt>
                <c:pt idx="153">
                  <c:v>0.29245735365069631</c:v>
                </c:pt>
                <c:pt idx="154">
                  <c:v>0.29373082644052984</c:v>
                </c:pt>
                <c:pt idx="155">
                  <c:v>0.29748389022596766</c:v>
                </c:pt>
                <c:pt idx="156">
                  <c:v>0.2916600221742871</c:v>
                </c:pt>
                <c:pt idx="157">
                  <c:v>0.29411671784544619</c:v>
                </c:pt>
                <c:pt idx="158">
                  <c:v>0.31044959442416653</c:v>
                </c:pt>
                <c:pt idx="159">
                  <c:v>0.31171031259025805</c:v>
                </c:pt>
                <c:pt idx="160">
                  <c:v>0.29534291691110764</c:v>
                </c:pt>
                <c:pt idx="161">
                  <c:v>0.29728967767031378</c:v>
                </c:pt>
                <c:pt idx="162">
                  <c:v>0.30496339641724141</c:v>
                </c:pt>
                <c:pt idx="163">
                  <c:v>0.29966772497327276</c:v>
                </c:pt>
                <c:pt idx="164">
                  <c:v>0.28376842539221347</c:v>
                </c:pt>
                <c:pt idx="165">
                  <c:v>0.29050845951565379</c:v>
                </c:pt>
                <c:pt idx="166">
                  <c:v>0.28904960792202611</c:v>
                </c:pt>
                <c:pt idx="167">
                  <c:v>0.2711853676493613</c:v>
                </c:pt>
                <c:pt idx="168">
                  <c:v>0.24786310374964432</c:v>
                </c:pt>
                <c:pt idx="169">
                  <c:v>0.25570259595377642</c:v>
                </c:pt>
                <c:pt idx="170">
                  <c:v>0.24926146146379258</c:v>
                </c:pt>
                <c:pt idx="171">
                  <c:v>0.24562749884896679</c:v>
                </c:pt>
                <c:pt idx="172">
                  <c:v>0.24597488638246334</c:v>
                </c:pt>
                <c:pt idx="173">
                  <c:v>0.26124572326987455</c:v>
                </c:pt>
                <c:pt idx="174">
                  <c:v>0.25562312727249015</c:v>
                </c:pt>
                <c:pt idx="175">
                  <c:v>0.25503616886980451</c:v>
                </c:pt>
                <c:pt idx="176">
                  <c:v>0.24324583590798232</c:v>
                </c:pt>
                <c:pt idx="177">
                  <c:v>0.25772804655425247</c:v>
                </c:pt>
                <c:pt idx="178">
                  <c:v>0.26227676219739027</c:v>
                </c:pt>
                <c:pt idx="179">
                  <c:v>0.27826216272914406</c:v>
                </c:pt>
                <c:pt idx="180">
                  <c:v>0.27538472518043433</c:v>
                </c:pt>
                <c:pt idx="181">
                  <c:v>0.26444440722947837</c:v>
                </c:pt>
                <c:pt idx="182">
                  <c:v>0.2527933631453595</c:v>
                </c:pt>
                <c:pt idx="183">
                  <c:v>0.25051459734322123</c:v>
                </c:pt>
                <c:pt idx="184">
                  <c:v>0.23184144625474812</c:v>
                </c:pt>
                <c:pt idx="185">
                  <c:v>0.2283462262550775</c:v>
                </c:pt>
                <c:pt idx="186">
                  <c:v>0.23502710137879768</c:v>
                </c:pt>
                <c:pt idx="187">
                  <c:v>0.24048113455213865</c:v>
                </c:pt>
                <c:pt idx="188">
                  <c:v>0.23897306815149436</c:v>
                </c:pt>
                <c:pt idx="189">
                  <c:v>0.24315462520407904</c:v>
                </c:pt>
                <c:pt idx="190">
                  <c:v>0.23519306219201008</c:v>
                </c:pt>
                <c:pt idx="191">
                  <c:v>0.22270050276893411</c:v>
                </c:pt>
                <c:pt idx="192">
                  <c:v>0.22518274214812758</c:v>
                </c:pt>
                <c:pt idx="193">
                  <c:v>0.22274619295775824</c:v>
                </c:pt>
                <c:pt idx="194">
                  <c:v>0.2231201293052899</c:v>
                </c:pt>
                <c:pt idx="195">
                  <c:v>0.23105209955996714</c:v>
                </c:pt>
                <c:pt idx="196">
                  <c:v>0.23255089684104158</c:v>
                </c:pt>
                <c:pt idx="197">
                  <c:v>0.22071002168661055</c:v>
                </c:pt>
                <c:pt idx="198">
                  <c:v>0.21824799355855079</c:v>
                </c:pt>
                <c:pt idx="199">
                  <c:v>0.21615767577080836</c:v>
                </c:pt>
                <c:pt idx="200">
                  <c:v>0.21239365481181793</c:v>
                </c:pt>
                <c:pt idx="201">
                  <c:v>0.22095148041531598</c:v>
                </c:pt>
                <c:pt idx="202">
                  <c:v>0.2210040392813683</c:v>
                </c:pt>
                <c:pt idx="203">
                  <c:v>0.21705055041157539</c:v>
                </c:pt>
                <c:pt idx="204">
                  <c:v>0.22002088217765881</c:v>
                </c:pt>
                <c:pt idx="205">
                  <c:v>0.23127952272682636</c:v>
                </c:pt>
                <c:pt idx="206">
                  <c:v>0.24482522283580024</c:v>
                </c:pt>
                <c:pt idx="207">
                  <c:v>0.25342147453467678</c:v>
                </c:pt>
                <c:pt idx="208">
                  <c:v>0.21394087596213945</c:v>
                </c:pt>
                <c:pt idx="209">
                  <c:v>0.21485152375705974</c:v>
                </c:pt>
                <c:pt idx="210">
                  <c:v>0.21038689823311479</c:v>
                </c:pt>
                <c:pt idx="211">
                  <c:v>0.20697558297083901</c:v>
                </c:pt>
                <c:pt idx="212">
                  <c:v>0.2109681951100047</c:v>
                </c:pt>
                <c:pt idx="213">
                  <c:v>0.21673300820814984</c:v>
                </c:pt>
                <c:pt idx="214">
                  <c:v>0.18612421000280865</c:v>
                </c:pt>
                <c:pt idx="215">
                  <c:v>0.1882992802801485</c:v>
                </c:pt>
                <c:pt idx="216">
                  <c:v>0.19480319226541404</c:v>
                </c:pt>
                <c:pt idx="217">
                  <c:v>0.2004956081373922</c:v>
                </c:pt>
                <c:pt idx="218">
                  <c:v>0.20049639063485533</c:v>
                </c:pt>
                <c:pt idx="219">
                  <c:v>0.20342432256598947</c:v>
                </c:pt>
                <c:pt idx="220">
                  <c:v>0.20830508045647428</c:v>
                </c:pt>
                <c:pt idx="221">
                  <c:v>0.19696786870758531</c:v>
                </c:pt>
                <c:pt idx="222">
                  <c:v>0.19842806356730189</c:v>
                </c:pt>
                <c:pt idx="223">
                  <c:v>0.20872968996616897</c:v>
                </c:pt>
                <c:pt idx="224">
                  <c:v>0.20783250010674525</c:v>
                </c:pt>
                <c:pt idx="225">
                  <c:v>0.2002560573551401</c:v>
                </c:pt>
                <c:pt idx="226">
                  <c:v>0.19952960109580725</c:v>
                </c:pt>
                <c:pt idx="227">
                  <c:v>0.20915033623978763</c:v>
                </c:pt>
                <c:pt idx="228">
                  <c:v>0.20630681360292941</c:v>
                </c:pt>
                <c:pt idx="229">
                  <c:v>0.20446409493111473</c:v>
                </c:pt>
                <c:pt idx="230">
                  <c:v>0.20155362025832241</c:v>
                </c:pt>
                <c:pt idx="231">
                  <c:v>0.19253266483422107</c:v>
                </c:pt>
                <c:pt idx="232">
                  <c:v>0.1893862997877499</c:v>
                </c:pt>
                <c:pt idx="233">
                  <c:v>0.18326276116872053</c:v>
                </c:pt>
                <c:pt idx="234">
                  <c:v>0.20362477702003892</c:v>
                </c:pt>
                <c:pt idx="235">
                  <c:v>0.20136823613180685</c:v>
                </c:pt>
                <c:pt idx="236">
                  <c:v>0.21385114282199932</c:v>
                </c:pt>
                <c:pt idx="237">
                  <c:v>0.19362732367982935</c:v>
                </c:pt>
                <c:pt idx="238">
                  <c:v>0.19384734723845881</c:v>
                </c:pt>
                <c:pt idx="239">
                  <c:v>0.20134192710342247</c:v>
                </c:pt>
                <c:pt idx="240">
                  <c:v>0.19914226840146404</c:v>
                </c:pt>
                <c:pt idx="241">
                  <c:v>0.20291829748830256</c:v>
                </c:pt>
                <c:pt idx="242">
                  <c:v>0.21480945597565271</c:v>
                </c:pt>
                <c:pt idx="243">
                  <c:v>0.21020116761009819</c:v>
                </c:pt>
                <c:pt idx="244">
                  <c:v>0.19959379682078512</c:v>
                </c:pt>
                <c:pt idx="245">
                  <c:v>0.20086434788526231</c:v>
                </c:pt>
                <c:pt idx="246">
                  <c:v>0.20279035185004207</c:v>
                </c:pt>
                <c:pt idx="247">
                  <c:v>0.19820391911439811</c:v>
                </c:pt>
                <c:pt idx="248">
                  <c:v>0.20783607869057769</c:v>
                </c:pt>
                <c:pt idx="249">
                  <c:v>0.2125075420944717</c:v>
                </c:pt>
                <c:pt idx="250">
                  <c:v>0.18639811192571626</c:v>
                </c:pt>
                <c:pt idx="251">
                  <c:v>0.1843288132096059</c:v>
                </c:pt>
                <c:pt idx="252">
                  <c:v>0.18148219337369145</c:v>
                </c:pt>
                <c:pt idx="253">
                  <c:v>0.18291625647257753</c:v>
                </c:pt>
                <c:pt idx="254">
                  <c:v>0.18857799213547402</c:v>
                </c:pt>
                <c:pt idx="255">
                  <c:v>0.19951609453031649</c:v>
                </c:pt>
                <c:pt idx="256">
                  <c:v>0.18850010423744296</c:v>
                </c:pt>
                <c:pt idx="257">
                  <c:v>0.19884203020343416</c:v>
                </c:pt>
                <c:pt idx="258">
                  <c:v>0.21211138434607008</c:v>
                </c:pt>
                <c:pt idx="259">
                  <c:v>0.20323956858594586</c:v>
                </c:pt>
                <c:pt idx="260">
                  <c:v>0.20307353147597687</c:v>
                </c:pt>
                <c:pt idx="261">
                  <c:v>0.18601976595337519</c:v>
                </c:pt>
                <c:pt idx="262">
                  <c:v>0.17946868224503121</c:v>
                </c:pt>
                <c:pt idx="263">
                  <c:v>0.1718866679252683</c:v>
                </c:pt>
                <c:pt idx="264">
                  <c:v>0.1772176412416519</c:v>
                </c:pt>
                <c:pt idx="265">
                  <c:v>0.19160149876673291</c:v>
                </c:pt>
                <c:pt idx="266">
                  <c:v>0.20367419539067963</c:v>
                </c:pt>
                <c:pt idx="267">
                  <c:v>0.1935498569879846</c:v>
                </c:pt>
                <c:pt idx="268">
                  <c:v>0.13869638174527218</c:v>
                </c:pt>
                <c:pt idx="269">
                  <c:v>0.13009520468137473</c:v>
                </c:pt>
                <c:pt idx="270">
                  <c:v>0.13253696339613191</c:v>
                </c:pt>
                <c:pt idx="271">
                  <c:v>0.12803316573624127</c:v>
                </c:pt>
                <c:pt idx="272">
                  <c:v>0.13625516267459906</c:v>
                </c:pt>
                <c:pt idx="273">
                  <c:v>0.11510837472518165</c:v>
                </c:pt>
                <c:pt idx="274">
                  <c:v>0.1175766756920982</c:v>
                </c:pt>
                <c:pt idx="275">
                  <c:v>0.12687614475588274</c:v>
                </c:pt>
                <c:pt idx="276">
                  <c:v>0.12614180593023849</c:v>
                </c:pt>
                <c:pt idx="277">
                  <c:v>0.13112847322369239</c:v>
                </c:pt>
                <c:pt idx="278">
                  <c:v>0.11848645865076976</c:v>
                </c:pt>
                <c:pt idx="279">
                  <c:v>0.13149896970758462</c:v>
                </c:pt>
                <c:pt idx="280">
                  <c:v>9.924968362513728E-2</c:v>
                </c:pt>
                <c:pt idx="281">
                  <c:v>0.10333764997771418</c:v>
                </c:pt>
                <c:pt idx="282">
                  <c:v>0.10666517692670226</c:v>
                </c:pt>
                <c:pt idx="283">
                  <c:v>0.10841157642928476</c:v>
                </c:pt>
                <c:pt idx="284">
                  <c:v>0.10491251981769238</c:v>
                </c:pt>
                <c:pt idx="285">
                  <c:v>0.10752091874723166</c:v>
                </c:pt>
                <c:pt idx="286">
                  <c:v>0.11337772091362688</c:v>
                </c:pt>
                <c:pt idx="287">
                  <c:v>0.11539476049339495</c:v>
                </c:pt>
                <c:pt idx="288">
                  <c:v>0.11294159095745142</c:v>
                </c:pt>
                <c:pt idx="289">
                  <c:v>0.11405204879782567</c:v>
                </c:pt>
                <c:pt idx="290">
                  <c:v>9.7411749627950128E-2</c:v>
                </c:pt>
                <c:pt idx="291">
                  <c:v>0.10262421156737657</c:v>
                </c:pt>
                <c:pt idx="292">
                  <c:v>0.10027450900562741</c:v>
                </c:pt>
                <c:pt idx="293">
                  <c:v>9.5412835039134808E-2</c:v>
                </c:pt>
                <c:pt idx="294">
                  <c:v>0.10446508474860028</c:v>
                </c:pt>
                <c:pt idx="295">
                  <c:v>0.11043341413842769</c:v>
                </c:pt>
                <c:pt idx="296">
                  <c:v>0.10006432946494447</c:v>
                </c:pt>
                <c:pt idx="297">
                  <c:v>9.8433414036401143E-2</c:v>
                </c:pt>
                <c:pt idx="298">
                  <c:v>0.10047117141126585</c:v>
                </c:pt>
                <c:pt idx="299">
                  <c:v>9.6367938015084656E-2</c:v>
                </c:pt>
                <c:pt idx="300">
                  <c:v>0.10218743298460864</c:v>
                </c:pt>
                <c:pt idx="301">
                  <c:v>0.1207345905195403</c:v>
                </c:pt>
                <c:pt idx="302">
                  <c:v>0.10909223876873128</c:v>
                </c:pt>
                <c:pt idx="303">
                  <c:v>0.10211839578113761</c:v>
                </c:pt>
                <c:pt idx="304">
                  <c:v>9.668068151466451E-2</c:v>
                </c:pt>
                <c:pt idx="305">
                  <c:v>0.10340158005415354</c:v>
                </c:pt>
                <c:pt idx="306">
                  <c:v>9.6583994001805812E-2</c:v>
                </c:pt>
                <c:pt idx="307">
                  <c:v>9.4542235446148509E-2</c:v>
                </c:pt>
                <c:pt idx="308">
                  <c:v>9.3025885925603624E-2</c:v>
                </c:pt>
                <c:pt idx="309">
                  <c:v>9.6948412657657482E-2</c:v>
                </c:pt>
                <c:pt idx="310">
                  <c:v>9.5876402891758264E-2</c:v>
                </c:pt>
                <c:pt idx="311">
                  <c:v>9.1885679860437094E-2</c:v>
                </c:pt>
                <c:pt idx="312">
                  <c:v>9.2467408875705648E-2</c:v>
                </c:pt>
                <c:pt idx="313">
                  <c:v>1.8543310001967674E-4</c:v>
                </c:pt>
                <c:pt idx="314">
                  <c:v>2.0178825112712186E-4</c:v>
                </c:pt>
                <c:pt idx="315">
                  <c:v>2.2230921167080227E-4</c:v>
                </c:pt>
                <c:pt idx="316">
                  <c:v>2.3748507317343206E-4</c:v>
                </c:pt>
                <c:pt idx="317">
                  <c:v>2.7031092257598865E-4</c:v>
                </c:pt>
                <c:pt idx="318">
                  <c:v>2.6553604015442723E-4</c:v>
                </c:pt>
                <c:pt idx="319">
                  <c:v>2.8529892902020155E-4</c:v>
                </c:pt>
                <c:pt idx="320">
                  <c:v>2.2197608267307913E-4</c:v>
                </c:pt>
                <c:pt idx="321">
                  <c:v>3.044252592426196E-4</c:v>
                </c:pt>
                <c:pt idx="322">
                  <c:v>3.3596956978921633E-4</c:v>
                </c:pt>
                <c:pt idx="323">
                  <c:v>4.0495086866379942E-4</c:v>
                </c:pt>
                <c:pt idx="324">
                  <c:v>4.2285401876818147E-4</c:v>
                </c:pt>
                <c:pt idx="325">
                  <c:v>4.9958788427482167E-4</c:v>
                </c:pt>
                <c:pt idx="326">
                  <c:v>6.8908694645160589E-4</c:v>
                </c:pt>
                <c:pt idx="327">
                  <c:v>6.7642523242610942E-4</c:v>
                </c:pt>
                <c:pt idx="328">
                  <c:v>6.6781181425684688E-4</c:v>
                </c:pt>
                <c:pt idx="329">
                  <c:v>6.8922458246686207E-4</c:v>
                </c:pt>
                <c:pt idx="330">
                  <c:v>6.6022586386102412E-4</c:v>
                </c:pt>
                <c:pt idx="331">
                  <c:v>8.7766005487716124E-4</c:v>
                </c:pt>
                <c:pt idx="332">
                  <c:v>9.6782669621674861E-4</c:v>
                </c:pt>
              </c:numCache>
            </c:numRef>
          </c:val>
          <c:smooth val="0"/>
          <c:extLst>
            <c:ext xmlns:c16="http://schemas.microsoft.com/office/drawing/2014/chart" uri="{C3380CC4-5D6E-409C-BE32-E72D297353CC}">
              <c16:uniqueId val="{00000001-2581-4C0E-BCEF-B519E7F6B5C9}"/>
            </c:ext>
          </c:extLst>
        </c:ser>
        <c:dLbls>
          <c:showLegendKey val="0"/>
          <c:showVal val="0"/>
          <c:showCatName val="0"/>
          <c:showSerName val="0"/>
          <c:showPercent val="0"/>
          <c:showBubbleSize val="0"/>
        </c:dLbls>
        <c:smooth val="0"/>
        <c:axId val="337112496"/>
        <c:axId val="337112824"/>
      </c:lineChart>
      <c:dateAx>
        <c:axId val="337112496"/>
        <c:scaling>
          <c:orientation val="minMax"/>
        </c:scaling>
        <c:delete val="0"/>
        <c:axPos val="b"/>
        <c:numFmt formatCode="yyyy" sourceLinked="0"/>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crossAx val="337112824"/>
        <c:crosses val="autoZero"/>
        <c:auto val="1"/>
        <c:lblOffset val="100"/>
        <c:baseTimeUnit val="months"/>
        <c:majorUnit val="2"/>
        <c:majorTimeUnit val="years"/>
      </c:dateAx>
      <c:valAx>
        <c:axId val="337112824"/>
        <c:scaling>
          <c:orientation val="minMax"/>
        </c:scaling>
        <c:delete val="0"/>
        <c:axPos val="l"/>
        <c:majorGridlines>
          <c:spPr>
            <a:ln w="9525" cap="flat" cmpd="sng" algn="ctr">
              <a:solidFill>
                <a:schemeClr val="accent3"/>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crossAx val="337112496"/>
        <c:crosses val="autoZero"/>
        <c:crossBetween val="between"/>
      </c:valAx>
      <c:spPr>
        <a:noFill/>
        <a:ln>
          <a:noFill/>
        </a:ln>
        <a:effectLst/>
      </c:spPr>
    </c:plotArea>
    <c:plotVisOnly val="1"/>
    <c:dispBlanksAs val="gap"/>
    <c:showDLblsOverMax val="0"/>
  </c:chart>
  <c:spPr>
    <a:noFill/>
    <a:ln>
      <a:noFill/>
    </a:ln>
    <a:effectLst/>
  </c:spPr>
  <c:txPr>
    <a:bodyPr/>
    <a:lstStyle/>
    <a:p>
      <a:pPr>
        <a:defRPr sz="1800">
          <a:solidFill>
            <a:schemeClr val="tx1"/>
          </a:solidFill>
          <a:latin typeface="Roboto Condensed" panose="02000000000000000000" pitchFamily="2" charset="0"/>
          <a:ea typeface="Roboto Condensed" panose="02000000000000000000" pitchFamily="2"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679710490734111E-2"/>
          <c:y val="4.3895888013998248E-2"/>
          <c:w val="0.91743140062037698"/>
          <c:h val="0.84080314960629932"/>
        </c:manualLayout>
      </c:layout>
      <c:lineChart>
        <c:grouping val="standard"/>
        <c:varyColors val="0"/>
        <c:ser>
          <c:idx val="1"/>
          <c:order val="0"/>
          <c:tx>
            <c:strRef>
              <c:f>[2]Sheet2!$A$38</c:f>
              <c:strCache>
                <c:ptCount val="1"/>
                <c:pt idx="0">
                  <c:v>EM HHI</c:v>
                </c:pt>
              </c:strCache>
            </c:strRef>
          </c:tx>
          <c:spPr>
            <a:ln w="38100" cap="rnd">
              <a:solidFill>
                <a:schemeClr val="accent3">
                  <a:lumMod val="50000"/>
                </a:schemeClr>
              </a:solidFill>
              <a:round/>
            </a:ln>
            <a:effectLst/>
          </c:spPr>
          <c:marker>
            <c:symbol val="none"/>
          </c:marker>
          <c:cat>
            <c:numRef>
              <c:f>[2]Sheet2!$B$35:$LV$35</c:f>
              <c:numCache>
                <c:formatCode>mmm\-yy</c:formatCode>
                <c:ptCount val="333"/>
                <c:pt idx="0">
                  <c:v>44805</c:v>
                </c:pt>
                <c:pt idx="1">
                  <c:v>44774</c:v>
                </c:pt>
                <c:pt idx="2">
                  <c:v>44743</c:v>
                </c:pt>
                <c:pt idx="3">
                  <c:v>44713</c:v>
                </c:pt>
                <c:pt idx="4">
                  <c:v>44682</c:v>
                </c:pt>
                <c:pt idx="5">
                  <c:v>44652</c:v>
                </c:pt>
                <c:pt idx="6">
                  <c:v>44621</c:v>
                </c:pt>
                <c:pt idx="7">
                  <c:v>44593</c:v>
                </c:pt>
                <c:pt idx="8">
                  <c:v>44562</c:v>
                </c:pt>
                <c:pt idx="9">
                  <c:v>44531</c:v>
                </c:pt>
                <c:pt idx="10">
                  <c:v>44501</c:v>
                </c:pt>
                <c:pt idx="11">
                  <c:v>44470</c:v>
                </c:pt>
                <c:pt idx="12">
                  <c:v>44440</c:v>
                </c:pt>
                <c:pt idx="13">
                  <c:v>44409</c:v>
                </c:pt>
                <c:pt idx="14">
                  <c:v>44378</c:v>
                </c:pt>
                <c:pt idx="15">
                  <c:v>44348</c:v>
                </c:pt>
                <c:pt idx="16">
                  <c:v>44317</c:v>
                </c:pt>
                <c:pt idx="17">
                  <c:v>44287</c:v>
                </c:pt>
                <c:pt idx="18">
                  <c:v>44256</c:v>
                </c:pt>
                <c:pt idx="19">
                  <c:v>44228</c:v>
                </c:pt>
                <c:pt idx="20">
                  <c:v>44197</c:v>
                </c:pt>
                <c:pt idx="21">
                  <c:v>44166</c:v>
                </c:pt>
                <c:pt idx="22">
                  <c:v>44136</c:v>
                </c:pt>
                <c:pt idx="23">
                  <c:v>44105</c:v>
                </c:pt>
                <c:pt idx="24">
                  <c:v>44075</c:v>
                </c:pt>
                <c:pt idx="25">
                  <c:v>44044</c:v>
                </c:pt>
                <c:pt idx="26">
                  <c:v>44013</c:v>
                </c:pt>
                <c:pt idx="27">
                  <c:v>43983</c:v>
                </c:pt>
                <c:pt idx="28">
                  <c:v>43952</c:v>
                </c:pt>
                <c:pt idx="29">
                  <c:v>43922</c:v>
                </c:pt>
                <c:pt idx="30">
                  <c:v>43891</c:v>
                </c:pt>
                <c:pt idx="31">
                  <c:v>43862</c:v>
                </c:pt>
                <c:pt idx="32">
                  <c:v>43831</c:v>
                </c:pt>
                <c:pt idx="33">
                  <c:v>43800</c:v>
                </c:pt>
                <c:pt idx="34">
                  <c:v>43770</c:v>
                </c:pt>
                <c:pt idx="35">
                  <c:v>43739</c:v>
                </c:pt>
                <c:pt idx="36">
                  <c:v>43709</c:v>
                </c:pt>
                <c:pt idx="37">
                  <c:v>43678</c:v>
                </c:pt>
                <c:pt idx="38">
                  <c:v>43647</c:v>
                </c:pt>
                <c:pt idx="39">
                  <c:v>43617</c:v>
                </c:pt>
                <c:pt idx="40">
                  <c:v>43586</c:v>
                </c:pt>
                <c:pt idx="41">
                  <c:v>43556</c:v>
                </c:pt>
                <c:pt idx="42">
                  <c:v>43525</c:v>
                </c:pt>
                <c:pt idx="43">
                  <c:v>43497</c:v>
                </c:pt>
                <c:pt idx="44">
                  <c:v>43466</c:v>
                </c:pt>
                <c:pt idx="45">
                  <c:v>43435</c:v>
                </c:pt>
                <c:pt idx="46">
                  <c:v>43405</c:v>
                </c:pt>
                <c:pt idx="47">
                  <c:v>43374</c:v>
                </c:pt>
                <c:pt idx="48">
                  <c:v>43344</c:v>
                </c:pt>
                <c:pt idx="49">
                  <c:v>43313</c:v>
                </c:pt>
                <c:pt idx="50">
                  <c:v>43282</c:v>
                </c:pt>
                <c:pt idx="51">
                  <c:v>43252</c:v>
                </c:pt>
                <c:pt idx="52">
                  <c:v>43221</c:v>
                </c:pt>
                <c:pt idx="53">
                  <c:v>43191</c:v>
                </c:pt>
                <c:pt idx="54">
                  <c:v>43160</c:v>
                </c:pt>
                <c:pt idx="55">
                  <c:v>43132</c:v>
                </c:pt>
                <c:pt idx="56">
                  <c:v>43101</c:v>
                </c:pt>
                <c:pt idx="57">
                  <c:v>43070</c:v>
                </c:pt>
                <c:pt idx="58">
                  <c:v>43040</c:v>
                </c:pt>
                <c:pt idx="59">
                  <c:v>43009</c:v>
                </c:pt>
                <c:pt idx="60">
                  <c:v>42979</c:v>
                </c:pt>
                <c:pt idx="61">
                  <c:v>42948</c:v>
                </c:pt>
                <c:pt idx="62">
                  <c:v>42917</c:v>
                </c:pt>
                <c:pt idx="63">
                  <c:v>42887</c:v>
                </c:pt>
                <c:pt idx="64">
                  <c:v>42856</c:v>
                </c:pt>
                <c:pt idx="65">
                  <c:v>42826</c:v>
                </c:pt>
                <c:pt idx="66">
                  <c:v>42795</c:v>
                </c:pt>
                <c:pt idx="67">
                  <c:v>42767</c:v>
                </c:pt>
                <c:pt idx="68">
                  <c:v>42736</c:v>
                </c:pt>
                <c:pt idx="69">
                  <c:v>42705</c:v>
                </c:pt>
                <c:pt idx="70">
                  <c:v>42675</c:v>
                </c:pt>
                <c:pt idx="71">
                  <c:v>42644</c:v>
                </c:pt>
                <c:pt idx="72">
                  <c:v>42614</c:v>
                </c:pt>
                <c:pt idx="73">
                  <c:v>42583</c:v>
                </c:pt>
                <c:pt idx="74">
                  <c:v>42552</c:v>
                </c:pt>
                <c:pt idx="75">
                  <c:v>42522</c:v>
                </c:pt>
                <c:pt idx="76">
                  <c:v>42491</c:v>
                </c:pt>
                <c:pt idx="77">
                  <c:v>42461</c:v>
                </c:pt>
                <c:pt idx="78">
                  <c:v>42430</c:v>
                </c:pt>
                <c:pt idx="79">
                  <c:v>42401</c:v>
                </c:pt>
                <c:pt idx="80">
                  <c:v>42370</c:v>
                </c:pt>
                <c:pt idx="81">
                  <c:v>42339</c:v>
                </c:pt>
                <c:pt idx="82">
                  <c:v>42309</c:v>
                </c:pt>
                <c:pt idx="83">
                  <c:v>42278</c:v>
                </c:pt>
                <c:pt idx="84">
                  <c:v>42248</c:v>
                </c:pt>
                <c:pt idx="85">
                  <c:v>42217</c:v>
                </c:pt>
                <c:pt idx="86">
                  <c:v>42186</c:v>
                </c:pt>
                <c:pt idx="87">
                  <c:v>42156</c:v>
                </c:pt>
                <c:pt idx="88">
                  <c:v>42125</c:v>
                </c:pt>
                <c:pt idx="89">
                  <c:v>42095</c:v>
                </c:pt>
                <c:pt idx="90">
                  <c:v>42064</c:v>
                </c:pt>
                <c:pt idx="91">
                  <c:v>42036</c:v>
                </c:pt>
                <c:pt idx="92">
                  <c:v>42005</c:v>
                </c:pt>
                <c:pt idx="93">
                  <c:v>41974</c:v>
                </c:pt>
                <c:pt idx="94">
                  <c:v>41944</c:v>
                </c:pt>
                <c:pt idx="95">
                  <c:v>41913</c:v>
                </c:pt>
                <c:pt idx="96">
                  <c:v>41883</c:v>
                </c:pt>
                <c:pt idx="97">
                  <c:v>41852</c:v>
                </c:pt>
                <c:pt idx="98">
                  <c:v>41821</c:v>
                </c:pt>
                <c:pt idx="99">
                  <c:v>41791</c:v>
                </c:pt>
                <c:pt idx="100">
                  <c:v>41760</c:v>
                </c:pt>
                <c:pt idx="101">
                  <c:v>41730</c:v>
                </c:pt>
                <c:pt idx="102">
                  <c:v>41699</c:v>
                </c:pt>
                <c:pt idx="103">
                  <c:v>41671</c:v>
                </c:pt>
                <c:pt idx="104">
                  <c:v>41640</c:v>
                </c:pt>
                <c:pt idx="105">
                  <c:v>41609</c:v>
                </c:pt>
                <c:pt idx="106">
                  <c:v>41579</c:v>
                </c:pt>
                <c:pt idx="107">
                  <c:v>41548</c:v>
                </c:pt>
                <c:pt idx="108">
                  <c:v>41518</c:v>
                </c:pt>
                <c:pt idx="109">
                  <c:v>41487</c:v>
                </c:pt>
                <c:pt idx="110">
                  <c:v>41456</c:v>
                </c:pt>
                <c:pt idx="111">
                  <c:v>41426</c:v>
                </c:pt>
                <c:pt idx="112">
                  <c:v>41395</c:v>
                </c:pt>
                <c:pt idx="113">
                  <c:v>41365</c:v>
                </c:pt>
                <c:pt idx="114">
                  <c:v>41334</c:v>
                </c:pt>
                <c:pt idx="115">
                  <c:v>41306</c:v>
                </c:pt>
                <c:pt idx="116">
                  <c:v>41275</c:v>
                </c:pt>
                <c:pt idx="117">
                  <c:v>41244</c:v>
                </c:pt>
                <c:pt idx="118">
                  <c:v>41214</c:v>
                </c:pt>
                <c:pt idx="119">
                  <c:v>41183</c:v>
                </c:pt>
                <c:pt idx="120">
                  <c:v>41153</c:v>
                </c:pt>
                <c:pt idx="121">
                  <c:v>41122</c:v>
                </c:pt>
                <c:pt idx="122">
                  <c:v>41091</c:v>
                </c:pt>
                <c:pt idx="123">
                  <c:v>41061</c:v>
                </c:pt>
                <c:pt idx="124">
                  <c:v>41030</c:v>
                </c:pt>
                <c:pt idx="125">
                  <c:v>41000</c:v>
                </c:pt>
                <c:pt idx="126">
                  <c:v>40969</c:v>
                </c:pt>
                <c:pt idx="127">
                  <c:v>40940</c:v>
                </c:pt>
                <c:pt idx="128">
                  <c:v>40909</c:v>
                </c:pt>
                <c:pt idx="129">
                  <c:v>40878</c:v>
                </c:pt>
                <c:pt idx="130">
                  <c:v>40848</c:v>
                </c:pt>
                <c:pt idx="131">
                  <c:v>40817</c:v>
                </c:pt>
                <c:pt idx="132">
                  <c:v>40787</c:v>
                </c:pt>
                <c:pt idx="133">
                  <c:v>40756</c:v>
                </c:pt>
                <c:pt idx="134">
                  <c:v>40725</c:v>
                </c:pt>
                <c:pt idx="135">
                  <c:v>40695</c:v>
                </c:pt>
                <c:pt idx="136">
                  <c:v>40664</c:v>
                </c:pt>
                <c:pt idx="137">
                  <c:v>40634</c:v>
                </c:pt>
                <c:pt idx="138">
                  <c:v>40603</c:v>
                </c:pt>
                <c:pt idx="139">
                  <c:v>40575</c:v>
                </c:pt>
                <c:pt idx="140">
                  <c:v>40544</c:v>
                </c:pt>
                <c:pt idx="141">
                  <c:v>40513</c:v>
                </c:pt>
                <c:pt idx="142">
                  <c:v>40483</c:v>
                </c:pt>
                <c:pt idx="143">
                  <c:v>40452</c:v>
                </c:pt>
                <c:pt idx="144">
                  <c:v>40422</c:v>
                </c:pt>
                <c:pt idx="145">
                  <c:v>40391</c:v>
                </c:pt>
                <c:pt idx="146">
                  <c:v>40360</c:v>
                </c:pt>
                <c:pt idx="147">
                  <c:v>40330</c:v>
                </c:pt>
                <c:pt idx="148">
                  <c:v>40299</c:v>
                </c:pt>
                <c:pt idx="149">
                  <c:v>40269</c:v>
                </c:pt>
                <c:pt idx="150">
                  <c:v>40238</c:v>
                </c:pt>
                <c:pt idx="151">
                  <c:v>40210</c:v>
                </c:pt>
                <c:pt idx="152">
                  <c:v>40179</c:v>
                </c:pt>
                <c:pt idx="153">
                  <c:v>40148</c:v>
                </c:pt>
                <c:pt idx="154">
                  <c:v>40118</c:v>
                </c:pt>
                <c:pt idx="155">
                  <c:v>40087</c:v>
                </c:pt>
                <c:pt idx="156">
                  <c:v>40057</c:v>
                </c:pt>
                <c:pt idx="157">
                  <c:v>40026</c:v>
                </c:pt>
                <c:pt idx="158">
                  <c:v>39995</c:v>
                </c:pt>
                <c:pt idx="159">
                  <c:v>39965</c:v>
                </c:pt>
                <c:pt idx="160">
                  <c:v>39934</c:v>
                </c:pt>
                <c:pt idx="161">
                  <c:v>39904</c:v>
                </c:pt>
                <c:pt idx="162">
                  <c:v>39873</c:v>
                </c:pt>
                <c:pt idx="163">
                  <c:v>39845</c:v>
                </c:pt>
                <c:pt idx="164">
                  <c:v>39814</c:v>
                </c:pt>
                <c:pt idx="165">
                  <c:v>39783</c:v>
                </c:pt>
                <c:pt idx="166">
                  <c:v>39753</c:v>
                </c:pt>
                <c:pt idx="167">
                  <c:v>39722</c:v>
                </c:pt>
                <c:pt idx="168">
                  <c:v>39692</c:v>
                </c:pt>
                <c:pt idx="169">
                  <c:v>39661</c:v>
                </c:pt>
                <c:pt idx="170">
                  <c:v>39630</c:v>
                </c:pt>
                <c:pt idx="171">
                  <c:v>39600</c:v>
                </c:pt>
                <c:pt idx="172">
                  <c:v>39569</c:v>
                </c:pt>
                <c:pt idx="173">
                  <c:v>39539</c:v>
                </c:pt>
                <c:pt idx="174">
                  <c:v>39508</c:v>
                </c:pt>
                <c:pt idx="175">
                  <c:v>39479</c:v>
                </c:pt>
                <c:pt idx="176">
                  <c:v>39448</c:v>
                </c:pt>
                <c:pt idx="177">
                  <c:v>39417</c:v>
                </c:pt>
                <c:pt idx="178">
                  <c:v>39387</c:v>
                </c:pt>
                <c:pt idx="179">
                  <c:v>39356</c:v>
                </c:pt>
                <c:pt idx="180">
                  <c:v>39326</c:v>
                </c:pt>
                <c:pt idx="181">
                  <c:v>39295</c:v>
                </c:pt>
                <c:pt idx="182">
                  <c:v>39264</c:v>
                </c:pt>
                <c:pt idx="183">
                  <c:v>39234</c:v>
                </c:pt>
                <c:pt idx="184">
                  <c:v>39203</c:v>
                </c:pt>
                <c:pt idx="185">
                  <c:v>39173</c:v>
                </c:pt>
                <c:pt idx="186">
                  <c:v>39142</c:v>
                </c:pt>
                <c:pt idx="187">
                  <c:v>39114</c:v>
                </c:pt>
                <c:pt idx="188">
                  <c:v>39083</c:v>
                </c:pt>
                <c:pt idx="189">
                  <c:v>39052</c:v>
                </c:pt>
                <c:pt idx="190">
                  <c:v>39022</c:v>
                </c:pt>
                <c:pt idx="191">
                  <c:v>38991</c:v>
                </c:pt>
                <c:pt idx="192">
                  <c:v>38961</c:v>
                </c:pt>
                <c:pt idx="193">
                  <c:v>38930</c:v>
                </c:pt>
                <c:pt idx="194">
                  <c:v>38899</c:v>
                </c:pt>
                <c:pt idx="195">
                  <c:v>38869</c:v>
                </c:pt>
                <c:pt idx="196">
                  <c:v>38838</c:v>
                </c:pt>
                <c:pt idx="197">
                  <c:v>38808</c:v>
                </c:pt>
                <c:pt idx="198">
                  <c:v>38777</c:v>
                </c:pt>
                <c:pt idx="199">
                  <c:v>38749</c:v>
                </c:pt>
                <c:pt idx="200">
                  <c:v>38718</c:v>
                </c:pt>
                <c:pt idx="201">
                  <c:v>38687</c:v>
                </c:pt>
                <c:pt idx="202">
                  <c:v>38657</c:v>
                </c:pt>
                <c:pt idx="203">
                  <c:v>38626</c:v>
                </c:pt>
                <c:pt idx="204">
                  <c:v>38596</c:v>
                </c:pt>
                <c:pt idx="205">
                  <c:v>38565</c:v>
                </c:pt>
                <c:pt idx="206">
                  <c:v>38534</c:v>
                </c:pt>
                <c:pt idx="207">
                  <c:v>38504</c:v>
                </c:pt>
                <c:pt idx="208">
                  <c:v>38473</c:v>
                </c:pt>
                <c:pt idx="209">
                  <c:v>38443</c:v>
                </c:pt>
                <c:pt idx="210">
                  <c:v>38412</c:v>
                </c:pt>
                <c:pt idx="211">
                  <c:v>38384</c:v>
                </c:pt>
                <c:pt idx="212">
                  <c:v>38353</c:v>
                </c:pt>
                <c:pt idx="213">
                  <c:v>38322</c:v>
                </c:pt>
                <c:pt idx="214">
                  <c:v>38292</c:v>
                </c:pt>
                <c:pt idx="215">
                  <c:v>38261</c:v>
                </c:pt>
                <c:pt idx="216">
                  <c:v>38231</c:v>
                </c:pt>
                <c:pt idx="217">
                  <c:v>38200</c:v>
                </c:pt>
                <c:pt idx="218">
                  <c:v>38169</c:v>
                </c:pt>
                <c:pt idx="219">
                  <c:v>38139</c:v>
                </c:pt>
                <c:pt idx="220">
                  <c:v>38108</c:v>
                </c:pt>
                <c:pt idx="221">
                  <c:v>38078</c:v>
                </c:pt>
                <c:pt idx="222">
                  <c:v>38047</c:v>
                </c:pt>
                <c:pt idx="223">
                  <c:v>38018</c:v>
                </c:pt>
                <c:pt idx="224">
                  <c:v>37987</c:v>
                </c:pt>
                <c:pt idx="225">
                  <c:v>37956</c:v>
                </c:pt>
                <c:pt idx="226">
                  <c:v>37926</c:v>
                </c:pt>
                <c:pt idx="227">
                  <c:v>37895</c:v>
                </c:pt>
                <c:pt idx="228">
                  <c:v>37865</c:v>
                </c:pt>
                <c:pt idx="229">
                  <c:v>37834</c:v>
                </c:pt>
                <c:pt idx="230">
                  <c:v>37803</c:v>
                </c:pt>
                <c:pt idx="231">
                  <c:v>37773</c:v>
                </c:pt>
                <c:pt idx="232">
                  <c:v>37742</c:v>
                </c:pt>
                <c:pt idx="233">
                  <c:v>37712</c:v>
                </c:pt>
                <c:pt idx="234">
                  <c:v>37681</c:v>
                </c:pt>
                <c:pt idx="235">
                  <c:v>37653</c:v>
                </c:pt>
                <c:pt idx="236">
                  <c:v>37622</c:v>
                </c:pt>
                <c:pt idx="237">
                  <c:v>37591</c:v>
                </c:pt>
                <c:pt idx="238">
                  <c:v>37561</c:v>
                </c:pt>
                <c:pt idx="239">
                  <c:v>37530</c:v>
                </c:pt>
                <c:pt idx="240">
                  <c:v>37500</c:v>
                </c:pt>
                <c:pt idx="241">
                  <c:v>37469</c:v>
                </c:pt>
                <c:pt idx="242">
                  <c:v>37438</c:v>
                </c:pt>
                <c:pt idx="243">
                  <c:v>37408</c:v>
                </c:pt>
                <c:pt idx="244">
                  <c:v>37377</c:v>
                </c:pt>
                <c:pt idx="245">
                  <c:v>37347</c:v>
                </c:pt>
                <c:pt idx="246">
                  <c:v>37316</c:v>
                </c:pt>
                <c:pt idx="247">
                  <c:v>37288</c:v>
                </c:pt>
                <c:pt idx="248">
                  <c:v>37257</c:v>
                </c:pt>
                <c:pt idx="249">
                  <c:v>37226</c:v>
                </c:pt>
                <c:pt idx="250">
                  <c:v>37196</c:v>
                </c:pt>
                <c:pt idx="251">
                  <c:v>37165</c:v>
                </c:pt>
                <c:pt idx="252">
                  <c:v>37135</c:v>
                </c:pt>
                <c:pt idx="253">
                  <c:v>37104</c:v>
                </c:pt>
                <c:pt idx="254">
                  <c:v>37073</c:v>
                </c:pt>
                <c:pt idx="255">
                  <c:v>37043</c:v>
                </c:pt>
                <c:pt idx="256">
                  <c:v>37012</c:v>
                </c:pt>
                <c:pt idx="257">
                  <c:v>36982</c:v>
                </c:pt>
                <c:pt idx="258">
                  <c:v>36951</c:v>
                </c:pt>
                <c:pt idx="259">
                  <c:v>36923</c:v>
                </c:pt>
                <c:pt idx="260">
                  <c:v>36892</c:v>
                </c:pt>
                <c:pt idx="261">
                  <c:v>36861</c:v>
                </c:pt>
                <c:pt idx="262">
                  <c:v>36831</c:v>
                </c:pt>
                <c:pt idx="263">
                  <c:v>36800</c:v>
                </c:pt>
                <c:pt idx="264">
                  <c:v>36770</c:v>
                </c:pt>
                <c:pt idx="265">
                  <c:v>36739</c:v>
                </c:pt>
                <c:pt idx="266">
                  <c:v>36708</c:v>
                </c:pt>
                <c:pt idx="267">
                  <c:v>36678</c:v>
                </c:pt>
                <c:pt idx="268">
                  <c:v>36647</c:v>
                </c:pt>
                <c:pt idx="269">
                  <c:v>36617</c:v>
                </c:pt>
                <c:pt idx="270">
                  <c:v>36586</c:v>
                </c:pt>
                <c:pt idx="271">
                  <c:v>36557</c:v>
                </c:pt>
                <c:pt idx="272">
                  <c:v>36526</c:v>
                </c:pt>
                <c:pt idx="273">
                  <c:v>36495</c:v>
                </c:pt>
                <c:pt idx="274">
                  <c:v>36465</c:v>
                </c:pt>
                <c:pt idx="275">
                  <c:v>36434</c:v>
                </c:pt>
                <c:pt idx="276">
                  <c:v>36404</c:v>
                </c:pt>
                <c:pt idx="277">
                  <c:v>36373</c:v>
                </c:pt>
                <c:pt idx="278">
                  <c:v>36342</c:v>
                </c:pt>
                <c:pt idx="279">
                  <c:v>36312</c:v>
                </c:pt>
                <c:pt idx="280">
                  <c:v>36281</c:v>
                </c:pt>
                <c:pt idx="281">
                  <c:v>36251</c:v>
                </c:pt>
                <c:pt idx="282">
                  <c:v>36220</c:v>
                </c:pt>
                <c:pt idx="283">
                  <c:v>36192</c:v>
                </c:pt>
                <c:pt idx="284">
                  <c:v>36161</c:v>
                </c:pt>
                <c:pt idx="285">
                  <c:v>36130</c:v>
                </c:pt>
                <c:pt idx="286">
                  <c:v>36100</c:v>
                </c:pt>
                <c:pt idx="287">
                  <c:v>36069</c:v>
                </c:pt>
                <c:pt idx="288">
                  <c:v>36039</c:v>
                </c:pt>
                <c:pt idx="289">
                  <c:v>36008</c:v>
                </c:pt>
                <c:pt idx="290">
                  <c:v>35977</c:v>
                </c:pt>
                <c:pt idx="291">
                  <c:v>35947</c:v>
                </c:pt>
                <c:pt idx="292">
                  <c:v>35916</c:v>
                </c:pt>
                <c:pt idx="293">
                  <c:v>35886</c:v>
                </c:pt>
                <c:pt idx="294">
                  <c:v>35855</c:v>
                </c:pt>
                <c:pt idx="295">
                  <c:v>35827</c:v>
                </c:pt>
                <c:pt idx="296">
                  <c:v>35796</c:v>
                </c:pt>
                <c:pt idx="297">
                  <c:v>35765</c:v>
                </c:pt>
                <c:pt idx="298">
                  <c:v>35735</c:v>
                </c:pt>
                <c:pt idx="299">
                  <c:v>35704</c:v>
                </c:pt>
                <c:pt idx="300">
                  <c:v>35674</c:v>
                </c:pt>
                <c:pt idx="301">
                  <c:v>35643</c:v>
                </c:pt>
                <c:pt idx="302">
                  <c:v>35612</c:v>
                </c:pt>
                <c:pt idx="303">
                  <c:v>35582</c:v>
                </c:pt>
                <c:pt idx="304">
                  <c:v>35551</c:v>
                </c:pt>
                <c:pt idx="305">
                  <c:v>35521</c:v>
                </c:pt>
                <c:pt idx="306">
                  <c:v>35490</c:v>
                </c:pt>
                <c:pt idx="307">
                  <c:v>35462</c:v>
                </c:pt>
                <c:pt idx="308">
                  <c:v>35431</c:v>
                </c:pt>
                <c:pt idx="309">
                  <c:v>35400</c:v>
                </c:pt>
                <c:pt idx="310">
                  <c:v>35370</c:v>
                </c:pt>
                <c:pt idx="311">
                  <c:v>35339</c:v>
                </c:pt>
                <c:pt idx="312">
                  <c:v>35309</c:v>
                </c:pt>
                <c:pt idx="313">
                  <c:v>35278</c:v>
                </c:pt>
                <c:pt idx="314">
                  <c:v>35247</c:v>
                </c:pt>
                <c:pt idx="315">
                  <c:v>35217</c:v>
                </c:pt>
                <c:pt idx="316">
                  <c:v>35186</c:v>
                </c:pt>
                <c:pt idx="317">
                  <c:v>35156</c:v>
                </c:pt>
                <c:pt idx="318">
                  <c:v>35125</c:v>
                </c:pt>
                <c:pt idx="319">
                  <c:v>35096</c:v>
                </c:pt>
                <c:pt idx="320">
                  <c:v>35065</c:v>
                </c:pt>
                <c:pt idx="321">
                  <c:v>35034</c:v>
                </c:pt>
                <c:pt idx="322">
                  <c:v>35004</c:v>
                </c:pt>
                <c:pt idx="323">
                  <c:v>34973</c:v>
                </c:pt>
                <c:pt idx="324">
                  <c:v>34943</c:v>
                </c:pt>
                <c:pt idx="325">
                  <c:v>34912</c:v>
                </c:pt>
                <c:pt idx="326">
                  <c:v>34881</c:v>
                </c:pt>
                <c:pt idx="327">
                  <c:v>34851</c:v>
                </c:pt>
                <c:pt idx="328">
                  <c:v>34820</c:v>
                </c:pt>
                <c:pt idx="329">
                  <c:v>34790</c:v>
                </c:pt>
                <c:pt idx="330">
                  <c:v>34759</c:v>
                </c:pt>
                <c:pt idx="331">
                  <c:v>34731</c:v>
                </c:pt>
                <c:pt idx="332">
                  <c:v>34700</c:v>
                </c:pt>
              </c:numCache>
            </c:numRef>
          </c:cat>
          <c:val>
            <c:numRef>
              <c:f>[2]Sheet2!$B$38:$LV$38</c:f>
              <c:numCache>
                <c:formatCode>General</c:formatCode>
                <c:ptCount val="333"/>
                <c:pt idx="0">
                  <c:v>0.1612755691708892</c:v>
                </c:pt>
                <c:pt idx="1">
                  <c:v>0.16666235010702979</c:v>
                </c:pt>
                <c:pt idx="2">
                  <c:v>0.16641096673192179</c:v>
                </c:pt>
                <c:pt idx="3">
                  <c:v>0.18222776994748585</c:v>
                </c:pt>
                <c:pt idx="4">
                  <c:v>0.16130005200438913</c:v>
                </c:pt>
                <c:pt idx="5">
                  <c:v>0.15995747789553522</c:v>
                </c:pt>
                <c:pt idx="6">
                  <c:v>0.15805792315708017</c:v>
                </c:pt>
                <c:pt idx="7">
                  <c:v>0.16468271120653394</c:v>
                </c:pt>
                <c:pt idx="8">
                  <c:v>0.16553126447835054</c:v>
                </c:pt>
                <c:pt idx="9">
                  <c:v>0.16934595426344767</c:v>
                </c:pt>
                <c:pt idx="10">
                  <c:v>0.17622692037667836</c:v>
                </c:pt>
                <c:pt idx="11">
                  <c:v>0.17815636690490685</c:v>
                </c:pt>
                <c:pt idx="12">
                  <c:v>0.17483181416990626</c:v>
                </c:pt>
                <c:pt idx="13">
                  <c:v>0.17489601280254213</c:v>
                </c:pt>
                <c:pt idx="14">
                  <c:v>0.1782028973066552</c:v>
                </c:pt>
                <c:pt idx="15">
                  <c:v>0.19445038783896615</c:v>
                </c:pt>
                <c:pt idx="16">
                  <c:v>0.19446568841858888</c:v>
                </c:pt>
                <c:pt idx="17">
                  <c:v>0.19536210066436863</c:v>
                </c:pt>
                <c:pt idx="18">
                  <c:v>0.19641629834489782</c:v>
                </c:pt>
                <c:pt idx="19">
                  <c:v>0.20676550337715566</c:v>
                </c:pt>
                <c:pt idx="20">
                  <c:v>0.21031221192067312</c:v>
                </c:pt>
                <c:pt idx="21">
                  <c:v>0.20244615691643064</c:v>
                </c:pt>
                <c:pt idx="22">
                  <c:v>0.21191636342201528</c:v>
                </c:pt>
                <c:pt idx="23">
                  <c:v>0.22969627008254931</c:v>
                </c:pt>
                <c:pt idx="24">
                  <c:v>0.22002920989668143</c:v>
                </c:pt>
                <c:pt idx="25">
                  <c:v>0.22301911888135828</c:v>
                </c:pt>
                <c:pt idx="26">
                  <c:v>0.21323316581561128</c:v>
                </c:pt>
                <c:pt idx="27">
                  <c:v>0.21024410231611218</c:v>
                </c:pt>
                <c:pt idx="28">
                  <c:v>0.19704775490106088</c:v>
                </c:pt>
                <c:pt idx="29">
                  <c:v>0.20166412582267182</c:v>
                </c:pt>
                <c:pt idx="30">
                  <c:v>0.20776081087946571</c:v>
                </c:pt>
                <c:pt idx="31">
                  <c:v>0.1785099427898913</c:v>
                </c:pt>
                <c:pt idx="32">
                  <c:v>0.16447346689559608</c:v>
                </c:pt>
                <c:pt idx="33">
                  <c:v>0.16481921980437805</c:v>
                </c:pt>
                <c:pt idx="34">
                  <c:v>0.16314063784592886</c:v>
                </c:pt>
                <c:pt idx="35">
                  <c:v>0.15163251959456109</c:v>
                </c:pt>
                <c:pt idx="36">
                  <c:v>0.15064104195071554</c:v>
                </c:pt>
                <c:pt idx="37">
                  <c:v>0.15127116346074729</c:v>
                </c:pt>
                <c:pt idx="38">
                  <c:v>0.14959753694020189</c:v>
                </c:pt>
                <c:pt idx="39">
                  <c:v>0.14897048291772347</c:v>
                </c:pt>
                <c:pt idx="40">
                  <c:v>0.14672852173110854</c:v>
                </c:pt>
                <c:pt idx="41">
                  <c:v>0.16024188309254528</c:v>
                </c:pt>
                <c:pt idx="42">
                  <c:v>0.16004588093051664</c:v>
                </c:pt>
                <c:pt idx="43">
                  <c:v>0.15539191783425194</c:v>
                </c:pt>
                <c:pt idx="44">
                  <c:v>0.14992294326836383</c:v>
                </c:pt>
                <c:pt idx="45">
                  <c:v>0.1472731464712205</c:v>
                </c:pt>
                <c:pt idx="46">
                  <c:v>0.15034398342198663</c:v>
                </c:pt>
                <c:pt idx="47">
                  <c:v>0.14591277715148795</c:v>
                </c:pt>
                <c:pt idx="48">
                  <c:v>0.15262053702458497</c:v>
                </c:pt>
                <c:pt idx="49">
                  <c:v>0.15279379388107925</c:v>
                </c:pt>
                <c:pt idx="50">
                  <c:v>0.15216990740567707</c:v>
                </c:pt>
                <c:pt idx="51">
                  <c:v>0.16094434552635833</c:v>
                </c:pt>
                <c:pt idx="52">
                  <c:v>0.15719731142733845</c:v>
                </c:pt>
                <c:pt idx="53">
                  <c:v>0.14866767707328066</c:v>
                </c:pt>
                <c:pt idx="54">
                  <c:v>0.14725836761331593</c:v>
                </c:pt>
                <c:pt idx="55">
                  <c:v>0.14744650319322047</c:v>
                </c:pt>
                <c:pt idx="56">
                  <c:v>0.15051388687945186</c:v>
                </c:pt>
                <c:pt idx="57">
                  <c:v>0.14607457527099099</c:v>
                </c:pt>
                <c:pt idx="58">
                  <c:v>0.14910801002338181</c:v>
                </c:pt>
                <c:pt idx="59">
                  <c:v>0.14736961304745766</c:v>
                </c:pt>
                <c:pt idx="60">
                  <c:v>0.14443969166369941</c:v>
                </c:pt>
                <c:pt idx="61">
                  <c:v>0.14208334490319136</c:v>
                </c:pt>
                <c:pt idx="62">
                  <c:v>0.14101718874223512</c:v>
                </c:pt>
                <c:pt idx="63">
                  <c:v>0.13894105732561216</c:v>
                </c:pt>
                <c:pt idx="64">
                  <c:v>0.13776075706794136</c:v>
                </c:pt>
                <c:pt idx="65">
                  <c:v>0.13373914079844032</c:v>
                </c:pt>
                <c:pt idx="66">
                  <c:v>0.13346679254231636</c:v>
                </c:pt>
                <c:pt idx="67">
                  <c:v>0.13332339620415523</c:v>
                </c:pt>
                <c:pt idx="68">
                  <c:v>0.13208585584000779</c:v>
                </c:pt>
                <c:pt idx="69">
                  <c:v>0.12979471638281348</c:v>
                </c:pt>
                <c:pt idx="70">
                  <c:v>0.13518457280006976</c:v>
                </c:pt>
                <c:pt idx="71">
                  <c:v>0.12933169299909875</c:v>
                </c:pt>
                <c:pt idx="72">
                  <c:v>0.13230607656586391</c:v>
                </c:pt>
                <c:pt idx="73">
                  <c:v>0.13007702605049218</c:v>
                </c:pt>
                <c:pt idx="74">
                  <c:v>0.12513128837836174</c:v>
                </c:pt>
                <c:pt idx="75">
                  <c:v>0.1259477678954749</c:v>
                </c:pt>
                <c:pt idx="76">
                  <c:v>0.1211929829598333</c:v>
                </c:pt>
                <c:pt idx="77">
                  <c:v>0.11777428397070952</c:v>
                </c:pt>
                <c:pt idx="78">
                  <c:v>0.11960314394411271</c:v>
                </c:pt>
                <c:pt idx="79">
                  <c:v>0.1209574605468143</c:v>
                </c:pt>
                <c:pt idx="80">
                  <c:v>0.12366450855012423</c:v>
                </c:pt>
                <c:pt idx="81">
                  <c:v>0.1306535363577947</c:v>
                </c:pt>
                <c:pt idx="82">
                  <c:v>0.12248424811607922</c:v>
                </c:pt>
                <c:pt idx="83">
                  <c:v>0.12187586106300601</c:v>
                </c:pt>
                <c:pt idx="84">
                  <c:v>0.11903550295040075</c:v>
                </c:pt>
                <c:pt idx="85">
                  <c:v>0.1165206896662308</c:v>
                </c:pt>
                <c:pt idx="86">
                  <c:v>0.1179856442430354</c:v>
                </c:pt>
                <c:pt idx="87">
                  <c:v>0.12208401608440576</c:v>
                </c:pt>
                <c:pt idx="88">
                  <c:v>0.12401856582773473</c:v>
                </c:pt>
                <c:pt idx="89">
                  <c:v>0.12330690254845146</c:v>
                </c:pt>
                <c:pt idx="90">
                  <c:v>0.1163634223671602</c:v>
                </c:pt>
                <c:pt idx="91">
                  <c:v>0.11303202763645764</c:v>
                </c:pt>
                <c:pt idx="92">
                  <c:v>0.11372467504119921</c:v>
                </c:pt>
                <c:pt idx="93">
                  <c:v>0.11123656892610481</c:v>
                </c:pt>
                <c:pt idx="94">
                  <c:v>0.1057710737816064</c:v>
                </c:pt>
                <c:pt idx="95">
                  <c:v>0.1048104282183054</c:v>
                </c:pt>
                <c:pt idx="96">
                  <c:v>0.10353556653160592</c:v>
                </c:pt>
                <c:pt idx="97">
                  <c:v>0.10590040342225063</c:v>
                </c:pt>
                <c:pt idx="98">
                  <c:v>0.10640608755844287</c:v>
                </c:pt>
                <c:pt idx="99">
                  <c:v>0.10355410898279037</c:v>
                </c:pt>
                <c:pt idx="100">
                  <c:v>0.10622784257846858</c:v>
                </c:pt>
                <c:pt idx="101">
                  <c:v>0.10585540223069982</c:v>
                </c:pt>
                <c:pt idx="102">
                  <c:v>0.10650979221273126</c:v>
                </c:pt>
                <c:pt idx="103">
                  <c:v>0.10872915151063432</c:v>
                </c:pt>
                <c:pt idx="104">
                  <c:v>0.10958671148267497</c:v>
                </c:pt>
                <c:pt idx="105">
                  <c:v>0.10960127208840703</c:v>
                </c:pt>
                <c:pt idx="106">
                  <c:v>0.1102234455691566</c:v>
                </c:pt>
                <c:pt idx="107">
                  <c:v>0.10733414156987099</c:v>
                </c:pt>
                <c:pt idx="108">
                  <c:v>0.10853574864846474</c:v>
                </c:pt>
                <c:pt idx="109">
                  <c:v>0.10857182298733971</c:v>
                </c:pt>
                <c:pt idx="110">
                  <c:v>0.10363427580277224</c:v>
                </c:pt>
                <c:pt idx="111">
                  <c:v>0.10160420078985979</c:v>
                </c:pt>
                <c:pt idx="112">
                  <c:v>0.10353928622154357</c:v>
                </c:pt>
                <c:pt idx="113">
                  <c:v>0.10217318336504294</c:v>
                </c:pt>
                <c:pt idx="114">
                  <c:v>0.10217916704544686</c:v>
                </c:pt>
                <c:pt idx="115">
                  <c:v>0.10388557899082417</c:v>
                </c:pt>
                <c:pt idx="116">
                  <c:v>0.10402936666909478</c:v>
                </c:pt>
                <c:pt idx="117">
                  <c:v>0.1042493795512307</c:v>
                </c:pt>
                <c:pt idx="118">
                  <c:v>0.10468733670890526</c:v>
                </c:pt>
                <c:pt idx="119">
                  <c:v>0.10382506551006325</c:v>
                </c:pt>
                <c:pt idx="120">
                  <c:v>0.10318670599197949</c:v>
                </c:pt>
                <c:pt idx="121">
                  <c:v>0.10305156794846754</c:v>
                </c:pt>
                <c:pt idx="122">
                  <c:v>0.1040750043363176</c:v>
                </c:pt>
                <c:pt idx="123">
                  <c:v>0.10395710584628821</c:v>
                </c:pt>
                <c:pt idx="124">
                  <c:v>0.10688339547265606</c:v>
                </c:pt>
                <c:pt idx="125">
                  <c:v>0.10673343831599287</c:v>
                </c:pt>
                <c:pt idx="126">
                  <c:v>0.10595557642078496</c:v>
                </c:pt>
                <c:pt idx="127">
                  <c:v>0.10817818174414337</c:v>
                </c:pt>
                <c:pt idx="128">
                  <c:v>0.1082065747834678</c:v>
                </c:pt>
                <c:pt idx="129">
                  <c:v>0.1076525041337755</c:v>
                </c:pt>
                <c:pt idx="130">
                  <c:v>0.10612123751872383</c:v>
                </c:pt>
                <c:pt idx="131">
                  <c:v>0.10695587811689085</c:v>
                </c:pt>
                <c:pt idx="132">
                  <c:v>0.10499032417176497</c:v>
                </c:pt>
                <c:pt idx="133">
                  <c:v>0.10647656390038041</c:v>
                </c:pt>
                <c:pt idx="134">
                  <c:v>0.10749492028116647</c:v>
                </c:pt>
                <c:pt idx="135">
                  <c:v>0.10825422788302258</c:v>
                </c:pt>
                <c:pt idx="136">
                  <c:v>0.10937783239360965</c:v>
                </c:pt>
                <c:pt idx="137">
                  <c:v>0.1083380507056312</c:v>
                </c:pt>
                <c:pt idx="138">
                  <c:v>0.10916538417349235</c:v>
                </c:pt>
                <c:pt idx="139">
                  <c:v>0.10878228215339736</c:v>
                </c:pt>
                <c:pt idx="140">
                  <c:v>0.11032433784047253</c:v>
                </c:pt>
                <c:pt idx="141">
                  <c:v>0.10787672678051875</c:v>
                </c:pt>
                <c:pt idx="142">
                  <c:v>0.10919842108275071</c:v>
                </c:pt>
                <c:pt idx="143">
                  <c:v>0.10838673822362385</c:v>
                </c:pt>
                <c:pt idx="144">
                  <c:v>0.10893813657881063</c:v>
                </c:pt>
                <c:pt idx="145">
                  <c:v>0.10884967724975828</c:v>
                </c:pt>
                <c:pt idx="146">
                  <c:v>0.11027341142502461</c:v>
                </c:pt>
                <c:pt idx="147">
                  <c:v>0.11070234839567715</c:v>
                </c:pt>
                <c:pt idx="148">
                  <c:v>0.1103216848825629</c:v>
                </c:pt>
                <c:pt idx="149">
                  <c:v>0.10515996241454732</c:v>
                </c:pt>
                <c:pt idx="150">
                  <c:v>0.10539608016105925</c:v>
                </c:pt>
                <c:pt idx="151">
                  <c:v>0.10638730904641167</c:v>
                </c:pt>
                <c:pt idx="152">
                  <c:v>0.10484441974536898</c:v>
                </c:pt>
                <c:pt idx="153">
                  <c:v>0.1087536309625471</c:v>
                </c:pt>
                <c:pt idx="154">
                  <c:v>0.10898101240197168</c:v>
                </c:pt>
                <c:pt idx="155">
                  <c:v>0.10874152404325239</c:v>
                </c:pt>
                <c:pt idx="156">
                  <c:v>0.10675918744590468</c:v>
                </c:pt>
                <c:pt idx="157">
                  <c:v>0.10505019364981458</c:v>
                </c:pt>
                <c:pt idx="158">
                  <c:v>0.10815925128628762</c:v>
                </c:pt>
                <c:pt idx="159">
                  <c:v>0.10768832605592331</c:v>
                </c:pt>
                <c:pt idx="160">
                  <c:v>0.1053547970023278</c:v>
                </c:pt>
                <c:pt idx="161">
                  <c:v>0.10571992366730244</c:v>
                </c:pt>
                <c:pt idx="162">
                  <c:v>0.10627777226247856</c:v>
                </c:pt>
                <c:pt idx="163">
                  <c:v>0.10329613788531589</c:v>
                </c:pt>
                <c:pt idx="164">
                  <c:v>0.10278363949216544</c:v>
                </c:pt>
                <c:pt idx="165">
                  <c:v>0.100682384967379</c:v>
                </c:pt>
                <c:pt idx="166">
                  <c:v>9.9094021215505423E-2</c:v>
                </c:pt>
                <c:pt idx="167">
                  <c:v>9.6777281759177158E-2</c:v>
                </c:pt>
                <c:pt idx="168">
                  <c:v>9.4815937989589621E-2</c:v>
                </c:pt>
                <c:pt idx="169">
                  <c:v>9.7909206769208459E-2</c:v>
                </c:pt>
                <c:pt idx="170">
                  <c:v>9.9585782960893085E-2</c:v>
                </c:pt>
                <c:pt idx="171">
                  <c:v>0.10234549225232333</c:v>
                </c:pt>
                <c:pt idx="172">
                  <c:v>0.10171321357508868</c:v>
                </c:pt>
                <c:pt idx="173">
                  <c:v>0.10043158310109052</c:v>
                </c:pt>
                <c:pt idx="174">
                  <c:v>9.7086833127104047E-2</c:v>
                </c:pt>
                <c:pt idx="175">
                  <c:v>9.7986070184335125E-2</c:v>
                </c:pt>
                <c:pt idx="176">
                  <c:v>9.5994764273031843E-2</c:v>
                </c:pt>
                <c:pt idx="177">
                  <c:v>9.9713704013338039E-2</c:v>
                </c:pt>
                <c:pt idx="178">
                  <c:v>9.8988577586120674E-2</c:v>
                </c:pt>
                <c:pt idx="179">
                  <c:v>0.10163417918041159</c:v>
                </c:pt>
                <c:pt idx="180">
                  <c:v>0.10016343454424538</c:v>
                </c:pt>
                <c:pt idx="181">
                  <c:v>9.7462880918157357E-2</c:v>
                </c:pt>
                <c:pt idx="182">
                  <c:v>9.6081565597952098E-2</c:v>
                </c:pt>
                <c:pt idx="183">
                  <c:v>9.3902923314124628E-2</c:v>
                </c:pt>
                <c:pt idx="184">
                  <c:v>9.2261911099629126E-2</c:v>
                </c:pt>
                <c:pt idx="185">
                  <c:v>9.101499603515259E-2</c:v>
                </c:pt>
                <c:pt idx="186">
                  <c:v>9.1956740566186954E-2</c:v>
                </c:pt>
                <c:pt idx="187">
                  <c:v>9.2620466625260481E-2</c:v>
                </c:pt>
                <c:pt idx="188">
                  <c:v>9.1430197927667753E-2</c:v>
                </c:pt>
                <c:pt idx="189">
                  <c:v>9.3931118698742835E-2</c:v>
                </c:pt>
                <c:pt idx="190">
                  <c:v>9.4419557309550511E-2</c:v>
                </c:pt>
                <c:pt idx="191">
                  <c:v>9.3610287980623888E-2</c:v>
                </c:pt>
                <c:pt idx="192">
                  <c:v>9.5914599472329692E-2</c:v>
                </c:pt>
                <c:pt idx="193">
                  <c:v>9.5035122482794707E-2</c:v>
                </c:pt>
                <c:pt idx="194">
                  <c:v>9.5229676507761984E-2</c:v>
                </c:pt>
                <c:pt idx="195">
                  <c:v>9.7797930034059455E-2</c:v>
                </c:pt>
                <c:pt idx="196">
                  <c:v>9.7155386589661261E-2</c:v>
                </c:pt>
                <c:pt idx="197">
                  <c:v>9.5361151287139984E-2</c:v>
                </c:pt>
                <c:pt idx="198">
                  <c:v>9.4937640181682242E-2</c:v>
                </c:pt>
                <c:pt idx="199">
                  <c:v>9.4947894655075429E-2</c:v>
                </c:pt>
                <c:pt idx="200">
                  <c:v>9.6748343643964937E-2</c:v>
                </c:pt>
                <c:pt idx="201">
                  <c:v>9.8007519858293035E-2</c:v>
                </c:pt>
                <c:pt idx="202">
                  <c:v>9.6517155502817933E-2</c:v>
                </c:pt>
                <c:pt idx="203">
                  <c:v>9.4669687513993767E-2</c:v>
                </c:pt>
                <c:pt idx="204">
                  <c:v>9.5141283622570044E-2</c:v>
                </c:pt>
                <c:pt idx="205">
                  <c:v>9.4484880608358718E-2</c:v>
                </c:pt>
                <c:pt idx="206">
                  <c:v>9.728957750807965E-2</c:v>
                </c:pt>
                <c:pt idx="207">
                  <c:v>9.7890257485547166E-2</c:v>
                </c:pt>
                <c:pt idx="208">
                  <c:v>9.6771975587483225E-2</c:v>
                </c:pt>
                <c:pt idx="209">
                  <c:v>9.5625933079543146E-2</c:v>
                </c:pt>
                <c:pt idx="210">
                  <c:v>9.624225541884103E-2</c:v>
                </c:pt>
                <c:pt idx="211">
                  <c:v>9.639117005534982E-2</c:v>
                </c:pt>
                <c:pt idx="212">
                  <c:v>9.5937074271832359E-2</c:v>
                </c:pt>
                <c:pt idx="213">
                  <c:v>9.5392686712165109E-2</c:v>
                </c:pt>
                <c:pt idx="214">
                  <c:v>9.7724151307456916E-2</c:v>
                </c:pt>
                <c:pt idx="215">
                  <c:v>9.5748634189919204E-2</c:v>
                </c:pt>
                <c:pt idx="216">
                  <c:v>9.6314854777012043E-2</c:v>
                </c:pt>
                <c:pt idx="217">
                  <c:v>9.7378669971746337E-2</c:v>
                </c:pt>
                <c:pt idx="218">
                  <c:v>9.4534421953351905E-2</c:v>
                </c:pt>
                <c:pt idx="219">
                  <c:v>9.7212968706036837E-2</c:v>
                </c:pt>
                <c:pt idx="220">
                  <c:v>9.919318739075432E-2</c:v>
                </c:pt>
                <c:pt idx="221">
                  <c:v>9.6860713508164872E-2</c:v>
                </c:pt>
                <c:pt idx="222">
                  <c:v>9.8069101044915841E-2</c:v>
                </c:pt>
                <c:pt idx="223">
                  <c:v>9.7802294399297302E-2</c:v>
                </c:pt>
                <c:pt idx="224">
                  <c:v>9.8195474614005532E-2</c:v>
                </c:pt>
                <c:pt idx="225">
                  <c:v>9.6744386341542615E-2</c:v>
                </c:pt>
                <c:pt idx="226">
                  <c:v>0.10131172751739662</c:v>
                </c:pt>
                <c:pt idx="227">
                  <c:v>0.10164045900986349</c:v>
                </c:pt>
                <c:pt idx="228">
                  <c:v>9.9816318900968634E-2</c:v>
                </c:pt>
                <c:pt idx="229">
                  <c:v>0.10326854573421348</c:v>
                </c:pt>
                <c:pt idx="230">
                  <c:v>0.10334198924354487</c:v>
                </c:pt>
                <c:pt idx="231">
                  <c:v>9.9215202340250802E-2</c:v>
                </c:pt>
                <c:pt idx="232">
                  <c:v>9.9050749690567708E-2</c:v>
                </c:pt>
                <c:pt idx="233">
                  <c:v>0.1002861901328882</c:v>
                </c:pt>
                <c:pt idx="234">
                  <c:v>9.9942940450192752E-2</c:v>
                </c:pt>
                <c:pt idx="235">
                  <c:v>0.10389446804332376</c:v>
                </c:pt>
                <c:pt idx="236">
                  <c:v>0.10783556627650245</c:v>
                </c:pt>
                <c:pt idx="237">
                  <c:v>0.10873559548606643</c:v>
                </c:pt>
                <c:pt idx="238">
                  <c:v>0.11590588408836948</c:v>
                </c:pt>
                <c:pt idx="239">
                  <c:v>0.1122662968185711</c:v>
                </c:pt>
                <c:pt idx="240">
                  <c:v>0.11242017692863668</c:v>
                </c:pt>
                <c:pt idx="241">
                  <c:v>0.11491049797940278</c:v>
                </c:pt>
                <c:pt idx="242">
                  <c:v>0.11672007625127262</c:v>
                </c:pt>
                <c:pt idx="243">
                  <c:v>0.11547543768038535</c:v>
                </c:pt>
                <c:pt idx="244">
                  <c:v>0.10451498554534666</c:v>
                </c:pt>
                <c:pt idx="245">
                  <c:v>0.10315504837210272</c:v>
                </c:pt>
                <c:pt idx="246">
                  <c:v>0.10333857974922869</c:v>
                </c:pt>
                <c:pt idx="247">
                  <c:v>0.10086442021414657</c:v>
                </c:pt>
                <c:pt idx="248">
                  <c:v>9.7315201619261618E-2</c:v>
                </c:pt>
                <c:pt idx="249">
                  <c:v>9.5252779587281206E-2</c:v>
                </c:pt>
                <c:pt idx="250">
                  <c:v>8.69304389754922E-2</c:v>
                </c:pt>
                <c:pt idx="251">
                  <c:v>8.4736572991239767E-2</c:v>
                </c:pt>
                <c:pt idx="252">
                  <c:v>8.3211040964749183E-2</c:v>
                </c:pt>
                <c:pt idx="253">
                  <c:v>8.4054471966423031E-2</c:v>
                </c:pt>
                <c:pt idx="254">
                  <c:v>8.3605711309849076E-2</c:v>
                </c:pt>
                <c:pt idx="255">
                  <c:v>8.4462290652900326E-2</c:v>
                </c:pt>
                <c:pt idx="256">
                  <c:v>7.9696953552059122E-2</c:v>
                </c:pt>
                <c:pt idx="257">
                  <c:v>7.8708361513371058E-2</c:v>
                </c:pt>
                <c:pt idx="258">
                  <c:v>8.0273574856344149E-2</c:v>
                </c:pt>
                <c:pt idx="259">
                  <c:v>7.8327593037314805E-2</c:v>
                </c:pt>
                <c:pt idx="260">
                  <c:v>7.6384334289614164E-2</c:v>
                </c:pt>
                <c:pt idx="261">
                  <c:v>7.3161971326897154E-2</c:v>
                </c:pt>
                <c:pt idx="262">
                  <c:v>7.3286366536575567E-2</c:v>
                </c:pt>
                <c:pt idx="263">
                  <c:v>7.2108033117152831E-2</c:v>
                </c:pt>
                <c:pt idx="264">
                  <c:v>7.360735739849783E-2</c:v>
                </c:pt>
                <c:pt idx="265">
                  <c:v>7.6700817143094652E-2</c:v>
                </c:pt>
                <c:pt idx="266">
                  <c:v>7.7705312477170843E-2</c:v>
                </c:pt>
                <c:pt idx="267">
                  <c:v>7.8755949390014499E-2</c:v>
                </c:pt>
                <c:pt idx="268">
                  <c:v>8.3025993183468316E-2</c:v>
                </c:pt>
                <c:pt idx="269">
                  <c:v>8.167943845130235E-2</c:v>
                </c:pt>
                <c:pt idx="270">
                  <c:v>8.4461554890769411E-2</c:v>
                </c:pt>
                <c:pt idx="271">
                  <c:v>8.2906744579625088E-2</c:v>
                </c:pt>
                <c:pt idx="272">
                  <c:v>8.4832072700546809E-2</c:v>
                </c:pt>
                <c:pt idx="273">
                  <c:v>8.3554290772970163E-2</c:v>
                </c:pt>
                <c:pt idx="274">
                  <c:v>8.8342971846611468E-2</c:v>
                </c:pt>
                <c:pt idx="275">
                  <c:v>8.4780636706718315E-2</c:v>
                </c:pt>
                <c:pt idx="276">
                  <c:v>8.520111020833078E-2</c:v>
                </c:pt>
                <c:pt idx="277">
                  <c:v>8.8544747521564521E-2</c:v>
                </c:pt>
                <c:pt idx="278">
                  <c:v>8.5295867015985571E-2</c:v>
                </c:pt>
                <c:pt idx="279">
                  <c:v>8.5740498487338862E-2</c:v>
                </c:pt>
                <c:pt idx="280">
                  <c:v>7.8082005164397769E-2</c:v>
                </c:pt>
                <c:pt idx="281">
                  <c:v>7.9058522223462907E-2</c:v>
                </c:pt>
                <c:pt idx="282">
                  <c:v>7.8859040998039712E-2</c:v>
                </c:pt>
                <c:pt idx="283">
                  <c:v>7.6220117092287903E-2</c:v>
                </c:pt>
                <c:pt idx="284">
                  <c:v>7.6105526392270986E-2</c:v>
                </c:pt>
                <c:pt idx="285">
                  <c:v>7.6535223754561121E-2</c:v>
                </c:pt>
                <c:pt idx="286">
                  <c:v>7.494702187413077E-2</c:v>
                </c:pt>
                <c:pt idx="287">
                  <c:v>7.8294127770674682E-2</c:v>
                </c:pt>
                <c:pt idx="288">
                  <c:v>7.9042497928890856E-2</c:v>
                </c:pt>
                <c:pt idx="289">
                  <c:v>7.8000665815430553E-2</c:v>
                </c:pt>
                <c:pt idx="290">
                  <c:v>8.1952497380145387E-2</c:v>
                </c:pt>
                <c:pt idx="291">
                  <c:v>8.16112457492916E-2</c:v>
                </c:pt>
                <c:pt idx="292">
                  <c:v>8.2089610135217497E-2</c:v>
                </c:pt>
                <c:pt idx="293">
                  <c:v>8.1457400428429416E-2</c:v>
                </c:pt>
                <c:pt idx="294">
                  <c:v>8.1238987515704519E-2</c:v>
                </c:pt>
                <c:pt idx="295">
                  <c:v>8.1658523376715642E-2</c:v>
                </c:pt>
                <c:pt idx="296">
                  <c:v>8.2086493950906003E-2</c:v>
                </c:pt>
                <c:pt idx="297">
                  <c:v>8.2620680545427483E-2</c:v>
                </c:pt>
                <c:pt idx="298">
                  <c:v>8.3505446998747249E-2</c:v>
                </c:pt>
                <c:pt idx="299">
                  <c:v>7.891929618274493E-2</c:v>
                </c:pt>
                <c:pt idx="300">
                  <c:v>8.2447019113523784E-2</c:v>
                </c:pt>
                <c:pt idx="301">
                  <c:v>8.2621776283200096E-2</c:v>
                </c:pt>
                <c:pt idx="302">
                  <c:v>8.3690035872575341E-2</c:v>
                </c:pt>
                <c:pt idx="303">
                  <c:v>8.2724616738188705E-2</c:v>
                </c:pt>
                <c:pt idx="304">
                  <c:v>8.2726787371281682E-2</c:v>
                </c:pt>
                <c:pt idx="305">
                  <c:v>8.3339657783617155E-2</c:v>
                </c:pt>
                <c:pt idx="306">
                  <c:v>8.382275644285285E-2</c:v>
                </c:pt>
                <c:pt idx="307">
                  <c:v>8.3975654764064461E-2</c:v>
                </c:pt>
                <c:pt idx="308">
                  <c:v>8.1880755561434856E-2</c:v>
                </c:pt>
                <c:pt idx="309">
                  <c:v>8.6092835317719815E-2</c:v>
                </c:pt>
                <c:pt idx="310">
                  <c:v>8.601640092581056E-2</c:v>
                </c:pt>
                <c:pt idx="311">
                  <c:v>8.5374311044357526E-2</c:v>
                </c:pt>
                <c:pt idx="312">
                  <c:v>8.3171671215565596E-2</c:v>
                </c:pt>
                <c:pt idx="313">
                  <c:v>9.9948860486050131E-2</c:v>
                </c:pt>
                <c:pt idx="314">
                  <c:v>9.8476119737014339E-2</c:v>
                </c:pt>
                <c:pt idx="315">
                  <c:v>9.7821296127280855E-2</c:v>
                </c:pt>
                <c:pt idx="316">
                  <c:v>9.7768530909656648E-2</c:v>
                </c:pt>
                <c:pt idx="317">
                  <c:v>9.8193507246330983E-2</c:v>
                </c:pt>
                <c:pt idx="318">
                  <c:v>9.9937218603912831E-2</c:v>
                </c:pt>
                <c:pt idx="319">
                  <c:v>0.10013431404339222</c:v>
                </c:pt>
                <c:pt idx="320">
                  <c:v>0.10175071566582228</c:v>
                </c:pt>
                <c:pt idx="321">
                  <c:v>0.10077430476122123</c:v>
                </c:pt>
                <c:pt idx="322">
                  <c:v>0.10172718320351211</c:v>
                </c:pt>
                <c:pt idx="323">
                  <c:v>9.8893786685678303E-2</c:v>
                </c:pt>
                <c:pt idx="324">
                  <c:v>9.899181196288491E-2</c:v>
                </c:pt>
                <c:pt idx="325">
                  <c:v>9.7826280334215213E-2</c:v>
                </c:pt>
                <c:pt idx="326">
                  <c:v>9.729888853557643E-2</c:v>
                </c:pt>
                <c:pt idx="327">
                  <c:v>9.7825220154376974E-2</c:v>
                </c:pt>
                <c:pt idx="328">
                  <c:v>0.10035342862749655</c:v>
                </c:pt>
                <c:pt idx="329">
                  <c:v>9.9824259864326956E-2</c:v>
                </c:pt>
                <c:pt idx="330">
                  <c:v>0.10124490651040664</c:v>
                </c:pt>
                <c:pt idx="331">
                  <c:v>0.11136283855223901</c:v>
                </c:pt>
                <c:pt idx="332">
                  <c:v>0.10680644140958295</c:v>
                </c:pt>
              </c:numCache>
            </c:numRef>
          </c:val>
          <c:smooth val="0"/>
          <c:extLst>
            <c:ext xmlns:c16="http://schemas.microsoft.com/office/drawing/2014/chart" uri="{C3380CC4-5D6E-409C-BE32-E72D297353CC}">
              <c16:uniqueId val="{00000000-BE35-48FA-9D8F-03B49058246F}"/>
            </c:ext>
          </c:extLst>
        </c:ser>
        <c:ser>
          <c:idx val="0"/>
          <c:order val="1"/>
          <c:tx>
            <c:strRef>
              <c:f>[2]Sheet2!$A$39</c:f>
              <c:strCache>
                <c:ptCount val="1"/>
                <c:pt idx="0">
                  <c:v>EAFE HHI</c:v>
                </c:pt>
              </c:strCache>
            </c:strRef>
          </c:tx>
          <c:spPr>
            <a:ln w="38100" cap="rnd">
              <a:solidFill>
                <a:schemeClr val="accent1"/>
              </a:solidFill>
              <a:round/>
            </a:ln>
            <a:effectLst/>
          </c:spPr>
          <c:marker>
            <c:symbol val="none"/>
          </c:marker>
          <c:cat>
            <c:numRef>
              <c:f>[2]Sheet2!$B$35:$LV$35</c:f>
              <c:numCache>
                <c:formatCode>mmm\-yy</c:formatCode>
                <c:ptCount val="333"/>
                <c:pt idx="0">
                  <c:v>44805</c:v>
                </c:pt>
                <c:pt idx="1">
                  <c:v>44774</c:v>
                </c:pt>
                <c:pt idx="2">
                  <c:v>44743</c:v>
                </c:pt>
                <c:pt idx="3">
                  <c:v>44713</c:v>
                </c:pt>
                <c:pt idx="4">
                  <c:v>44682</c:v>
                </c:pt>
                <c:pt idx="5">
                  <c:v>44652</c:v>
                </c:pt>
                <c:pt idx="6">
                  <c:v>44621</c:v>
                </c:pt>
                <c:pt idx="7">
                  <c:v>44593</c:v>
                </c:pt>
                <c:pt idx="8">
                  <c:v>44562</c:v>
                </c:pt>
                <c:pt idx="9">
                  <c:v>44531</c:v>
                </c:pt>
                <c:pt idx="10">
                  <c:v>44501</c:v>
                </c:pt>
                <c:pt idx="11">
                  <c:v>44470</c:v>
                </c:pt>
                <c:pt idx="12">
                  <c:v>44440</c:v>
                </c:pt>
                <c:pt idx="13">
                  <c:v>44409</c:v>
                </c:pt>
                <c:pt idx="14">
                  <c:v>44378</c:v>
                </c:pt>
                <c:pt idx="15">
                  <c:v>44348</c:v>
                </c:pt>
                <c:pt idx="16">
                  <c:v>44317</c:v>
                </c:pt>
                <c:pt idx="17">
                  <c:v>44287</c:v>
                </c:pt>
                <c:pt idx="18">
                  <c:v>44256</c:v>
                </c:pt>
                <c:pt idx="19">
                  <c:v>44228</c:v>
                </c:pt>
                <c:pt idx="20">
                  <c:v>44197</c:v>
                </c:pt>
                <c:pt idx="21">
                  <c:v>44166</c:v>
                </c:pt>
                <c:pt idx="22">
                  <c:v>44136</c:v>
                </c:pt>
                <c:pt idx="23">
                  <c:v>44105</c:v>
                </c:pt>
                <c:pt idx="24">
                  <c:v>44075</c:v>
                </c:pt>
                <c:pt idx="25">
                  <c:v>44044</c:v>
                </c:pt>
                <c:pt idx="26">
                  <c:v>44013</c:v>
                </c:pt>
                <c:pt idx="27">
                  <c:v>43983</c:v>
                </c:pt>
                <c:pt idx="28">
                  <c:v>43952</c:v>
                </c:pt>
                <c:pt idx="29">
                  <c:v>43922</c:v>
                </c:pt>
                <c:pt idx="30">
                  <c:v>43891</c:v>
                </c:pt>
                <c:pt idx="31">
                  <c:v>43862</c:v>
                </c:pt>
                <c:pt idx="32">
                  <c:v>43831</c:v>
                </c:pt>
                <c:pt idx="33">
                  <c:v>43800</c:v>
                </c:pt>
                <c:pt idx="34">
                  <c:v>43770</c:v>
                </c:pt>
                <c:pt idx="35">
                  <c:v>43739</c:v>
                </c:pt>
                <c:pt idx="36">
                  <c:v>43709</c:v>
                </c:pt>
                <c:pt idx="37">
                  <c:v>43678</c:v>
                </c:pt>
                <c:pt idx="38">
                  <c:v>43647</c:v>
                </c:pt>
                <c:pt idx="39">
                  <c:v>43617</c:v>
                </c:pt>
                <c:pt idx="40">
                  <c:v>43586</c:v>
                </c:pt>
                <c:pt idx="41">
                  <c:v>43556</c:v>
                </c:pt>
                <c:pt idx="42">
                  <c:v>43525</c:v>
                </c:pt>
                <c:pt idx="43">
                  <c:v>43497</c:v>
                </c:pt>
                <c:pt idx="44">
                  <c:v>43466</c:v>
                </c:pt>
                <c:pt idx="45">
                  <c:v>43435</c:v>
                </c:pt>
                <c:pt idx="46">
                  <c:v>43405</c:v>
                </c:pt>
                <c:pt idx="47">
                  <c:v>43374</c:v>
                </c:pt>
                <c:pt idx="48">
                  <c:v>43344</c:v>
                </c:pt>
                <c:pt idx="49">
                  <c:v>43313</c:v>
                </c:pt>
                <c:pt idx="50">
                  <c:v>43282</c:v>
                </c:pt>
                <c:pt idx="51">
                  <c:v>43252</c:v>
                </c:pt>
                <c:pt idx="52">
                  <c:v>43221</c:v>
                </c:pt>
                <c:pt idx="53">
                  <c:v>43191</c:v>
                </c:pt>
                <c:pt idx="54">
                  <c:v>43160</c:v>
                </c:pt>
                <c:pt idx="55">
                  <c:v>43132</c:v>
                </c:pt>
                <c:pt idx="56">
                  <c:v>43101</c:v>
                </c:pt>
                <c:pt idx="57">
                  <c:v>43070</c:v>
                </c:pt>
                <c:pt idx="58">
                  <c:v>43040</c:v>
                </c:pt>
                <c:pt idx="59">
                  <c:v>43009</c:v>
                </c:pt>
                <c:pt idx="60">
                  <c:v>42979</c:v>
                </c:pt>
                <c:pt idx="61">
                  <c:v>42948</c:v>
                </c:pt>
                <c:pt idx="62">
                  <c:v>42917</c:v>
                </c:pt>
                <c:pt idx="63">
                  <c:v>42887</c:v>
                </c:pt>
                <c:pt idx="64">
                  <c:v>42856</c:v>
                </c:pt>
                <c:pt idx="65">
                  <c:v>42826</c:v>
                </c:pt>
                <c:pt idx="66">
                  <c:v>42795</c:v>
                </c:pt>
                <c:pt idx="67">
                  <c:v>42767</c:v>
                </c:pt>
                <c:pt idx="68">
                  <c:v>42736</c:v>
                </c:pt>
                <c:pt idx="69">
                  <c:v>42705</c:v>
                </c:pt>
                <c:pt idx="70">
                  <c:v>42675</c:v>
                </c:pt>
                <c:pt idx="71">
                  <c:v>42644</c:v>
                </c:pt>
                <c:pt idx="72">
                  <c:v>42614</c:v>
                </c:pt>
                <c:pt idx="73">
                  <c:v>42583</c:v>
                </c:pt>
                <c:pt idx="74">
                  <c:v>42552</c:v>
                </c:pt>
                <c:pt idx="75">
                  <c:v>42522</c:v>
                </c:pt>
                <c:pt idx="76">
                  <c:v>42491</c:v>
                </c:pt>
                <c:pt idx="77">
                  <c:v>42461</c:v>
                </c:pt>
                <c:pt idx="78">
                  <c:v>42430</c:v>
                </c:pt>
                <c:pt idx="79">
                  <c:v>42401</c:v>
                </c:pt>
                <c:pt idx="80">
                  <c:v>42370</c:v>
                </c:pt>
                <c:pt idx="81">
                  <c:v>42339</c:v>
                </c:pt>
                <c:pt idx="82">
                  <c:v>42309</c:v>
                </c:pt>
                <c:pt idx="83">
                  <c:v>42278</c:v>
                </c:pt>
                <c:pt idx="84">
                  <c:v>42248</c:v>
                </c:pt>
                <c:pt idx="85">
                  <c:v>42217</c:v>
                </c:pt>
                <c:pt idx="86">
                  <c:v>42186</c:v>
                </c:pt>
                <c:pt idx="87">
                  <c:v>42156</c:v>
                </c:pt>
                <c:pt idx="88">
                  <c:v>42125</c:v>
                </c:pt>
                <c:pt idx="89">
                  <c:v>42095</c:v>
                </c:pt>
                <c:pt idx="90">
                  <c:v>42064</c:v>
                </c:pt>
                <c:pt idx="91">
                  <c:v>42036</c:v>
                </c:pt>
                <c:pt idx="92">
                  <c:v>42005</c:v>
                </c:pt>
                <c:pt idx="93">
                  <c:v>41974</c:v>
                </c:pt>
                <c:pt idx="94">
                  <c:v>41944</c:v>
                </c:pt>
                <c:pt idx="95">
                  <c:v>41913</c:v>
                </c:pt>
                <c:pt idx="96">
                  <c:v>41883</c:v>
                </c:pt>
                <c:pt idx="97">
                  <c:v>41852</c:v>
                </c:pt>
                <c:pt idx="98">
                  <c:v>41821</c:v>
                </c:pt>
                <c:pt idx="99">
                  <c:v>41791</c:v>
                </c:pt>
                <c:pt idx="100">
                  <c:v>41760</c:v>
                </c:pt>
                <c:pt idx="101">
                  <c:v>41730</c:v>
                </c:pt>
                <c:pt idx="102">
                  <c:v>41699</c:v>
                </c:pt>
                <c:pt idx="103">
                  <c:v>41671</c:v>
                </c:pt>
                <c:pt idx="104">
                  <c:v>41640</c:v>
                </c:pt>
                <c:pt idx="105">
                  <c:v>41609</c:v>
                </c:pt>
                <c:pt idx="106">
                  <c:v>41579</c:v>
                </c:pt>
                <c:pt idx="107">
                  <c:v>41548</c:v>
                </c:pt>
                <c:pt idx="108">
                  <c:v>41518</c:v>
                </c:pt>
                <c:pt idx="109">
                  <c:v>41487</c:v>
                </c:pt>
                <c:pt idx="110">
                  <c:v>41456</c:v>
                </c:pt>
                <c:pt idx="111">
                  <c:v>41426</c:v>
                </c:pt>
                <c:pt idx="112">
                  <c:v>41395</c:v>
                </c:pt>
                <c:pt idx="113">
                  <c:v>41365</c:v>
                </c:pt>
                <c:pt idx="114">
                  <c:v>41334</c:v>
                </c:pt>
                <c:pt idx="115">
                  <c:v>41306</c:v>
                </c:pt>
                <c:pt idx="116">
                  <c:v>41275</c:v>
                </c:pt>
                <c:pt idx="117">
                  <c:v>41244</c:v>
                </c:pt>
                <c:pt idx="118">
                  <c:v>41214</c:v>
                </c:pt>
                <c:pt idx="119">
                  <c:v>41183</c:v>
                </c:pt>
                <c:pt idx="120">
                  <c:v>41153</c:v>
                </c:pt>
                <c:pt idx="121">
                  <c:v>41122</c:v>
                </c:pt>
                <c:pt idx="122">
                  <c:v>41091</c:v>
                </c:pt>
                <c:pt idx="123">
                  <c:v>41061</c:v>
                </c:pt>
                <c:pt idx="124">
                  <c:v>41030</c:v>
                </c:pt>
                <c:pt idx="125">
                  <c:v>41000</c:v>
                </c:pt>
                <c:pt idx="126">
                  <c:v>40969</c:v>
                </c:pt>
                <c:pt idx="127">
                  <c:v>40940</c:v>
                </c:pt>
                <c:pt idx="128">
                  <c:v>40909</c:v>
                </c:pt>
                <c:pt idx="129">
                  <c:v>40878</c:v>
                </c:pt>
                <c:pt idx="130">
                  <c:v>40848</c:v>
                </c:pt>
                <c:pt idx="131">
                  <c:v>40817</c:v>
                </c:pt>
                <c:pt idx="132">
                  <c:v>40787</c:v>
                </c:pt>
                <c:pt idx="133">
                  <c:v>40756</c:v>
                </c:pt>
                <c:pt idx="134">
                  <c:v>40725</c:v>
                </c:pt>
                <c:pt idx="135">
                  <c:v>40695</c:v>
                </c:pt>
                <c:pt idx="136">
                  <c:v>40664</c:v>
                </c:pt>
                <c:pt idx="137">
                  <c:v>40634</c:v>
                </c:pt>
                <c:pt idx="138">
                  <c:v>40603</c:v>
                </c:pt>
                <c:pt idx="139">
                  <c:v>40575</c:v>
                </c:pt>
                <c:pt idx="140">
                  <c:v>40544</c:v>
                </c:pt>
                <c:pt idx="141">
                  <c:v>40513</c:v>
                </c:pt>
                <c:pt idx="142">
                  <c:v>40483</c:v>
                </c:pt>
                <c:pt idx="143">
                  <c:v>40452</c:v>
                </c:pt>
                <c:pt idx="144">
                  <c:v>40422</c:v>
                </c:pt>
                <c:pt idx="145">
                  <c:v>40391</c:v>
                </c:pt>
                <c:pt idx="146">
                  <c:v>40360</c:v>
                </c:pt>
                <c:pt idx="147">
                  <c:v>40330</c:v>
                </c:pt>
                <c:pt idx="148">
                  <c:v>40299</c:v>
                </c:pt>
                <c:pt idx="149">
                  <c:v>40269</c:v>
                </c:pt>
                <c:pt idx="150">
                  <c:v>40238</c:v>
                </c:pt>
                <c:pt idx="151">
                  <c:v>40210</c:v>
                </c:pt>
                <c:pt idx="152">
                  <c:v>40179</c:v>
                </c:pt>
                <c:pt idx="153">
                  <c:v>40148</c:v>
                </c:pt>
                <c:pt idx="154">
                  <c:v>40118</c:v>
                </c:pt>
                <c:pt idx="155">
                  <c:v>40087</c:v>
                </c:pt>
                <c:pt idx="156">
                  <c:v>40057</c:v>
                </c:pt>
                <c:pt idx="157">
                  <c:v>40026</c:v>
                </c:pt>
                <c:pt idx="158">
                  <c:v>39995</c:v>
                </c:pt>
                <c:pt idx="159">
                  <c:v>39965</c:v>
                </c:pt>
                <c:pt idx="160">
                  <c:v>39934</c:v>
                </c:pt>
                <c:pt idx="161">
                  <c:v>39904</c:v>
                </c:pt>
                <c:pt idx="162">
                  <c:v>39873</c:v>
                </c:pt>
                <c:pt idx="163">
                  <c:v>39845</c:v>
                </c:pt>
                <c:pt idx="164">
                  <c:v>39814</c:v>
                </c:pt>
                <c:pt idx="165">
                  <c:v>39783</c:v>
                </c:pt>
                <c:pt idx="166">
                  <c:v>39753</c:v>
                </c:pt>
                <c:pt idx="167">
                  <c:v>39722</c:v>
                </c:pt>
                <c:pt idx="168">
                  <c:v>39692</c:v>
                </c:pt>
                <c:pt idx="169">
                  <c:v>39661</c:v>
                </c:pt>
                <c:pt idx="170">
                  <c:v>39630</c:v>
                </c:pt>
                <c:pt idx="171">
                  <c:v>39600</c:v>
                </c:pt>
                <c:pt idx="172">
                  <c:v>39569</c:v>
                </c:pt>
                <c:pt idx="173">
                  <c:v>39539</c:v>
                </c:pt>
                <c:pt idx="174">
                  <c:v>39508</c:v>
                </c:pt>
                <c:pt idx="175">
                  <c:v>39479</c:v>
                </c:pt>
                <c:pt idx="176">
                  <c:v>39448</c:v>
                </c:pt>
                <c:pt idx="177">
                  <c:v>39417</c:v>
                </c:pt>
                <c:pt idx="178">
                  <c:v>39387</c:v>
                </c:pt>
                <c:pt idx="179">
                  <c:v>39356</c:v>
                </c:pt>
                <c:pt idx="180">
                  <c:v>39326</c:v>
                </c:pt>
                <c:pt idx="181">
                  <c:v>39295</c:v>
                </c:pt>
                <c:pt idx="182">
                  <c:v>39264</c:v>
                </c:pt>
                <c:pt idx="183">
                  <c:v>39234</c:v>
                </c:pt>
                <c:pt idx="184">
                  <c:v>39203</c:v>
                </c:pt>
                <c:pt idx="185">
                  <c:v>39173</c:v>
                </c:pt>
                <c:pt idx="186">
                  <c:v>39142</c:v>
                </c:pt>
                <c:pt idx="187">
                  <c:v>39114</c:v>
                </c:pt>
                <c:pt idx="188">
                  <c:v>39083</c:v>
                </c:pt>
                <c:pt idx="189">
                  <c:v>39052</c:v>
                </c:pt>
                <c:pt idx="190">
                  <c:v>39022</c:v>
                </c:pt>
                <c:pt idx="191">
                  <c:v>38991</c:v>
                </c:pt>
                <c:pt idx="192">
                  <c:v>38961</c:v>
                </c:pt>
                <c:pt idx="193">
                  <c:v>38930</c:v>
                </c:pt>
                <c:pt idx="194">
                  <c:v>38899</c:v>
                </c:pt>
                <c:pt idx="195">
                  <c:v>38869</c:v>
                </c:pt>
                <c:pt idx="196">
                  <c:v>38838</c:v>
                </c:pt>
                <c:pt idx="197">
                  <c:v>38808</c:v>
                </c:pt>
                <c:pt idx="198">
                  <c:v>38777</c:v>
                </c:pt>
                <c:pt idx="199">
                  <c:v>38749</c:v>
                </c:pt>
                <c:pt idx="200">
                  <c:v>38718</c:v>
                </c:pt>
                <c:pt idx="201">
                  <c:v>38687</c:v>
                </c:pt>
                <c:pt idx="202">
                  <c:v>38657</c:v>
                </c:pt>
                <c:pt idx="203">
                  <c:v>38626</c:v>
                </c:pt>
                <c:pt idx="204">
                  <c:v>38596</c:v>
                </c:pt>
                <c:pt idx="205">
                  <c:v>38565</c:v>
                </c:pt>
                <c:pt idx="206">
                  <c:v>38534</c:v>
                </c:pt>
                <c:pt idx="207">
                  <c:v>38504</c:v>
                </c:pt>
                <c:pt idx="208">
                  <c:v>38473</c:v>
                </c:pt>
                <c:pt idx="209">
                  <c:v>38443</c:v>
                </c:pt>
                <c:pt idx="210">
                  <c:v>38412</c:v>
                </c:pt>
                <c:pt idx="211">
                  <c:v>38384</c:v>
                </c:pt>
                <c:pt idx="212">
                  <c:v>38353</c:v>
                </c:pt>
                <c:pt idx="213">
                  <c:v>38322</c:v>
                </c:pt>
                <c:pt idx="214">
                  <c:v>38292</c:v>
                </c:pt>
                <c:pt idx="215">
                  <c:v>38261</c:v>
                </c:pt>
                <c:pt idx="216">
                  <c:v>38231</c:v>
                </c:pt>
                <c:pt idx="217">
                  <c:v>38200</c:v>
                </c:pt>
                <c:pt idx="218">
                  <c:v>38169</c:v>
                </c:pt>
                <c:pt idx="219">
                  <c:v>38139</c:v>
                </c:pt>
                <c:pt idx="220">
                  <c:v>38108</c:v>
                </c:pt>
                <c:pt idx="221">
                  <c:v>38078</c:v>
                </c:pt>
                <c:pt idx="222">
                  <c:v>38047</c:v>
                </c:pt>
                <c:pt idx="223">
                  <c:v>38018</c:v>
                </c:pt>
                <c:pt idx="224">
                  <c:v>37987</c:v>
                </c:pt>
                <c:pt idx="225">
                  <c:v>37956</c:v>
                </c:pt>
                <c:pt idx="226">
                  <c:v>37926</c:v>
                </c:pt>
                <c:pt idx="227">
                  <c:v>37895</c:v>
                </c:pt>
                <c:pt idx="228">
                  <c:v>37865</c:v>
                </c:pt>
                <c:pt idx="229">
                  <c:v>37834</c:v>
                </c:pt>
                <c:pt idx="230">
                  <c:v>37803</c:v>
                </c:pt>
                <c:pt idx="231">
                  <c:v>37773</c:v>
                </c:pt>
                <c:pt idx="232">
                  <c:v>37742</c:v>
                </c:pt>
                <c:pt idx="233">
                  <c:v>37712</c:v>
                </c:pt>
                <c:pt idx="234">
                  <c:v>37681</c:v>
                </c:pt>
                <c:pt idx="235">
                  <c:v>37653</c:v>
                </c:pt>
                <c:pt idx="236">
                  <c:v>37622</c:v>
                </c:pt>
                <c:pt idx="237">
                  <c:v>37591</c:v>
                </c:pt>
                <c:pt idx="238">
                  <c:v>37561</c:v>
                </c:pt>
                <c:pt idx="239">
                  <c:v>37530</c:v>
                </c:pt>
                <c:pt idx="240">
                  <c:v>37500</c:v>
                </c:pt>
                <c:pt idx="241">
                  <c:v>37469</c:v>
                </c:pt>
                <c:pt idx="242">
                  <c:v>37438</c:v>
                </c:pt>
                <c:pt idx="243">
                  <c:v>37408</c:v>
                </c:pt>
                <c:pt idx="244">
                  <c:v>37377</c:v>
                </c:pt>
                <c:pt idx="245">
                  <c:v>37347</c:v>
                </c:pt>
                <c:pt idx="246">
                  <c:v>37316</c:v>
                </c:pt>
                <c:pt idx="247">
                  <c:v>37288</c:v>
                </c:pt>
                <c:pt idx="248">
                  <c:v>37257</c:v>
                </c:pt>
                <c:pt idx="249">
                  <c:v>37226</c:v>
                </c:pt>
                <c:pt idx="250">
                  <c:v>37196</c:v>
                </c:pt>
                <c:pt idx="251">
                  <c:v>37165</c:v>
                </c:pt>
                <c:pt idx="252">
                  <c:v>37135</c:v>
                </c:pt>
                <c:pt idx="253">
                  <c:v>37104</c:v>
                </c:pt>
                <c:pt idx="254">
                  <c:v>37073</c:v>
                </c:pt>
                <c:pt idx="255">
                  <c:v>37043</c:v>
                </c:pt>
                <c:pt idx="256">
                  <c:v>37012</c:v>
                </c:pt>
                <c:pt idx="257">
                  <c:v>36982</c:v>
                </c:pt>
                <c:pt idx="258">
                  <c:v>36951</c:v>
                </c:pt>
                <c:pt idx="259">
                  <c:v>36923</c:v>
                </c:pt>
                <c:pt idx="260">
                  <c:v>36892</c:v>
                </c:pt>
                <c:pt idx="261">
                  <c:v>36861</c:v>
                </c:pt>
                <c:pt idx="262">
                  <c:v>36831</c:v>
                </c:pt>
                <c:pt idx="263">
                  <c:v>36800</c:v>
                </c:pt>
                <c:pt idx="264">
                  <c:v>36770</c:v>
                </c:pt>
                <c:pt idx="265">
                  <c:v>36739</c:v>
                </c:pt>
                <c:pt idx="266">
                  <c:v>36708</c:v>
                </c:pt>
                <c:pt idx="267">
                  <c:v>36678</c:v>
                </c:pt>
                <c:pt idx="268">
                  <c:v>36647</c:v>
                </c:pt>
                <c:pt idx="269">
                  <c:v>36617</c:v>
                </c:pt>
                <c:pt idx="270">
                  <c:v>36586</c:v>
                </c:pt>
                <c:pt idx="271">
                  <c:v>36557</c:v>
                </c:pt>
                <c:pt idx="272">
                  <c:v>36526</c:v>
                </c:pt>
                <c:pt idx="273">
                  <c:v>36495</c:v>
                </c:pt>
                <c:pt idx="274">
                  <c:v>36465</c:v>
                </c:pt>
                <c:pt idx="275">
                  <c:v>36434</c:v>
                </c:pt>
                <c:pt idx="276">
                  <c:v>36404</c:v>
                </c:pt>
                <c:pt idx="277">
                  <c:v>36373</c:v>
                </c:pt>
                <c:pt idx="278">
                  <c:v>36342</c:v>
                </c:pt>
                <c:pt idx="279">
                  <c:v>36312</c:v>
                </c:pt>
                <c:pt idx="280">
                  <c:v>36281</c:v>
                </c:pt>
                <c:pt idx="281">
                  <c:v>36251</c:v>
                </c:pt>
                <c:pt idx="282">
                  <c:v>36220</c:v>
                </c:pt>
                <c:pt idx="283">
                  <c:v>36192</c:v>
                </c:pt>
                <c:pt idx="284">
                  <c:v>36161</c:v>
                </c:pt>
                <c:pt idx="285">
                  <c:v>36130</c:v>
                </c:pt>
                <c:pt idx="286">
                  <c:v>36100</c:v>
                </c:pt>
                <c:pt idx="287">
                  <c:v>36069</c:v>
                </c:pt>
                <c:pt idx="288">
                  <c:v>36039</c:v>
                </c:pt>
                <c:pt idx="289">
                  <c:v>36008</c:v>
                </c:pt>
                <c:pt idx="290">
                  <c:v>35977</c:v>
                </c:pt>
                <c:pt idx="291">
                  <c:v>35947</c:v>
                </c:pt>
                <c:pt idx="292">
                  <c:v>35916</c:v>
                </c:pt>
                <c:pt idx="293">
                  <c:v>35886</c:v>
                </c:pt>
                <c:pt idx="294">
                  <c:v>35855</c:v>
                </c:pt>
                <c:pt idx="295">
                  <c:v>35827</c:v>
                </c:pt>
                <c:pt idx="296">
                  <c:v>35796</c:v>
                </c:pt>
                <c:pt idx="297">
                  <c:v>35765</c:v>
                </c:pt>
                <c:pt idx="298">
                  <c:v>35735</c:v>
                </c:pt>
                <c:pt idx="299">
                  <c:v>35704</c:v>
                </c:pt>
                <c:pt idx="300">
                  <c:v>35674</c:v>
                </c:pt>
                <c:pt idx="301">
                  <c:v>35643</c:v>
                </c:pt>
                <c:pt idx="302">
                  <c:v>35612</c:v>
                </c:pt>
                <c:pt idx="303">
                  <c:v>35582</c:v>
                </c:pt>
                <c:pt idx="304">
                  <c:v>35551</c:v>
                </c:pt>
                <c:pt idx="305">
                  <c:v>35521</c:v>
                </c:pt>
                <c:pt idx="306">
                  <c:v>35490</c:v>
                </c:pt>
                <c:pt idx="307">
                  <c:v>35462</c:v>
                </c:pt>
                <c:pt idx="308">
                  <c:v>35431</c:v>
                </c:pt>
                <c:pt idx="309">
                  <c:v>35400</c:v>
                </c:pt>
                <c:pt idx="310">
                  <c:v>35370</c:v>
                </c:pt>
                <c:pt idx="311">
                  <c:v>35339</c:v>
                </c:pt>
                <c:pt idx="312">
                  <c:v>35309</c:v>
                </c:pt>
                <c:pt idx="313">
                  <c:v>35278</c:v>
                </c:pt>
                <c:pt idx="314">
                  <c:v>35247</c:v>
                </c:pt>
                <c:pt idx="315">
                  <c:v>35217</c:v>
                </c:pt>
                <c:pt idx="316">
                  <c:v>35186</c:v>
                </c:pt>
                <c:pt idx="317">
                  <c:v>35156</c:v>
                </c:pt>
                <c:pt idx="318">
                  <c:v>35125</c:v>
                </c:pt>
                <c:pt idx="319">
                  <c:v>35096</c:v>
                </c:pt>
                <c:pt idx="320">
                  <c:v>35065</c:v>
                </c:pt>
                <c:pt idx="321">
                  <c:v>35034</c:v>
                </c:pt>
                <c:pt idx="322">
                  <c:v>35004</c:v>
                </c:pt>
                <c:pt idx="323">
                  <c:v>34973</c:v>
                </c:pt>
                <c:pt idx="324">
                  <c:v>34943</c:v>
                </c:pt>
                <c:pt idx="325">
                  <c:v>34912</c:v>
                </c:pt>
                <c:pt idx="326">
                  <c:v>34881</c:v>
                </c:pt>
                <c:pt idx="327">
                  <c:v>34851</c:v>
                </c:pt>
                <c:pt idx="328">
                  <c:v>34820</c:v>
                </c:pt>
                <c:pt idx="329">
                  <c:v>34790</c:v>
                </c:pt>
                <c:pt idx="330">
                  <c:v>34759</c:v>
                </c:pt>
                <c:pt idx="331">
                  <c:v>34731</c:v>
                </c:pt>
                <c:pt idx="332">
                  <c:v>34700</c:v>
                </c:pt>
              </c:numCache>
            </c:numRef>
          </c:cat>
          <c:val>
            <c:numRef>
              <c:f>[2]Sheet2!$B$39:$LV$39</c:f>
              <c:numCache>
                <c:formatCode>General</c:formatCode>
                <c:ptCount val="333"/>
                <c:pt idx="0">
                  <c:v>0.11322918323838337</c:v>
                </c:pt>
                <c:pt idx="1">
                  <c:v>0.11389109628931503</c:v>
                </c:pt>
                <c:pt idx="2">
                  <c:v>0.11248512122728414</c:v>
                </c:pt>
                <c:pt idx="3">
                  <c:v>0.11214483629302022</c:v>
                </c:pt>
                <c:pt idx="4">
                  <c:v>0.11200027482442886</c:v>
                </c:pt>
                <c:pt idx="5">
                  <c:v>0.11103162671877663</c:v>
                </c:pt>
                <c:pt idx="6">
                  <c:v>0.11186053428952313</c:v>
                </c:pt>
                <c:pt idx="7">
                  <c:v>0.1132555618007323</c:v>
                </c:pt>
                <c:pt idx="8">
                  <c:v>0.11211941087371738</c:v>
                </c:pt>
                <c:pt idx="9">
                  <c:v>0.11152170048076181</c:v>
                </c:pt>
                <c:pt idx="10">
                  <c:v>0.11441157465233057</c:v>
                </c:pt>
                <c:pt idx="11">
                  <c:v>0.1120773048468877</c:v>
                </c:pt>
                <c:pt idx="12">
                  <c:v>0.11636770123467656</c:v>
                </c:pt>
                <c:pt idx="13">
                  <c:v>0.11253893643707132</c:v>
                </c:pt>
                <c:pt idx="14">
                  <c:v>0.1121042574781851</c:v>
                </c:pt>
                <c:pt idx="15">
                  <c:v>0.11347913955028506</c:v>
                </c:pt>
                <c:pt idx="16">
                  <c:v>0.11275780300060276</c:v>
                </c:pt>
                <c:pt idx="17">
                  <c:v>0.11549166555539256</c:v>
                </c:pt>
                <c:pt idx="18">
                  <c:v>0.11885767032022278</c:v>
                </c:pt>
                <c:pt idx="19">
                  <c:v>0.12040250179584021</c:v>
                </c:pt>
                <c:pt idx="20">
                  <c:v>0.12093670995839151</c:v>
                </c:pt>
                <c:pt idx="21">
                  <c:v>0.12097590848960442</c:v>
                </c:pt>
                <c:pt idx="22">
                  <c:v>0.12177968376236326</c:v>
                </c:pt>
                <c:pt idx="23">
                  <c:v>0.12448651332494226</c:v>
                </c:pt>
                <c:pt idx="24">
                  <c:v>0.12245459676592221</c:v>
                </c:pt>
                <c:pt idx="25">
                  <c:v>0.11985429457119515</c:v>
                </c:pt>
                <c:pt idx="26">
                  <c:v>0.11780170587908213</c:v>
                </c:pt>
                <c:pt idx="27">
                  <c:v>0.12172872750479799</c:v>
                </c:pt>
                <c:pt idx="28">
                  <c:v>0.12585669522589907</c:v>
                </c:pt>
                <c:pt idx="29">
                  <c:v>0.12493538552540256</c:v>
                </c:pt>
                <c:pt idx="30">
                  <c:v>0.12650884109642691</c:v>
                </c:pt>
                <c:pt idx="31">
                  <c:v>0.12047980500343945</c:v>
                </c:pt>
                <c:pt idx="32">
                  <c:v>0.12165373920164683</c:v>
                </c:pt>
                <c:pt idx="33">
                  <c:v>0.12138916849491135</c:v>
                </c:pt>
                <c:pt idx="34">
                  <c:v>0.12206380188791527</c:v>
                </c:pt>
                <c:pt idx="35">
                  <c:v>0.12232546725158047</c:v>
                </c:pt>
                <c:pt idx="36">
                  <c:v>0.12128895251432727</c:v>
                </c:pt>
                <c:pt idx="37">
                  <c:v>0.12087233609495986</c:v>
                </c:pt>
                <c:pt idx="38">
                  <c:v>0.11987312813133047</c:v>
                </c:pt>
                <c:pt idx="39">
                  <c:v>0.1203299393860513</c:v>
                </c:pt>
                <c:pt idx="40">
                  <c:v>0.12215513638896294</c:v>
                </c:pt>
                <c:pt idx="41">
                  <c:v>0.12055958516735966</c:v>
                </c:pt>
                <c:pt idx="42">
                  <c:v>0.12162159155457686</c:v>
                </c:pt>
                <c:pt idx="43">
                  <c:v>0.12185314240846862</c:v>
                </c:pt>
                <c:pt idx="44">
                  <c:v>0.12357895361345561</c:v>
                </c:pt>
                <c:pt idx="45">
                  <c:v>0.1233811779687676</c:v>
                </c:pt>
                <c:pt idx="46">
                  <c:v>0.1253113726627027</c:v>
                </c:pt>
                <c:pt idx="47">
                  <c:v>0.12557910883012124</c:v>
                </c:pt>
                <c:pt idx="48">
                  <c:v>0.12512045685268799</c:v>
                </c:pt>
                <c:pt idx="49">
                  <c:v>0.12324541753133381</c:v>
                </c:pt>
                <c:pt idx="50">
                  <c:v>0.12176326781216014</c:v>
                </c:pt>
                <c:pt idx="51">
                  <c:v>0.12394476113171757</c:v>
                </c:pt>
                <c:pt idx="52">
                  <c:v>0.12688352842571435</c:v>
                </c:pt>
                <c:pt idx="53">
                  <c:v>0.1243054298121794</c:v>
                </c:pt>
                <c:pt idx="54">
                  <c:v>0.12417909067160444</c:v>
                </c:pt>
                <c:pt idx="55">
                  <c:v>0.12402599446899437</c:v>
                </c:pt>
                <c:pt idx="56">
                  <c:v>0.12207709996867661</c:v>
                </c:pt>
                <c:pt idx="57">
                  <c:v>0.12325084634657939</c:v>
                </c:pt>
                <c:pt idx="58">
                  <c:v>0.12342323691049013</c:v>
                </c:pt>
                <c:pt idx="59">
                  <c:v>0.12186399056879656</c:v>
                </c:pt>
                <c:pt idx="60">
                  <c:v>0.11945508339970989</c:v>
                </c:pt>
                <c:pt idx="61">
                  <c:v>0.11965820675656065</c:v>
                </c:pt>
                <c:pt idx="62">
                  <c:v>0.1195245578233655</c:v>
                </c:pt>
                <c:pt idx="63">
                  <c:v>0.12059498033751304</c:v>
                </c:pt>
                <c:pt idx="64">
                  <c:v>0.12047148062224812</c:v>
                </c:pt>
                <c:pt idx="65">
                  <c:v>0.12036838499796994</c:v>
                </c:pt>
                <c:pt idx="66">
                  <c:v>0.12142613233041556</c:v>
                </c:pt>
                <c:pt idx="67">
                  <c:v>0.12497917408170341</c:v>
                </c:pt>
                <c:pt idx="68">
                  <c:v>0.12491295619977652</c:v>
                </c:pt>
                <c:pt idx="69">
                  <c:v>0.12491084752032983</c:v>
                </c:pt>
                <c:pt idx="70">
                  <c:v>0.12679497409598944</c:v>
                </c:pt>
                <c:pt idx="71">
                  <c:v>0.12618830868172382</c:v>
                </c:pt>
                <c:pt idx="72">
                  <c:v>0.1249759533445743</c:v>
                </c:pt>
                <c:pt idx="73">
                  <c:v>0.12551488616144788</c:v>
                </c:pt>
                <c:pt idx="74">
                  <c:v>0.1253381776475023</c:v>
                </c:pt>
                <c:pt idx="75">
                  <c:v>0.12516025662415867</c:v>
                </c:pt>
                <c:pt idx="76">
                  <c:v>0.12403638428372735</c:v>
                </c:pt>
                <c:pt idx="77">
                  <c:v>0.12321841988510197</c:v>
                </c:pt>
                <c:pt idx="78">
                  <c:v>0.12156893528574386</c:v>
                </c:pt>
                <c:pt idx="79">
                  <c:v>0.12410364981993097</c:v>
                </c:pt>
                <c:pt idx="80">
                  <c:v>0.12463755233198119</c:v>
                </c:pt>
                <c:pt idx="81">
                  <c:v>0.12496930103879215</c:v>
                </c:pt>
                <c:pt idx="82">
                  <c:v>0.12573408308295059</c:v>
                </c:pt>
                <c:pt idx="83">
                  <c:v>0.12569319852161731</c:v>
                </c:pt>
                <c:pt idx="84">
                  <c:v>0.12417805831702484</c:v>
                </c:pt>
                <c:pt idx="85">
                  <c:v>0.12506416430777806</c:v>
                </c:pt>
                <c:pt idx="86">
                  <c:v>0.12375968265435107</c:v>
                </c:pt>
                <c:pt idx="87">
                  <c:v>0.12484292479616914</c:v>
                </c:pt>
                <c:pt idx="88">
                  <c:v>0.12438184062464985</c:v>
                </c:pt>
                <c:pt idx="89">
                  <c:v>0.12285143342186088</c:v>
                </c:pt>
                <c:pt idx="90">
                  <c:v>0.12220740603216611</c:v>
                </c:pt>
                <c:pt idx="91">
                  <c:v>0.12266900406463874</c:v>
                </c:pt>
                <c:pt idx="92">
                  <c:v>0.12259028658656197</c:v>
                </c:pt>
                <c:pt idx="93">
                  <c:v>0.12166263719713485</c:v>
                </c:pt>
                <c:pt idx="94">
                  <c:v>0.11985286866996651</c:v>
                </c:pt>
                <c:pt idx="95">
                  <c:v>0.12087534692443484</c:v>
                </c:pt>
                <c:pt idx="96">
                  <c:v>0.12090056091808964</c:v>
                </c:pt>
                <c:pt idx="97">
                  <c:v>0.12031355514072146</c:v>
                </c:pt>
                <c:pt idx="98">
                  <c:v>0.12108562775389019</c:v>
                </c:pt>
                <c:pt idx="99">
                  <c:v>0.11970564638789391</c:v>
                </c:pt>
                <c:pt idx="100">
                  <c:v>0.11821720368299704</c:v>
                </c:pt>
                <c:pt idx="101">
                  <c:v>0.11719118717061031</c:v>
                </c:pt>
                <c:pt idx="102">
                  <c:v>0.11728819640545914</c:v>
                </c:pt>
                <c:pt idx="103">
                  <c:v>0.11921384778525772</c:v>
                </c:pt>
                <c:pt idx="104">
                  <c:v>0.12282909441404886</c:v>
                </c:pt>
                <c:pt idx="105">
                  <c:v>0.12300690725680659</c:v>
                </c:pt>
                <c:pt idx="106">
                  <c:v>0.12239543155612496</c:v>
                </c:pt>
                <c:pt idx="107">
                  <c:v>0.12213298725657466</c:v>
                </c:pt>
                <c:pt idx="108">
                  <c:v>0.12429243012783749</c:v>
                </c:pt>
                <c:pt idx="109">
                  <c:v>0.1245803967457965</c:v>
                </c:pt>
                <c:pt idx="110">
                  <c:v>0.12446931546991578</c:v>
                </c:pt>
                <c:pt idx="111">
                  <c:v>0.12745819231571745</c:v>
                </c:pt>
                <c:pt idx="112">
                  <c:v>0.12448410174735365</c:v>
                </c:pt>
                <c:pt idx="113">
                  <c:v>0.12481539521375432</c:v>
                </c:pt>
                <c:pt idx="114">
                  <c:v>0.12318805880947825</c:v>
                </c:pt>
                <c:pt idx="115">
                  <c:v>0.12023536250111022</c:v>
                </c:pt>
                <c:pt idx="116">
                  <c:v>0.11861700936185465</c:v>
                </c:pt>
                <c:pt idx="117">
                  <c:v>0.12034344682845934</c:v>
                </c:pt>
                <c:pt idx="118">
                  <c:v>0.12017494301432045</c:v>
                </c:pt>
                <c:pt idx="119">
                  <c:v>0.12081034030137497</c:v>
                </c:pt>
                <c:pt idx="120">
                  <c:v>0.12241953336669921</c:v>
                </c:pt>
                <c:pt idx="121">
                  <c:v>0.12379092120828951</c:v>
                </c:pt>
                <c:pt idx="122">
                  <c:v>0.12588973509262005</c:v>
                </c:pt>
                <c:pt idx="123">
                  <c:v>0.1275759942625011</c:v>
                </c:pt>
                <c:pt idx="124">
                  <c:v>0.12923536994499721</c:v>
                </c:pt>
                <c:pt idx="125">
                  <c:v>0.12604912272570473</c:v>
                </c:pt>
                <c:pt idx="126">
                  <c:v>0.12434052076462813</c:v>
                </c:pt>
                <c:pt idx="127">
                  <c:v>0.12382823895491364</c:v>
                </c:pt>
                <c:pt idx="128">
                  <c:v>0.12515403429194163</c:v>
                </c:pt>
                <c:pt idx="129">
                  <c:v>0.12725693100057264</c:v>
                </c:pt>
                <c:pt idx="130">
                  <c:v>0.12524884408922626</c:v>
                </c:pt>
                <c:pt idx="131">
                  <c:v>0.12319314464259283</c:v>
                </c:pt>
                <c:pt idx="132">
                  <c:v>0.12882691484109737</c:v>
                </c:pt>
                <c:pt idx="133">
                  <c:v>0.12260752053741558</c:v>
                </c:pt>
                <c:pt idx="134">
                  <c:v>0.12031923026472581</c:v>
                </c:pt>
                <c:pt idx="135">
                  <c:v>0.11602585587871</c:v>
                </c:pt>
                <c:pt idx="136">
                  <c:v>0.11569374294675221</c:v>
                </c:pt>
                <c:pt idx="137">
                  <c:v>0.11388607144637786</c:v>
                </c:pt>
                <c:pt idx="138">
                  <c:v>0.11593435926033537</c:v>
                </c:pt>
                <c:pt idx="139">
                  <c:v>0.12122795386442282</c:v>
                </c:pt>
                <c:pt idx="140">
                  <c:v>0.11928445466084193</c:v>
                </c:pt>
                <c:pt idx="141">
                  <c:v>0.12150289058374457</c:v>
                </c:pt>
                <c:pt idx="142">
                  <c:v>0.12232597504239057</c:v>
                </c:pt>
                <c:pt idx="143">
                  <c:v>0.11762118985137737</c:v>
                </c:pt>
                <c:pt idx="144">
                  <c:v>0.11834596780198638</c:v>
                </c:pt>
                <c:pt idx="145">
                  <c:v>0.12251880233116282</c:v>
                </c:pt>
                <c:pt idx="146">
                  <c:v>0.12091785893568249</c:v>
                </c:pt>
                <c:pt idx="147">
                  <c:v>0.12400862843281184</c:v>
                </c:pt>
                <c:pt idx="148">
                  <c:v>0.12543419756674384</c:v>
                </c:pt>
                <c:pt idx="149">
                  <c:v>0.1233545912930302</c:v>
                </c:pt>
                <c:pt idx="150">
                  <c:v>0.12147973815787071</c:v>
                </c:pt>
                <c:pt idx="151">
                  <c:v>0.1227930597045694</c:v>
                </c:pt>
                <c:pt idx="152">
                  <c:v>0.12185476303128791</c:v>
                </c:pt>
                <c:pt idx="153">
                  <c:v>0.11784682514597962</c:v>
                </c:pt>
                <c:pt idx="154">
                  <c:v>0.11685988201782685</c:v>
                </c:pt>
                <c:pt idx="155">
                  <c:v>0.11843803191169995</c:v>
                </c:pt>
                <c:pt idx="156">
                  <c:v>0.11771964953233104</c:v>
                </c:pt>
                <c:pt idx="157">
                  <c:v>0.12251351431563681</c:v>
                </c:pt>
                <c:pt idx="158">
                  <c:v>0.12352463765572709</c:v>
                </c:pt>
                <c:pt idx="159">
                  <c:v>0.12769089964148989</c:v>
                </c:pt>
                <c:pt idx="160">
                  <c:v>0.12551569109200655</c:v>
                </c:pt>
                <c:pt idx="161">
                  <c:v>0.1262710682975535</c:v>
                </c:pt>
                <c:pt idx="162">
                  <c:v>0.12957595930821658</c:v>
                </c:pt>
                <c:pt idx="163">
                  <c:v>0.13578708760101074</c:v>
                </c:pt>
                <c:pt idx="164">
                  <c:v>0.13691700596894008</c:v>
                </c:pt>
                <c:pt idx="165">
                  <c:v>0.13195651652244828</c:v>
                </c:pt>
                <c:pt idx="166">
                  <c:v>0.13341092861032336</c:v>
                </c:pt>
                <c:pt idx="167">
                  <c:v>0.13019691285711193</c:v>
                </c:pt>
                <c:pt idx="168">
                  <c:v>0.12206445643806894</c:v>
                </c:pt>
                <c:pt idx="169">
                  <c:v>0.11908202862903168</c:v>
                </c:pt>
                <c:pt idx="170">
                  <c:v>0.11804579940736072</c:v>
                </c:pt>
                <c:pt idx="171">
                  <c:v>0.11895662753967133</c:v>
                </c:pt>
                <c:pt idx="172">
                  <c:v>0.11635885637977988</c:v>
                </c:pt>
                <c:pt idx="173">
                  <c:v>0.11544194591437118</c:v>
                </c:pt>
                <c:pt idx="174">
                  <c:v>0.11382183428214232</c:v>
                </c:pt>
                <c:pt idx="175">
                  <c:v>0.11775259543350683</c:v>
                </c:pt>
                <c:pt idx="176">
                  <c:v>0.11949778699940922</c:v>
                </c:pt>
                <c:pt idx="177">
                  <c:v>0.11679955773348945</c:v>
                </c:pt>
                <c:pt idx="178">
                  <c:v>0.11892595423661113</c:v>
                </c:pt>
                <c:pt idx="179">
                  <c:v>0.11836954520182981</c:v>
                </c:pt>
                <c:pt idx="180">
                  <c:v>0.11788913635018136</c:v>
                </c:pt>
                <c:pt idx="181">
                  <c:v>0.12159193293004178</c:v>
                </c:pt>
                <c:pt idx="182">
                  <c:v>0.12189478890043218</c:v>
                </c:pt>
                <c:pt idx="183">
                  <c:v>0.12259726971757699</c:v>
                </c:pt>
                <c:pt idx="184">
                  <c:v>0.12223325117223585</c:v>
                </c:pt>
                <c:pt idx="185">
                  <c:v>0.12211085881357811</c:v>
                </c:pt>
                <c:pt idx="186">
                  <c:v>0.12700217698989047</c:v>
                </c:pt>
                <c:pt idx="187">
                  <c:v>0.13033941623343942</c:v>
                </c:pt>
                <c:pt idx="188">
                  <c:v>0.12844239946260713</c:v>
                </c:pt>
                <c:pt idx="189">
                  <c:v>0.12909713771668502</c:v>
                </c:pt>
                <c:pt idx="190">
                  <c:v>0.13000558142273938</c:v>
                </c:pt>
                <c:pt idx="191">
                  <c:v>0.13214374148577526</c:v>
                </c:pt>
                <c:pt idx="192">
                  <c:v>0.13342758965988102</c:v>
                </c:pt>
                <c:pt idx="193">
                  <c:v>0.13548146019489438</c:v>
                </c:pt>
                <c:pt idx="194">
                  <c:v>0.13686882304639517</c:v>
                </c:pt>
                <c:pt idx="195">
                  <c:v>0.13740233636488877</c:v>
                </c:pt>
                <c:pt idx="196">
                  <c:v>0.13854401020473772</c:v>
                </c:pt>
                <c:pt idx="197">
                  <c:v>0.13877392693114954</c:v>
                </c:pt>
                <c:pt idx="198">
                  <c:v>0.13936227829653006</c:v>
                </c:pt>
                <c:pt idx="199">
                  <c:v>0.14057525833232587</c:v>
                </c:pt>
                <c:pt idx="200">
                  <c:v>0.14154497869541696</c:v>
                </c:pt>
                <c:pt idx="201">
                  <c:v>0.14231729340049237</c:v>
                </c:pt>
                <c:pt idx="202">
                  <c:v>0.14041747426846962</c:v>
                </c:pt>
                <c:pt idx="203">
                  <c:v>0.14016939095366771</c:v>
                </c:pt>
                <c:pt idx="204">
                  <c:v>0.13854209026896161</c:v>
                </c:pt>
                <c:pt idx="205">
                  <c:v>0.13641673308669597</c:v>
                </c:pt>
                <c:pt idx="206">
                  <c:v>0.13285267899699602</c:v>
                </c:pt>
                <c:pt idx="207">
                  <c:v>0.13003465573728654</c:v>
                </c:pt>
                <c:pt idx="208">
                  <c:v>0.12999147699205105</c:v>
                </c:pt>
                <c:pt idx="209">
                  <c:v>0.13079166150155105</c:v>
                </c:pt>
                <c:pt idx="210">
                  <c:v>0.1297454324009385</c:v>
                </c:pt>
                <c:pt idx="211">
                  <c:v>0.13009209739301314</c:v>
                </c:pt>
                <c:pt idx="212">
                  <c:v>0.13110759149719473</c:v>
                </c:pt>
                <c:pt idx="213">
                  <c:v>0.13021219689188965</c:v>
                </c:pt>
                <c:pt idx="214">
                  <c:v>0.12976378145819692</c:v>
                </c:pt>
                <c:pt idx="215">
                  <c:v>0.13160863676057322</c:v>
                </c:pt>
                <c:pt idx="216">
                  <c:v>0.1332775831794335</c:v>
                </c:pt>
                <c:pt idx="217">
                  <c:v>0.13716274959117644</c:v>
                </c:pt>
                <c:pt idx="218">
                  <c:v>0.13720159635853618</c:v>
                </c:pt>
                <c:pt idx="219">
                  <c:v>0.13782943488000102</c:v>
                </c:pt>
                <c:pt idx="220">
                  <c:v>0.13687000481736186</c:v>
                </c:pt>
                <c:pt idx="221">
                  <c:v>0.13560228938899505</c:v>
                </c:pt>
                <c:pt idx="222">
                  <c:v>0.13658336813207989</c:v>
                </c:pt>
                <c:pt idx="223">
                  <c:v>0.13028768264490498</c:v>
                </c:pt>
                <c:pt idx="224">
                  <c:v>0.13073612185327702</c:v>
                </c:pt>
                <c:pt idx="225">
                  <c:v>0.1320946853371513</c:v>
                </c:pt>
                <c:pt idx="226">
                  <c:v>0.13297982476218614</c:v>
                </c:pt>
                <c:pt idx="227">
                  <c:v>0.13615766229420187</c:v>
                </c:pt>
                <c:pt idx="228">
                  <c:v>0.13809517601366297</c:v>
                </c:pt>
                <c:pt idx="229">
                  <c:v>0.13564241740290245</c:v>
                </c:pt>
                <c:pt idx="230">
                  <c:v>0.13377168564702346</c:v>
                </c:pt>
                <c:pt idx="231">
                  <c:v>0.13490381683173638</c:v>
                </c:pt>
                <c:pt idx="232">
                  <c:v>0.13338418311152098</c:v>
                </c:pt>
                <c:pt idx="233">
                  <c:v>0.13425168458139244</c:v>
                </c:pt>
                <c:pt idx="234">
                  <c:v>0.13989551967620251</c:v>
                </c:pt>
                <c:pt idx="235">
                  <c:v>0.14045067558275762</c:v>
                </c:pt>
                <c:pt idx="236">
                  <c:v>0.13783841611543152</c:v>
                </c:pt>
                <c:pt idx="237">
                  <c:v>0.14081620638996559</c:v>
                </c:pt>
                <c:pt idx="238">
                  <c:v>0.13881410685157672</c:v>
                </c:pt>
                <c:pt idx="239">
                  <c:v>0.14185401014927967</c:v>
                </c:pt>
                <c:pt idx="240">
                  <c:v>0.14942563115919572</c:v>
                </c:pt>
                <c:pt idx="241">
                  <c:v>0.14296845683784223</c:v>
                </c:pt>
                <c:pt idx="242">
                  <c:v>0.14502577791424076</c:v>
                </c:pt>
                <c:pt idx="243">
                  <c:v>0.13974085318598897</c:v>
                </c:pt>
                <c:pt idx="244">
                  <c:v>0.1339802042953355</c:v>
                </c:pt>
                <c:pt idx="245">
                  <c:v>0.13303237446265459</c:v>
                </c:pt>
                <c:pt idx="246">
                  <c:v>0.12946742884166312</c:v>
                </c:pt>
                <c:pt idx="247">
                  <c:v>0.13012013693054392</c:v>
                </c:pt>
                <c:pt idx="248">
                  <c:v>0.12892116536745912</c:v>
                </c:pt>
                <c:pt idx="249">
                  <c:v>0.12942494384969327</c:v>
                </c:pt>
                <c:pt idx="250">
                  <c:v>0.12869683831212225</c:v>
                </c:pt>
                <c:pt idx="251">
                  <c:v>0.13248008135192094</c:v>
                </c:pt>
                <c:pt idx="252">
                  <c:v>0.13540144736329218</c:v>
                </c:pt>
                <c:pt idx="253">
                  <c:v>0.13131230235275718</c:v>
                </c:pt>
                <c:pt idx="254">
                  <c:v>0.13064708281790854</c:v>
                </c:pt>
                <c:pt idx="255">
                  <c:v>0.13395148163228102</c:v>
                </c:pt>
                <c:pt idx="256">
                  <c:v>0.13557626060148803</c:v>
                </c:pt>
                <c:pt idx="257">
                  <c:v>0.13193773149896781</c:v>
                </c:pt>
                <c:pt idx="258">
                  <c:v>0.13275620379931632</c:v>
                </c:pt>
                <c:pt idx="259">
                  <c:v>0.1278929144465773</c:v>
                </c:pt>
                <c:pt idx="260">
                  <c:v>0.12467499875077401</c:v>
                </c:pt>
                <c:pt idx="261">
                  <c:v>0.12666040292957725</c:v>
                </c:pt>
                <c:pt idx="262">
                  <c:v>0.13525880935248796</c:v>
                </c:pt>
                <c:pt idx="263">
                  <c:v>0.13682751214190206</c:v>
                </c:pt>
                <c:pt idx="264">
                  <c:v>0.13926024425842964</c:v>
                </c:pt>
                <c:pt idx="265">
                  <c:v>0.13772607567059875</c:v>
                </c:pt>
                <c:pt idx="266">
                  <c:v>0.13249897713921807</c:v>
                </c:pt>
                <c:pt idx="267">
                  <c:v>0.139207872204483</c:v>
                </c:pt>
                <c:pt idx="268">
                  <c:v>0.13918443408708625</c:v>
                </c:pt>
                <c:pt idx="269">
                  <c:v>0.14199043102892672</c:v>
                </c:pt>
                <c:pt idx="270">
                  <c:v>0.14482615004625837</c:v>
                </c:pt>
                <c:pt idx="271">
                  <c:v>0.13776619346752181</c:v>
                </c:pt>
                <c:pt idx="272">
                  <c:v>0.14284079345556944</c:v>
                </c:pt>
                <c:pt idx="273">
                  <c:v>0.14073108977663562</c:v>
                </c:pt>
                <c:pt idx="274">
                  <c:v>0.14801849071654694</c:v>
                </c:pt>
                <c:pt idx="275">
                  <c:v>0.14828032235701075</c:v>
                </c:pt>
                <c:pt idx="276">
                  <c:v>0.14729909985528145</c:v>
                </c:pt>
                <c:pt idx="277">
                  <c:v>0.13669655245648232</c:v>
                </c:pt>
                <c:pt idx="278">
                  <c:v>0.13813337671665285</c:v>
                </c:pt>
                <c:pt idx="279">
                  <c:v>0.13373740342622353</c:v>
                </c:pt>
                <c:pt idx="280">
                  <c:v>0.13061674331667247</c:v>
                </c:pt>
                <c:pt idx="281">
                  <c:v>0.13161510326168488</c:v>
                </c:pt>
                <c:pt idx="282">
                  <c:v>0.13027965223736573</c:v>
                </c:pt>
                <c:pt idx="283">
                  <c:v>0.12575432542875026</c:v>
                </c:pt>
                <c:pt idx="284">
                  <c:v>0.12383981404854998</c:v>
                </c:pt>
                <c:pt idx="285">
                  <c:v>0.12262956288205433</c:v>
                </c:pt>
                <c:pt idx="286">
                  <c:v>0.12495189653780565</c:v>
                </c:pt>
                <c:pt idx="287">
                  <c:v>0.12674157445745457</c:v>
                </c:pt>
                <c:pt idx="288">
                  <c:v>0.12633673963869638</c:v>
                </c:pt>
                <c:pt idx="289">
                  <c:v>0.12626209082447445</c:v>
                </c:pt>
                <c:pt idx="290">
                  <c:v>0.12143142431166315</c:v>
                </c:pt>
                <c:pt idx="291">
                  <c:v>0.12454929260193565</c:v>
                </c:pt>
                <c:pt idx="292">
                  <c:v>0.12073809084000875</c:v>
                </c:pt>
                <c:pt idx="293">
                  <c:v>0.12462124138239346</c:v>
                </c:pt>
                <c:pt idx="294">
                  <c:v>0.12584240055693549</c:v>
                </c:pt>
                <c:pt idx="295">
                  <c:v>0.13531605111736211</c:v>
                </c:pt>
                <c:pt idx="296">
                  <c:v>0.14151785390297256</c:v>
                </c:pt>
                <c:pt idx="297">
                  <c:v>0.13643507909024977</c:v>
                </c:pt>
                <c:pt idx="298">
                  <c:v>0.14358470776568349</c:v>
                </c:pt>
                <c:pt idx="299">
                  <c:v>0.14969574767655408</c:v>
                </c:pt>
                <c:pt idx="300">
                  <c:v>0.14852332800783882</c:v>
                </c:pt>
                <c:pt idx="301">
                  <c:v>0.15781868758068865</c:v>
                </c:pt>
                <c:pt idx="302">
                  <c:v>0.15705043064680152</c:v>
                </c:pt>
                <c:pt idx="303">
                  <c:v>0.16404018737743745</c:v>
                </c:pt>
                <c:pt idx="304">
                  <c:v>0.15564388616459773</c:v>
                </c:pt>
                <c:pt idx="305">
                  <c:v>0.15042602016172485</c:v>
                </c:pt>
                <c:pt idx="306">
                  <c:v>0.14557291383742835</c:v>
                </c:pt>
                <c:pt idx="307">
                  <c:v>0.15005001662548623</c:v>
                </c:pt>
                <c:pt idx="308">
                  <c:v>0.14763802172755003</c:v>
                </c:pt>
                <c:pt idx="309">
                  <c:v>0.16085354243226854</c:v>
                </c:pt>
                <c:pt idx="310">
                  <c:v>0.17264024598095465</c:v>
                </c:pt>
                <c:pt idx="311">
                  <c:v>0.17591147936923429</c:v>
                </c:pt>
                <c:pt idx="312">
                  <c:v>0.18738179197373761</c:v>
                </c:pt>
                <c:pt idx="313">
                  <c:v>0.18576747055686474</c:v>
                </c:pt>
                <c:pt idx="314">
                  <c:v>0.1962254427832964</c:v>
                </c:pt>
                <c:pt idx="315">
                  <c:v>0.19959647640331041</c:v>
                </c:pt>
                <c:pt idx="316">
                  <c:v>0.20140963200057138</c:v>
                </c:pt>
                <c:pt idx="317">
                  <c:v>0.21026104473965679</c:v>
                </c:pt>
                <c:pt idx="318">
                  <c:v>0.20315413403332616</c:v>
                </c:pt>
                <c:pt idx="319">
                  <c:v>0.20001212970214921</c:v>
                </c:pt>
                <c:pt idx="320">
                  <c:v>0.20600043729501785</c:v>
                </c:pt>
                <c:pt idx="321">
                  <c:v>0.21129201272673065</c:v>
                </c:pt>
                <c:pt idx="322">
                  <c:v>0.20936725925711847</c:v>
                </c:pt>
                <c:pt idx="323">
                  <c:v>0.20189245611822701</c:v>
                </c:pt>
                <c:pt idx="324">
                  <c:v>0.20930064799953055</c:v>
                </c:pt>
                <c:pt idx="325">
                  <c:v>0.21464924471564945</c:v>
                </c:pt>
                <c:pt idx="326">
                  <c:v>0.21475152371386164</c:v>
                </c:pt>
                <c:pt idx="327">
                  <c:v>0.21013534681724058</c:v>
                </c:pt>
                <c:pt idx="328">
                  <c:v>0.21953553096285994</c:v>
                </c:pt>
                <c:pt idx="329">
                  <c:v>0.23632062262720283</c:v>
                </c:pt>
                <c:pt idx="330">
                  <c:v>0.23342965748311986</c:v>
                </c:pt>
                <c:pt idx="331">
                  <c:v>0.2236092163241738</c:v>
                </c:pt>
                <c:pt idx="332">
                  <c:v>0.23872435053105048</c:v>
                </c:pt>
              </c:numCache>
            </c:numRef>
          </c:val>
          <c:smooth val="0"/>
          <c:extLst>
            <c:ext xmlns:c16="http://schemas.microsoft.com/office/drawing/2014/chart" uri="{C3380CC4-5D6E-409C-BE32-E72D297353CC}">
              <c16:uniqueId val="{00000001-BE35-48FA-9D8F-03B49058246F}"/>
            </c:ext>
          </c:extLst>
        </c:ser>
        <c:dLbls>
          <c:showLegendKey val="0"/>
          <c:showVal val="0"/>
          <c:showCatName val="0"/>
          <c:showSerName val="0"/>
          <c:showPercent val="0"/>
          <c:showBubbleSize val="0"/>
        </c:dLbls>
        <c:smooth val="0"/>
        <c:axId val="337112496"/>
        <c:axId val="337112824"/>
      </c:lineChart>
      <c:dateAx>
        <c:axId val="337112496"/>
        <c:scaling>
          <c:orientation val="minMax"/>
        </c:scaling>
        <c:delete val="0"/>
        <c:axPos val="b"/>
        <c:numFmt formatCode="yyyy" sourceLinked="0"/>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crossAx val="337112824"/>
        <c:crosses val="autoZero"/>
        <c:auto val="1"/>
        <c:lblOffset val="100"/>
        <c:baseTimeUnit val="months"/>
        <c:majorUnit val="2"/>
        <c:majorTimeUnit val="years"/>
      </c:dateAx>
      <c:valAx>
        <c:axId val="337112824"/>
        <c:scaling>
          <c:orientation val="minMax"/>
        </c:scaling>
        <c:delete val="0"/>
        <c:axPos val="l"/>
        <c:majorGridlines>
          <c:spPr>
            <a:ln w="9525" cap="flat" cmpd="sng" algn="ctr">
              <a:solidFill>
                <a:schemeClr val="accent3"/>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crossAx val="337112496"/>
        <c:crosses val="autoZero"/>
        <c:crossBetween val="between"/>
      </c:valAx>
      <c:spPr>
        <a:noFill/>
        <a:ln>
          <a:noFill/>
        </a:ln>
        <a:effectLst/>
      </c:spPr>
    </c:plotArea>
    <c:plotVisOnly val="1"/>
    <c:dispBlanksAs val="gap"/>
    <c:showDLblsOverMax val="0"/>
  </c:chart>
  <c:spPr>
    <a:noFill/>
    <a:ln>
      <a:noFill/>
    </a:ln>
    <a:effectLst/>
  </c:spPr>
  <c:txPr>
    <a:bodyPr/>
    <a:lstStyle/>
    <a:p>
      <a:pPr>
        <a:defRPr sz="1800">
          <a:solidFill>
            <a:schemeClr val="tx1"/>
          </a:solidFill>
          <a:latin typeface="Roboto Condensed" panose="02000000000000000000" pitchFamily="2" charset="0"/>
          <a:ea typeface="Roboto Condensed" panose="02000000000000000000" pitchFamily="2"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148264137437366E-2"/>
          <c:y val="4.3895888013998248E-2"/>
          <c:w val="0.92579008589835365"/>
          <c:h val="0.84635870516185474"/>
        </c:manualLayout>
      </c:layout>
      <c:lineChart>
        <c:grouping val="standard"/>
        <c:varyColors val="0"/>
        <c:ser>
          <c:idx val="0"/>
          <c:order val="0"/>
          <c:tx>
            <c:strRef>
              <c:f>Sheet1!$E$1</c:f>
              <c:strCache>
                <c:ptCount val="1"/>
                <c:pt idx="0">
                  <c:v>China</c:v>
                </c:pt>
              </c:strCache>
            </c:strRef>
          </c:tx>
          <c:spPr>
            <a:ln w="38100" cap="rnd">
              <a:solidFill>
                <a:schemeClr val="bg2"/>
              </a:solidFill>
              <a:round/>
            </a:ln>
            <a:effectLst/>
          </c:spPr>
          <c:marker>
            <c:symbol val="none"/>
          </c:marker>
          <c:cat>
            <c:numRef>
              <c:f>Sheet1!$D$2:$D$82</c:f>
              <c:numCache>
                <c:formatCode>m/d/yy</c:formatCode>
                <c:ptCount val="81"/>
                <c:pt idx="0">
                  <c:v>25569</c:v>
                </c:pt>
                <c:pt idx="1">
                  <c:v>25934</c:v>
                </c:pt>
                <c:pt idx="2">
                  <c:v>26299</c:v>
                </c:pt>
                <c:pt idx="3">
                  <c:v>26665</c:v>
                </c:pt>
                <c:pt idx="4">
                  <c:v>27030</c:v>
                </c:pt>
                <c:pt idx="5">
                  <c:v>27395</c:v>
                </c:pt>
                <c:pt idx="6">
                  <c:v>27760</c:v>
                </c:pt>
                <c:pt idx="7">
                  <c:v>28126</c:v>
                </c:pt>
                <c:pt idx="8">
                  <c:v>28491</c:v>
                </c:pt>
                <c:pt idx="9">
                  <c:v>28856</c:v>
                </c:pt>
                <c:pt idx="10">
                  <c:v>29221</c:v>
                </c:pt>
                <c:pt idx="11">
                  <c:v>29587</c:v>
                </c:pt>
                <c:pt idx="12">
                  <c:v>29952</c:v>
                </c:pt>
                <c:pt idx="13">
                  <c:v>30317</c:v>
                </c:pt>
                <c:pt idx="14">
                  <c:v>30682</c:v>
                </c:pt>
                <c:pt idx="15">
                  <c:v>31048</c:v>
                </c:pt>
                <c:pt idx="16">
                  <c:v>31413</c:v>
                </c:pt>
                <c:pt idx="17">
                  <c:v>31778</c:v>
                </c:pt>
                <c:pt idx="18">
                  <c:v>32143</c:v>
                </c:pt>
                <c:pt idx="19">
                  <c:v>32509</c:v>
                </c:pt>
                <c:pt idx="20">
                  <c:v>32874</c:v>
                </c:pt>
                <c:pt idx="21">
                  <c:v>33239</c:v>
                </c:pt>
                <c:pt idx="22">
                  <c:v>33604</c:v>
                </c:pt>
                <c:pt idx="23">
                  <c:v>33970</c:v>
                </c:pt>
                <c:pt idx="24">
                  <c:v>34335</c:v>
                </c:pt>
                <c:pt idx="25">
                  <c:v>34700</c:v>
                </c:pt>
                <c:pt idx="26">
                  <c:v>35065</c:v>
                </c:pt>
                <c:pt idx="27">
                  <c:v>35431</c:v>
                </c:pt>
                <c:pt idx="28">
                  <c:v>35796</c:v>
                </c:pt>
                <c:pt idx="29">
                  <c:v>36161</c:v>
                </c:pt>
                <c:pt idx="30">
                  <c:v>36526</c:v>
                </c:pt>
                <c:pt idx="31">
                  <c:v>36892</c:v>
                </c:pt>
                <c:pt idx="32">
                  <c:v>37257</c:v>
                </c:pt>
                <c:pt idx="33">
                  <c:v>37622</c:v>
                </c:pt>
                <c:pt idx="34">
                  <c:v>37987</c:v>
                </c:pt>
                <c:pt idx="35">
                  <c:v>38353</c:v>
                </c:pt>
                <c:pt idx="36">
                  <c:v>38718</c:v>
                </c:pt>
                <c:pt idx="37">
                  <c:v>39083</c:v>
                </c:pt>
                <c:pt idx="38">
                  <c:v>39448</c:v>
                </c:pt>
                <c:pt idx="39">
                  <c:v>39814</c:v>
                </c:pt>
                <c:pt idx="40">
                  <c:v>40179</c:v>
                </c:pt>
                <c:pt idx="41">
                  <c:v>40544</c:v>
                </c:pt>
                <c:pt idx="42">
                  <c:v>40909</c:v>
                </c:pt>
                <c:pt idx="43">
                  <c:v>41275</c:v>
                </c:pt>
                <c:pt idx="44">
                  <c:v>41640</c:v>
                </c:pt>
                <c:pt idx="45">
                  <c:v>42005</c:v>
                </c:pt>
                <c:pt idx="46">
                  <c:v>42370</c:v>
                </c:pt>
                <c:pt idx="47">
                  <c:v>42736</c:v>
                </c:pt>
                <c:pt idx="48">
                  <c:v>43101</c:v>
                </c:pt>
                <c:pt idx="49">
                  <c:v>43466</c:v>
                </c:pt>
                <c:pt idx="50">
                  <c:v>43831</c:v>
                </c:pt>
                <c:pt idx="51">
                  <c:v>44197</c:v>
                </c:pt>
                <c:pt idx="52">
                  <c:v>44562</c:v>
                </c:pt>
                <c:pt idx="53">
                  <c:v>44927</c:v>
                </c:pt>
                <c:pt idx="54">
                  <c:v>45292</c:v>
                </c:pt>
                <c:pt idx="55">
                  <c:v>45658</c:v>
                </c:pt>
                <c:pt idx="56">
                  <c:v>46023</c:v>
                </c:pt>
                <c:pt idx="57">
                  <c:v>46388</c:v>
                </c:pt>
                <c:pt idx="58">
                  <c:v>46753</c:v>
                </c:pt>
                <c:pt idx="59">
                  <c:v>47119</c:v>
                </c:pt>
                <c:pt idx="60">
                  <c:v>47484</c:v>
                </c:pt>
                <c:pt idx="61">
                  <c:v>47849</c:v>
                </c:pt>
                <c:pt idx="62">
                  <c:v>48214</c:v>
                </c:pt>
                <c:pt idx="63">
                  <c:v>48580</c:v>
                </c:pt>
                <c:pt idx="64">
                  <c:v>48945</c:v>
                </c:pt>
                <c:pt idx="65">
                  <c:v>49310</c:v>
                </c:pt>
                <c:pt idx="66">
                  <c:v>49675</c:v>
                </c:pt>
                <c:pt idx="67">
                  <c:v>50041</c:v>
                </c:pt>
                <c:pt idx="68">
                  <c:v>50406</c:v>
                </c:pt>
                <c:pt idx="69">
                  <c:v>50771</c:v>
                </c:pt>
                <c:pt idx="70">
                  <c:v>51136</c:v>
                </c:pt>
                <c:pt idx="71">
                  <c:v>51502</c:v>
                </c:pt>
                <c:pt idx="72">
                  <c:v>51867</c:v>
                </c:pt>
                <c:pt idx="73">
                  <c:v>52232</c:v>
                </c:pt>
                <c:pt idx="74">
                  <c:v>52597</c:v>
                </c:pt>
                <c:pt idx="75">
                  <c:v>52963</c:v>
                </c:pt>
                <c:pt idx="76">
                  <c:v>53328</c:v>
                </c:pt>
                <c:pt idx="77">
                  <c:v>53693</c:v>
                </c:pt>
                <c:pt idx="78">
                  <c:v>54058</c:v>
                </c:pt>
                <c:pt idx="79">
                  <c:v>54424</c:v>
                </c:pt>
                <c:pt idx="80">
                  <c:v>54789</c:v>
                </c:pt>
              </c:numCache>
            </c:numRef>
          </c:cat>
          <c:val>
            <c:numRef>
              <c:f>Sheet1!$E$2:$E$82</c:f>
              <c:numCache>
                <c:formatCode>General</c:formatCode>
                <c:ptCount val="81"/>
                <c:pt idx="0">
                  <c:v>80.519996643066406</c:v>
                </c:pt>
                <c:pt idx="1">
                  <c:v>80.190002441406307</c:v>
                </c:pt>
                <c:pt idx="2">
                  <c:v>79.480003356933594</c:v>
                </c:pt>
                <c:pt idx="3">
                  <c:v>78.830001831054702</c:v>
                </c:pt>
                <c:pt idx="4">
                  <c:v>79.059997558593807</c:v>
                </c:pt>
                <c:pt idx="5">
                  <c:v>79.510002136230497</c:v>
                </c:pt>
                <c:pt idx="6">
                  <c:v>79.760002136230497</c:v>
                </c:pt>
                <c:pt idx="7">
                  <c:v>78.430000305175795</c:v>
                </c:pt>
                <c:pt idx="8">
                  <c:v>74.769996643066406</c:v>
                </c:pt>
                <c:pt idx="9">
                  <c:v>71.059997558593807</c:v>
                </c:pt>
                <c:pt idx="10">
                  <c:v>68.110000610351605</c:v>
                </c:pt>
                <c:pt idx="11">
                  <c:v>65.529998779296903</c:v>
                </c:pt>
                <c:pt idx="12">
                  <c:v>63.580001831054702</c:v>
                </c:pt>
                <c:pt idx="13">
                  <c:v>61.380001068115199</c:v>
                </c:pt>
                <c:pt idx="14">
                  <c:v>58.810001373291001</c:v>
                </c:pt>
                <c:pt idx="15">
                  <c:v>56.580001831054702</c:v>
                </c:pt>
                <c:pt idx="16">
                  <c:v>54.790000915527301</c:v>
                </c:pt>
                <c:pt idx="17">
                  <c:v>53.590000152587898</c:v>
                </c:pt>
                <c:pt idx="18">
                  <c:v>52.639999389648402</c:v>
                </c:pt>
                <c:pt idx="19">
                  <c:v>52.009998321533203</c:v>
                </c:pt>
                <c:pt idx="20">
                  <c:v>51.930000305175803</c:v>
                </c:pt>
                <c:pt idx="21">
                  <c:v>51.860000610351598</c:v>
                </c:pt>
                <c:pt idx="22">
                  <c:v>51.599998474121101</c:v>
                </c:pt>
                <c:pt idx="23">
                  <c:v>51.400001525878899</c:v>
                </c:pt>
                <c:pt idx="24">
                  <c:v>51.009998321533203</c:v>
                </c:pt>
                <c:pt idx="25">
                  <c:v>50.419998168945298</c:v>
                </c:pt>
                <c:pt idx="26">
                  <c:v>49.639999389648402</c:v>
                </c:pt>
                <c:pt idx="27">
                  <c:v>48.580001831054702</c:v>
                </c:pt>
                <c:pt idx="28">
                  <c:v>47.630001068115199</c:v>
                </c:pt>
                <c:pt idx="29">
                  <c:v>46.830001831054702</c:v>
                </c:pt>
                <c:pt idx="30">
                  <c:v>45.889999389648402</c:v>
                </c:pt>
                <c:pt idx="31">
                  <c:v>44.7299995422363</c:v>
                </c:pt>
                <c:pt idx="32">
                  <c:v>43.279998779296903</c:v>
                </c:pt>
                <c:pt idx="33">
                  <c:v>41.840000152587898</c:v>
                </c:pt>
                <c:pt idx="34">
                  <c:v>40.459999084472699</c:v>
                </c:pt>
                <c:pt idx="35">
                  <c:v>39.029998779296903</c:v>
                </c:pt>
                <c:pt idx="36">
                  <c:v>38.009998321533203</c:v>
                </c:pt>
                <c:pt idx="37">
                  <c:v>37.509998321533203</c:v>
                </c:pt>
                <c:pt idx="38">
                  <c:v>37.220001220703097</c:v>
                </c:pt>
                <c:pt idx="39">
                  <c:v>37.099998474121101</c:v>
                </c:pt>
                <c:pt idx="40">
                  <c:v>37.119998931884801</c:v>
                </c:pt>
                <c:pt idx="41">
                  <c:v>37.2700004577637</c:v>
                </c:pt>
                <c:pt idx="42">
                  <c:v>37.659999847412102</c:v>
                </c:pt>
                <c:pt idx="43">
                  <c:v>38.209999084472699</c:v>
                </c:pt>
                <c:pt idx="44">
                  <c:v>38.880001068115199</c:v>
                </c:pt>
                <c:pt idx="45">
                  <c:v>39.619998931884801</c:v>
                </c:pt>
                <c:pt idx="46">
                  <c:v>40.459999084472699</c:v>
                </c:pt>
                <c:pt idx="47">
                  <c:v>41.540000915527301</c:v>
                </c:pt>
                <c:pt idx="48">
                  <c:v>42.590000152587898</c:v>
                </c:pt>
                <c:pt idx="49">
                  <c:v>43.439998626708999</c:v>
                </c:pt>
                <c:pt idx="50">
                  <c:v>44.139999389648402</c:v>
                </c:pt>
                <c:pt idx="51">
                  <c:v>44.549999237060597</c:v>
                </c:pt>
                <c:pt idx="52">
                  <c:v>44.860000610351598</c:v>
                </c:pt>
                <c:pt idx="53">
                  <c:v>45.040000915527301</c:v>
                </c:pt>
                <c:pt idx="54">
                  <c:v>44.7700004577637</c:v>
                </c:pt>
                <c:pt idx="55">
                  <c:v>44.25</c:v>
                </c:pt>
                <c:pt idx="56">
                  <c:v>43.669998168945298</c:v>
                </c:pt>
                <c:pt idx="57">
                  <c:v>43.450000762939503</c:v>
                </c:pt>
                <c:pt idx="58">
                  <c:v>44.060001373291001</c:v>
                </c:pt>
                <c:pt idx="59">
                  <c:v>44.869998931884801</c:v>
                </c:pt>
                <c:pt idx="60">
                  <c:v>45.569999694824197</c:v>
                </c:pt>
                <c:pt idx="61">
                  <c:v>46.25</c:v>
                </c:pt>
                <c:pt idx="62">
                  <c:v>46.720001220703097</c:v>
                </c:pt>
                <c:pt idx="63">
                  <c:v>47.5200004577637</c:v>
                </c:pt>
                <c:pt idx="64">
                  <c:v>48.819999694824197</c:v>
                </c:pt>
                <c:pt idx="65">
                  <c:v>50.400001525878899</c:v>
                </c:pt>
                <c:pt idx="66">
                  <c:v>52.259998321533203</c:v>
                </c:pt>
                <c:pt idx="67">
                  <c:v>54.119998931884801</c:v>
                </c:pt>
                <c:pt idx="68">
                  <c:v>55.909999847412102</c:v>
                </c:pt>
                <c:pt idx="69">
                  <c:v>57.569999694824197</c:v>
                </c:pt>
                <c:pt idx="70">
                  <c:v>58.959999084472699</c:v>
                </c:pt>
                <c:pt idx="71">
                  <c:v>60.119998931884801</c:v>
                </c:pt>
                <c:pt idx="72">
                  <c:v>61.110000610351598</c:v>
                </c:pt>
                <c:pt idx="73">
                  <c:v>62</c:v>
                </c:pt>
                <c:pt idx="74">
                  <c:v>62.9799995422363</c:v>
                </c:pt>
                <c:pt idx="75">
                  <c:v>64.120002746582003</c:v>
                </c:pt>
                <c:pt idx="76">
                  <c:v>65.400001525878906</c:v>
                </c:pt>
                <c:pt idx="77">
                  <c:v>66.910003662109403</c:v>
                </c:pt>
                <c:pt idx="78">
                  <c:v>68.330001831054702</c:v>
                </c:pt>
                <c:pt idx="79">
                  <c:v>69.599998474121094</c:v>
                </c:pt>
                <c:pt idx="80">
                  <c:v>71.059997558593807</c:v>
                </c:pt>
              </c:numCache>
            </c:numRef>
          </c:val>
          <c:smooth val="0"/>
          <c:extLst>
            <c:ext xmlns:c16="http://schemas.microsoft.com/office/drawing/2014/chart" uri="{C3380CC4-5D6E-409C-BE32-E72D297353CC}">
              <c16:uniqueId val="{00000000-A843-8B43-A17F-5BCEE09B5174}"/>
            </c:ext>
          </c:extLst>
        </c:ser>
        <c:ser>
          <c:idx val="1"/>
          <c:order val="1"/>
          <c:tx>
            <c:strRef>
              <c:f>Sheet1!$F$1</c:f>
              <c:strCache>
                <c:ptCount val="1"/>
                <c:pt idx="0">
                  <c:v>India</c:v>
                </c:pt>
              </c:strCache>
            </c:strRef>
          </c:tx>
          <c:spPr>
            <a:ln w="38100" cap="rnd">
              <a:solidFill>
                <a:schemeClr val="accent1"/>
              </a:solidFill>
              <a:round/>
            </a:ln>
            <a:effectLst/>
          </c:spPr>
          <c:marker>
            <c:symbol val="none"/>
          </c:marker>
          <c:cat>
            <c:numRef>
              <c:f>Sheet1!$D$2:$D$82</c:f>
              <c:numCache>
                <c:formatCode>m/d/yy</c:formatCode>
                <c:ptCount val="81"/>
                <c:pt idx="0">
                  <c:v>25569</c:v>
                </c:pt>
                <c:pt idx="1">
                  <c:v>25934</c:v>
                </c:pt>
                <c:pt idx="2">
                  <c:v>26299</c:v>
                </c:pt>
                <c:pt idx="3">
                  <c:v>26665</c:v>
                </c:pt>
                <c:pt idx="4">
                  <c:v>27030</c:v>
                </c:pt>
                <c:pt idx="5">
                  <c:v>27395</c:v>
                </c:pt>
                <c:pt idx="6">
                  <c:v>27760</c:v>
                </c:pt>
                <c:pt idx="7">
                  <c:v>28126</c:v>
                </c:pt>
                <c:pt idx="8">
                  <c:v>28491</c:v>
                </c:pt>
                <c:pt idx="9">
                  <c:v>28856</c:v>
                </c:pt>
                <c:pt idx="10">
                  <c:v>29221</c:v>
                </c:pt>
                <c:pt idx="11">
                  <c:v>29587</c:v>
                </c:pt>
                <c:pt idx="12">
                  <c:v>29952</c:v>
                </c:pt>
                <c:pt idx="13">
                  <c:v>30317</c:v>
                </c:pt>
                <c:pt idx="14">
                  <c:v>30682</c:v>
                </c:pt>
                <c:pt idx="15">
                  <c:v>31048</c:v>
                </c:pt>
                <c:pt idx="16">
                  <c:v>31413</c:v>
                </c:pt>
                <c:pt idx="17">
                  <c:v>31778</c:v>
                </c:pt>
                <c:pt idx="18">
                  <c:v>32143</c:v>
                </c:pt>
                <c:pt idx="19">
                  <c:v>32509</c:v>
                </c:pt>
                <c:pt idx="20">
                  <c:v>32874</c:v>
                </c:pt>
                <c:pt idx="21">
                  <c:v>33239</c:v>
                </c:pt>
                <c:pt idx="22">
                  <c:v>33604</c:v>
                </c:pt>
                <c:pt idx="23">
                  <c:v>33970</c:v>
                </c:pt>
                <c:pt idx="24">
                  <c:v>34335</c:v>
                </c:pt>
                <c:pt idx="25">
                  <c:v>34700</c:v>
                </c:pt>
                <c:pt idx="26">
                  <c:v>35065</c:v>
                </c:pt>
                <c:pt idx="27">
                  <c:v>35431</c:v>
                </c:pt>
                <c:pt idx="28">
                  <c:v>35796</c:v>
                </c:pt>
                <c:pt idx="29">
                  <c:v>36161</c:v>
                </c:pt>
                <c:pt idx="30">
                  <c:v>36526</c:v>
                </c:pt>
                <c:pt idx="31">
                  <c:v>36892</c:v>
                </c:pt>
                <c:pt idx="32">
                  <c:v>37257</c:v>
                </c:pt>
                <c:pt idx="33">
                  <c:v>37622</c:v>
                </c:pt>
                <c:pt idx="34">
                  <c:v>37987</c:v>
                </c:pt>
                <c:pt idx="35">
                  <c:v>38353</c:v>
                </c:pt>
                <c:pt idx="36">
                  <c:v>38718</c:v>
                </c:pt>
                <c:pt idx="37">
                  <c:v>39083</c:v>
                </c:pt>
                <c:pt idx="38">
                  <c:v>39448</c:v>
                </c:pt>
                <c:pt idx="39">
                  <c:v>39814</c:v>
                </c:pt>
                <c:pt idx="40">
                  <c:v>40179</c:v>
                </c:pt>
                <c:pt idx="41">
                  <c:v>40544</c:v>
                </c:pt>
                <c:pt idx="42">
                  <c:v>40909</c:v>
                </c:pt>
                <c:pt idx="43">
                  <c:v>41275</c:v>
                </c:pt>
                <c:pt idx="44">
                  <c:v>41640</c:v>
                </c:pt>
                <c:pt idx="45">
                  <c:v>42005</c:v>
                </c:pt>
                <c:pt idx="46">
                  <c:v>42370</c:v>
                </c:pt>
                <c:pt idx="47">
                  <c:v>42736</c:v>
                </c:pt>
                <c:pt idx="48">
                  <c:v>43101</c:v>
                </c:pt>
                <c:pt idx="49">
                  <c:v>43466</c:v>
                </c:pt>
                <c:pt idx="50">
                  <c:v>43831</c:v>
                </c:pt>
                <c:pt idx="51">
                  <c:v>44197</c:v>
                </c:pt>
                <c:pt idx="52">
                  <c:v>44562</c:v>
                </c:pt>
                <c:pt idx="53">
                  <c:v>44927</c:v>
                </c:pt>
                <c:pt idx="54">
                  <c:v>45292</c:v>
                </c:pt>
                <c:pt idx="55">
                  <c:v>45658</c:v>
                </c:pt>
                <c:pt idx="56">
                  <c:v>46023</c:v>
                </c:pt>
                <c:pt idx="57">
                  <c:v>46388</c:v>
                </c:pt>
                <c:pt idx="58">
                  <c:v>46753</c:v>
                </c:pt>
                <c:pt idx="59">
                  <c:v>47119</c:v>
                </c:pt>
                <c:pt idx="60">
                  <c:v>47484</c:v>
                </c:pt>
                <c:pt idx="61">
                  <c:v>47849</c:v>
                </c:pt>
                <c:pt idx="62">
                  <c:v>48214</c:v>
                </c:pt>
                <c:pt idx="63">
                  <c:v>48580</c:v>
                </c:pt>
                <c:pt idx="64">
                  <c:v>48945</c:v>
                </c:pt>
                <c:pt idx="65">
                  <c:v>49310</c:v>
                </c:pt>
                <c:pt idx="66">
                  <c:v>49675</c:v>
                </c:pt>
                <c:pt idx="67">
                  <c:v>50041</c:v>
                </c:pt>
                <c:pt idx="68">
                  <c:v>50406</c:v>
                </c:pt>
                <c:pt idx="69">
                  <c:v>50771</c:v>
                </c:pt>
                <c:pt idx="70">
                  <c:v>51136</c:v>
                </c:pt>
                <c:pt idx="71">
                  <c:v>51502</c:v>
                </c:pt>
                <c:pt idx="72">
                  <c:v>51867</c:v>
                </c:pt>
                <c:pt idx="73">
                  <c:v>52232</c:v>
                </c:pt>
                <c:pt idx="74">
                  <c:v>52597</c:v>
                </c:pt>
                <c:pt idx="75">
                  <c:v>52963</c:v>
                </c:pt>
                <c:pt idx="76">
                  <c:v>53328</c:v>
                </c:pt>
                <c:pt idx="77">
                  <c:v>53693</c:v>
                </c:pt>
                <c:pt idx="78">
                  <c:v>54058</c:v>
                </c:pt>
                <c:pt idx="79">
                  <c:v>54424</c:v>
                </c:pt>
                <c:pt idx="80">
                  <c:v>54789</c:v>
                </c:pt>
              </c:numCache>
            </c:numRef>
          </c:cat>
          <c:val>
            <c:numRef>
              <c:f>Sheet1!$F$2:$F$82</c:f>
              <c:numCache>
                <c:formatCode>General</c:formatCode>
                <c:ptCount val="81"/>
                <c:pt idx="0">
                  <c:v>80.730003356933594</c:v>
                </c:pt>
                <c:pt idx="1">
                  <c:v>80.389999389648395</c:v>
                </c:pt>
                <c:pt idx="2">
                  <c:v>80.059997558593807</c:v>
                </c:pt>
                <c:pt idx="3">
                  <c:v>79.75</c:v>
                </c:pt>
                <c:pt idx="4">
                  <c:v>79.459999084472699</c:v>
                </c:pt>
                <c:pt idx="5">
                  <c:v>79.150001525878906</c:v>
                </c:pt>
                <c:pt idx="6">
                  <c:v>78.819999694824205</c:v>
                </c:pt>
                <c:pt idx="7">
                  <c:v>78.419998168945298</c:v>
                </c:pt>
                <c:pt idx="8">
                  <c:v>77.919998168945298</c:v>
                </c:pt>
                <c:pt idx="9">
                  <c:v>77.430000305175795</c:v>
                </c:pt>
                <c:pt idx="10">
                  <c:v>77</c:v>
                </c:pt>
                <c:pt idx="11">
                  <c:v>76.610000610351605</c:v>
                </c:pt>
                <c:pt idx="12">
                  <c:v>76.239997863769503</c:v>
                </c:pt>
                <c:pt idx="13">
                  <c:v>75.830001831054702</c:v>
                </c:pt>
                <c:pt idx="14">
                  <c:v>75.440002441406307</c:v>
                </c:pt>
                <c:pt idx="15">
                  <c:v>75.050003051757798</c:v>
                </c:pt>
                <c:pt idx="16">
                  <c:v>74.660003662109403</c:v>
                </c:pt>
                <c:pt idx="17">
                  <c:v>74.230003356933594</c:v>
                </c:pt>
                <c:pt idx="18">
                  <c:v>73.720001220703097</c:v>
                </c:pt>
                <c:pt idx="19">
                  <c:v>73.150001525878906</c:v>
                </c:pt>
                <c:pt idx="20">
                  <c:v>72.550003051757798</c:v>
                </c:pt>
                <c:pt idx="21">
                  <c:v>71.959999084472699</c:v>
                </c:pt>
                <c:pt idx="22">
                  <c:v>71.379997253417997</c:v>
                </c:pt>
                <c:pt idx="23">
                  <c:v>70.809997558593807</c:v>
                </c:pt>
                <c:pt idx="24">
                  <c:v>70.190002441406307</c:v>
                </c:pt>
                <c:pt idx="25">
                  <c:v>69.5</c:v>
                </c:pt>
                <c:pt idx="26">
                  <c:v>68.75</c:v>
                </c:pt>
                <c:pt idx="27">
                  <c:v>67.949996948242202</c:v>
                </c:pt>
                <c:pt idx="28">
                  <c:v>67.129997253417997</c:v>
                </c:pt>
                <c:pt idx="29">
                  <c:v>66.269996643066406</c:v>
                </c:pt>
                <c:pt idx="30">
                  <c:v>65.410003662109403</c:v>
                </c:pt>
                <c:pt idx="31">
                  <c:v>64.550003051757798</c:v>
                </c:pt>
                <c:pt idx="32">
                  <c:v>63.700000762939503</c:v>
                </c:pt>
                <c:pt idx="33">
                  <c:v>62.849998474121101</c:v>
                </c:pt>
                <c:pt idx="34">
                  <c:v>61.959999084472699</c:v>
                </c:pt>
                <c:pt idx="35">
                  <c:v>61.060001373291001</c:v>
                </c:pt>
                <c:pt idx="36">
                  <c:v>60.119998931884801</c:v>
                </c:pt>
                <c:pt idx="37">
                  <c:v>59.150001525878899</c:v>
                </c:pt>
                <c:pt idx="38">
                  <c:v>58.209999084472699</c:v>
                </c:pt>
                <c:pt idx="39">
                  <c:v>57.279998779296903</c:v>
                </c:pt>
                <c:pt idx="40">
                  <c:v>56.360000610351598</c:v>
                </c:pt>
                <c:pt idx="41">
                  <c:v>55.450000762939503</c:v>
                </c:pt>
                <c:pt idx="42">
                  <c:v>54.560001373291001</c:v>
                </c:pt>
                <c:pt idx="43">
                  <c:v>53.689998626708999</c:v>
                </c:pt>
                <c:pt idx="44">
                  <c:v>52.889999389648402</c:v>
                </c:pt>
                <c:pt idx="45">
                  <c:v>52.150001525878899</c:v>
                </c:pt>
                <c:pt idx="46">
                  <c:v>51.409999847412102</c:v>
                </c:pt>
                <c:pt idx="47">
                  <c:v>50.689998626708999</c:v>
                </c:pt>
                <c:pt idx="48">
                  <c:v>50.0200004577637</c:v>
                </c:pt>
                <c:pt idx="49">
                  <c:v>49.400001525878899</c:v>
                </c:pt>
                <c:pt idx="50">
                  <c:v>48.779998779296903</c:v>
                </c:pt>
                <c:pt idx="51">
                  <c:v>48.130001068115199</c:v>
                </c:pt>
                <c:pt idx="52">
                  <c:v>47.5</c:v>
                </c:pt>
                <c:pt idx="53">
                  <c:v>47</c:v>
                </c:pt>
                <c:pt idx="54">
                  <c:v>46.599998474121101</c:v>
                </c:pt>
                <c:pt idx="55">
                  <c:v>46.240001678466797</c:v>
                </c:pt>
                <c:pt idx="56">
                  <c:v>45.919998168945298</c:v>
                </c:pt>
                <c:pt idx="57">
                  <c:v>45.650001525878899</c:v>
                </c:pt>
                <c:pt idx="58">
                  <c:v>45.419998168945298</c:v>
                </c:pt>
                <c:pt idx="59">
                  <c:v>45.279998779296903</c:v>
                </c:pt>
                <c:pt idx="60">
                  <c:v>45.200000762939503</c:v>
                </c:pt>
                <c:pt idx="61">
                  <c:v>45.119998931884801</c:v>
                </c:pt>
                <c:pt idx="62">
                  <c:v>45.090000152587898</c:v>
                </c:pt>
                <c:pt idx="63">
                  <c:v>45.099998474121101</c:v>
                </c:pt>
                <c:pt idx="64">
                  <c:v>45.159999847412102</c:v>
                </c:pt>
                <c:pt idx="65">
                  <c:v>45.279998779296903</c:v>
                </c:pt>
                <c:pt idx="66">
                  <c:v>45.439998626708999</c:v>
                </c:pt>
                <c:pt idx="67">
                  <c:v>45.619998931884801</c:v>
                </c:pt>
                <c:pt idx="68">
                  <c:v>45.819999694824197</c:v>
                </c:pt>
                <c:pt idx="69">
                  <c:v>46.0200004577637</c:v>
                </c:pt>
                <c:pt idx="70">
                  <c:v>46.220001220703097</c:v>
                </c:pt>
                <c:pt idx="71">
                  <c:v>46.439998626708999</c:v>
                </c:pt>
                <c:pt idx="72">
                  <c:v>46.659999847412102</c:v>
                </c:pt>
                <c:pt idx="73">
                  <c:v>46.880001068115199</c:v>
                </c:pt>
                <c:pt idx="74">
                  <c:v>47.130001068115199</c:v>
                </c:pt>
                <c:pt idx="75">
                  <c:v>47.400001525878899</c:v>
                </c:pt>
                <c:pt idx="76">
                  <c:v>47.720001220703097</c:v>
                </c:pt>
                <c:pt idx="77">
                  <c:v>48.069999694824197</c:v>
                </c:pt>
                <c:pt idx="78">
                  <c:v>48.450000762939503</c:v>
                </c:pt>
                <c:pt idx="79">
                  <c:v>48.860000610351598</c:v>
                </c:pt>
                <c:pt idx="80">
                  <c:v>49.310001373291001</c:v>
                </c:pt>
              </c:numCache>
            </c:numRef>
          </c:val>
          <c:smooth val="0"/>
          <c:extLst>
            <c:ext xmlns:c16="http://schemas.microsoft.com/office/drawing/2014/chart" uri="{C3380CC4-5D6E-409C-BE32-E72D297353CC}">
              <c16:uniqueId val="{00000001-A843-8B43-A17F-5BCEE09B5174}"/>
            </c:ext>
          </c:extLst>
        </c:ser>
        <c:dLbls>
          <c:showLegendKey val="0"/>
          <c:showVal val="0"/>
          <c:showCatName val="0"/>
          <c:showSerName val="0"/>
          <c:showPercent val="0"/>
          <c:showBubbleSize val="0"/>
        </c:dLbls>
        <c:smooth val="0"/>
        <c:axId val="2096023551"/>
        <c:axId val="2095627103"/>
      </c:lineChart>
      <c:dateAx>
        <c:axId val="2096023551"/>
        <c:scaling>
          <c:orientation val="minMax"/>
        </c:scaling>
        <c:delete val="0"/>
        <c:axPos val="b"/>
        <c:numFmt formatCode="yyyy" sourceLinked="0"/>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crossAx val="2095627103"/>
        <c:crosses val="autoZero"/>
        <c:auto val="1"/>
        <c:lblOffset val="100"/>
        <c:baseTimeUnit val="years"/>
        <c:majorUnit val="5"/>
        <c:majorTimeUnit val="years"/>
      </c:dateAx>
      <c:valAx>
        <c:axId val="20956271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crossAx val="209602355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solidFill>
            <a:schemeClr val="tx1"/>
          </a:solidFill>
          <a:latin typeface="Roboto Condensed" panose="02000000000000000000" pitchFamily="2" charset="0"/>
          <a:ea typeface="Roboto Condensed" panose="02000000000000000000" pitchFamily="2"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'Concentration and liquidity'!$B$1</c:f>
              <c:strCache>
                <c:ptCount val="1"/>
                <c:pt idx="0">
                  <c:v>MSCI</c:v>
                </c:pt>
              </c:strCache>
            </c:strRef>
          </c:tx>
          <c:spPr>
            <a:solidFill>
              <a:schemeClr val="accent1"/>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'Concentration and liquidity'!$A$2:$A$4</c:f>
              <c:strCache>
                <c:ptCount val="3"/>
                <c:pt idx="0">
                  <c:v>Stock Concentration (HHI)</c:v>
                </c:pt>
                <c:pt idx="1">
                  <c:v>Sector Concentration (HHI)</c:v>
                </c:pt>
                <c:pt idx="2">
                  <c:v>Country Concentration (HHI)</c:v>
                </c:pt>
              </c:strCache>
            </c:strRef>
          </c:cat>
          <c:val>
            <c:numRef>
              <c:f>'Concentration and liquidity'!$B$2:$B$4</c:f>
              <c:numCache>
                <c:formatCode>0.0%</c:formatCode>
                <c:ptCount val="3"/>
                <c:pt idx="0">
                  <c:v>8.6813275834050265E-3</c:v>
                </c:pt>
                <c:pt idx="1">
                  <c:v>0.1340868873912387</c:v>
                </c:pt>
                <c:pt idx="2">
                  <c:v>0.15938859079300996</c:v>
                </c:pt>
              </c:numCache>
            </c:numRef>
          </c:val>
          <c:extLst>
            <c:ext xmlns:c16="http://schemas.microsoft.com/office/drawing/2014/chart" uri="{C3380CC4-5D6E-409C-BE32-E72D297353CC}">
              <c16:uniqueId val="{00000000-9ED8-5143-854D-FA82AA7EC55D}"/>
            </c:ext>
          </c:extLst>
        </c:ser>
        <c:ser>
          <c:idx val="1"/>
          <c:order val="1"/>
          <c:tx>
            <c:strRef>
              <c:f>'Concentration and liquidity'!$C$1</c:f>
              <c:strCache>
                <c:ptCount val="1"/>
                <c:pt idx="0">
                  <c:v>New Normal</c:v>
                </c:pt>
              </c:strCache>
            </c:strRef>
          </c:tx>
          <c:spPr>
            <a:solidFill>
              <a:schemeClr val="tx2"/>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'Concentration and liquidity'!$A$2:$A$4</c:f>
              <c:strCache>
                <c:ptCount val="3"/>
                <c:pt idx="0">
                  <c:v>Stock Concentration (HHI)</c:v>
                </c:pt>
                <c:pt idx="1">
                  <c:v>Sector Concentration (HHI)</c:v>
                </c:pt>
                <c:pt idx="2">
                  <c:v>Country Concentration (HHI)</c:v>
                </c:pt>
              </c:strCache>
            </c:strRef>
          </c:cat>
          <c:val>
            <c:numRef>
              <c:f>'Concentration and liquidity'!$C$2:$C$4</c:f>
              <c:numCache>
                <c:formatCode>0.0%</c:formatCode>
                <c:ptCount val="3"/>
                <c:pt idx="0">
                  <c:v>7.3006624453590815E-3</c:v>
                </c:pt>
                <c:pt idx="1">
                  <c:v>0.14722640713466162</c:v>
                </c:pt>
                <c:pt idx="2">
                  <c:v>6.9609901242196209E-2</c:v>
                </c:pt>
              </c:numCache>
            </c:numRef>
          </c:val>
          <c:extLst>
            <c:ext xmlns:c16="http://schemas.microsoft.com/office/drawing/2014/chart" uri="{C3380CC4-5D6E-409C-BE32-E72D297353CC}">
              <c16:uniqueId val="{00000001-9ED8-5143-854D-FA82AA7EC55D}"/>
            </c:ext>
          </c:extLst>
        </c:ser>
        <c:dLbls>
          <c:showLegendKey val="0"/>
          <c:showVal val="0"/>
          <c:showCatName val="0"/>
          <c:showSerName val="0"/>
          <c:showPercent val="0"/>
          <c:showBubbleSize val="0"/>
        </c:dLbls>
        <c:gapWidth val="90"/>
        <c:axId val="2116079887"/>
        <c:axId val="2116438447"/>
      </c:barChart>
      <c:catAx>
        <c:axId val="2116079887"/>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crossAx val="2116438447"/>
        <c:crosses val="autoZero"/>
        <c:auto val="1"/>
        <c:lblAlgn val="ctr"/>
        <c:lblOffset val="100"/>
        <c:noMultiLvlLbl val="0"/>
      </c:catAx>
      <c:valAx>
        <c:axId val="2116438447"/>
        <c:scaling>
          <c:orientation val="minMax"/>
        </c:scaling>
        <c:delete val="0"/>
        <c:axPos val="l"/>
        <c:majorGridlines>
          <c:spPr>
            <a:ln w="9525" cap="flat" cmpd="sng" algn="ctr">
              <a:solidFill>
                <a:schemeClr val="accent3"/>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crossAx val="21160798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solidFill>
            <a:schemeClr val="tx1"/>
          </a:solidFill>
          <a:latin typeface="Roboto Condensed" panose="02000000000000000000" pitchFamily="2" charset="0"/>
          <a:ea typeface="Roboto Condensed" panose="02000000000000000000" pitchFamily="2"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061023622047245E-2"/>
          <c:y val="4.3895888013998248E-2"/>
          <c:w val="0.9030500874890639"/>
          <c:h val="0.73416732283464559"/>
        </c:manualLayout>
      </c:layout>
      <c:barChart>
        <c:barDir val="col"/>
        <c:grouping val="clustered"/>
        <c:varyColors val="0"/>
        <c:ser>
          <c:idx val="0"/>
          <c:order val="0"/>
          <c:tx>
            <c:strRef>
              <c:f>'Master Sheet'!$A$13</c:f>
              <c:strCache>
                <c:ptCount val="1"/>
                <c:pt idx="0">
                  <c:v>Market Cap</c:v>
                </c:pt>
              </c:strCache>
            </c:strRef>
          </c:tx>
          <c:spPr>
            <a:solidFill>
              <a:schemeClr val="accent1"/>
            </a:solidFill>
            <a:ln>
              <a:solidFill>
                <a:schemeClr val="bg1"/>
              </a:solidFill>
            </a:ln>
            <a:effectLst/>
          </c:spPr>
          <c:invertIfNegative val="0"/>
          <c:cat>
            <c:strRef>
              <c:f>'Master Sheet'!$B$2:$I$2</c:f>
              <c:strCache>
                <c:ptCount val="8"/>
                <c:pt idx="0">
                  <c:v>Brazil</c:v>
                </c:pt>
                <c:pt idx="1">
                  <c:v>China</c:v>
                </c:pt>
                <c:pt idx="2">
                  <c:v>India</c:v>
                </c:pt>
                <c:pt idx="3">
                  <c:v>Indonesia</c:v>
                </c:pt>
                <c:pt idx="4">
                  <c:v>Mexico</c:v>
                </c:pt>
                <c:pt idx="5">
                  <c:v>Poland</c:v>
                </c:pt>
                <c:pt idx="6">
                  <c:v>Taiwan</c:v>
                </c:pt>
                <c:pt idx="7">
                  <c:v>Vietnam</c:v>
                </c:pt>
              </c:strCache>
            </c:strRef>
          </c:cat>
          <c:val>
            <c:numRef>
              <c:f>'Master Sheet'!$B$13:$I$13</c:f>
              <c:numCache>
                <c:formatCode>0.0%</c:formatCode>
                <c:ptCount val="8"/>
                <c:pt idx="0">
                  <c:v>3.5268023840489146E-2</c:v>
                </c:pt>
                <c:pt idx="1">
                  <c:v>0.41710893196917237</c:v>
                </c:pt>
                <c:pt idx="2">
                  <c:v>0.13103363481124436</c:v>
                </c:pt>
                <c:pt idx="3">
                  <c:v>2.5514146281178735E-2</c:v>
                </c:pt>
                <c:pt idx="4">
                  <c:v>1.6673245622591384E-2</c:v>
                </c:pt>
                <c:pt idx="5">
                  <c:v>6.0732515198877917E-3</c:v>
                </c:pt>
                <c:pt idx="6">
                  <c:v>7.7012232535718136E-2</c:v>
                </c:pt>
                <c:pt idx="7">
                  <c:v>1.1495914211416283E-2</c:v>
                </c:pt>
              </c:numCache>
            </c:numRef>
          </c:val>
          <c:extLst>
            <c:ext xmlns:c16="http://schemas.microsoft.com/office/drawing/2014/chart" uri="{C3380CC4-5D6E-409C-BE32-E72D297353CC}">
              <c16:uniqueId val="{00000000-FA8A-4421-9E41-D9375F4EA79A}"/>
            </c:ext>
          </c:extLst>
        </c:ser>
        <c:ser>
          <c:idx val="1"/>
          <c:order val="1"/>
          <c:tx>
            <c:strRef>
              <c:f>'Master Sheet'!$A$14</c:f>
              <c:strCache>
                <c:ptCount val="1"/>
                <c:pt idx="0">
                  <c:v>Final Weight (Final Score x Sqrt MCAP)</c:v>
                </c:pt>
              </c:strCache>
            </c:strRef>
          </c:tx>
          <c:spPr>
            <a:solidFill>
              <a:schemeClr val="tx2"/>
            </a:solidFill>
            <a:ln>
              <a:solidFill>
                <a:schemeClr val="bg1"/>
              </a:solidFill>
            </a:ln>
            <a:effectLst/>
          </c:spPr>
          <c:invertIfNegative val="0"/>
          <c:cat>
            <c:strRef>
              <c:f>'Master Sheet'!$B$2:$I$2</c:f>
              <c:strCache>
                <c:ptCount val="8"/>
                <c:pt idx="0">
                  <c:v>Brazil</c:v>
                </c:pt>
                <c:pt idx="1">
                  <c:v>China</c:v>
                </c:pt>
                <c:pt idx="2">
                  <c:v>India</c:v>
                </c:pt>
                <c:pt idx="3">
                  <c:v>Indonesia</c:v>
                </c:pt>
                <c:pt idx="4">
                  <c:v>Mexico</c:v>
                </c:pt>
                <c:pt idx="5">
                  <c:v>Poland</c:v>
                </c:pt>
                <c:pt idx="6">
                  <c:v>Taiwan</c:v>
                </c:pt>
                <c:pt idx="7">
                  <c:v>Vietnam</c:v>
                </c:pt>
              </c:strCache>
            </c:strRef>
          </c:cat>
          <c:val>
            <c:numRef>
              <c:f>'Master Sheet'!$B$14:$I$14</c:f>
              <c:numCache>
                <c:formatCode>0.0%</c:formatCode>
                <c:ptCount val="8"/>
                <c:pt idx="0">
                  <c:v>3.2537833093613062E-3</c:v>
                </c:pt>
                <c:pt idx="1">
                  <c:v>0.10262656601566883</c:v>
                </c:pt>
                <c:pt idx="2">
                  <c:v>9.5868337482528834E-2</c:v>
                </c:pt>
                <c:pt idx="3">
                  <c:v>7.9071602491391307E-2</c:v>
                </c:pt>
                <c:pt idx="4">
                  <c:v>6.1619352128253556E-2</c:v>
                </c:pt>
                <c:pt idx="5">
                  <c:v>2.2028085925485899E-2</c:v>
                </c:pt>
                <c:pt idx="6">
                  <c:v>0.11773096357455755</c:v>
                </c:pt>
                <c:pt idx="7">
                  <c:v>4.9254935329261583E-2</c:v>
                </c:pt>
              </c:numCache>
            </c:numRef>
          </c:val>
          <c:extLst>
            <c:ext xmlns:c16="http://schemas.microsoft.com/office/drawing/2014/chart" uri="{C3380CC4-5D6E-409C-BE32-E72D297353CC}">
              <c16:uniqueId val="{00000001-FA8A-4421-9E41-D9375F4EA79A}"/>
            </c:ext>
          </c:extLst>
        </c:ser>
        <c:dLbls>
          <c:showLegendKey val="0"/>
          <c:showVal val="0"/>
          <c:showCatName val="0"/>
          <c:showSerName val="0"/>
          <c:showPercent val="0"/>
          <c:showBubbleSize val="0"/>
        </c:dLbls>
        <c:gapWidth val="90"/>
        <c:axId val="2115449375"/>
        <c:axId val="2115861007"/>
      </c:barChart>
      <c:catAx>
        <c:axId val="2115449375"/>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crossAx val="2115861007"/>
        <c:crosses val="autoZero"/>
        <c:auto val="1"/>
        <c:lblAlgn val="ctr"/>
        <c:lblOffset val="100"/>
        <c:noMultiLvlLbl val="0"/>
      </c:catAx>
      <c:valAx>
        <c:axId val="2115861007"/>
        <c:scaling>
          <c:orientation val="minMax"/>
        </c:scaling>
        <c:delete val="0"/>
        <c:axPos val="l"/>
        <c:majorGridlines>
          <c:spPr>
            <a:ln w="9525" cap="flat" cmpd="sng" algn="ctr">
              <a:solidFill>
                <a:schemeClr val="accent3"/>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crossAx val="21154493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solidFill>
            <a:schemeClr val="tx1"/>
          </a:solidFill>
          <a:latin typeface="Roboto Condensed" panose="02000000000000000000" pitchFamily="2" charset="0"/>
          <a:ea typeface="Roboto Condensed" panose="02000000000000000000" pitchFamily="2"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5863954505686786E-2"/>
          <c:y val="4.3895888013998248E-2"/>
          <c:w val="0.92024715660542433"/>
          <c:h val="0.71946128608923876"/>
        </c:manualLayout>
      </c:layout>
      <c:barChart>
        <c:barDir val="col"/>
        <c:grouping val="clustered"/>
        <c:varyColors val="0"/>
        <c:ser>
          <c:idx val="0"/>
          <c:order val="0"/>
          <c:tx>
            <c:strRef>
              <c:f>Sector!$B$1</c:f>
              <c:strCache>
                <c:ptCount val="1"/>
                <c:pt idx="0">
                  <c:v>MSCI Index</c:v>
                </c:pt>
              </c:strCache>
            </c:strRef>
          </c:tx>
          <c:spPr>
            <a:solidFill>
              <a:schemeClr val="accent1"/>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Sector!$A$2:$A$12</c:f>
              <c:strCache>
                <c:ptCount val="11"/>
                <c:pt idx="0">
                  <c:v>IT</c:v>
                </c:pt>
                <c:pt idx="1">
                  <c:v>ComSrvcs</c:v>
                </c:pt>
                <c:pt idx="2">
                  <c:v>CDisc</c:v>
                </c:pt>
                <c:pt idx="3">
                  <c:v>Energy</c:v>
                </c:pt>
                <c:pt idx="4">
                  <c:v>Matls</c:v>
                </c:pt>
                <c:pt idx="5">
                  <c:v>Fins</c:v>
                </c:pt>
                <c:pt idx="6">
                  <c:v>CStpls</c:v>
                </c:pt>
                <c:pt idx="7">
                  <c:v>HCare</c:v>
                </c:pt>
                <c:pt idx="8">
                  <c:v>Indstr</c:v>
                </c:pt>
                <c:pt idx="9">
                  <c:v>RealEstate</c:v>
                </c:pt>
                <c:pt idx="10">
                  <c:v>Utils</c:v>
                </c:pt>
              </c:strCache>
            </c:strRef>
          </c:cat>
          <c:val>
            <c:numRef>
              <c:f>Sector!$B$2:$B$12</c:f>
              <c:numCache>
                <c:formatCode>0%</c:formatCode>
                <c:ptCount val="11"/>
                <c:pt idx="0">
                  <c:v>0.18162802009669099</c:v>
                </c:pt>
                <c:pt idx="1">
                  <c:v>9.6448285375855536E-2</c:v>
                </c:pt>
                <c:pt idx="2">
                  <c:v>0.13892877986681645</c:v>
                </c:pt>
                <c:pt idx="3">
                  <c:v>5.2960921670414156E-2</c:v>
                </c:pt>
                <c:pt idx="4">
                  <c:v>8.7519208943934251E-2</c:v>
                </c:pt>
                <c:pt idx="5">
                  <c:v>0.22659545747882659</c:v>
                </c:pt>
                <c:pt idx="6">
                  <c:v>6.6749825483495048E-2</c:v>
                </c:pt>
                <c:pt idx="7">
                  <c:v>3.8924799448718621E-2</c:v>
                </c:pt>
                <c:pt idx="8">
                  <c:v>5.6942460016765527E-2</c:v>
                </c:pt>
                <c:pt idx="9">
                  <c:v>2.1600768166067798E-2</c:v>
                </c:pt>
                <c:pt idx="10">
                  <c:v>3.1701473452416126E-2</c:v>
                </c:pt>
              </c:numCache>
            </c:numRef>
          </c:val>
          <c:extLst>
            <c:ext xmlns:c16="http://schemas.microsoft.com/office/drawing/2014/chart" uri="{C3380CC4-5D6E-409C-BE32-E72D297353CC}">
              <c16:uniqueId val="{00000000-E808-9C47-A29D-4B0FF1D2D2B6}"/>
            </c:ext>
          </c:extLst>
        </c:ser>
        <c:ser>
          <c:idx val="1"/>
          <c:order val="1"/>
          <c:tx>
            <c:strRef>
              <c:f>Sector!$C$1</c:f>
              <c:strCache>
                <c:ptCount val="1"/>
                <c:pt idx="0">
                  <c:v>New Normal</c:v>
                </c:pt>
              </c:strCache>
            </c:strRef>
          </c:tx>
          <c:spPr>
            <a:solidFill>
              <a:schemeClr val="tx2"/>
            </a:solidFill>
            <a:ln>
              <a:solidFill>
                <a:schemeClr val="bg1"/>
              </a:solidFill>
            </a:ln>
            <a:effectLst/>
          </c:spPr>
          <c:invertIfNegative val="0"/>
          <c:dLbls>
            <c:dLbl>
              <c:idx val="0"/>
              <c:layout>
                <c:manualLayout>
                  <c:x val="6.313131313131313E-3"/>
                  <c:y val="-2.777777777777777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8EA-4048-9A5A-20B8FF7C8381}"/>
                </c:ext>
              </c:extLst>
            </c:dLbl>
            <c:dLbl>
              <c:idx val="1"/>
              <c:layout>
                <c:manualLayout>
                  <c:x val="1.2626262626262395E-3"/>
                  <c:y val="-2.777777777777879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8EA-4048-9A5A-20B8FF7C8381}"/>
                </c:ext>
              </c:extLst>
            </c:dLbl>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Sector!$A$2:$A$12</c:f>
              <c:strCache>
                <c:ptCount val="11"/>
                <c:pt idx="0">
                  <c:v>IT</c:v>
                </c:pt>
                <c:pt idx="1">
                  <c:v>ComSrvcs</c:v>
                </c:pt>
                <c:pt idx="2">
                  <c:v>CDisc</c:v>
                </c:pt>
                <c:pt idx="3">
                  <c:v>Energy</c:v>
                </c:pt>
                <c:pt idx="4">
                  <c:v>Matls</c:v>
                </c:pt>
                <c:pt idx="5">
                  <c:v>Fins</c:v>
                </c:pt>
                <c:pt idx="6">
                  <c:v>CStpls</c:v>
                </c:pt>
                <c:pt idx="7">
                  <c:v>HCare</c:v>
                </c:pt>
                <c:pt idx="8">
                  <c:v>Indstr</c:v>
                </c:pt>
                <c:pt idx="9">
                  <c:v>RealEstate</c:v>
                </c:pt>
                <c:pt idx="10">
                  <c:v>Utils</c:v>
                </c:pt>
              </c:strCache>
            </c:strRef>
          </c:cat>
          <c:val>
            <c:numRef>
              <c:f>Sector!$C$2:$C$12</c:f>
              <c:numCache>
                <c:formatCode>0%</c:formatCode>
                <c:ptCount val="11"/>
                <c:pt idx="0">
                  <c:v>0.14778138301234647</c:v>
                </c:pt>
                <c:pt idx="1">
                  <c:v>8.8181677752718735E-2</c:v>
                </c:pt>
                <c:pt idx="2">
                  <c:v>7.4503185087102894E-2</c:v>
                </c:pt>
                <c:pt idx="3">
                  <c:v>4.6814843026276427E-2</c:v>
                </c:pt>
                <c:pt idx="4">
                  <c:v>9.577633300805867E-2</c:v>
                </c:pt>
                <c:pt idx="5">
                  <c:v>0.29280952084754486</c:v>
                </c:pt>
                <c:pt idx="6">
                  <c:v>8.402517423331729E-2</c:v>
                </c:pt>
                <c:pt idx="7">
                  <c:v>2.9576892588618748E-2</c:v>
                </c:pt>
                <c:pt idx="8">
                  <c:v>6.3969305573929117E-2</c:v>
                </c:pt>
                <c:pt idx="9">
                  <c:v>3.8630970399323721E-2</c:v>
                </c:pt>
                <c:pt idx="10">
                  <c:v>3.7930722237467858E-2</c:v>
                </c:pt>
              </c:numCache>
            </c:numRef>
          </c:val>
          <c:extLst>
            <c:ext xmlns:c16="http://schemas.microsoft.com/office/drawing/2014/chart" uri="{C3380CC4-5D6E-409C-BE32-E72D297353CC}">
              <c16:uniqueId val="{00000001-E808-9C47-A29D-4B0FF1D2D2B6}"/>
            </c:ext>
          </c:extLst>
        </c:ser>
        <c:dLbls>
          <c:showLegendKey val="0"/>
          <c:showVal val="0"/>
          <c:showCatName val="0"/>
          <c:showSerName val="0"/>
          <c:showPercent val="0"/>
          <c:showBubbleSize val="0"/>
        </c:dLbls>
        <c:gapWidth val="90"/>
        <c:axId val="147248624"/>
        <c:axId val="147250272"/>
      </c:barChart>
      <c:catAx>
        <c:axId val="147248624"/>
        <c:scaling>
          <c:orientation val="minMax"/>
        </c:scaling>
        <c:delete val="0"/>
        <c:axPos val="b"/>
        <c:numFmt formatCode="General" sourceLinked="1"/>
        <c:majorTickMark val="none"/>
        <c:minorTickMark val="none"/>
        <c:tickLblPos val="none"/>
        <c:spPr>
          <a:noFill/>
          <a:ln w="9525" cap="flat" cmpd="sng" algn="ctr">
            <a:solidFill>
              <a:schemeClr val="accent1"/>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crossAx val="147250272"/>
        <c:crosses val="autoZero"/>
        <c:auto val="1"/>
        <c:lblAlgn val="ctr"/>
        <c:lblOffset val="100"/>
        <c:noMultiLvlLbl val="0"/>
      </c:catAx>
      <c:valAx>
        <c:axId val="147250272"/>
        <c:scaling>
          <c:orientation val="minMax"/>
        </c:scaling>
        <c:delete val="0"/>
        <c:axPos val="l"/>
        <c:majorGridlines>
          <c:spPr>
            <a:ln w="9525" cap="flat" cmpd="sng" algn="ctr">
              <a:solidFill>
                <a:schemeClr val="accent3"/>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crossAx val="147248624"/>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solidFill>
            <a:schemeClr val="tx1"/>
          </a:solidFill>
          <a:latin typeface="Roboto Condensed" panose="02000000000000000000" pitchFamily="2" charset="0"/>
          <a:ea typeface="Roboto Condensed" panose="02000000000000000000" pitchFamily="2"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797072304263383"/>
          <c:y val="5.7063287147607653E-2"/>
          <c:w val="0.8170082294570491"/>
          <c:h val="0.81411256376730434"/>
        </c:manualLayout>
      </c:layout>
      <c:lineChart>
        <c:grouping val="standard"/>
        <c:varyColors val="0"/>
        <c:ser>
          <c:idx val="0"/>
          <c:order val="0"/>
          <c:tx>
            <c:strRef>
              <c:f>HHI!$C$1</c:f>
              <c:strCache>
                <c:ptCount val="1"/>
                <c:pt idx="0">
                  <c:v>NEW EM</c:v>
                </c:pt>
              </c:strCache>
            </c:strRef>
          </c:tx>
          <c:spPr>
            <a:ln w="38100" cap="rnd">
              <a:solidFill>
                <a:schemeClr val="accent1"/>
              </a:solidFill>
              <a:round/>
            </a:ln>
            <a:effectLst/>
          </c:spPr>
          <c:marker>
            <c:symbol val="none"/>
          </c:marker>
          <c:cat>
            <c:numRef>
              <c:f>HHI!$A$2:$A$12</c:f>
              <c:numCache>
                <c:formatCode>General</c:formatCode>
                <c:ptCount val="11"/>
                <c:pt idx="0">
                  <c:v>2012</c:v>
                </c:pt>
                <c:pt idx="1">
                  <c:v>2013</c:v>
                </c:pt>
                <c:pt idx="2">
                  <c:v>2014</c:v>
                </c:pt>
                <c:pt idx="3">
                  <c:v>2015</c:v>
                </c:pt>
                <c:pt idx="4">
                  <c:v>2016</c:v>
                </c:pt>
                <c:pt idx="5">
                  <c:v>2017</c:v>
                </c:pt>
                <c:pt idx="6">
                  <c:v>2018</c:v>
                </c:pt>
                <c:pt idx="7">
                  <c:v>2019</c:v>
                </c:pt>
                <c:pt idx="8">
                  <c:v>2020</c:v>
                </c:pt>
                <c:pt idx="9">
                  <c:v>2021</c:v>
                </c:pt>
                <c:pt idx="10">
                  <c:v>2022</c:v>
                </c:pt>
              </c:numCache>
            </c:numRef>
          </c:cat>
          <c:val>
            <c:numRef>
              <c:f>HHI!$C$2:$C$12</c:f>
              <c:numCache>
                <c:formatCode>General</c:formatCode>
                <c:ptCount val="11"/>
                <c:pt idx="0">
                  <c:v>7.9046000000000005E-2</c:v>
                </c:pt>
                <c:pt idx="1">
                  <c:v>7.664E-2</c:v>
                </c:pt>
                <c:pt idx="2">
                  <c:v>7.0329000000000003E-2</c:v>
                </c:pt>
                <c:pt idx="3">
                  <c:v>7.8140000000000001E-2</c:v>
                </c:pt>
                <c:pt idx="4">
                  <c:v>7.9144000000000006E-2</c:v>
                </c:pt>
                <c:pt idx="5">
                  <c:v>7.9812999999999995E-2</c:v>
                </c:pt>
                <c:pt idx="6">
                  <c:v>7.7558000000000002E-2</c:v>
                </c:pt>
                <c:pt idx="7">
                  <c:v>7.5985999999999998E-2</c:v>
                </c:pt>
                <c:pt idx="8">
                  <c:v>9.1874999999999998E-2</c:v>
                </c:pt>
                <c:pt idx="9">
                  <c:v>8.5000999999999993E-2</c:v>
                </c:pt>
                <c:pt idx="10" formatCode="0.00">
                  <c:v>8.4815000000000002E-2</c:v>
                </c:pt>
              </c:numCache>
            </c:numRef>
          </c:val>
          <c:smooth val="0"/>
          <c:extLst>
            <c:ext xmlns:c16="http://schemas.microsoft.com/office/drawing/2014/chart" uri="{C3380CC4-5D6E-409C-BE32-E72D297353CC}">
              <c16:uniqueId val="{00000001-0805-4D82-8F22-318F319943B2}"/>
            </c:ext>
          </c:extLst>
        </c:ser>
        <c:ser>
          <c:idx val="1"/>
          <c:order val="1"/>
          <c:tx>
            <c:strRef>
              <c:f>HHI!$B$1</c:f>
              <c:strCache>
                <c:ptCount val="1"/>
                <c:pt idx="0">
                  <c:v>MSCI EM</c:v>
                </c:pt>
              </c:strCache>
            </c:strRef>
          </c:tx>
          <c:spPr>
            <a:ln w="38100" cap="rnd">
              <a:solidFill>
                <a:schemeClr val="accent3">
                  <a:lumMod val="50000"/>
                </a:schemeClr>
              </a:solidFill>
              <a:round/>
            </a:ln>
            <a:effectLst/>
          </c:spPr>
          <c:marker>
            <c:symbol val="none"/>
          </c:marker>
          <c:cat>
            <c:numRef>
              <c:f>HHI!$A$2:$A$12</c:f>
              <c:numCache>
                <c:formatCode>General</c:formatCode>
                <c:ptCount val="11"/>
                <c:pt idx="0">
                  <c:v>2012</c:v>
                </c:pt>
                <c:pt idx="1">
                  <c:v>2013</c:v>
                </c:pt>
                <c:pt idx="2">
                  <c:v>2014</c:v>
                </c:pt>
                <c:pt idx="3">
                  <c:v>2015</c:v>
                </c:pt>
                <c:pt idx="4">
                  <c:v>2016</c:v>
                </c:pt>
                <c:pt idx="5">
                  <c:v>2017</c:v>
                </c:pt>
                <c:pt idx="6">
                  <c:v>2018</c:v>
                </c:pt>
                <c:pt idx="7">
                  <c:v>2019</c:v>
                </c:pt>
                <c:pt idx="8">
                  <c:v>2020</c:v>
                </c:pt>
                <c:pt idx="9">
                  <c:v>2021</c:v>
                </c:pt>
                <c:pt idx="10">
                  <c:v>2022</c:v>
                </c:pt>
              </c:numCache>
            </c:numRef>
          </c:cat>
          <c:val>
            <c:numRef>
              <c:f>HHI!$B$2:$B$12</c:f>
              <c:numCache>
                <c:formatCode>General</c:formatCode>
                <c:ptCount val="11"/>
                <c:pt idx="0">
                  <c:v>0.104756</c:v>
                </c:pt>
                <c:pt idx="1">
                  <c:v>0.109907</c:v>
                </c:pt>
                <c:pt idx="2">
                  <c:v>0.111678</c:v>
                </c:pt>
                <c:pt idx="3">
                  <c:v>0.130882</c:v>
                </c:pt>
                <c:pt idx="4">
                  <c:v>0.12981100000000001</c:v>
                </c:pt>
                <c:pt idx="5">
                  <c:v>0.146092</c:v>
                </c:pt>
                <c:pt idx="6">
                  <c:v>0.14727399999999999</c:v>
                </c:pt>
                <c:pt idx="7">
                  <c:v>0.16473099999999999</c:v>
                </c:pt>
                <c:pt idx="8">
                  <c:v>0.20233999999999999</c:v>
                </c:pt>
                <c:pt idx="9">
                  <c:v>0.169345</c:v>
                </c:pt>
                <c:pt idx="10" formatCode="0.00">
                  <c:v>0.16478400000000001</c:v>
                </c:pt>
              </c:numCache>
            </c:numRef>
          </c:val>
          <c:smooth val="0"/>
          <c:extLst>
            <c:ext xmlns:c16="http://schemas.microsoft.com/office/drawing/2014/chart" uri="{C3380CC4-5D6E-409C-BE32-E72D297353CC}">
              <c16:uniqueId val="{00000003-0805-4D82-8F22-318F319943B2}"/>
            </c:ext>
          </c:extLst>
        </c:ser>
        <c:dLbls>
          <c:showLegendKey val="0"/>
          <c:showVal val="0"/>
          <c:showCatName val="0"/>
          <c:showSerName val="0"/>
          <c:showPercent val="0"/>
          <c:showBubbleSize val="0"/>
        </c:dLbls>
        <c:smooth val="0"/>
        <c:axId val="337112496"/>
        <c:axId val="337112824"/>
      </c:lineChart>
      <c:catAx>
        <c:axId val="337112496"/>
        <c:scaling>
          <c:orientation val="minMax"/>
        </c:scaling>
        <c:delete val="0"/>
        <c:axPos val="b"/>
        <c:numFmt formatCode="General" sourceLinked="0"/>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crossAx val="337112824"/>
        <c:crosses val="autoZero"/>
        <c:auto val="1"/>
        <c:lblAlgn val="ctr"/>
        <c:lblOffset val="100"/>
        <c:tickLblSkip val="2"/>
        <c:noMultiLvlLbl val="0"/>
      </c:catAx>
      <c:valAx>
        <c:axId val="337112824"/>
        <c:scaling>
          <c:orientation val="minMax"/>
        </c:scaling>
        <c:delete val="0"/>
        <c:axPos val="l"/>
        <c:majorGridlines>
          <c:spPr>
            <a:ln w="9525" cap="flat" cmpd="sng" algn="ctr">
              <a:solidFill>
                <a:schemeClr val="accent3"/>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crossAx val="337112496"/>
        <c:crosses val="autoZero"/>
        <c:crossBetween val="midCat"/>
      </c:valAx>
      <c:spPr>
        <a:noFill/>
        <a:ln>
          <a:noFill/>
        </a:ln>
        <a:effectLst/>
      </c:spPr>
    </c:plotArea>
    <c:plotVisOnly val="1"/>
    <c:dispBlanksAs val="gap"/>
    <c:showDLblsOverMax val="0"/>
  </c:chart>
  <c:spPr>
    <a:noFill/>
    <a:ln>
      <a:noFill/>
    </a:ln>
    <a:effectLst/>
  </c:spPr>
  <c:txPr>
    <a:bodyPr/>
    <a:lstStyle/>
    <a:p>
      <a:pPr>
        <a:defRPr sz="1800">
          <a:solidFill>
            <a:schemeClr val="tx1"/>
          </a:solidFill>
          <a:latin typeface="Roboto Condensed" panose="02000000000000000000" pitchFamily="2" charset="0"/>
          <a:ea typeface="Roboto Condensed" panose="02000000000000000000" pitchFamily="2"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Sheet1!$E$7</c:f>
              <c:strCache>
                <c:ptCount val="1"/>
                <c:pt idx="0">
                  <c:v>Brazil</c:v>
                </c:pt>
              </c:strCache>
            </c:strRef>
          </c:tx>
          <c:spPr>
            <a:ln w="38100" cap="rnd">
              <a:solidFill>
                <a:schemeClr val="accent6"/>
              </a:solidFill>
              <a:round/>
            </a:ln>
            <a:effectLst/>
          </c:spPr>
          <c:marker>
            <c:symbol val="none"/>
          </c:marker>
          <c:cat>
            <c:numRef>
              <c:f>Sheet1!$A$8:$A$39</c:f>
              <c:numCache>
                <c:formatCode>m/d/yy</c:formatCode>
                <c:ptCount val="32"/>
                <c:pt idx="0">
                  <c:v>32874</c:v>
                </c:pt>
                <c:pt idx="1">
                  <c:v>33239</c:v>
                </c:pt>
                <c:pt idx="2">
                  <c:v>33604</c:v>
                </c:pt>
                <c:pt idx="3">
                  <c:v>33970</c:v>
                </c:pt>
                <c:pt idx="4">
                  <c:v>34335</c:v>
                </c:pt>
                <c:pt idx="5">
                  <c:v>34700</c:v>
                </c:pt>
                <c:pt idx="6">
                  <c:v>35065</c:v>
                </c:pt>
                <c:pt idx="7">
                  <c:v>35431</c:v>
                </c:pt>
                <c:pt idx="8">
                  <c:v>35796</c:v>
                </c:pt>
                <c:pt idx="9">
                  <c:v>36161</c:v>
                </c:pt>
                <c:pt idx="10">
                  <c:v>36526</c:v>
                </c:pt>
                <c:pt idx="11">
                  <c:v>36892</c:v>
                </c:pt>
                <c:pt idx="12">
                  <c:v>37257</c:v>
                </c:pt>
                <c:pt idx="13">
                  <c:v>37622</c:v>
                </c:pt>
                <c:pt idx="14">
                  <c:v>37987</c:v>
                </c:pt>
                <c:pt idx="15">
                  <c:v>38353</c:v>
                </c:pt>
                <c:pt idx="16">
                  <c:v>38718</c:v>
                </c:pt>
                <c:pt idx="17">
                  <c:v>39083</c:v>
                </c:pt>
                <c:pt idx="18">
                  <c:v>39448</c:v>
                </c:pt>
                <c:pt idx="19">
                  <c:v>39814</c:v>
                </c:pt>
                <c:pt idx="20">
                  <c:v>40179</c:v>
                </c:pt>
                <c:pt idx="21">
                  <c:v>40544</c:v>
                </c:pt>
                <c:pt idx="22">
                  <c:v>40909</c:v>
                </c:pt>
                <c:pt idx="23">
                  <c:v>41275</c:v>
                </c:pt>
                <c:pt idx="24">
                  <c:v>41640</c:v>
                </c:pt>
                <c:pt idx="25">
                  <c:v>42005</c:v>
                </c:pt>
                <c:pt idx="26">
                  <c:v>42370</c:v>
                </c:pt>
                <c:pt idx="27">
                  <c:v>42736</c:v>
                </c:pt>
                <c:pt idx="28">
                  <c:v>43101</c:v>
                </c:pt>
                <c:pt idx="29">
                  <c:v>43466</c:v>
                </c:pt>
                <c:pt idx="30">
                  <c:v>43831</c:v>
                </c:pt>
                <c:pt idx="31">
                  <c:v>44197</c:v>
                </c:pt>
              </c:numCache>
            </c:numRef>
          </c:cat>
          <c:val>
            <c:numRef>
              <c:f>Sheet1!$E$8:$E$39</c:f>
              <c:numCache>
                <c:formatCode>General</c:formatCode>
                <c:ptCount val="32"/>
                <c:pt idx="0">
                  <c:v>1.953999999999968</c:v>
                </c:pt>
                <c:pt idx="1">
                  <c:v>0.66243791709392208</c:v>
                </c:pt>
                <c:pt idx="2">
                  <c:v>-0.15237649311210361</c:v>
                </c:pt>
                <c:pt idx="3">
                  <c:v>0.8445615078154276</c:v>
                </c:pt>
                <c:pt idx="4">
                  <c:v>1.3831355806932237</c:v>
                </c:pt>
                <c:pt idx="5">
                  <c:v>3.0978943074227088</c:v>
                </c:pt>
                <c:pt idx="6">
                  <c:v>3.3332292004317536</c:v>
                </c:pt>
                <c:pt idx="7">
                  <c:v>4.1210128077010069</c:v>
                </c:pt>
                <c:pt idx="8">
                  <c:v>3.2036943871639267</c:v>
                </c:pt>
                <c:pt idx="9">
                  <c:v>2.1267078276219591</c:v>
                </c:pt>
                <c:pt idx="10">
                  <c:v>2.159538989622257</c:v>
                </c:pt>
                <c:pt idx="11">
                  <c:v>1.9957454604109131</c:v>
                </c:pt>
                <c:pt idx="12">
                  <c:v>1.9274686347149583</c:v>
                </c:pt>
                <c:pt idx="13">
                  <c:v>2.0880148540786934</c:v>
                </c:pt>
                <c:pt idx="14">
                  <c:v>3.1464202681147952</c:v>
                </c:pt>
                <c:pt idx="15">
                  <c:v>2.9092567918175662</c:v>
                </c:pt>
                <c:pt idx="16">
                  <c:v>3.4236752527249168</c:v>
                </c:pt>
                <c:pt idx="17">
                  <c:v>4.0269570028239343</c:v>
                </c:pt>
                <c:pt idx="18">
                  <c:v>4.8176302926937264</c:v>
                </c:pt>
                <c:pt idx="19">
                  <c:v>3.6404749647234498</c:v>
                </c:pt>
                <c:pt idx="20">
                  <c:v>4.5056937159152426</c:v>
                </c:pt>
                <c:pt idx="21">
                  <c:v>4.5081805900056766</c:v>
                </c:pt>
                <c:pt idx="22">
                  <c:v>3.6784416655583443</c:v>
                </c:pt>
                <c:pt idx="23">
                  <c:v>3.2605671099921096</c:v>
                </c:pt>
                <c:pt idx="24">
                  <c:v>3.3865206586450398</c:v>
                </c:pt>
                <c:pt idx="25">
                  <c:v>1.1717228163261808</c:v>
                </c:pt>
                <c:pt idx="26">
                  <c:v>-0.27834518082744353</c:v>
                </c:pt>
                <c:pt idx="27">
                  <c:v>-0.39800656706473775</c:v>
                </c:pt>
                <c:pt idx="28">
                  <c:v>-0.64223774884849261</c:v>
                </c:pt>
                <c:pt idx="29">
                  <c:v>-0.49887333235925552</c:v>
                </c:pt>
                <c:pt idx="30">
                  <c:v>-0.56545592051627414</c:v>
                </c:pt>
                <c:pt idx="31">
                  <c:v>1.0136117848763804</c:v>
                </c:pt>
              </c:numCache>
            </c:numRef>
          </c:val>
          <c:smooth val="0"/>
          <c:extLst>
            <c:ext xmlns:c16="http://schemas.microsoft.com/office/drawing/2014/chart" uri="{C3380CC4-5D6E-409C-BE32-E72D297353CC}">
              <c16:uniqueId val="{00000000-3249-F746-A9F7-3F9ED9DC6F24}"/>
            </c:ext>
          </c:extLst>
        </c:ser>
        <c:ser>
          <c:idx val="1"/>
          <c:order val="1"/>
          <c:tx>
            <c:strRef>
              <c:f>Sheet1!$F$7</c:f>
              <c:strCache>
                <c:ptCount val="1"/>
                <c:pt idx="0">
                  <c:v>Vietnam</c:v>
                </c:pt>
              </c:strCache>
            </c:strRef>
          </c:tx>
          <c:spPr>
            <a:ln w="38100" cap="rnd">
              <a:solidFill>
                <a:schemeClr val="accent4"/>
              </a:solidFill>
              <a:round/>
            </a:ln>
            <a:effectLst/>
          </c:spPr>
          <c:marker>
            <c:symbol val="none"/>
          </c:marker>
          <c:cat>
            <c:numRef>
              <c:f>Sheet1!$A$8:$A$39</c:f>
              <c:numCache>
                <c:formatCode>m/d/yy</c:formatCode>
                <c:ptCount val="32"/>
                <c:pt idx="0">
                  <c:v>32874</c:v>
                </c:pt>
                <c:pt idx="1">
                  <c:v>33239</c:v>
                </c:pt>
                <c:pt idx="2">
                  <c:v>33604</c:v>
                </c:pt>
                <c:pt idx="3">
                  <c:v>33970</c:v>
                </c:pt>
                <c:pt idx="4">
                  <c:v>34335</c:v>
                </c:pt>
                <c:pt idx="5">
                  <c:v>34700</c:v>
                </c:pt>
                <c:pt idx="6">
                  <c:v>35065</c:v>
                </c:pt>
                <c:pt idx="7">
                  <c:v>35431</c:v>
                </c:pt>
                <c:pt idx="8">
                  <c:v>35796</c:v>
                </c:pt>
                <c:pt idx="9">
                  <c:v>36161</c:v>
                </c:pt>
                <c:pt idx="10">
                  <c:v>36526</c:v>
                </c:pt>
                <c:pt idx="11">
                  <c:v>36892</c:v>
                </c:pt>
                <c:pt idx="12">
                  <c:v>37257</c:v>
                </c:pt>
                <c:pt idx="13">
                  <c:v>37622</c:v>
                </c:pt>
                <c:pt idx="14">
                  <c:v>37987</c:v>
                </c:pt>
                <c:pt idx="15">
                  <c:v>38353</c:v>
                </c:pt>
                <c:pt idx="16">
                  <c:v>38718</c:v>
                </c:pt>
                <c:pt idx="17">
                  <c:v>39083</c:v>
                </c:pt>
                <c:pt idx="18">
                  <c:v>39448</c:v>
                </c:pt>
                <c:pt idx="19">
                  <c:v>39814</c:v>
                </c:pt>
                <c:pt idx="20">
                  <c:v>40179</c:v>
                </c:pt>
                <c:pt idx="21">
                  <c:v>40544</c:v>
                </c:pt>
                <c:pt idx="22">
                  <c:v>40909</c:v>
                </c:pt>
                <c:pt idx="23">
                  <c:v>41275</c:v>
                </c:pt>
                <c:pt idx="24">
                  <c:v>41640</c:v>
                </c:pt>
                <c:pt idx="25">
                  <c:v>42005</c:v>
                </c:pt>
                <c:pt idx="26">
                  <c:v>42370</c:v>
                </c:pt>
                <c:pt idx="27">
                  <c:v>42736</c:v>
                </c:pt>
                <c:pt idx="28">
                  <c:v>43101</c:v>
                </c:pt>
                <c:pt idx="29">
                  <c:v>43466</c:v>
                </c:pt>
                <c:pt idx="30">
                  <c:v>43831</c:v>
                </c:pt>
                <c:pt idx="31">
                  <c:v>44197</c:v>
                </c:pt>
              </c:numCache>
            </c:numRef>
          </c:cat>
          <c:val>
            <c:numRef>
              <c:f>Sheet1!$F$8:$F$39</c:f>
              <c:numCache>
                <c:formatCode>General</c:formatCode>
                <c:ptCount val="32"/>
                <c:pt idx="0">
                  <c:v>4.7946407821443042</c:v>
                </c:pt>
                <c:pt idx="1">
                  <c:v>5.4289512537065603</c:v>
                </c:pt>
                <c:pt idx="2">
                  <c:v>6.4414668193557985</c:v>
                </c:pt>
                <c:pt idx="3">
                  <c:v>7.0290106164646744</c:v>
                </c:pt>
                <c:pt idx="4">
                  <c:v>7.3239042281525659</c:v>
                </c:pt>
                <c:pt idx="5">
                  <c:v>8.2118166353163442</c:v>
                </c:pt>
                <c:pt idx="6">
                  <c:v>8.887651347992497</c:v>
                </c:pt>
                <c:pt idx="7">
                  <c:v>8.7888586847421664</c:v>
                </c:pt>
                <c:pt idx="8">
                  <c:v>8.3272036461069376</c:v>
                </c:pt>
                <c:pt idx="9">
                  <c:v>7.5141248317415634</c:v>
                </c:pt>
                <c:pt idx="10">
                  <c:v>6.9634920784061221</c:v>
                </c:pt>
                <c:pt idx="11">
                  <c:v>6.334067241570895</c:v>
                </c:pt>
                <c:pt idx="12">
                  <c:v>5.9678146104532344</c:v>
                </c:pt>
                <c:pt idx="13">
                  <c:v>6.1947362160114778</c:v>
                </c:pt>
                <c:pt idx="14">
                  <c:v>6.7473009622624804</c:v>
                </c:pt>
                <c:pt idx="15">
                  <c:v>6.899287226062162</c:v>
                </c:pt>
                <c:pt idx="16">
                  <c:v>7.0562995260668746</c:v>
                </c:pt>
                <c:pt idx="17">
                  <c:v>7.2180362253170811</c:v>
                </c:pt>
                <c:pt idx="18">
                  <c:v>6.9705777685741968</c:v>
                </c:pt>
                <c:pt idx="19">
                  <c:v>6.5428751547629531</c:v>
                </c:pt>
                <c:pt idx="20">
                  <c:v>6.3180732527527992</c:v>
                </c:pt>
                <c:pt idx="21">
                  <c:v>6.2044822903860251</c:v>
                </c:pt>
                <c:pt idx="22">
                  <c:v>5.8785813935931515</c:v>
                </c:pt>
                <c:pt idx="23">
                  <c:v>5.8562271519888416</c:v>
                </c:pt>
                <c:pt idx="24">
                  <c:v>6.0606476434343532</c:v>
                </c:pt>
                <c:pt idx="25">
                  <c:v>6.1739999999998076</c:v>
                </c:pt>
                <c:pt idx="26">
                  <c:v>6.2300000000002651</c:v>
                </c:pt>
                <c:pt idx="27">
                  <c:v>6.518000000000117</c:v>
                </c:pt>
                <c:pt idx="28">
                  <c:v>6.8479999999998764</c:v>
                </c:pt>
                <c:pt idx="29">
                  <c:v>6.9940000000004829</c:v>
                </c:pt>
                <c:pt idx="30">
                  <c:v>6.1840000000000401</c:v>
                </c:pt>
                <c:pt idx="31">
                  <c:v>5.3637849003094145</c:v>
                </c:pt>
              </c:numCache>
            </c:numRef>
          </c:val>
          <c:smooth val="0"/>
          <c:extLst>
            <c:ext xmlns:c16="http://schemas.microsoft.com/office/drawing/2014/chart" uri="{C3380CC4-5D6E-409C-BE32-E72D297353CC}">
              <c16:uniqueId val="{00000001-3249-F746-A9F7-3F9ED9DC6F24}"/>
            </c:ext>
          </c:extLst>
        </c:ser>
        <c:dLbls>
          <c:showLegendKey val="0"/>
          <c:showVal val="0"/>
          <c:showCatName val="0"/>
          <c:showSerName val="0"/>
          <c:showPercent val="0"/>
          <c:showBubbleSize val="0"/>
        </c:dLbls>
        <c:smooth val="0"/>
        <c:axId val="2114994303"/>
        <c:axId val="406982496"/>
      </c:lineChart>
      <c:dateAx>
        <c:axId val="2114994303"/>
        <c:scaling>
          <c:orientation val="minMax"/>
        </c:scaling>
        <c:delete val="0"/>
        <c:axPos val="b"/>
        <c:numFmt formatCode="yyyy" sourceLinked="0"/>
        <c:majorTickMark val="none"/>
        <c:minorTickMark val="none"/>
        <c:tickLblPos val="low"/>
        <c:spPr>
          <a:noFill/>
          <a:ln w="9525" cap="flat" cmpd="sng" algn="ctr">
            <a:solidFill>
              <a:schemeClr val="accent1"/>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crossAx val="406982496"/>
        <c:crosses val="autoZero"/>
        <c:auto val="1"/>
        <c:lblOffset val="100"/>
        <c:baseTimeUnit val="years"/>
      </c:dateAx>
      <c:valAx>
        <c:axId val="406982496"/>
        <c:scaling>
          <c:orientation val="minMax"/>
        </c:scaling>
        <c:delete val="0"/>
        <c:axPos val="l"/>
        <c:majorGridlines>
          <c:spPr>
            <a:ln w="9525" cap="flat" cmpd="sng" algn="ctr">
              <a:solidFill>
                <a:schemeClr val="accent3"/>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Roboto Condensed" panose="02000000000000000000" pitchFamily="2" charset="0"/>
                <a:ea typeface="Roboto Condensed" panose="02000000000000000000" pitchFamily="2" charset="0"/>
                <a:cs typeface="+mn-cs"/>
              </a:defRPr>
            </a:pPr>
            <a:endParaRPr lang="en-US"/>
          </a:p>
        </c:txPr>
        <c:crossAx val="211499430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solidFill>
            <a:schemeClr val="tx1"/>
          </a:solidFill>
          <a:latin typeface="Roboto Condensed" panose="02000000000000000000" pitchFamily="2" charset="0"/>
          <a:ea typeface="Roboto Condensed" panose="02000000000000000000" pitchFamily="2"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47" tIns="48324" rIns="96647" bIns="48324" rtlCol="0"/>
          <a:lstStyle>
            <a:lvl1pPr algn="r">
              <a:defRPr sz="1300"/>
            </a:lvl1pPr>
          </a:lstStyle>
          <a:p>
            <a:fld id="{D86C2774-84AD-441B-8EB2-C5C374A3CF3C}" type="datetimeFigureOut">
              <a:rPr lang="en-US" smtClean="0"/>
              <a:t>10/19/22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47" tIns="48324" rIns="96647" bIns="48324" rtlCol="0" anchor="b"/>
          <a:lstStyle>
            <a:lvl1pPr algn="r">
              <a:defRPr sz="1300"/>
            </a:lvl1pPr>
          </a:lstStyle>
          <a:p>
            <a:fld id="{263B06A1-9882-4BD1-A7AE-5E4EB298F1AA}" type="slidenum">
              <a:rPr lang="en-US" smtClean="0"/>
              <a:t>‹#›</a:t>
            </a:fld>
            <a:endParaRPr lang="en-US"/>
          </a:p>
        </p:txBody>
      </p:sp>
    </p:spTree>
    <p:extLst>
      <p:ext uri="{BB962C8B-B14F-4D97-AF65-F5344CB8AC3E}">
        <p14:creationId xmlns:p14="http://schemas.microsoft.com/office/powerpoint/2010/main" val="2466520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1727"/>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idx="1"/>
          </p:nvPr>
        </p:nvSpPr>
        <p:spPr>
          <a:xfrm>
            <a:off x="4143587" y="1"/>
            <a:ext cx="3169920" cy="481727"/>
          </a:xfrm>
          <a:prstGeom prst="rect">
            <a:avLst/>
          </a:prstGeom>
        </p:spPr>
        <p:txBody>
          <a:bodyPr vert="horz" lIns="96647" tIns="48324" rIns="96647" bIns="48324" rtlCol="0"/>
          <a:lstStyle>
            <a:lvl1pPr algn="r">
              <a:defRPr sz="1300"/>
            </a:lvl1pPr>
          </a:lstStyle>
          <a:p>
            <a:fld id="{414C3AAC-2DD5-F941-9159-101C2E4A2AB6}" type="datetimeFigureOut">
              <a:rPr lang="en-US" smtClean="0"/>
              <a:t>10/19/22</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7" tIns="48324" rIns="96647" bIns="48324"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7" tIns="48324" rIns="96647" bIns="483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7" tIns="48324" rIns="96647" bIns="48324"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7" tIns="48324" rIns="96647" bIns="48324" rtlCol="0" anchor="b"/>
          <a:lstStyle>
            <a:lvl1pPr algn="r">
              <a:defRPr sz="1300"/>
            </a:lvl1pPr>
          </a:lstStyle>
          <a:p>
            <a:fld id="{8DFC1A26-7119-3E42-A3FA-DCCA3EB9AAC5}" type="slidenum">
              <a:rPr lang="en-US" smtClean="0"/>
              <a:t>‹#›</a:t>
            </a:fld>
            <a:endParaRPr lang="en-US"/>
          </a:p>
        </p:txBody>
      </p:sp>
    </p:spTree>
    <p:extLst>
      <p:ext uri="{BB962C8B-B14F-4D97-AF65-F5344CB8AC3E}">
        <p14:creationId xmlns:p14="http://schemas.microsoft.com/office/powerpoint/2010/main" val="605273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0</a:t>
            </a:fld>
            <a:endParaRPr lang="en-US"/>
          </a:p>
        </p:txBody>
      </p:sp>
    </p:spTree>
    <p:extLst>
      <p:ext uri="{BB962C8B-B14F-4D97-AF65-F5344CB8AC3E}">
        <p14:creationId xmlns:p14="http://schemas.microsoft.com/office/powerpoint/2010/main" val="4290706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1</a:t>
            </a:fld>
            <a:endParaRPr lang="en-US"/>
          </a:p>
        </p:txBody>
      </p:sp>
    </p:spTree>
    <p:extLst>
      <p:ext uri="{BB962C8B-B14F-4D97-AF65-F5344CB8AC3E}">
        <p14:creationId xmlns:p14="http://schemas.microsoft.com/office/powerpoint/2010/main" val="444996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2</a:t>
            </a:fld>
            <a:endParaRPr lang="en-US"/>
          </a:p>
        </p:txBody>
      </p:sp>
    </p:spTree>
    <p:extLst>
      <p:ext uri="{BB962C8B-B14F-4D97-AF65-F5344CB8AC3E}">
        <p14:creationId xmlns:p14="http://schemas.microsoft.com/office/powerpoint/2010/main" val="116759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3</a:t>
            </a:fld>
            <a:endParaRPr lang="en-US"/>
          </a:p>
        </p:txBody>
      </p:sp>
    </p:spTree>
    <p:extLst>
      <p:ext uri="{BB962C8B-B14F-4D97-AF65-F5344CB8AC3E}">
        <p14:creationId xmlns:p14="http://schemas.microsoft.com/office/powerpoint/2010/main" val="3906555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4</a:t>
            </a:fld>
            <a:endParaRPr lang="en-US"/>
          </a:p>
        </p:txBody>
      </p:sp>
    </p:spTree>
    <p:extLst>
      <p:ext uri="{BB962C8B-B14F-4D97-AF65-F5344CB8AC3E}">
        <p14:creationId xmlns:p14="http://schemas.microsoft.com/office/powerpoint/2010/main" val="1099765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5</a:t>
            </a:fld>
            <a:endParaRPr lang="en-US"/>
          </a:p>
        </p:txBody>
      </p:sp>
    </p:spTree>
    <p:extLst>
      <p:ext uri="{BB962C8B-B14F-4D97-AF65-F5344CB8AC3E}">
        <p14:creationId xmlns:p14="http://schemas.microsoft.com/office/powerpoint/2010/main" val="87617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6</a:t>
            </a:fld>
            <a:endParaRPr lang="en-US"/>
          </a:p>
        </p:txBody>
      </p:sp>
    </p:spTree>
    <p:extLst>
      <p:ext uri="{BB962C8B-B14F-4D97-AF65-F5344CB8AC3E}">
        <p14:creationId xmlns:p14="http://schemas.microsoft.com/office/powerpoint/2010/main" val="1017529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7</a:t>
            </a:fld>
            <a:endParaRPr lang="en-US"/>
          </a:p>
        </p:txBody>
      </p:sp>
    </p:spTree>
    <p:extLst>
      <p:ext uri="{BB962C8B-B14F-4D97-AF65-F5344CB8AC3E}">
        <p14:creationId xmlns:p14="http://schemas.microsoft.com/office/powerpoint/2010/main" val="580796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8</a:t>
            </a:fld>
            <a:endParaRPr lang="en-US"/>
          </a:p>
        </p:txBody>
      </p:sp>
    </p:spTree>
    <p:extLst>
      <p:ext uri="{BB962C8B-B14F-4D97-AF65-F5344CB8AC3E}">
        <p14:creationId xmlns:p14="http://schemas.microsoft.com/office/powerpoint/2010/main" val="565946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9</a:t>
            </a:fld>
            <a:endParaRPr lang="en-US"/>
          </a:p>
        </p:txBody>
      </p:sp>
    </p:spTree>
    <p:extLst>
      <p:ext uri="{BB962C8B-B14F-4D97-AF65-F5344CB8AC3E}">
        <p14:creationId xmlns:p14="http://schemas.microsoft.com/office/powerpoint/2010/main" val="7814008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10</a:t>
            </a:fld>
            <a:endParaRPr lang="en-US"/>
          </a:p>
        </p:txBody>
      </p:sp>
    </p:spTree>
    <p:extLst>
      <p:ext uri="{BB962C8B-B14F-4D97-AF65-F5344CB8AC3E}">
        <p14:creationId xmlns:p14="http://schemas.microsoft.com/office/powerpoint/2010/main" val="3766098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11</a:t>
            </a:fld>
            <a:endParaRPr lang="en-US"/>
          </a:p>
        </p:txBody>
      </p:sp>
    </p:spTree>
    <p:extLst>
      <p:ext uri="{BB962C8B-B14F-4D97-AF65-F5344CB8AC3E}">
        <p14:creationId xmlns:p14="http://schemas.microsoft.com/office/powerpoint/2010/main" val="22340956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12</a:t>
            </a:fld>
            <a:endParaRPr lang="en-US"/>
          </a:p>
        </p:txBody>
      </p:sp>
    </p:spTree>
    <p:extLst>
      <p:ext uri="{BB962C8B-B14F-4D97-AF65-F5344CB8AC3E}">
        <p14:creationId xmlns:p14="http://schemas.microsoft.com/office/powerpoint/2010/main" val="2228050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13</a:t>
            </a:fld>
            <a:endParaRPr lang="en-US"/>
          </a:p>
        </p:txBody>
      </p:sp>
    </p:spTree>
    <p:extLst>
      <p:ext uri="{BB962C8B-B14F-4D97-AF65-F5344CB8AC3E}">
        <p14:creationId xmlns:p14="http://schemas.microsoft.com/office/powerpoint/2010/main" val="10996649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14</a:t>
            </a:fld>
            <a:endParaRPr lang="en-US"/>
          </a:p>
        </p:txBody>
      </p:sp>
    </p:spTree>
    <p:extLst>
      <p:ext uri="{BB962C8B-B14F-4D97-AF65-F5344CB8AC3E}">
        <p14:creationId xmlns:p14="http://schemas.microsoft.com/office/powerpoint/2010/main" val="19261364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15</a:t>
            </a:fld>
            <a:endParaRPr lang="en-US"/>
          </a:p>
        </p:txBody>
      </p:sp>
    </p:spTree>
    <p:extLst>
      <p:ext uri="{BB962C8B-B14F-4D97-AF65-F5344CB8AC3E}">
        <p14:creationId xmlns:p14="http://schemas.microsoft.com/office/powerpoint/2010/main" val="2453395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16</a:t>
            </a:fld>
            <a:endParaRPr lang="en-US"/>
          </a:p>
        </p:txBody>
      </p:sp>
    </p:spTree>
    <p:extLst>
      <p:ext uri="{BB962C8B-B14F-4D97-AF65-F5344CB8AC3E}">
        <p14:creationId xmlns:p14="http://schemas.microsoft.com/office/powerpoint/2010/main" val="4073200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17</a:t>
            </a:fld>
            <a:endParaRPr lang="en-US"/>
          </a:p>
        </p:txBody>
      </p:sp>
    </p:spTree>
    <p:extLst>
      <p:ext uri="{BB962C8B-B14F-4D97-AF65-F5344CB8AC3E}">
        <p14:creationId xmlns:p14="http://schemas.microsoft.com/office/powerpoint/2010/main" val="19334689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18</a:t>
            </a:fld>
            <a:endParaRPr lang="en-US"/>
          </a:p>
        </p:txBody>
      </p:sp>
    </p:spTree>
    <p:extLst>
      <p:ext uri="{BB962C8B-B14F-4D97-AF65-F5344CB8AC3E}">
        <p14:creationId xmlns:p14="http://schemas.microsoft.com/office/powerpoint/2010/main" val="28964762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19</a:t>
            </a:fld>
            <a:endParaRPr lang="en-US"/>
          </a:p>
        </p:txBody>
      </p:sp>
    </p:spTree>
    <p:extLst>
      <p:ext uri="{BB962C8B-B14F-4D97-AF65-F5344CB8AC3E}">
        <p14:creationId xmlns:p14="http://schemas.microsoft.com/office/powerpoint/2010/main" val="28176321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20</a:t>
            </a:fld>
            <a:endParaRPr lang="en-US"/>
          </a:p>
        </p:txBody>
      </p:sp>
    </p:spTree>
    <p:extLst>
      <p:ext uri="{BB962C8B-B14F-4D97-AF65-F5344CB8AC3E}">
        <p14:creationId xmlns:p14="http://schemas.microsoft.com/office/powerpoint/2010/main" val="2628306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21</a:t>
            </a:fld>
            <a:endParaRPr lang="en-US"/>
          </a:p>
        </p:txBody>
      </p:sp>
    </p:spTree>
    <p:extLst>
      <p:ext uri="{BB962C8B-B14F-4D97-AF65-F5344CB8AC3E}">
        <p14:creationId xmlns:p14="http://schemas.microsoft.com/office/powerpoint/2010/main" val="3305362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22</a:t>
            </a:fld>
            <a:endParaRPr lang="en-US"/>
          </a:p>
        </p:txBody>
      </p:sp>
    </p:spTree>
    <p:extLst>
      <p:ext uri="{BB962C8B-B14F-4D97-AF65-F5344CB8AC3E}">
        <p14:creationId xmlns:p14="http://schemas.microsoft.com/office/powerpoint/2010/main" val="39525287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23</a:t>
            </a:fld>
            <a:endParaRPr lang="en-US"/>
          </a:p>
        </p:txBody>
      </p:sp>
    </p:spTree>
    <p:extLst>
      <p:ext uri="{BB962C8B-B14F-4D97-AF65-F5344CB8AC3E}">
        <p14:creationId xmlns:p14="http://schemas.microsoft.com/office/powerpoint/2010/main" val="32995020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24</a:t>
            </a:fld>
            <a:endParaRPr lang="en-US"/>
          </a:p>
        </p:txBody>
      </p:sp>
    </p:spTree>
    <p:extLst>
      <p:ext uri="{BB962C8B-B14F-4D97-AF65-F5344CB8AC3E}">
        <p14:creationId xmlns:p14="http://schemas.microsoft.com/office/powerpoint/2010/main" val="34896586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25</a:t>
            </a:fld>
            <a:endParaRPr lang="en-US"/>
          </a:p>
        </p:txBody>
      </p:sp>
    </p:spTree>
    <p:extLst>
      <p:ext uri="{BB962C8B-B14F-4D97-AF65-F5344CB8AC3E}">
        <p14:creationId xmlns:p14="http://schemas.microsoft.com/office/powerpoint/2010/main" val="34430475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26</a:t>
            </a:fld>
            <a:endParaRPr lang="en-US"/>
          </a:p>
        </p:txBody>
      </p:sp>
    </p:spTree>
    <p:extLst>
      <p:ext uri="{BB962C8B-B14F-4D97-AF65-F5344CB8AC3E}">
        <p14:creationId xmlns:p14="http://schemas.microsoft.com/office/powerpoint/2010/main" val="36670055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27</a:t>
            </a:fld>
            <a:endParaRPr lang="en-US"/>
          </a:p>
        </p:txBody>
      </p:sp>
    </p:spTree>
    <p:extLst>
      <p:ext uri="{BB962C8B-B14F-4D97-AF65-F5344CB8AC3E}">
        <p14:creationId xmlns:p14="http://schemas.microsoft.com/office/powerpoint/2010/main" val="8916273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28</a:t>
            </a:fld>
            <a:endParaRPr lang="en-US"/>
          </a:p>
        </p:txBody>
      </p:sp>
    </p:spTree>
    <p:extLst>
      <p:ext uri="{BB962C8B-B14F-4D97-AF65-F5344CB8AC3E}">
        <p14:creationId xmlns:p14="http://schemas.microsoft.com/office/powerpoint/2010/main" val="1678594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29</a:t>
            </a:fld>
            <a:endParaRPr lang="en-US"/>
          </a:p>
        </p:txBody>
      </p:sp>
    </p:spTree>
    <p:extLst>
      <p:ext uri="{BB962C8B-B14F-4D97-AF65-F5344CB8AC3E}">
        <p14:creationId xmlns:p14="http://schemas.microsoft.com/office/powerpoint/2010/main" val="10463364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30</a:t>
            </a:fld>
            <a:endParaRPr lang="en-US"/>
          </a:p>
        </p:txBody>
      </p:sp>
    </p:spTree>
    <p:extLst>
      <p:ext uri="{BB962C8B-B14F-4D97-AF65-F5344CB8AC3E}">
        <p14:creationId xmlns:p14="http://schemas.microsoft.com/office/powerpoint/2010/main" val="33345316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31</a:t>
            </a:fld>
            <a:endParaRPr lang="en-US"/>
          </a:p>
        </p:txBody>
      </p:sp>
    </p:spTree>
    <p:extLst>
      <p:ext uri="{BB962C8B-B14F-4D97-AF65-F5344CB8AC3E}">
        <p14:creationId xmlns:p14="http://schemas.microsoft.com/office/powerpoint/2010/main" val="38680183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32</a:t>
            </a:fld>
            <a:endParaRPr lang="en-US"/>
          </a:p>
        </p:txBody>
      </p:sp>
    </p:spTree>
    <p:extLst>
      <p:ext uri="{BB962C8B-B14F-4D97-AF65-F5344CB8AC3E}">
        <p14:creationId xmlns:p14="http://schemas.microsoft.com/office/powerpoint/2010/main" val="24578802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33</a:t>
            </a:fld>
            <a:endParaRPr lang="en-US"/>
          </a:p>
        </p:txBody>
      </p:sp>
    </p:spTree>
    <p:extLst>
      <p:ext uri="{BB962C8B-B14F-4D97-AF65-F5344CB8AC3E}">
        <p14:creationId xmlns:p14="http://schemas.microsoft.com/office/powerpoint/2010/main" val="30862456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34</a:t>
            </a:fld>
            <a:endParaRPr lang="en-US"/>
          </a:p>
        </p:txBody>
      </p:sp>
    </p:spTree>
    <p:extLst>
      <p:ext uri="{BB962C8B-B14F-4D97-AF65-F5344CB8AC3E}">
        <p14:creationId xmlns:p14="http://schemas.microsoft.com/office/powerpoint/2010/main" val="41768850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35</a:t>
            </a:fld>
            <a:endParaRPr lang="en-US"/>
          </a:p>
        </p:txBody>
      </p:sp>
    </p:spTree>
    <p:extLst>
      <p:ext uri="{BB962C8B-B14F-4D97-AF65-F5344CB8AC3E}">
        <p14:creationId xmlns:p14="http://schemas.microsoft.com/office/powerpoint/2010/main" val="2255378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36</a:t>
            </a:fld>
            <a:endParaRPr lang="en-US"/>
          </a:p>
        </p:txBody>
      </p:sp>
    </p:spTree>
    <p:extLst>
      <p:ext uri="{BB962C8B-B14F-4D97-AF65-F5344CB8AC3E}">
        <p14:creationId xmlns:p14="http://schemas.microsoft.com/office/powerpoint/2010/main" val="8223933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37</a:t>
            </a:fld>
            <a:endParaRPr lang="en-US"/>
          </a:p>
        </p:txBody>
      </p:sp>
    </p:spTree>
    <p:extLst>
      <p:ext uri="{BB962C8B-B14F-4D97-AF65-F5344CB8AC3E}">
        <p14:creationId xmlns:p14="http://schemas.microsoft.com/office/powerpoint/2010/main" val="6472348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38</a:t>
            </a:fld>
            <a:endParaRPr lang="en-US"/>
          </a:p>
        </p:txBody>
      </p:sp>
    </p:spTree>
    <p:extLst>
      <p:ext uri="{BB962C8B-B14F-4D97-AF65-F5344CB8AC3E}">
        <p14:creationId xmlns:p14="http://schemas.microsoft.com/office/powerpoint/2010/main" val="18376901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39</a:t>
            </a:fld>
            <a:endParaRPr lang="en-US"/>
          </a:p>
        </p:txBody>
      </p:sp>
    </p:spTree>
    <p:extLst>
      <p:ext uri="{BB962C8B-B14F-4D97-AF65-F5344CB8AC3E}">
        <p14:creationId xmlns:p14="http://schemas.microsoft.com/office/powerpoint/2010/main" val="28164536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C1A26-7119-3E42-A3FA-DCCA3EB9AAC5}" type="slidenum">
              <a:rPr lang="en-US" smtClean="0"/>
              <a:t>40</a:t>
            </a:fld>
            <a:endParaRPr lang="en-US"/>
          </a:p>
        </p:txBody>
      </p:sp>
    </p:spTree>
    <p:extLst>
      <p:ext uri="{BB962C8B-B14F-4D97-AF65-F5344CB8AC3E}">
        <p14:creationId xmlns:p14="http://schemas.microsoft.com/office/powerpoint/2010/main" val="19343598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4" name="Picture 3" descr="A picture containing fish&#10;&#10;Description automatically generated">
            <a:extLst>
              <a:ext uri="{FF2B5EF4-FFF2-40B4-BE49-F238E27FC236}">
                <a16:creationId xmlns:a16="http://schemas.microsoft.com/office/drawing/2014/main" id="{FE09A77C-B0EC-24D0-0CB7-E411B610C40C}"/>
              </a:ext>
            </a:extLst>
          </p:cNvPr>
          <p:cNvPicPr>
            <a:picLocks noChangeAspect="1"/>
          </p:cNvPicPr>
          <p:nvPr userDrawn="1"/>
        </p:nvPicPr>
        <p:blipFill>
          <a:blip r:embed="rId2"/>
          <a:stretch>
            <a:fillRect/>
          </a:stretch>
        </p:blipFill>
        <p:spPr>
          <a:xfrm>
            <a:off x="0" y="0"/>
            <a:ext cx="13817600" cy="7772400"/>
          </a:xfrm>
          <a:prstGeom prst="rect">
            <a:avLst/>
          </a:prstGeom>
        </p:spPr>
      </p:pic>
      <p:sp>
        <p:nvSpPr>
          <p:cNvPr id="5" name="Rectangle 4">
            <a:extLst>
              <a:ext uri="{FF2B5EF4-FFF2-40B4-BE49-F238E27FC236}">
                <a16:creationId xmlns:a16="http://schemas.microsoft.com/office/drawing/2014/main" id="{4152036D-5B6D-449C-9F33-18105273624D}"/>
              </a:ext>
            </a:extLst>
          </p:cNvPr>
          <p:cNvSpPr/>
          <p:nvPr userDrawn="1"/>
        </p:nvSpPr>
        <p:spPr>
          <a:xfrm>
            <a:off x="0" y="0"/>
            <a:ext cx="13817600" cy="7772400"/>
          </a:xfrm>
          <a:prstGeom prst="rect">
            <a:avLst/>
          </a:prstGeom>
          <a:solidFill>
            <a:schemeClr val="accent1">
              <a:alpha val="50000"/>
            </a:schemeClr>
          </a:solidFill>
          <a:ln>
            <a:solidFill>
              <a:srgbClr val="000000">
                <a:alpha val="2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2" name="Title 1"/>
          <p:cNvSpPr>
            <a:spLocks noGrp="1"/>
          </p:cNvSpPr>
          <p:nvPr>
            <p:ph type="ctrTitle"/>
          </p:nvPr>
        </p:nvSpPr>
        <p:spPr>
          <a:xfrm>
            <a:off x="1003575" y="3611225"/>
            <a:ext cx="11159395" cy="1234758"/>
          </a:xfrm>
        </p:spPr>
        <p:txBody>
          <a:bodyPr anchor="b"/>
          <a:lstStyle>
            <a:lvl1pPr algn="l">
              <a:lnSpc>
                <a:spcPct val="100000"/>
              </a:lnSpc>
              <a:defRPr sz="4800">
                <a:solidFill>
                  <a:srgbClr val="D6A721"/>
                </a:solidFill>
                <a:latin typeface="Roboto Condensed" panose="02000000000000000000" pitchFamily="2" charset="0"/>
                <a:ea typeface="Roboto Condensed" panose="02000000000000000000" pitchFamily="2" charset="0"/>
              </a:defRPr>
            </a:lvl1pPr>
          </a:lstStyle>
          <a:p>
            <a:r>
              <a:rPr lang="en-US"/>
              <a:t>Click to edit Master title style</a:t>
            </a:r>
            <a:endParaRPr lang="en-US" dirty="0"/>
          </a:p>
        </p:txBody>
      </p:sp>
      <p:sp>
        <p:nvSpPr>
          <p:cNvPr id="17" name="Text Placeholder 16"/>
          <p:cNvSpPr>
            <a:spLocks noGrp="1"/>
          </p:cNvSpPr>
          <p:nvPr>
            <p:ph type="body" sz="quarter" idx="12"/>
          </p:nvPr>
        </p:nvSpPr>
        <p:spPr>
          <a:xfrm>
            <a:off x="1003575" y="5171429"/>
            <a:ext cx="11159395" cy="701708"/>
          </a:xfrm>
        </p:spPr>
        <p:txBody>
          <a:bodyPr/>
          <a:lstStyle>
            <a:lvl1pPr>
              <a:defRPr sz="2000" b="1" i="1">
                <a:solidFill>
                  <a:schemeClr val="bg1"/>
                </a:solidFill>
                <a:latin typeface="Georgia" panose="02040502050405020303" pitchFamily="18" charset="0"/>
                <a:ea typeface="Roboto Condensed" charset="0"/>
                <a:cs typeface="Georgia" panose="02040502050405020303" pitchFamily="18" charset="0"/>
              </a:defRPr>
            </a:lvl1pPr>
          </a:lstStyle>
          <a:p>
            <a:pPr lvl="0"/>
            <a:r>
              <a:rPr lang="en-US"/>
              <a:t>Click to edit Master text styles</a:t>
            </a:r>
          </a:p>
        </p:txBody>
      </p:sp>
      <p:sp>
        <p:nvSpPr>
          <p:cNvPr id="10" name="Footer Placeholder 4"/>
          <p:cNvSpPr txBox="1">
            <a:spLocks/>
          </p:cNvSpPr>
          <p:nvPr userDrawn="1"/>
        </p:nvSpPr>
        <p:spPr>
          <a:xfrm>
            <a:off x="1003575" y="7270011"/>
            <a:ext cx="6490085" cy="140758"/>
          </a:xfrm>
          <a:prstGeom prst="rect">
            <a:avLst/>
          </a:prstGeom>
        </p:spPr>
        <p:txBody>
          <a:bodyPr vert="horz" lIns="0" tIns="0" rIns="0" bIns="0" rtlCol="0" anchor="b"/>
          <a:lstStyle>
            <a:defPPr>
              <a:defRPr lang="en-US"/>
            </a:defPPr>
            <a:lvl1pPr marL="0" algn="l" defTabSz="914400" rtl="0" eaLnBrk="1" latinLnBrk="0" hangingPunct="1">
              <a:defRPr sz="7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Copyright © 2022 by GMO LLC. All rights reserved. For Institutional Use Only</a:t>
            </a:r>
          </a:p>
        </p:txBody>
      </p:sp>
      <p:cxnSp>
        <p:nvCxnSpPr>
          <p:cNvPr id="12" name="Straight Connector 11">
            <a:extLst>
              <a:ext uri="{FF2B5EF4-FFF2-40B4-BE49-F238E27FC236}">
                <a16:creationId xmlns:a16="http://schemas.microsoft.com/office/drawing/2014/main" id="{4BDD26E1-1445-43C3-8649-B7D7E4A4884D}"/>
              </a:ext>
            </a:extLst>
          </p:cNvPr>
          <p:cNvCxnSpPr>
            <a:cxnSpLocks/>
          </p:cNvCxnSpPr>
          <p:nvPr userDrawn="1"/>
        </p:nvCxnSpPr>
        <p:spPr>
          <a:xfrm>
            <a:off x="971849" y="4994310"/>
            <a:ext cx="11263694"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69D9948D-073C-4E79-A038-A324A1734D06}"/>
              </a:ext>
            </a:extLst>
          </p:cNvPr>
          <p:cNvPicPr>
            <a:picLocks noChangeAspect="1"/>
          </p:cNvPicPr>
          <p:nvPr userDrawn="1"/>
        </p:nvPicPr>
        <p:blipFill>
          <a:blip r:embed="rId3"/>
          <a:stretch>
            <a:fillRect/>
          </a:stretch>
        </p:blipFill>
        <p:spPr>
          <a:xfrm>
            <a:off x="1003575" y="1056537"/>
            <a:ext cx="2404856" cy="699691"/>
          </a:xfrm>
          <a:prstGeom prst="rect">
            <a:avLst/>
          </a:prstGeom>
        </p:spPr>
      </p:pic>
    </p:spTree>
    <p:extLst>
      <p:ext uri="{BB962C8B-B14F-4D97-AF65-F5344CB8AC3E}">
        <p14:creationId xmlns:p14="http://schemas.microsoft.com/office/powerpoint/2010/main" val="1868863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 White">
    <p:spTree>
      <p:nvGrpSpPr>
        <p:cNvPr id="1" name=""/>
        <p:cNvGrpSpPr/>
        <p:nvPr/>
      </p:nvGrpSpPr>
      <p:grpSpPr>
        <a:xfrm>
          <a:off x="0" y="0"/>
          <a:ext cx="0" cy="0"/>
          <a:chOff x="0" y="0"/>
          <a:chExt cx="0" cy="0"/>
        </a:xfrm>
      </p:grpSpPr>
      <p:cxnSp>
        <p:nvCxnSpPr>
          <p:cNvPr id="14" name="Straight Connector 13"/>
          <p:cNvCxnSpPr/>
          <p:nvPr userDrawn="1"/>
        </p:nvCxnSpPr>
        <p:spPr>
          <a:xfrm flipV="1">
            <a:off x="628074" y="3899908"/>
            <a:ext cx="12561455" cy="551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Title 1"/>
          <p:cNvSpPr>
            <a:spLocks noGrp="1"/>
          </p:cNvSpPr>
          <p:nvPr>
            <p:ph type="ctrTitle"/>
          </p:nvPr>
        </p:nvSpPr>
        <p:spPr>
          <a:xfrm>
            <a:off x="628074" y="2586357"/>
            <a:ext cx="12561455" cy="1234758"/>
          </a:xfrm>
        </p:spPr>
        <p:txBody>
          <a:bodyPr anchor="b"/>
          <a:lstStyle>
            <a:lvl1pPr algn="l">
              <a:defRPr sz="3800">
                <a:latin typeface="Roboto Condensed" panose="02000000000000000000" pitchFamily="2" charset="0"/>
                <a:ea typeface="Roboto Condensed" panose="02000000000000000000" pitchFamily="2" charset="0"/>
              </a:defRPr>
            </a:lvl1pPr>
          </a:lstStyle>
          <a:p>
            <a:r>
              <a:rPr lang="en-US"/>
              <a:t>Click to edit Master title style</a:t>
            </a:r>
          </a:p>
        </p:txBody>
      </p:sp>
      <p:cxnSp>
        <p:nvCxnSpPr>
          <p:cNvPr id="25" name="Straight Connector 24"/>
          <p:cNvCxnSpPr/>
          <p:nvPr userDrawn="1"/>
        </p:nvCxnSpPr>
        <p:spPr>
          <a:xfrm flipV="1">
            <a:off x="628074" y="7204504"/>
            <a:ext cx="12561455" cy="5510"/>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37" name="Slide Number Placeholder 5"/>
          <p:cNvSpPr txBox="1">
            <a:spLocks/>
          </p:cNvSpPr>
          <p:nvPr userDrawn="1"/>
        </p:nvSpPr>
        <p:spPr>
          <a:xfrm>
            <a:off x="12875492" y="7270014"/>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endParaRPr lang="en-US" sz="1000"/>
          </a:p>
        </p:txBody>
      </p:sp>
      <p:sp>
        <p:nvSpPr>
          <p:cNvPr id="38" name="Slide Number Placeholder 5"/>
          <p:cNvSpPr txBox="1">
            <a:spLocks/>
          </p:cNvSpPr>
          <p:nvPr userDrawn="1"/>
        </p:nvSpPr>
        <p:spPr>
          <a:xfrm>
            <a:off x="10080567" y="7270014"/>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pPr/>
              <a:t>‹#›</a:t>
            </a:fld>
            <a:endParaRPr lang="en-US" sz="1000"/>
          </a:p>
        </p:txBody>
      </p:sp>
      <p:pic>
        <p:nvPicPr>
          <p:cNvPr id="8" name="Picture 7">
            <a:extLst>
              <a:ext uri="{FF2B5EF4-FFF2-40B4-BE49-F238E27FC236}">
                <a16:creationId xmlns:a16="http://schemas.microsoft.com/office/drawing/2014/main" id="{884A357E-9EF8-4A7C-B77B-075E53CF4F63}"/>
              </a:ext>
            </a:extLst>
          </p:cNvPr>
          <p:cNvPicPr>
            <a:picLocks noChangeAspect="1"/>
          </p:cNvPicPr>
          <p:nvPr userDrawn="1"/>
        </p:nvPicPr>
        <p:blipFill>
          <a:blip r:embed="rId2"/>
          <a:stretch>
            <a:fillRect/>
          </a:stretch>
        </p:blipFill>
        <p:spPr>
          <a:xfrm>
            <a:off x="12390120" y="7285296"/>
            <a:ext cx="464594" cy="140334"/>
          </a:xfrm>
          <a:prstGeom prst="rect">
            <a:avLst/>
          </a:prstGeom>
        </p:spPr>
      </p:pic>
    </p:spTree>
    <p:extLst>
      <p:ext uri="{BB962C8B-B14F-4D97-AF65-F5344CB8AC3E}">
        <p14:creationId xmlns:p14="http://schemas.microsoft.com/office/powerpoint/2010/main" val="2052609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vider Slide | White">
    <p:bg>
      <p:bgPr>
        <a:solidFill>
          <a:schemeClr val="accent3"/>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13817600" cy="77724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Roboto Condensed" panose="02000000000000000000" pitchFamily="2" charset="0"/>
              <a:ea typeface="Roboto Condensed" panose="02000000000000000000" pitchFamily="2" charset="0"/>
            </a:endParaRPr>
          </a:p>
        </p:txBody>
      </p:sp>
      <p:cxnSp>
        <p:nvCxnSpPr>
          <p:cNvPr id="14" name="Straight Connector 13"/>
          <p:cNvCxnSpPr/>
          <p:nvPr userDrawn="1"/>
        </p:nvCxnSpPr>
        <p:spPr>
          <a:xfrm flipV="1">
            <a:off x="628074" y="3899908"/>
            <a:ext cx="12561455" cy="5510"/>
          </a:xfrm>
          <a:prstGeom prst="line">
            <a:avLst/>
          </a:prstGeom>
          <a:ln>
            <a:solidFill>
              <a:srgbClr val="C8DEE8"/>
            </a:solidFill>
          </a:ln>
        </p:spPr>
        <p:style>
          <a:lnRef idx="1">
            <a:schemeClr val="accent1"/>
          </a:lnRef>
          <a:fillRef idx="0">
            <a:schemeClr val="accent1"/>
          </a:fillRef>
          <a:effectRef idx="0">
            <a:schemeClr val="accent1"/>
          </a:effectRef>
          <a:fontRef idx="minor">
            <a:schemeClr val="tx1"/>
          </a:fontRef>
        </p:style>
      </p:cxnSp>
      <p:sp>
        <p:nvSpPr>
          <p:cNvPr id="20" name="Title 1"/>
          <p:cNvSpPr>
            <a:spLocks noGrp="1"/>
          </p:cNvSpPr>
          <p:nvPr>
            <p:ph type="ctrTitle"/>
          </p:nvPr>
        </p:nvSpPr>
        <p:spPr>
          <a:xfrm>
            <a:off x="628074" y="2586357"/>
            <a:ext cx="12561455" cy="1234758"/>
          </a:xfrm>
        </p:spPr>
        <p:txBody>
          <a:bodyPr anchor="b"/>
          <a:lstStyle>
            <a:lvl1pPr algn="l">
              <a:defRPr sz="3800">
                <a:solidFill>
                  <a:srgbClr val="D6A721"/>
                </a:solidFill>
                <a:latin typeface="Roboto Condensed" panose="02000000000000000000" pitchFamily="2" charset="0"/>
                <a:ea typeface="Roboto Condensed" panose="02000000000000000000" pitchFamily="2" charset="0"/>
              </a:defRPr>
            </a:lvl1pPr>
          </a:lstStyle>
          <a:p>
            <a:r>
              <a:rPr lang="en-US"/>
              <a:t>Click to edit Master title style</a:t>
            </a:r>
            <a:endParaRPr lang="en-US" dirty="0"/>
          </a:p>
        </p:txBody>
      </p:sp>
      <p:cxnSp>
        <p:nvCxnSpPr>
          <p:cNvPr id="4" name="Straight Connector 3">
            <a:extLst>
              <a:ext uri="{FF2B5EF4-FFF2-40B4-BE49-F238E27FC236}">
                <a16:creationId xmlns:a16="http://schemas.microsoft.com/office/drawing/2014/main" id="{3B89C975-2FB9-02AB-7480-6703A12F34AD}"/>
              </a:ext>
            </a:extLst>
          </p:cNvPr>
          <p:cNvCxnSpPr/>
          <p:nvPr userDrawn="1"/>
        </p:nvCxnSpPr>
        <p:spPr>
          <a:xfrm flipV="1">
            <a:off x="628074" y="3899908"/>
            <a:ext cx="12561455" cy="551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E1C6C37-1D93-45A9-2E18-4C78BAB234AA}"/>
              </a:ext>
            </a:extLst>
          </p:cNvPr>
          <p:cNvCxnSpPr/>
          <p:nvPr userDrawn="1"/>
        </p:nvCxnSpPr>
        <p:spPr>
          <a:xfrm flipV="1">
            <a:off x="628074" y="7204504"/>
            <a:ext cx="12561455" cy="5510"/>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26147928-7E1B-A7B0-A1BC-F696E6258BD0}"/>
              </a:ext>
            </a:extLst>
          </p:cNvPr>
          <p:cNvSpPr txBox="1">
            <a:spLocks/>
          </p:cNvSpPr>
          <p:nvPr userDrawn="1"/>
        </p:nvSpPr>
        <p:spPr>
          <a:xfrm>
            <a:off x="12875492" y="7270014"/>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endParaRPr lang="en-US" sz="1000"/>
          </a:p>
        </p:txBody>
      </p:sp>
      <p:sp>
        <p:nvSpPr>
          <p:cNvPr id="7" name="Slide Number Placeholder 5">
            <a:extLst>
              <a:ext uri="{FF2B5EF4-FFF2-40B4-BE49-F238E27FC236}">
                <a16:creationId xmlns:a16="http://schemas.microsoft.com/office/drawing/2014/main" id="{F6250A2B-8ECD-9C42-6CAE-E63250AE32BF}"/>
              </a:ext>
            </a:extLst>
          </p:cNvPr>
          <p:cNvSpPr txBox="1">
            <a:spLocks/>
          </p:cNvSpPr>
          <p:nvPr userDrawn="1"/>
        </p:nvSpPr>
        <p:spPr>
          <a:xfrm>
            <a:off x="10080567" y="7270014"/>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pPr/>
              <a:t>‹#›</a:t>
            </a:fld>
            <a:endParaRPr lang="en-US" sz="1000"/>
          </a:p>
        </p:txBody>
      </p:sp>
      <p:pic>
        <p:nvPicPr>
          <p:cNvPr id="8" name="Picture 7">
            <a:extLst>
              <a:ext uri="{FF2B5EF4-FFF2-40B4-BE49-F238E27FC236}">
                <a16:creationId xmlns:a16="http://schemas.microsoft.com/office/drawing/2014/main" id="{587CEB8F-F9A1-7625-145C-76EA91EF6C20}"/>
              </a:ext>
            </a:extLst>
          </p:cNvPr>
          <p:cNvPicPr>
            <a:picLocks noChangeAspect="1"/>
          </p:cNvPicPr>
          <p:nvPr userDrawn="1"/>
        </p:nvPicPr>
        <p:blipFill>
          <a:blip r:embed="rId2"/>
          <a:stretch>
            <a:fillRect/>
          </a:stretch>
        </p:blipFill>
        <p:spPr>
          <a:xfrm>
            <a:off x="12390120" y="7285296"/>
            <a:ext cx="464594" cy="140334"/>
          </a:xfrm>
          <a:prstGeom prst="rect">
            <a:avLst/>
          </a:prstGeom>
        </p:spPr>
      </p:pic>
      <p:sp>
        <p:nvSpPr>
          <p:cNvPr id="9" name="Footer Placeholder 4">
            <a:extLst>
              <a:ext uri="{FF2B5EF4-FFF2-40B4-BE49-F238E27FC236}">
                <a16:creationId xmlns:a16="http://schemas.microsoft.com/office/drawing/2014/main" id="{747C30C4-1676-0475-64DE-E32CD9608B1A}"/>
              </a:ext>
            </a:extLst>
          </p:cNvPr>
          <p:cNvSpPr txBox="1">
            <a:spLocks/>
          </p:cNvSpPr>
          <p:nvPr userDrawn="1"/>
        </p:nvSpPr>
        <p:spPr>
          <a:xfrm>
            <a:off x="628074" y="7270011"/>
            <a:ext cx="6490085" cy="140758"/>
          </a:xfrm>
          <a:prstGeom prst="rect">
            <a:avLst/>
          </a:prstGeom>
        </p:spPr>
        <p:txBody>
          <a:bodyPr vert="horz" lIns="0" tIns="0" rIns="0" bIns="0" rtlCol="0" anchor="b"/>
          <a:lstStyle>
            <a:defPPr>
              <a:defRPr lang="en-US"/>
            </a:defPPr>
            <a:lvl1pPr marL="0" algn="l" defTabSz="914400" rtl="0" eaLnBrk="1" latinLnBrk="0" hangingPunct="1">
              <a:defRPr sz="7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 2022 by GMO LLC. All rights reserved. For Institutional Use Only</a:t>
            </a:r>
          </a:p>
        </p:txBody>
      </p:sp>
    </p:spTree>
    <p:extLst>
      <p:ext uri="{BB962C8B-B14F-4D97-AF65-F5344CB8AC3E}">
        <p14:creationId xmlns:p14="http://schemas.microsoft.com/office/powerpoint/2010/main" val="1498242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628074" y="6637663"/>
            <a:ext cx="12561455" cy="486326"/>
          </a:xfrm>
        </p:spPr>
        <p:txBody>
          <a:bodyPr anchor="b">
            <a:noAutofit/>
          </a:bodyPr>
          <a:lstStyle>
            <a:lvl1pPr marL="0" indent="0">
              <a:spcBef>
                <a:spcPts val="0"/>
              </a:spcBef>
              <a:spcAft>
                <a:spcPts val="0"/>
              </a:spcAft>
              <a:buNone/>
              <a:defRPr lang="en-US" sz="900" b="0" i="0" kern="1200" cap="none" spc="0" baseline="0" dirty="0" smtClean="0">
                <a:solidFill>
                  <a:schemeClr val="tx1">
                    <a:lumMod val="65000"/>
                    <a:lumOff val="35000"/>
                  </a:schemeClr>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pPr marL="0" lvl="0" indent="0" algn="l" defTabSz="1005755" rtl="0" eaLnBrk="1" latinLnBrk="0" hangingPunct="1">
              <a:lnSpc>
                <a:spcPct val="100000"/>
              </a:lnSpc>
              <a:spcBef>
                <a:spcPts val="0"/>
              </a:spcBef>
              <a:buFont typeface="Arial" panose="020B0604020202020204" pitchFamily="34" charset="0"/>
              <a:buNone/>
            </a:pPr>
            <a:r>
              <a:rPr lang="en-US"/>
              <a:t>Footnotes and / or disclosure info for charts and graphs</a:t>
            </a:r>
          </a:p>
        </p:txBody>
      </p:sp>
      <p:sp>
        <p:nvSpPr>
          <p:cNvPr id="25" name="Slide Number Placeholder 5"/>
          <p:cNvSpPr txBox="1">
            <a:spLocks/>
          </p:cNvSpPr>
          <p:nvPr userDrawn="1"/>
        </p:nvSpPr>
        <p:spPr>
          <a:xfrm>
            <a:off x="12875492" y="7270013"/>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endParaRPr lang="en-US" sz="1000"/>
          </a:p>
        </p:txBody>
      </p:sp>
      <p:sp>
        <p:nvSpPr>
          <p:cNvPr id="26" name="Slide Number Placeholder 5"/>
          <p:cNvSpPr txBox="1">
            <a:spLocks/>
          </p:cNvSpPr>
          <p:nvPr userDrawn="1"/>
        </p:nvSpPr>
        <p:spPr>
          <a:xfrm>
            <a:off x="10080567" y="7270015"/>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pPr/>
              <a:t>‹#›</a:t>
            </a:fld>
            <a:endParaRPr lang="en-US" sz="1000"/>
          </a:p>
        </p:txBody>
      </p:sp>
      <p:sp>
        <p:nvSpPr>
          <p:cNvPr id="10" name="Title 1"/>
          <p:cNvSpPr>
            <a:spLocks noGrp="1"/>
          </p:cNvSpPr>
          <p:nvPr>
            <p:ph type="title"/>
          </p:nvPr>
        </p:nvSpPr>
        <p:spPr>
          <a:xfrm>
            <a:off x="628074" y="457205"/>
            <a:ext cx="12561455" cy="773115"/>
          </a:xfrm>
        </p:spPr>
        <p:txBody>
          <a:bodyPr/>
          <a:lstStyle>
            <a:lvl1pPr>
              <a:defRPr>
                <a:latin typeface="Roboto Condensed" panose="02000000000000000000" pitchFamily="2" charset="0"/>
                <a:ea typeface="Roboto Condensed" panose="02000000000000000000" pitchFamily="2" charset="0"/>
              </a:defRPr>
            </a:lvl1pPr>
          </a:lstStyle>
          <a:p>
            <a:r>
              <a:rPr lang="en-US"/>
              <a:t>Click to edit Master title style</a:t>
            </a:r>
          </a:p>
        </p:txBody>
      </p:sp>
      <p:sp>
        <p:nvSpPr>
          <p:cNvPr id="11" name="Text Placeholder 13"/>
          <p:cNvSpPr>
            <a:spLocks noGrp="1"/>
          </p:cNvSpPr>
          <p:nvPr>
            <p:ph type="body" sz="quarter" idx="13"/>
          </p:nvPr>
        </p:nvSpPr>
        <p:spPr>
          <a:xfrm>
            <a:off x="628074" y="1457325"/>
            <a:ext cx="12561455" cy="242468"/>
          </a:xfrm>
        </p:spPr>
        <p:txBody>
          <a:bodyPr>
            <a:noAutofit/>
          </a:bodyPr>
          <a:lstStyle>
            <a:lvl1pPr>
              <a:defRPr sz="1800" b="1" i="1" cap="none" spc="0" baseline="0">
                <a:solidFill>
                  <a:schemeClr val="accent1"/>
                </a:solidFill>
                <a:latin typeface="Georgia" charset="0"/>
                <a:ea typeface="Georgia" charset="0"/>
                <a:cs typeface="Georgia" charset="0"/>
              </a:defRPr>
            </a:lvl1pPr>
          </a:lstStyle>
          <a:p>
            <a:pPr lvl="0"/>
            <a:r>
              <a:rPr lang="en-US"/>
              <a:t>Click to edit Master text styles</a:t>
            </a:r>
          </a:p>
        </p:txBody>
      </p:sp>
      <p:cxnSp>
        <p:nvCxnSpPr>
          <p:cNvPr id="8" name="Straight Connector 7">
            <a:extLst>
              <a:ext uri="{FF2B5EF4-FFF2-40B4-BE49-F238E27FC236}">
                <a16:creationId xmlns:a16="http://schemas.microsoft.com/office/drawing/2014/main" id="{5BFC3DF2-6DDC-43DE-B5DA-503DF000BC60}"/>
              </a:ext>
            </a:extLst>
          </p:cNvPr>
          <p:cNvCxnSpPr/>
          <p:nvPr userDrawn="1"/>
        </p:nvCxnSpPr>
        <p:spPr>
          <a:xfrm flipV="1">
            <a:off x="628074" y="7204504"/>
            <a:ext cx="12561455" cy="551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2BD9428-4B52-4694-98AE-E3E6B6339C4A}"/>
              </a:ext>
            </a:extLst>
          </p:cNvPr>
          <p:cNvCxnSpPr/>
          <p:nvPr userDrawn="1"/>
        </p:nvCxnSpPr>
        <p:spPr>
          <a:xfrm flipV="1">
            <a:off x="628074" y="1349375"/>
            <a:ext cx="12561455" cy="551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4A978C3-79CA-4BF7-8C1E-51E11E60B1E9}"/>
              </a:ext>
            </a:extLst>
          </p:cNvPr>
          <p:cNvPicPr>
            <a:picLocks noChangeAspect="1"/>
          </p:cNvPicPr>
          <p:nvPr userDrawn="1"/>
        </p:nvPicPr>
        <p:blipFill>
          <a:blip r:embed="rId2"/>
          <a:stretch>
            <a:fillRect/>
          </a:stretch>
        </p:blipFill>
        <p:spPr>
          <a:xfrm>
            <a:off x="12390120" y="7285296"/>
            <a:ext cx="464594" cy="140334"/>
          </a:xfrm>
          <a:prstGeom prst="rect">
            <a:avLst/>
          </a:prstGeom>
        </p:spPr>
      </p:pic>
    </p:spTree>
    <p:extLst>
      <p:ext uri="{BB962C8B-B14F-4D97-AF65-F5344CB8AC3E}">
        <p14:creationId xmlns:p14="http://schemas.microsoft.com/office/powerpoint/2010/main" val="337685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1" name="Text Placeholder 8"/>
          <p:cNvSpPr>
            <a:spLocks noGrp="1"/>
          </p:cNvSpPr>
          <p:nvPr>
            <p:ph type="body" sz="quarter" idx="13" hasCustomPrompt="1"/>
          </p:nvPr>
        </p:nvSpPr>
        <p:spPr>
          <a:xfrm>
            <a:off x="628074" y="6643171"/>
            <a:ext cx="12561455" cy="480818"/>
          </a:xfrm>
        </p:spPr>
        <p:txBody>
          <a:bodyPr anchor="b">
            <a:noAutofit/>
          </a:bodyPr>
          <a:lstStyle>
            <a:lvl1pPr marL="0" indent="0">
              <a:spcBef>
                <a:spcPts val="0"/>
              </a:spcBef>
              <a:spcAft>
                <a:spcPts val="0"/>
              </a:spcAft>
              <a:buNone/>
              <a:defRPr lang="en-US" sz="900" b="0" i="0" kern="1200" cap="none" spc="0" baseline="0" dirty="0" smtClean="0">
                <a:solidFill>
                  <a:schemeClr val="tx1">
                    <a:lumMod val="65000"/>
                    <a:lumOff val="35000"/>
                  </a:schemeClr>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pPr marL="0" lvl="0" indent="0" algn="l" defTabSz="1005755" rtl="0" eaLnBrk="1" latinLnBrk="0" hangingPunct="1">
              <a:lnSpc>
                <a:spcPct val="100000"/>
              </a:lnSpc>
              <a:spcBef>
                <a:spcPts val="0"/>
              </a:spcBef>
              <a:buFont typeface="Arial" panose="020B0604020202020204" pitchFamily="34" charset="0"/>
              <a:buNone/>
            </a:pPr>
            <a:r>
              <a:rPr lang="en-US"/>
              <a:t>Footnotes and / or disclosure info for charts and graphs</a:t>
            </a:r>
          </a:p>
        </p:txBody>
      </p:sp>
      <p:sp>
        <p:nvSpPr>
          <p:cNvPr id="22" name="Slide Number Placeholder 5"/>
          <p:cNvSpPr txBox="1">
            <a:spLocks/>
          </p:cNvSpPr>
          <p:nvPr userDrawn="1"/>
        </p:nvSpPr>
        <p:spPr>
          <a:xfrm>
            <a:off x="12875492" y="7270013"/>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endParaRPr lang="en-US" sz="1000"/>
          </a:p>
        </p:txBody>
      </p:sp>
      <p:sp>
        <p:nvSpPr>
          <p:cNvPr id="23" name="Slide Number Placeholder 5"/>
          <p:cNvSpPr txBox="1">
            <a:spLocks/>
          </p:cNvSpPr>
          <p:nvPr userDrawn="1"/>
        </p:nvSpPr>
        <p:spPr>
          <a:xfrm>
            <a:off x="10080567" y="7270015"/>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pPr/>
              <a:t>‹#›</a:t>
            </a:fld>
            <a:endParaRPr lang="en-US" sz="1000"/>
          </a:p>
        </p:txBody>
      </p:sp>
      <p:sp>
        <p:nvSpPr>
          <p:cNvPr id="9" name="Title 1"/>
          <p:cNvSpPr>
            <a:spLocks noGrp="1"/>
          </p:cNvSpPr>
          <p:nvPr>
            <p:ph type="title"/>
          </p:nvPr>
        </p:nvSpPr>
        <p:spPr>
          <a:xfrm>
            <a:off x="628074" y="457205"/>
            <a:ext cx="12561455" cy="773115"/>
          </a:xfrm>
        </p:spPr>
        <p:txBody>
          <a:bodyPr/>
          <a:lstStyle>
            <a:lvl1pPr>
              <a:defRPr>
                <a:latin typeface="Roboto Condensed" panose="02000000000000000000" pitchFamily="2" charset="0"/>
                <a:ea typeface="Roboto Condensed" panose="02000000000000000000" pitchFamily="2"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C28351A4-5B1C-437E-8C90-619E0240AE1F}"/>
              </a:ext>
            </a:extLst>
          </p:cNvPr>
          <p:cNvCxnSpPr/>
          <p:nvPr userDrawn="1"/>
        </p:nvCxnSpPr>
        <p:spPr>
          <a:xfrm flipV="1">
            <a:off x="628074" y="7204504"/>
            <a:ext cx="12561455" cy="551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ADC9AC3-C819-455A-9A60-7C94EBB85DC8}"/>
              </a:ext>
            </a:extLst>
          </p:cNvPr>
          <p:cNvCxnSpPr/>
          <p:nvPr userDrawn="1"/>
        </p:nvCxnSpPr>
        <p:spPr>
          <a:xfrm flipV="1">
            <a:off x="628074" y="1349375"/>
            <a:ext cx="12561455" cy="551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0A9DA081-94A9-4D42-89BA-644E5AC8DDA4}"/>
              </a:ext>
            </a:extLst>
          </p:cNvPr>
          <p:cNvPicPr>
            <a:picLocks noChangeAspect="1"/>
          </p:cNvPicPr>
          <p:nvPr userDrawn="1"/>
        </p:nvPicPr>
        <p:blipFill>
          <a:blip r:embed="rId2"/>
          <a:stretch>
            <a:fillRect/>
          </a:stretch>
        </p:blipFill>
        <p:spPr>
          <a:xfrm>
            <a:off x="12390120" y="7285296"/>
            <a:ext cx="464594" cy="140334"/>
          </a:xfrm>
          <a:prstGeom prst="rect">
            <a:avLst/>
          </a:prstGeom>
        </p:spPr>
      </p:pic>
    </p:spTree>
    <p:extLst>
      <p:ext uri="{BB962C8B-B14F-4D97-AF65-F5344CB8AC3E}">
        <p14:creationId xmlns:p14="http://schemas.microsoft.com/office/powerpoint/2010/main" val="688242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title, and Content | 1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Roboto Condensed" panose="02000000000000000000" pitchFamily="2" charset="0"/>
                <a:ea typeface="Roboto Condensed" panose="02000000000000000000" pitchFamily="2" charset="0"/>
              </a:defRPr>
            </a:lvl1pPr>
          </a:lstStyle>
          <a:p>
            <a:r>
              <a:rPr lang="en-US"/>
              <a:t>Click to edit Master title style</a:t>
            </a:r>
          </a:p>
        </p:txBody>
      </p:sp>
      <p:sp>
        <p:nvSpPr>
          <p:cNvPr id="9" name="Content Placeholder 2"/>
          <p:cNvSpPr>
            <a:spLocks noGrp="1"/>
          </p:cNvSpPr>
          <p:nvPr>
            <p:ph idx="1"/>
          </p:nvPr>
        </p:nvSpPr>
        <p:spPr>
          <a:xfrm>
            <a:off x="1570182" y="2057401"/>
            <a:ext cx="10677236" cy="4116388"/>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14" name="Text Placeholder 13"/>
          <p:cNvSpPr>
            <a:spLocks noGrp="1"/>
          </p:cNvSpPr>
          <p:nvPr>
            <p:ph type="body" sz="quarter" idx="13"/>
          </p:nvPr>
        </p:nvSpPr>
        <p:spPr>
          <a:xfrm>
            <a:off x="628074" y="1457325"/>
            <a:ext cx="12561455" cy="242468"/>
          </a:xfrm>
        </p:spPr>
        <p:txBody>
          <a:bodyPr>
            <a:noAutofit/>
          </a:bodyPr>
          <a:lstStyle>
            <a:lvl1pPr>
              <a:defRPr sz="1800" b="1" i="1" cap="none" spc="0" baseline="0">
                <a:solidFill>
                  <a:schemeClr val="accent1"/>
                </a:solidFill>
                <a:latin typeface="Georgia" charset="0"/>
                <a:ea typeface="Georgia" charset="0"/>
                <a:cs typeface="Georgia" charset="0"/>
              </a:defRPr>
            </a:lvl1pPr>
          </a:lstStyle>
          <a:p>
            <a:pPr lvl="0"/>
            <a:r>
              <a:rPr lang="en-US"/>
              <a:t>Click to edit Master text styles</a:t>
            </a:r>
          </a:p>
        </p:txBody>
      </p:sp>
      <p:sp>
        <p:nvSpPr>
          <p:cNvPr id="21" name="Text Placeholder 8"/>
          <p:cNvSpPr>
            <a:spLocks noGrp="1"/>
          </p:cNvSpPr>
          <p:nvPr>
            <p:ph type="body" sz="quarter" idx="14" hasCustomPrompt="1"/>
          </p:nvPr>
        </p:nvSpPr>
        <p:spPr>
          <a:xfrm>
            <a:off x="628074" y="6643177"/>
            <a:ext cx="12561455" cy="480812"/>
          </a:xfrm>
        </p:spPr>
        <p:txBody>
          <a:bodyPr anchor="b">
            <a:noAutofit/>
          </a:bodyPr>
          <a:lstStyle>
            <a:lvl1pPr marL="0" indent="0">
              <a:spcBef>
                <a:spcPts val="0"/>
              </a:spcBef>
              <a:spcAft>
                <a:spcPts val="0"/>
              </a:spcAft>
              <a:buNone/>
              <a:defRPr lang="en-US" sz="900" b="0" i="0" kern="1200" cap="none" spc="0" baseline="0" dirty="0" smtClean="0">
                <a:solidFill>
                  <a:schemeClr val="tx1">
                    <a:lumMod val="65000"/>
                    <a:lumOff val="35000"/>
                  </a:schemeClr>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pPr lvl="0"/>
            <a:r>
              <a:rPr lang="en-US"/>
              <a:t>Footnotes and / or disclosure info for charts and graphs</a:t>
            </a:r>
          </a:p>
        </p:txBody>
      </p:sp>
      <p:sp>
        <p:nvSpPr>
          <p:cNvPr id="27" name="Slide Number Placeholder 5"/>
          <p:cNvSpPr txBox="1">
            <a:spLocks/>
          </p:cNvSpPr>
          <p:nvPr userDrawn="1"/>
        </p:nvSpPr>
        <p:spPr>
          <a:xfrm>
            <a:off x="12875492" y="7270013"/>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endParaRPr lang="en-US" sz="1000"/>
          </a:p>
        </p:txBody>
      </p:sp>
      <p:sp>
        <p:nvSpPr>
          <p:cNvPr id="13" name="Slide Number Placeholder 5"/>
          <p:cNvSpPr txBox="1">
            <a:spLocks/>
          </p:cNvSpPr>
          <p:nvPr userDrawn="1"/>
        </p:nvSpPr>
        <p:spPr>
          <a:xfrm>
            <a:off x="10080567" y="7270015"/>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pPr/>
              <a:t>‹#›</a:t>
            </a:fld>
            <a:endParaRPr lang="en-US" sz="1000"/>
          </a:p>
        </p:txBody>
      </p:sp>
      <p:cxnSp>
        <p:nvCxnSpPr>
          <p:cNvPr id="10" name="Straight Connector 9">
            <a:extLst>
              <a:ext uri="{FF2B5EF4-FFF2-40B4-BE49-F238E27FC236}">
                <a16:creationId xmlns:a16="http://schemas.microsoft.com/office/drawing/2014/main" id="{A08A3C6E-ADDE-4B8D-8DF4-1E17A889BB8C}"/>
              </a:ext>
            </a:extLst>
          </p:cNvPr>
          <p:cNvCxnSpPr/>
          <p:nvPr userDrawn="1"/>
        </p:nvCxnSpPr>
        <p:spPr>
          <a:xfrm flipV="1">
            <a:off x="628074" y="7204504"/>
            <a:ext cx="12561455" cy="551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A96059F-EAD3-4257-9828-374A625238DB}"/>
              </a:ext>
            </a:extLst>
          </p:cNvPr>
          <p:cNvCxnSpPr/>
          <p:nvPr userDrawn="1"/>
        </p:nvCxnSpPr>
        <p:spPr>
          <a:xfrm flipV="1">
            <a:off x="628074" y="1349375"/>
            <a:ext cx="12561455" cy="551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63B431F8-2D78-4E76-B369-4C1977696BE0}"/>
              </a:ext>
            </a:extLst>
          </p:cNvPr>
          <p:cNvPicPr>
            <a:picLocks noChangeAspect="1"/>
          </p:cNvPicPr>
          <p:nvPr userDrawn="1"/>
        </p:nvPicPr>
        <p:blipFill>
          <a:blip r:embed="rId2"/>
          <a:stretch>
            <a:fillRect/>
          </a:stretch>
        </p:blipFill>
        <p:spPr>
          <a:xfrm>
            <a:off x="12390120" y="7285296"/>
            <a:ext cx="464594" cy="140334"/>
          </a:xfrm>
          <a:prstGeom prst="rect">
            <a:avLst/>
          </a:prstGeom>
        </p:spPr>
      </p:pic>
    </p:spTree>
    <p:extLst>
      <p:ext uri="{BB962C8B-B14F-4D97-AF65-F5344CB8AC3E}">
        <p14:creationId xmlns:p14="http://schemas.microsoft.com/office/powerpoint/2010/main" val="1025502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1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Roboto Condensed" panose="02000000000000000000" pitchFamily="2" charset="0"/>
                <a:ea typeface="Roboto Condensed" panose="02000000000000000000" pitchFamily="2" charset="0"/>
              </a:defRPr>
            </a:lvl1pPr>
          </a:lstStyle>
          <a:p>
            <a:r>
              <a:rPr lang="en-US"/>
              <a:t>Click to edit Master title style</a:t>
            </a:r>
          </a:p>
        </p:txBody>
      </p:sp>
      <p:sp>
        <p:nvSpPr>
          <p:cNvPr id="3" name="Content Placeholder 2"/>
          <p:cNvSpPr>
            <a:spLocks noGrp="1"/>
          </p:cNvSpPr>
          <p:nvPr>
            <p:ph idx="1"/>
          </p:nvPr>
        </p:nvSpPr>
        <p:spPr>
          <a:xfrm>
            <a:off x="1570182" y="1824039"/>
            <a:ext cx="10677236" cy="434975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16" name="Text Placeholder 8"/>
          <p:cNvSpPr>
            <a:spLocks noGrp="1"/>
          </p:cNvSpPr>
          <p:nvPr>
            <p:ph type="body" sz="quarter" idx="13" hasCustomPrompt="1"/>
          </p:nvPr>
        </p:nvSpPr>
        <p:spPr>
          <a:xfrm>
            <a:off x="628074" y="6642943"/>
            <a:ext cx="12561455" cy="481046"/>
          </a:xfrm>
        </p:spPr>
        <p:txBody>
          <a:bodyPr anchor="b">
            <a:noAutofit/>
          </a:bodyPr>
          <a:lstStyle>
            <a:lvl1pPr marL="0" indent="0">
              <a:spcBef>
                <a:spcPts val="0"/>
              </a:spcBef>
              <a:spcAft>
                <a:spcPts val="0"/>
              </a:spcAft>
              <a:buNone/>
              <a:defRPr lang="en-US" sz="900" b="0" i="0" kern="1200" cap="none" spc="0" baseline="0" dirty="0" smtClean="0">
                <a:solidFill>
                  <a:schemeClr val="tx1">
                    <a:lumMod val="65000"/>
                    <a:lumOff val="35000"/>
                  </a:schemeClr>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pPr lvl="0"/>
            <a:r>
              <a:rPr lang="en-US"/>
              <a:t>Footnotes and / or disclosure info for charts and graphs</a:t>
            </a:r>
          </a:p>
        </p:txBody>
      </p:sp>
      <p:sp>
        <p:nvSpPr>
          <p:cNvPr id="18" name="Slide Number Placeholder 5"/>
          <p:cNvSpPr txBox="1">
            <a:spLocks/>
          </p:cNvSpPr>
          <p:nvPr userDrawn="1"/>
        </p:nvSpPr>
        <p:spPr>
          <a:xfrm>
            <a:off x="12875492" y="7270013"/>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endParaRPr lang="en-US" sz="1000"/>
          </a:p>
        </p:txBody>
      </p:sp>
      <p:sp>
        <p:nvSpPr>
          <p:cNvPr id="22" name="Slide Number Placeholder 5"/>
          <p:cNvSpPr txBox="1">
            <a:spLocks/>
          </p:cNvSpPr>
          <p:nvPr userDrawn="1"/>
        </p:nvSpPr>
        <p:spPr>
          <a:xfrm>
            <a:off x="10080567" y="7270015"/>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pPr/>
              <a:t>‹#›</a:t>
            </a:fld>
            <a:endParaRPr lang="en-US" sz="1000"/>
          </a:p>
        </p:txBody>
      </p:sp>
      <p:cxnSp>
        <p:nvCxnSpPr>
          <p:cNvPr id="8" name="Straight Connector 7">
            <a:extLst>
              <a:ext uri="{FF2B5EF4-FFF2-40B4-BE49-F238E27FC236}">
                <a16:creationId xmlns:a16="http://schemas.microsoft.com/office/drawing/2014/main" id="{5CE65982-C7F1-41DD-B3A3-940952C56827}"/>
              </a:ext>
            </a:extLst>
          </p:cNvPr>
          <p:cNvCxnSpPr/>
          <p:nvPr userDrawn="1"/>
        </p:nvCxnSpPr>
        <p:spPr>
          <a:xfrm flipV="1">
            <a:off x="628074" y="7204504"/>
            <a:ext cx="12561455" cy="551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0012B1-57A9-481F-B325-0FF3312BBFA5}"/>
              </a:ext>
            </a:extLst>
          </p:cNvPr>
          <p:cNvCxnSpPr/>
          <p:nvPr userDrawn="1"/>
        </p:nvCxnSpPr>
        <p:spPr>
          <a:xfrm flipV="1">
            <a:off x="628074" y="1349375"/>
            <a:ext cx="12561455" cy="551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89EF29E8-907D-44EE-B554-208805C70B47}"/>
              </a:ext>
            </a:extLst>
          </p:cNvPr>
          <p:cNvPicPr>
            <a:picLocks noChangeAspect="1"/>
          </p:cNvPicPr>
          <p:nvPr userDrawn="1"/>
        </p:nvPicPr>
        <p:blipFill>
          <a:blip r:embed="rId2"/>
          <a:stretch>
            <a:fillRect/>
          </a:stretch>
        </p:blipFill>
        <p:spPr>
          <a:xfrm>
            <a:off x="12390120" y="7285296"/>
            <a:ext cx="464594" cy="140334"/>
          </a:xfrm>
          <a:prstGeom prst="rect">
            <a:avLst/>
          </a:prstGeom>
        </p:spPr>
      </p:pic>
    </p:spTree>
    <p:extLst>
      <p:ext uri="{BB962C8B-B14F-4D97-AF65-F5344CB8AC3E}">
        <p14:creationId xmlns:p14="http://schemas.microsoft.com/office/powerpoint/2010/main" val="900284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ubtitle, and Content | 2 column A">
    <p:spTree>
      <p:nvGrpSpPr>
        <p:cNvPr id="1" name=""/>
        <p:cNvGrpSpPr/>
        <p:nvPr/>
      </p:nvGrpSpPr>
      <p:grpSpPr>
        <a:xfrm>
          <a:off x="0" y="0"/>
          <a:ext cx="0" cy="0"/>
          <a:chOff x="0" y="0"/>
          <a:chExt cx="0" cy="0"/>
        </a:xfrm>
      </p:grpSpPr>
      <p:sp>
        <p:nvSpPr>
          <p:cNvPr id="16" name="Text Placeholder 8"/>
          <p:cNvSpPr>
            <a:spLocks noGrp="1"/>
          </p:cNvSpPr>
          <p:nvPr>
            <p:ph type="body" sz="quarter" idx="14" hasCustomPrompt="1"/>
          </p:nvPr>
        </p:nvSpPr>
        <p:spPr>
          <a:xfrm>
            <a:off x="628074" y="6615629"/>
            <a:ext cx="12561455" cy="508360"/>
          </a:xfrm>
        </p:spPr>
        <p:txBody>
          <a:bodyPr anchor="b">
            <a:noAutofit/>
          </a:bodyPr>
          <a:lstStyle>
            <a:lvl1pPr marL="0" indent="0">
              <a:spcBef>
                <a:spcPts val="0"/>
              </a:spcBef>
              <a:spcAft>
                <a:spcPts val="0"/>
              </a:spcAft>
              <a:buNone/>
              <a:defRPr lang="en-US" sz="900" b="0" i="0" kern="1200" cap="none" spc="0" baseline="0" dirty="0" smtClean="0">
                <a:solidFill>
                  <a:schemeClr val="tx1">
                    <a:lumMod val="65000"/>
                    <a:lumOff val="35000"/>
                  </a:schemeClr>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pPr lvl="0"/>
            <a:r>
              <a:rPr lang="en-US"/>
              <a:t>Footnotes and / or disclosure info for charts and graphs</a:t>
            </a:r>
          </a:p>
        </p:txBody>
      </p:sp>
      <p:sp>
        <p:nvSpPr>
          <p:cNvPr id="22" name="Content Placeholder 2"/>
          <p:cNvSpPr>
            <a:spLocks noGrp="1"/>
          </p:cNvSpPr>
          <p:nvPr>
            <p:ph idx="16"/>
          </p:nvPr>
        </p:nvSpPr>
        <p:spPr>
          <a:xfrm>
            <a:off x="628076" y="2058988"/>
            <a:ext cx="6145984" cy="411480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23" name="Content Placeholder 2"/>
          <p:cNvSpPr>
            <a:spLocks noGrp="1"/>
          </p:cNvSpPr>
          <p:nvPr>
            <p:ph idx="17"/>
          </p:nvPr>
        </p:nvSpPr>
        <p:spPr>
          <a:xfrm>
            <a:off x="7048693" y="2058988"/>
            <a:ext cx="6140834" cy="411480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34" name="Slide Number Placeholder 5"/>
          <p:cNvSpPr txBox="1">
            <a:spLocks/>
          </p:cNvSpPr>
          <p:nvPr userDrawn="1"/>
        </p:nvSpPr>
        <p:spPr>
          <a:xfrm>
            <a:off x="12875492" y="7270013"/>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endParaRPr lang="en-US" sz="1000"/>
          </a:p>
        </p:txBody>
      </p:sp>
      <p:sp>
        <p:nvSpPr>
          <p:cNvPr id="35" name="Slide Number Placeholder 5"/>
          <p:cNvSpPr txBox="1">
            <a:spLocks/>
          </p:cNvSpPr>
          <p:nvPr userDrawn="1"/>
        </p:nvSpPr>
        <p:spPr>
          <a:xfrm>
            <a:off x="10080567" y="7270015"/>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pPr/>
              <a:t>‹#›</a:t>
            </a:fld>
            <a:endParaRPr lang="en-US" sz="1000"/>
          </a:p>
        </p:txBody>
      </p:sp>
      <p:sp>
        <p:nvSpPr>
          <p:cNvPr id="13" name="Title 1"/>
          <p:cNvSpPr>
            <a:spLocks noGrp="1"/>
          </p:cNvSpPr>
          <p:nvPr>
            <p:ph type="title"/>
          </p:nvPr>
        </p:nvSpPr>
        <p:spPr>
          <a:xfrm>
            <a:off x="628074" y="457205"/>
            <a:ext cx="12561455" cy="773115"/>
          </a:xfrm>
        </p:spPr>
        <p:txBody>
          <a:bodyPr/>
          <a:lstStyle>
            <a:lvl1pPr>
              <a:defRPr>
                <a:latin typeface="Roboto Condensed" panose="02000000000000000000" pitchFamily="2" charset="0"/>
                <a:ea typeface="Roboto Condensed" panose="02000000000000000000" pitchFamily="2" charset="0"/>
              </a:defRPr>
            </a:lvl1pPr>
          </a:lstStyle>
          <a:p>
            <a:r>
              <a:rPr lang="en-US"/>
              <a:t>Click to edit Master title style</a:t>
            </a:r>
          </a:p>
        </p:txBody>
      </p:sp>
      <p:sp>
        <p:nvSpPr>
          <p:cNvPr id="14" name="Text Placeholder 13"/>
          <p:cNvSpPr>
            <a:spLocks noGrp="1"/>
          </p:cNvSpPr>
          <p:nvPr>
            <p:ph type="body" sz="quarter" idx="13"/>
          </p:nvPr>
        </p:nvSpPr>
        <p:spPr>
          <a:xfrm>
            <a:off x="628074" y="1457325"/>
            <a:ext cx="12561455" cy="242468"/>
          </a:xfrm>
        </p:spPr>
        <p:txBody>
          <a:bodyPr>
            <a:noAutofit/>
          </a:bodyPr>
          <a:lstStyle>
            <a:lvl1pPr>
              <a:defRPr sz="1800" b="1" i="1" cap="none" spc="0" baseline="0">
                <a:solidFill>
                  <a:schemeClr val="accent1"/>
                </a:solidFill>
                <a:latin typeface="Georgia" charset="0"/>
                <a:ea typeface="Georgia" charset="0"/>
                <a:cs typeface="Georgia" charset="0"/>
              </a:defRPr>
            </a:lvl1pPr>
          </a:lstStyle>
          <a:p>
            <a:pPr lvl="0"/>
            <a:r>
              <a:rPr lang="en-US"/>
              <a:t>Click to edit Master text styles</a:t>
            </a:r>
          </a:p>
        </p:txBody>
      </p:sp>
      <p:cxnSp>
        <p:nvCxnSpPr>
          <p:cNvPr id="10" name="Straight Connector 9">
            <a:extLst>
              <a:ext uri="{FF2B5EF4-FFF2-40B4-BE49-F238E27FC236}">
                <a16:creationId xmlns:a16="http://schemas.microsoft.com/office/drawing/2014/main" id="{7C4078E7-1316-4CFE-88C9-5DA695B5D91A}"/>
              </a:ext>
            </a:extLst>
          </p:cNvPr>
          <p:cNvCxnSpPr/>
          <p:nvPr userDrawn="1"/>
        </p:nvCxnSpPr>
        <p:spPr>
          <a:xfrm flipV="1">
            <a:off x="628074" y="7204504"/>
            <a:ext cx="12561455" cy="551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B27A1CD-0A22-424F-9D42-026F10CABA54}"/>
              </a:ext>
            </a:extLst>
          </p:cNvPr>
          <p:cNvCxnSpPr/>
          <p:nvPr userDrawn="1"/>
        </p:nvCxnSpPr>
        <p:spPr>
          <a:xfrm flipV="1">
            <a:off x="628074" y="1349375"/>
            <a:ext cx="12561455" cy="551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3862100E-F267-4261-BB73-6D7D335E6047}"/>
              </a:ext>
            </a:extLst>
          </p:cNvPr>
          <p:cNvPicPr>
            <a:picLocks noChangeAspect="1"/>
          </p:cNvPicPr>
          <p:nvPr userDrawn="1"/>
        </p:nvPicPr>
        <p:blipFill>
          <a:blip r:embed="rId2"/>
          <a:stretch>
            <a:fillRect/>
          </a:stretch>
        </p:blipFill>
        <p:spPr>
          <a:xfrm>
            <a:off x="12390120" y="7285296"/>
            <a:ext cx="464594" cy="140334"/>
          </a:xfrm>
          <a:prstGeom prst="rect">
            <a:avLst/>
          </a:prstGeom>
        </p:spPr>
      </p:pic>
    </p:spTree>
    <p:extLst>
      <p:ext uri="{BB962C8B-B14F-4D97-AF65-F5344CB8AC3E}">
        <p14:creationId xmlns:p14="http://schemas.microsoft.com/office/powerpoint/2010/main" val="2058956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 2 column A">
    <p:spTree>
      <p:nvGrpSpPr>
        <p:cNvPr id="1" name=""/>
        <p:cNvGrpSpPr/>
        <p:nvPr/>
      </p:nvGrpSpPr>
      <p:grpSpPr>
        <a:xfrm>
          <a:off x="0" y="0"/>
          <a:ext cx="0" cy="0"/>
          <a:chOff x="0" y="0"/>
          <a:chExt cx="0" cy="0"/>
        </a:xfrm>
      </p:grpSpPr>
      <p:sp>
        <p:nvSpPr>
          <p:cNvPr id="7" name="Content Placeholder 2"/>
          <p:cNvSpPr>
            <a:spLocks noGrp="1"/>
          </p:cNvSpPr>
          <p:nvPr>
            <p:ph idx="1"/>
          </p:nvPr>
        </p:nvSpPr>
        <p:spPr>
          <a:xfrm>
            <a:off x="628073" y="1824038"/>
            <a:ext cx="6142551" cy="434975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10" name="Text Placeholder 8"/>
          <p:cNvSpPr>
            <a:spLocks noGrp="1"/>
          </p:cNvSpPr>
          <p:nvPr>
            <p:ph type="body" sz="quarter" idx="13" hasCustomPrompt="1"/>
          </p:nvPr>
        </p:nvSpPr>
        <p:spPr>
          <a:xfrm>
            <a:off x="628074" y="6642941"/>
            <a:ext cx="12561455" cy="481048"/>
          </a:xfrm>
        </p:spPr>
        <p:txBody>
          <a:bodyPr anchor="b">
            <a:noAutofit/>
          </a:bodyPr>
          <a:lstStyle>
            <a:lvl1pPr marL="0" indent="0">
              <a:spcBef>
                <a:spcPts val="0"/>
              </a:spcBef>
              <a:spcAft>
                <a:spcPts val="0"/>
              </a:spcAft>
              <a:buNone/>
              <a:defRPr lang="en-US" sz="900" b="0" i="0" kern="1200" cap="none" spc="0" baseline="0" dirty="0" smtClean="0">
                <a:solidFill>
                  <a:schemeClr val="tx1">
                    <a:lumMod val="65000"/>
                    <a:lumOff val="35000"/>
                  </a:schemeClr>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pPr lvl="0"/>
            <a:r>
              <a:rPr lang="en-US"/>
              <a:t>Footnotes and / or disclosure info for charts and graphs</a:t>
            </a:r>
          </a:p>
        </p:txBody>
      </p:sp>
      <p:sp>
        <p:nvSpPr>
          <p:cNvPr id="16" name="Content Placeholder 2"/>
          <p:cNvSpPr>
            <a:spLocks noGrp="1"/>
          </p:cNvSpPr>
          <p:nvPr>
            <p:ph idx="14"/>
          </p:nvPr>
        </p:nvSpPr>
        <p:spPr>
          <a:xfrm>
            <a:off x="7046976" y="1824038"/>
            <a:ext cx="6142551" cy="434975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22" name="Slide Number Placeholder 5"/>
          <p:cNvSpPr txBox="1">
            <a:spLocks/>
          </p:cNvSpPr>
          <p:nvPr userDrawn="1"/>
        </p:nvSpPr>
        <p:spPr>
          <a:xfrm>
            <a:off x="12875492" y="7270013"/>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endParaRPr lang="en-US" sz="1000"/>
          </a:p>
        </p:txBody>
      </p:sp>
      <p:sp>
        <p:nvSpPr>
          <p:cNvPr id="23" name="Slide Number Placeholder 5"/>
          <p:cNvSpPr txBox="1">
            <a:spLocks/>
          </p:cNvSpPr>
          <p:nvPr userDrawn="1"/>
        </p:nvSpPr>
        <p:spPr>
          <a:xfrm>
            <a:off x="10080567" y="7270015"/>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pPr/>
              <a:t>‹#›</a:t>
            </a:fld>
            <a:endParaRPr lang="en-US" sz="1000"/>
          </a:p>
        </p:txBody>
      </p:sp>
      <p:sp>
        <p:nvSpPr>
          <p:cNvPr id="12" name="Title 1"/>
          <p:cNvSpPr>
            <a:spLocks noGrp="1"/>
          </p:cNvSpPr>
          <p:nvPr>
            <p:ph type="title"/>
          </p:nvPr>
        </p:nvSpPr>
        <p:spPr>
          <a:xfrm>
            <a:off x="628074" y="457205"/>
            <a:ext cx="12561455" cy="773115"/>
          </a:xfrm>
        </p:spPr>
        <p:txBody>
          <a:bodyPr/>
          <a:lstStyle>
            <a:lvl1pPr>
              <a:defRPr>
                <a:latin typeface="Roboto Condensed" panose="02000000000000000000" pitchFamily="2" charset="0"/>
                <a:ea typeface="Roboto Condensed" panose="02000000000000000000" pitchFamily="2"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959B6E5C-45A4-4414-94E2-F53F94B12691}"/>
              </a:ext>
            </a:extLst>
          </p:cNvPr>
          <p:cNvCxnSpPr/>
          <p:nvPr userDrawn="1"/>
        </p:nvCxnSpPr>
        <p:spPr>
          <a:xfrm flipV="1">
            <a:off x="628074" y="7204504"/>
            <a:ext cx="12561455" cy="551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6DC6A20-6206-4305-9027-A0FA25EAB8CF}"/>
              </a:ext>
            </a:extLst>
          </p:cNvPr>
          <p:cNvCxnSpPr/>
          <p:nvPr userDrawn="1"/>
        </p:nvCxnSpPr>
        <p:spPr>
          <a:xfrm flipV="1">
            <a:off x="628074" y="1349375"/>
            <a:ext cx="12561455" cy="551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7433D6EE-FDB5-446D-B165-2B9EED8E9373}"/>
              </a:ext>
            </a:extLst>
          </p:cNvPr>
          <p:cNvPicPr>
            <a:picLocks noChangeAspect="1"/>
          </p:cNvPicPr>
          <p:nvPr userDrawn="1"/>
        </p:nvPicPr>
        <p:blipFill>
          <a:blip r:embed="rId2"/>
          <a:stretch>
            <a:fillRect/>
          </a:stretch>
        </p:blipFill>
        <p:spPr>
          <a:xfrm>
            <a:off x="12390120" y="7285296"/>
            <a:ext cx="464594" cy="140334"/>
          </a:xfrm>
          <a:prstGeom prst="rect">
            <a:avLst/>
          </a:prstGeom>
        </p:spPr>
      </p:pic>
    </p:spTree>
    <p:extLst>
      <p:ext uri="{BB962C8B-B14F-4D97-AF65-F5344CB8AC3E}">
        <p14:creationId xmlns:p14="http://schemas.microsoft.com/office/powerpoint/2010/main" val="324021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and Content | 2 column B">
    <p:spTree>
      <p:nvGrpSpPr>
        <p:cNvPr id="1" name=""/>
        <p:cNvGrpSpPr/>
        <p:nvPr/>
      </p:nvGrpSpPr>
      <p:grpSpPr>
        <a:xfrm>
          <a:off x="0" y="0"/>
          <a:ext cx="0" cy="0"/>
          <a:chOff x="0" y="0"/>
          <a:chExt cx="0" cy="0"/>
        </a:xfrm>
      </p:grpSpPr>
      <p:sp>
        <p:nvSpPr>
          <p:cNvPr id="12" name="Text Placeholder 8"/>
          <p:cNvSpPr>
            <a:spLocks noGrp="1"/>
          </p:cNvSpPr>
          <p:nvPr>
            <p:ph type="body" sz="quarter" idx="14" hasCustomPrompt="1"/>
          </p:nvPr>
        </p:nvSpPr>
        <p:spPr>
          <a:xfrm>
            <a:off x="628074" y="6654197"/>
            <a:ext cx="12561455" cy="469792"/>
          </a:xfrm>
        </p:spPr>
        <p:txBody>
          <a:bodyPr anchor="b">
            <a:noAutofit/>
          </a:bodyPr>
          <a:lstStyle>
            <a:lvl1pPr marL="0" indent="0">
              <a:spcBef>
                <a:spcPts val="0"/>
              </a:spcBef>
              <a:spcAft>
                <a:spcPts val="0"/>
              </a:spcAft>
              <a:buNone/>
              <a:defRPr lang="en-US" sz="900" b="0" i="0" kern="1200" cap="none" spc="0" baseline="0" dirty="0" smtClean="0">
                <a:solidFill>
                  <a:schemeClr val="tx1">
                    <a:lumMod val="65000"/>
                    <a:lumOff val="35000"/>
                  </a:schemeClr>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pPr lvl="0"/>
            <a:r>
              <a:rPr lang="en-US"/>
              <a:t>Footnotes and / or disclosure info for charts and graphs</a:t>
            </a:r>
          </a:p>
        </p:txBody>
      </p:sp>
      <p:sp>
        <p:nvSpPr>
          <p:cNvPr id="15" name="Content Placeholder 2"/>
          <p:cNvSpPr>
            <a:spLocks noGrp="1"/>
          </p:cNvSpPr>
          <p:nvPr>
            <p:ph idx="15"/>
          </p:nvPr>
        </p:nvSpPr>
        <p:spPr>
          <a:xfrm>
            <a:off x="628074" y="2058988"/>
            <a:ext cx="3994543" cy="411480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16" name="Content Placeholder 2"/>
          <p:cNvSpPr>
            <a:spLocks noGrp="1"/>
          </p:cNvSpPr>
          <p:nvPr>
            <p:ph idx="19"/>
          </p:nvPr>
        </p:nvSpPr>
        <p:spPr>
          <a:xfrm>
            <a:off x="4911530" y="2058988"/>
            <a:ext cx="8277999" cy="411480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33" name="Slide Number Placeholder 5"/>
          <p:cNvSpPr txBox="1">
            <a:spLocks/>
          </p:cNvSpPr>
          <p:nvPr userDrawn="1"/>
        </p:nvSpPr>
        <p:spPr>
          <a:xfrm>
            <a:off x="12875492" y="7270013"/>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endParaRPr lang="en-US" sz="1000"/>
          </a:p>
        </p:txBody>
      </p:sp>
      <p:sp>
        <p:nvSpPr>
          <p:cNvPr id="34" name="Slide Number Placeholder 5"/>
          <p:cNvSpPr txBox="1">
            <a:spLocks/>
          </p:cNvSpPr>
          <p:nvPr userDrawn="1"/>
        </p:nvSpPr>
        <p:spPr>
          <a:xfrm>
            <a:off x="10080567" y="7270015"/>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pPr/>
              <a:t>‹#›</a:t>
            </a:fld>
            <a:endParaRPr lang="en-US" sz="1000"/>
          </a:p>
        </p:txBody>
      </p:sp>
      <p:sp>
        <p:nvSpPr>
          <p:cNvPr id="13" name="Title 1"/>
          <p:cNvSpPr>
            <a:spLocks noGrp="1"/>
          </p:cNvSpPr>
          <p:nvPr>
            <p:ph type="title"/>
          </p:nvPr>
        </p:nvSpPr>
        <p:spPr>
          <a:xfrm>
            <a:off x="628074" y="457205"/>
            <a:ext cx="12561455" cy="773115"/>
          </a:xfrm>
        </p:spPr>
        <p:txBody>
          <a:bodyPr/>
          <a:lstStyle>
            <a:lvl1pPr>
              <a:defRPr>
                <a:latin typeface="Roboto Condensed" panose="02000000000000000000" pitchFamily="2" charset="0"/>
                <a:ea typeface="Roboto Condensed" panose="02000000000000000000" pitchFamily="2" charset="0"/>
              </a:defRPr>
            </a:lvl1pPr>
          </a:lstStyle>
          <a:p>
            <a:r>
              <a:rPr lang="en-US"/>
              <a:t>Click to edit Master title style</a:t>
            </a:r>
          </a:p>
        </p:txBody>
      </p:sp>
      <p:sp>
        <p:nvSpPr>
          <p:cNvPr id="14" name="Text Placeholder 13"/>
          <p:cNvSpPr>
            <a:spLocks noGrp="1"/>
          </p:cNvSpPr>
          <p:nvPr>
            <p:ph type="body" sz="quarter" idx="13"/>
          </p:nvPr>
        </p:nvSpPr>
        <p:spPr>
          <a:xfrm>
            <a:off x="628074" y="1457325"/>
            <a:ext cx="12561455" cy="242468"/>
          </a:xfrm>
        </p:spPr>
        <p:txBody>
          <a:bodyPr>
            <a:noAutofit/>
          </a:bodyPr>
          <a:lstStyle>
            <a:lvl1pPr>
              <a:defRPr sz="1800" b="1" i="1" cap="none" spc="0" baseline="0">
                <a:solidFill>
                  <a:schemeClr val="accent1"/>
                </a:solidFill>
                <a:latin typeface="Georgia" charset="0"/>
                <a:ea typeface="Georgia" charset="0"/>
                <a:cs typeface="Georgia" charset="0"/>
              </a:defRPr>
            </a:lvl1pPr>
          </a:lstStyle>
          <a:p>
            <a:pPr lvl="0"/>
            <a:r>
              <a:rPr lang="en-US"/>
              <a:t>Click to edit Master text styles</a:t>
            </a:r>
          </a:p>
        </p:txBody>
      </p:sp>
      <p:cxnSp>
        <p:nvCxnSpPr>
          <p:cNvPr id="10" name="Straight Connector 9">
            <a:extLst>
              <a:ext uri="{FF2B5EF4-FFF2-40B4-BE49-F238E27FC236}">
                <a16:creationId xmlns:a16="http://schemas.microsoft.com/office/drawing/2014/main" id="{FD96C2FB-DD21-4C29-B0E7-0D933596852C}"/>
              </a:ext>
            </a:extLst>
          </p:cNvPr>
          <p:cNvCxnSpPr/>
          <p:nvPr userDrawn="1"/>
        </p:nvCxnSpPr>
        <p:spPr>
          <a:xfrm flipV="1">
            <a:off x="628074" y="7204504"/>
            <a:ext cx="12561455" cy="551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1FF8CA7-A2A5-4F14-858D-472C59F13F32}"/>
              </a:ext>
            </a:extLst>
          </p:cNvPr>
          <p:cNvCxnSpPr/>
          <p:nvPr userDrawn="1"/>
        </p:nvCxnSpPr>
        <p:spPr>
          <a:xfrm flipV="1">
            <a:off x="628074" y="1349375"/>
            <a:ext cx="12561455" cy="551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6FA522A4-1E87-4263-A36B-EA71F23FE30F}"/>
              </a:ext>
            </a:extLst>
          </p:cNvPr>
          <p:cNvPicPr>
            <a:picLocks noChangeAspect="1"/>
          </p:cNvPicPr>
          <p:nvPr userDrawn="1"/>
        </p:nvPicPr>
        <p:blipFill>
          <a:blip r:embed="rId2"/>
          <a:stretch>
            <a:fillRect/>
          </a:stretch>
        </p:blipFill>
        <p:spPr>
          <a:xfrm>
            <a:off x="12390120" y="7285296"/>
            <a:ext cx="464594" cy="140334"/>
          </a:xfrm>
          <a:prstGeom prst="rect">
            <a:avLst/>
          </a:prstGeom>
        </p:spPr>
      </p:pic>
    </p:spTree>
    <p:extLst>
      <p:ext uri="{BB962C8B-B14F-4D97-AF65-F5344CB8AC3E}">
        <p14:creationId xmlns:p14="http://schemas.microsoft.com/office/powerpoint/2010/main" val="1547137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 2 column B">
    <p:spTree>
      <p:nvGrpSpPr>
        <p:cNvPr id="1" name=""/>
        <p:cNvGrpSpPr/>
        <p:nvPr/>
      </p:nvGrpSpPr>
      <p:grpSpPr>
        <a:xfrm>
          <a:off x="0" y="0"/>
          <a:ext cx="0" cy="0"/>
          <a:chOff x="0" y="0"/>
          <a:chExt cx="0" cy="0"/>
        </a:xfrm>
      </p:grpSpPr>
      <p:sp>
        <p:nvSpPr>
          <p:cNvPr id="18" name="Text Placeholder 8"/>
          <p:cNvSpPr>
            <a:spLocks noGrp="1"/>
          </p:cNvSpPr>
          <p:nvPr>
            <p:ph type="body" sz="quarter" idx="13" hasCustomPrompt="1"/>
          </p:nvPr>
        </p:nvSpPr>
        <p:spPr>
          <a:xfrm>
            <a:off x="628074" y="6642941"/>
            <a:ext cx="12561455" cy="481048"/>
          </a:xfrm>
        </p:spPr>
        <p:txBody>
          <a:bodyPr anchor="b">
            <a:noAutofit/>
          </a:bodyPr>
          <a:lstStyle>
            <a:lvl1pPr marL="0" indent="0">
              <a:spcBef>
                <a:spcPts val="0"/>
              </a:spcBef>
              <a:spcAft>
                <a:spcPts val="0"/>
              </a:spcAft>
              <a:buNone/>
              <a:defRPr lang="en-US" sz="900" b="0" i="0" kern="1200" cap="none" spc="0" baseline="0" dirty="0" smtClean="0">
                <a:solidFill>
                  <a:schemeClr val="tx1">
                    <a:lumMod val="65000"/>
                    <a:lumOff val="35000"/>
                  </a:schemeClr>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pPr lvl="0"/>
            <a:r>
              <a:rPr lang="en-US"/>
              <a:t>Footnotes and / or disclosure info for charts and graphs</a:t>
            </a:r>
          </a:p>
        </p:txBody>
      </p:sp>
      <p:sp>
        <p:nvSpPr>
          <p:cNvPr id="27" name="Content Placeholder 2"/>
          <p:cNvSpPr>
            <a:spLocks noGrp="1"/>
          </p:cNvSpPr>
          <p:nvPr>
            <p:ph idx="15"/>
          </p:nvPr>
        </p:nvSpPr>
        <p:spPr>
          <a:xfrm>
            <a:off x="628074" y="1824038"/>
            <a:ext cx="3994543" cy="434975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28" name="Content Placeholder 2"/>
          <p:cNvSpPr>
            <a:spLocks noGrp="1"/>
          </p:cNvSpPr>
          <p:nvPr>
            <p:ph idx="16"/>
          </p:nvPr>
        </p:nvSpPr>
        <p:spPr>
          <a:xfrm>
            <a:off x="4911530" y="1824038"/>
            <a:ext cx="8277999" cy="434975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30" name="Slide Number Placeholder 5"/>
          <p:cNvSpPr txBox="1">
            <a:spLocks/>
          </p:cNvSpPr>
          <p:nvPr userDrawn="1"/>
        </p:nvSpPr>
        <p:spPr>
          <a:xfrm>
            <a:off x="12875492" y="7270013"/>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endParaRPr lang="en-US" sz="1000"/>
          </a:p>
        </p:txBody>
      </p:sp>
      <p:sp>
        <p:nvSpPr>
          <p:cNvPr id="31" name="Slide Number Placeholder 5"/>
          <p:cNvSpPr txBox="1">
            <a:spLocks/>
          </p:cNvSpPr>
          <p:nvPr userDrawn="1"/>
        </p:nvSpPr>
        <p:spPr>
          <a:xfrm>
            <a:off x="10080567" y="7270015"/>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pPr/>
              <a:t>‹#›</a:t>
            </a:fld>
            <a:endParaRPr lang="en-US" sz="1000"/>
          </a:p>
        </p:txBody>
      </p:sp>
      <p:sp>
        <p:nvSpPr>
          <p:cNvPr id="11" name="Title 1"/>
          <p:cNvSpPr>
            <a:spLocks noGrp="1"/>
          </p:cNvSpPr>
          <p:nvPr>
            <p:ph type="title"/>
          </p:nvPr>
        </p:nvSpPr>
        <p:spPr>
          <a:xfrm>
            <a:off x="628074" y="457205"/>
            <a:ext cx="12561455" cy="773115"/>
          </a:xfrm>
        </p:spPr>
        <p:txBody>
          <a:bodyPr/>
          <a:lstStyle>
            <a:lvl1pPr>
              <a:defRPr>
                <a:latin typeface="Roboto Condensed" panose="02000000000000000000" pitchFamily="2" charset="0"/>
                <a:ea typeface="Roboto Condensed" panose="02000000000000000000" pitchFamily="2"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5112756E-9AE6-40A1-9FD0-E1AB311147D3}"/>
              </a:ext>
            </a:extLst>
          </p:cNvPr>
          <p:cNvCxnSpPr/>
          <p:nvPr userDrawn="1"/>
        </p:nvCxnSpPr>
        <p:spPr>
          <a:xfrm flipV="1">
            <a:off x="628074" y="7204504"/>
            <a:ext cx="12561455" cy="551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09BCD4D-A867-44F7-8552-309EADD66AA0}"/>
              </a:ext>
            </a:extLst>
          </p:cNvPr>
          <p:cNvCxnSpPr/>
          <p:nvPr userDrawn="1"/>
        </p:nvCxnSpPr>
        <p:spPr>
          <a:xfrm flipV="1">
            <a:off x="628074" y="1349375"/>
            <a:ext cx="12561455" cy="551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4D519065-7611-4772-80E4-AB8A49DA21BA}"/>
              </a:ext>
            </a:extLst>
          </p:cNvPr>
          <p:cNvPicPr>
            <a:picLocks noChangeAspect="1"/>
          </p:cNvPicPr>
          <p:nvPr userDrawn="1"/>
        </p:nvPicPr>
        <p:blipFill>
          <a:blip r:embed="rId2"/>
          <a:stretch>
            <a:fillRect/>
          </a:stretch>
        </p:blipFill>
        <p:spPr>
          <a:xfrm>
            <a:off x="12390120" y="7285296"/>
            <a:ext cx="464594" cy="140334"/>
          </a:xfrm>
          <a:prstGeom prst="rect">
            <a:avLst/>
          </a:prstGeom>
        </p:spPr>
      </p:pic>
    </p:spTree>
    <p:extLst>
      <p:ext uri="{BB962C8B-B14F-4D97-AF65-F5344CB8AC3E}">
        <p14:creationId xmlns:p14="http://schemas.microsoft.com/office/powerpoint/2010/main" val="1610476610"/>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ubtitle, and Content | 2 column C">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628074" y="6637667"/>
            <a:ext cx="12561455" cy="486322"/>
          </a:xfrm>
        </p:spPr>
        <p:txBody>
          <a:bodyPr anchor="b">
            <a:noAutofit/>
          </a:bodyPr>
          <a:lstStyle>
            <a:lvl1pPr marL="0" indent="0">
              <a:spcBef>
                <a:spcPts val="0"/>
              </a:spcBef>
              <a:spcAft>
                <a:spcPts val="0"/>
              </a:spcAft>
              <a:buNone/>
              <a:defRPr lang="en-US" sz="900" b="0" i="0" kern="1200" cap="none" spc="0" baseline="0" dirty="0" smtClean="0">
                <a:solidFill>
                  <a:schemeClr val="tx1">
                    <a:lumMod val="65000"/>
                    <a:lumOff val="35000"/>
                  </a:schemeClr>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pPr lvl="0"/>
            <a:r>
              <a:rPr lang="en-US"/>
              <a:t>Footnotes and / or disclosure info for charts and graphs</a:t>
            </a:r>
          </a:p>
        </p:txBody>
      </p:sp>
      <p:sp>
        <p:nvSpPr>
          <p:cNvPr id="22" name="Content Placeholder 2"/>
          <p:cNvSpPr>
            <a:spLocks noGrp="1"/>
          </p:cNvSpPr>
          <p:nvPr>
            <p:ph idx="15"/>
          </p:nvPr>
        </p:nvSpPr>
        <p:spPr>
          <a:xfrm>
            <a:off x="628074" y="2058988"/>
            <a:ext cx="8277999" cy="411480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24" name="Content Placeholder 2"/>
          <p:cNvSpPr>
            <a:spLocks noGrp="1"/>
          </p:cNvSpPr>
          <p:nvPr>
            <p:ph idx="20"/>
          </p:nvPr>
        </p:nvSpPr>
        <p:spPr>
          <a:xfrm>
            <a:off x="9194986" y="2058988"/>
            <a:ext cx="3994543" cy="411480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30" name="Slide Number Placeholder 5"/>
          <p:cNvSpPr txBox="1">
            <a:spLocks/>
          </p:cNvSpPr>
          <p:nvPr userDrawn="1"/>
        </p:nvSpPr>
        <p:spPr>
          <a:xfrm>
            <a:off x="12875492" y="7270013"/>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endParaRPr lang="en-US" sz="1000"/>
          </a:p>
        </p:txBody>
      </p:sp>
      <p:sp>
        <p:nvSpPr>
          <p:cNvPr id="31" name="Slide Number Placeholder 5"/>
          <p:cNvSpPr txBox="1">
            <a:spLocks/>
          </p:cNvSpPr>
          <p:nvPr userDrawn="1"/>
        </p:nvSpPr>
        <p:spPr>
          <a:xfrm>
            <a:off x="10080567" y="7270015"/>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pPr/>
              <a:t>‹#›</a:t>
            </a:fld>
            <a:endParaRPr lang="en-US" sz="1000"/>
          </a:p>
        </p:txBody>
      </p:sp>
      <p:sp>
        <p:nvSpPr>
          <p:cNvPr id="12" name="Title 1"/>
          <p:cNvSpPr>
            <a:spLocks noGrp="1"/>
          </p:cNvSpPr>
          <p:nvPr>
            <p:ph type="title"/>
          </p:nvPr>
        </p:nvSpPr>
        <p:spPr>
          <a:xfrm>
            <a:off x="628074" y="457205"/>
            <a:ext cx="12561455" cy="773115"/>
          </a:xfrm>
        </p:spPr>
        <p:txBody>
          <a:bodyPr/>
          <a:lstStyle>
            <a:lvl1pPr>
              <a:defRPr>
                <a:latin typeface="Roboto Condensed" panose="02000000000000000000" pitchFamily="2" charset="0"/>
                <a:ea typeface="Roboto Condensed" panose="02000000000000000000" pitchFamily="2" charset="0"/>
              </a:defRPr>
            </a:lvl1pPr>
          </a:lstStyle>
          <a:p>
            <a:r>
              <a:rPr lang="en-US"/>
              <a:t>Click to edit Master title style</a:t>
            </a:r>
          </a:p>
        </p:txBody>
      </p:sp>
      <p:sp>
        <p:nvSpPr>
          <p:cNvPr id="14" name="Text Placeholder 13"/>
          <p:cNvSpPr>
            <a:spLocks noGrp="1"/>
          </p:cNvSpPr>
          <p:nvPr>
            <p:ph type="body" sz="quarter" idx="13"/>
          </p:nvPr>
        </p:nvSpPr>
        <p:spPr>
          <a:xfrm>
            <a:off x="628074" y="1457325"/>
            <a:ext cx="12561455" cy="242468"/>
          </a:xfrm>
        </p:spPr>
        <p:txBody>
          <a:bodyPr>
            <a:noAutofit/>
          </a:bodyPr>
          <a:lstStyle>
            <a:lvl1pPr>
              <a:defRPr sz="1800" b="1" i="1" cap="none" spc="0" baseline="0">
                <a:solidFill>
                  <a:schemeClr val="accent1"/>
                </a:solidFill>
                <a:latin typeface="Georgia" charset="0"/>
                <a:ea typeface="Georgia" charset="0"/>
                <a:cs typeface="Georgia" charset="0"/>
              </a:defRPr>
            </a:lvl1pPr>
          </a:lstStyle>
          <a:p>
            <a:pPr lvl="0"/>
            <a:r>
              <a:rPr lang="en-US"/>
              <a:t>Click to edit Master text styles</a:t>
            </a:r>
          </a:p>
        </p:txBody>
      </p:sp>
      <p:cxnSp>
        <p:nvCxnSpPr>
          <p:cNvPr id="10" name="Straight Connector 9">
            <a:extLst>
              <a:ext uri="{FF2B5EF4-FFF2-40B4-BE49-F238E27FC236}">
                <a16:creationId xmlns:a16="http://schemas.microsoft.com/office/drawing/2014/main" id="{07E57A84-D510-4157-A47E-8D6302756BEC}"/>
              </a:ext>
            </a:extLst>
          </p:cNvPr>
          <p:cNvCxnSpPr/>
          <p:nvPr userDrawn="1"/>
        </p:nvCxnSpPr>
        <p:spPr>
          <a:xfrm flipV="1">
            <a:off x="628074" y="7204504"/>
            <a:ext cx="12561455" cy="551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CE5410F-6415-44CC-AE29-F46F6B229698}"/>
              </a:ext>
            </a:extLst>
          </p:cNvPr>
          <p:cNvCxnSpPr/>
          <p:nvPr userDrawn="1"/>
        </p:nvCxnSpPr>
        <p:spPr>
          <a:xfrm flipV="1">
            <a:off x="628074" y="1349375"/>
            <a:ext cx="12561455" cy="551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72308A99-6759-4AEF-83F4-0D0075B09CA2}"/>
              </a:ext>
            </a:extLst>
          </p:cNvPr>
          <p:cNvPicPr>
            <a:picLocks noChangeAspect="1"/>
          </p:cNvPicPr>
          <p:nvPr userDrawn="1"/>
        </p:nvPicPr>
        <p:blipFill>
          <a:blip r:embed="rId2"/>
          <a:stretch>
            <a:fillRect/>
          </a:stretch>
        </p:blipFill>
        <p:spPr>
          <a:xfrm>
            <a:off x="12390120" y="7285296"/>
            <a:ext cx="464594" cy="140334"/>
          </a:xfrm>
          <a:prstGeom prst="rect">
            <a:avLst/>
          </a:prstGeom>
        </p:spPr>
      </p:pic>
    </p:spTree>
    <p:extLst>
      <p:ext uri="{BB962C8B-B14F-4D97-AF65-F5344CB8AC3E}">
        <p14:creationId xmlns:p14="http://schemas.microsoft.com/office/powerpoint/2010/main" val="6685522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 2 column C">
    <p:spTree>
      <p:nvGrpSpPr>
        <p:cNvPr id="1" name=""/>
        <p:cNvGrpSpPr/>
        <p:nvPr/>
      </p:nvGrpSpPr>
      <p:grpSpPr>
        <a:xfrm>
          <a:off x="0" y="0"/>
          <a:ext cx="0" cy="0"/>
          <a:chOff x="0" y="0"/>
          <a:chExt cx="0" cy="0"/>
        </a:xfrm>
      </p:grpSpPr>
      <p:sp>
        <p:nvSpPr>
          <p:cNvPr id="11" name="Text Placeholder 8"/>
          <p:cNvSpPr>
            <a:spLocks noGrp="1"/>
          </p:cNvSpPr>
          <p:nvPr>
            <p:ph type="body" sz="quarter" idx="13" hasCustomPrompt="1"/>
          </p:nvPr>
        </p:nvSpPr>
        <p:spPr>
          <a:xfrm>
            <a:off x="628074" y="6642946"/>
            <a:ext cx="12561455" cy="481047"/>
          </a:xfrm>
        </p:spPr>
        <p:txBody>
          <a:bodyPr anchor="b">
            <a:noAutofit/>
          </a:bodyPr>
          <a:lstStyle>
            <a:lvl1pPr marL="0" indent="0">
              <a:spcBef>
                <a:spcPts val="0"/>
              </a:spcBef>
              <a:spcAft>
                <a:spcPts val="0"/>
              </a:spcAft>
              <a:buNone/>
              <a:defRPr lang="en-US" sz="900" b="0" i="0" kern="1200" cap="none" spc="0" baseline="0" dirty="0" smtClean="0">
                <a:solidFill>
                  <a:schemeClr val="tx1">
                    <a:lumMod val="65000"/>
                    <a:lumOff val="35000"/>
                  </a:schemeClr>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pPr lvl="0"/>
            <a:r>
              <a:rPr lang="en-US"/>
              <a:t>Footnotes and / or disclosure info for charts and graphs</a:t>
            </a:r>
          </a:p>
        </p:txBody>
      </p:sp>
      <p:sp>
        <p:nvSpPr>
          <p:cNvPr id="18" name="Content Placeholder 2"/>
          <p:cNvSpPr>
            <a:spLocks noGrp="1"/>
          </p:cNvSpPr>
          <p:nvPr>
            <p:ph idx="15"/>
          </p:nvPr>
        </p:nvSpPr>
        <p:spPr>
          <a:xfrm>
            <a:off x="628074" y="1824039"/>
            <a:ext cx="8277999" cy="4349749"/>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idx="17"/>
          </p:nvPr>
        </p:nvSpPr>
        <p:spPr>
          <a:xfrm>
            <a:off x="9194986" y="1824039"/>
            <a:ext cx="3994543" cy="4349749"/>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24" name="Slide Number Placeholder 5"/>
          <p:cNvSpPr txBox="1">
            <a:spLocks/>
          </p:cNvSpPr>
          <p:nvPr userDrawn="1"/>
        </p:nvSpPr>
        <p:spPr>
          <a:xfrm>
            <a:off x="12875492" y="7270013"/>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endParaRPr lang="en-US" sz="1000"/>
          </a:p>
        </p:txBody>
      </p:sp>
      <p:sp>
        <p:nvSpPr>
          <p:cNvPr id="25" name="Slide Number Placeholder 5"/>
          <p:cNvSpPr txBox="1">
            <a:spLocks/>
          </p:cNvSpPr>
          <p:nvPr userDrawn="1"/>
        </p:nvSpPr>
        <p:spPr>
          <a:xfrm>
            <a:off x="10080567" y="7270015"/>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pPr/>
              <a:t>‹#›</a:t>
            </a:fld>
            <a:endParaRPr lang="en-US" sz="1000"/>
          </a:p>
        </p:txBody>
      </p:sp>
      <p:sp>
        <p:nvSpPr>
          <p:cNvPr id="13" name="Title 1"/>
          <p:cNvSpPr>
            <a:spLocks noGrp="1"/>
          </p:cNvSpPr>
          <p:nvPr>
            <p:ph type="title"/>
          </p:nvPr>
        </p:nvSpPr>
        <p:spPr>
          <a:xfrm>
            <a:off x="628074" y="457205"/>
            <a:ext cx="12561455" cy="773115"/>
          </a:xfrm>
        </p:spPr>
        <p:txBody>
          <a:bodyPr/>
          <a:lstStyle>
            <a:lvl1pPr>
              <a:defRPr>
                <a:latin typeface="Roboto Condensed" panose="02000000000000000000" pitchFamily="2" charset="0"/>
                <a:ea typeface="Roboto Condensed" panose="02000000000000000000" pitchFamily="2"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398F58E-7E0C-4DB9-B60B-EDD6496DBF03}"/>
              </a:ext>
            </a:extLst>
          </p:cNvPr>
          <p:cNvCxnSpPr/>
          <p:nvPr userDrawn="1"/>
        </p:nvCxnSpPr>
        <p:spPr>
          <a:xfrm flipV="1">
            <a:off x="628074" y="7204504"/>
            <a:ext cx="12561455" cy="551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4DA1392-B508-461D-B8C3-3C874EB1754E}"/>
              </a:ext>
            </a:extLst>
          </p:cNvPr>
          <p:cNvCxnSpPr/>
          <p:nvPr userDrawn="1"/>
        </p:nvCxnSpPr>
        <p:spPr>
          <a:xfrm flipV="1">
            <a:off x="628074" y="1349375"/>
            <a:ext cx="12561455" cy="551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08ACFBBE-41E0-46C5-8BF8-A71ADDC420F5}"/>
              </a:ext>
            </a:extLst>
          </p:cNvPr>
          <p:cNvPicPr>
            <a:picLocks noChangeAspect="1"/>
          </p:cNvPicPr>
          <p:nvPr userDrawn="1"/>
        </p:nvPicPr>
        <p:blipFill>
          <a:blip r:embed="rId2"/>
          <a:stretch>
            <a:fillRect/>
          </a:stretch>
        </p:blipFill>
        <p:spPr>
          <a:xfrm>
            <a:off x="12390120" y="7285296"/>
            <a:ext cx="464594" cy="140334"/>
          </a:xfrm>
          <a:prstGeom prst="rect">
            <a:avLst/>
          </a:prstGeom>
        </p:spPr>
      </p:pic>
    </p:spTree>
    <p:extLst>
      <p:ext uri="{BB962C8B-B14F-4D97-AF65-F5344CB8AC3E}">
        <p14:creationId xmlns:p14="http://schemas.microsoft.com/office/powerpoint/2010/main" val="500561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and Content | 3 column">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628074" y="6643177"/>
            <a:ext cx="12561455" cy="480812"/>
          </a:xfrm>
        </p:spPr>
        <p:txBody>
          <a:bodyPr anchor="b">
            <a:noAutofit/>
          </a:bodyPr>
          <a:lstStyle>
            <a:lvl1pPr marL="0" indent="0">
              <a:spcBef>
                <a:spcPts val="0"/>
              </a:spcBef>
              <a:spcAft>
                <a:spcPts val="0"/>
              </a:spcAft>
              <a:buNone/>
              <a:defRPr lang="en-US" sz="900" b="0" i="0" kern="1200" cap="none" spc="0" baseline="0" dirty="0" smtClean="0">
                <a:solidFill>
                  <a:schemeClr val="tx1">
                    <a:lumMod val="65000"/>
                    <a:lumOff val="35000"/>
                  </a:schemeClr>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pPr lvl="0"/>
            <a:r>
              <a:rPr lang="en-US"/>
              <a:t>Footnotes and / or disclosure info for charts and graphs</a:t>
            </a:r>
          </a:p>
        </p:txBody>
      </p:sp>
      <p:sp>
        <p:nvSpPr>
          <p:cNvPr id="22" name="Content Placeholder 2"/>
          <p:cNvSpPr>
            <a:spLocks noGrp="1"/>
          </p:cNvSpPr>
          <p:nvPr>
            <p:ph idx="15"/>
          </p:nvPr>
        </p:nvSpPr>
        <p:spPr>
          <a:xfrm>
            <a:off x="628074" y="2058988"/>
            <a:ext cx="3994543" cy="411480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23" name="Content Placeholder 2"/>
          <p:cNvSpPr>
            <a:spLocks noGrp="1"/>
          </p:cNvSpPr>
          <p:nvPr>
            <p:ph idx="19"/>
          </p:nvPr>
        </p:nvSpPr>
        <p:spPr>
          <a:xfrm>
            <a:off x="4911530" y="2058988"/>
            <a:ext cx="3994543" cy="411480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24" name="Content Placeholder 2"/>
          <p:cNvSpPr>
            <a:spLocks noGrp="1"/>
          </p:cNvSpPr>
          <p:nvPr>
            <p:ph idx="20"/>
          </p:nvPr>
        </p:nvSpPr>
        <p:spPr>
          <a:xfrm>
            <a:off x="9194986" y="2058988"/>
            <a:ext cx="3994543" cy="411480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28" name="Slide Number Placeholder 5"/>
          <p:cNvSpPr txBox="1">
            <a:spLocks/>
          </p:cNvSpPr>
          <p:nvPr userDrawn="1"/>
        </p:nvSpPr>
        <p:spPr>
          <a:xfrm>
            <a:off x="12875492" y="7270013"/>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endParaRPr lang="en-US" sz="1000"/>
          </a:p>
        </p:txBody>
      </p:sp>
      <p:sp>
        <p:nvSpPr>
          <p:cNvPr id="29" name="Slide Number Placeholder 5"/>
          <p:cNvSpPr txBox="1">
            <a:spLocks/>
          </p:cNvSpPr>
          <p:nvPr userDrawn="1"/>
        </p:nvSpPr>
        <p:spPr>
          <a:xfrm>
            <a:off x="10080567" y="7270015"/>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pPr/>
              <a:t>‹#›</a:t>
            </a:fld>
            <a:endParaRPr lang="en-US" sz="1000"/>
          </a:p>
        </p:txBody>
      </p:sp>
      <p:sp>
        <p:nvSpPr>
          <p:cNvPr id="14" name="Title 1"/>
          <p:cNvSpPr>
            <a:spLocks noGrp="1"/>
          </p:cNvSpPr>
          <p:nvPr>
            <p:ph type="title"/>
          </p:nvPr>
        </p:nvSpPr>
        <p:spPr>
          <a:xfrm>
            <a:off x="628074" y="457205"/>
            <a:ext cx="12561455" cy="773115"/>
          </a:xfrm>
        </p:spPr>
        <p:txBody>
          <a:bodyPr/>
          <a:lstStyle>
            <a:lvl1pPr>
              <a:defRPr>
                <a:latin typeface="Roboto Condensed" panose="02000000000000000000" pitchFamily="2" charset="0"/>
                <a:ea typeface="Roboto Condensed" panose="02000000000000000000" pitchFamily="2" charset="0"/>
              </a:defRPr>
            </a:lvl1pPr>
          </a:lstStyle>
          <a:p>
            <a:r>
              <a:rPr lang="en-US"/>
              <a:t>Click to edit Master title style</a:t>
            </a:r>
          </a:p>
        </p:txBody>
      </p:sp>
      <p:sp>
        <p:nvSpPr>
          <p:cNvPr id="15" name="Text Placeholder 13"/>
          <p:cNvSpPr>
            <a:spLocks noGrp="1"/>
          </p:cNvSpPr>
          <p:nvPr>
            <p:ph type="body" sz="quarter" idx="13"/>
          </p:nvPr>
        </p:nvSpPr>
        <p:spPr>
          <a:xfrm>
            <a:off x="628074" y="1457325"/>
            <a:ext cx="12561455" cy="242468"/>
          </a:xfrm>
        </p:spPr>
        <p:txBody>
          <a:bodyPr>
            <a:noAutofit/>
          </a:bodyPr>
          <a:lstStyle>
            <a:lvl1pPr>
              <a:defRPr sz="1800" b="1" i="1" cap="none" spc="0" baseline="0">
                <a:solidFill>
                  <a:schemeClr val="accent1"/>
                </a:solidFill>
                <a:latin typeface="Georgia" charset="0"/>
                <a:ea typeface="Georgia" charset="0"/>
                <a:cs typeface="Georgia" charset="0"/>
              </a:defRPr>
            </a:lvl1pPr>
          </a:lstStyle>
          <a:p>
            <a:pPr lvl="0"/>
            <a:r>
              <a:rPr lang="en-US"/>
              <a:t>Click to edit Master text styles</a:t>
            </a:r>
          </a:p>
        </p:txBody>
      </p:sp>
      <p:cxnSp>
        <p:nvCxnSpPr>
          <p:cNvPr id="11" name="Straight Connector 10">
            <a:extLst>
              <a:ext uri="{FF2B5EF4-FFF2-40B4-BE49-F238E27FC236}">
                <a16:creationId xmlns:a16="http://schemas.microsoft.com/office/drawing/2014/main" id="{B8C87386-0D6F-4368-BA7E-478A9967DE9E}"/>
              </a:ext>
            </a:extLst>
          </p:cNvPr>
          <p:cNvCxnSpPr/>
          <p:nvPr userDrawn="1"/>
        </p:nvCxnSpPr>
        <p:spPr>
          <a:xfrm flipV="1">
            <a:off x="628074" y="7204504"/>
            <a:ext cx="12561455" cy="551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BCE263B-1002-4B5A-94EE-C8649C22C6DC}"/>
              </a:ext>
            </a:extLst>
          </p:cNvPr>
          <p:cNvCxnSpPr/>
          <p:nvPr userDrawn="1"/>
        </p:nvCxnSpPr>
        <p:spPr>
          <a:xfrm flipV="1">
            <a:off x="628074" y="1349375"/>
            <a:ext cx="12561455" cy="551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8EDD78C6-9953-4495-BCE7-5F6B09E5083F}"/>
              </a:ext>
            </a:extLst>
          </p:cNvPr>
          <p:cNvPicPr>
            <a:picLocks noChangeAspect="1"/>
          </p:cNvPicPr>
          <p:nvPr userDrawn="1"/>
        </p:nvPicPr>
        <p:blipFill>
          <a:blip r:embed="rId2"/>
          <a:stretch>
            <a:fillRect/>
          </a:stretch>
        </p:blipFill>
        <p:spPr>
          <a:xfrm>
            <a:off x="12390120" y="7285296"/>
            <a:ext cx="464594" cy="140334"/>
          </a:xfrm>
          <a:prstGeom prst="rect">
            <a:avLst/>
          </a:prstGeom>
        </p:spPr>
      </p:pic>
    </p:spTree>
    <p:extLst>
      <p:ext uri="{BB962C8B-B14F-4D97-AF65-F5344CB8AC3E}">
        <p14:creationId xmlns:p14="http://schemas.microsoft.com/office/powerpoint/2010/main" val="113360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 3 column ">
    <p:spTree>
      <p:nvGrpSpPr>
        <p:cNvPr id="1" name=""/>
        <p:cNvGrpSpPr/>
        <p:nvPr/>
      </p:nvGrpSpPr>
      <p:grpSpPr>
        <a:xfrm>
          <a:off x="0" y="0"/>
          <a:ext cx="0" cy="0"/>
          <a:chOff x="0" y="0"/>
          <a:chExt cx="0" cy="0"/>
        </a:xfrm>
      </p:grpSpPr>
      <p:sp>
        <p:nvSpPr>
          <p:cNvPr id="11" name="Text Placeholder 8"/>
          <p:cNvSpPr>
            <a:spLocks noGrp="1"/>
          </p:cNvSpPr>
          <p:nvPr>
            <p:ph type="body" sz="quarter" idx="13" hasCustomPrompt="1"/>
          </p:nvPr>
        </p:nvSpPr>
        <p:spPr>
          <a:xfrm>
            <a:off x="628074" y="6642941"/>
            <a:ext cx="12561455" cy="481048"/>
          </a:xfrm>
        </p:spPr>
        <p:txBody>
          <a:bodyPr anchor="b">
            <a:noAutofit/>
          </a:bodyPr>
          <a:lstStyle>
            <a:lvl1pPr marL="0" indent="0">
              <a:spcBef>
                <a:spcPts val="0"/>
              </a:spcBef>
              <a:spcAft>
                <a:spcPts val="0"/>
              </a:spcAft>
              <a:buNone/>
              <a:defRPr lang="en-US" sz="900" b="0" i="0" kern="1200" cap="none" spc="0" baseline="0" dirty="0" smtClean="0">
                <a:solidFill>
                  <a:schemeClr val="tx1">
                    <a:lumMod val="65000"/>
                    <a:lumOff val="35000"/>
                  </a:schemeClr>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pPr lvl="0"/>
            <a:r>
              <a:rPr lang="en-US"/>
              <a:t>Footnotes and / or disclosure info for charts and graphs</a:t>
            </a:r>
          </a:p>
        </p:txBody>
      </p:sp>
      <p:sp>
        <p:nvSpPr>
          <p:cNvPr id="18" name="Content Placeholder 2"/>
          <p:cNvSpPr>
            <a:spLocks noGrp="1"/>
          </p:cNvSpPr>
          <p:nvPr>
            <p:ph idx="15"/>
          </p:nvPr>
        </p:nvSpPr>
        <p:spPr>
          <a:xfrm>
            <a:off x="628074" y="1824038"/>
            <a:ext cx="3994543" cy="434975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19" name="Content Placeholder 2"/>
          <p:cNvSpPr>
            <a:spLocks noGrp="1"/>
          </p:cNvSpPr>
          <p:nvPr>
            <p:ph idx="16"/>
          </p:nvPr>
        </p:nvSpPr>
        <p:spPr>
          <a:xfrm>
            <a:off x="4911530" y="1824038"/>
            <a:ext cx="3994543" cy="434975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idx="17"/>
          </p:nvPr>
        </p:nvSpPr>
        <p:spPr>
          <a:xfrm>
            <a:off x="9194986" y="1824038"/>
            <a:ext cx="3994543" cy="434975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25" name="Slide Number Placeholder 5"/>
          <p:cNvSpPr txBox="1">
            <a:spLocks/>
          </p:cNvSpPr>
          <p:nvPr userDrawn="1"/>
        </p:nvSpPr>
        <p:spPr>
          <a:xfrm>
            <a:off x="12875492" y="7270013"/>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endParaRPr lang="en-US" sz="1000"/>
          </a:p>
        </p:txBody>
      </p:sp>
      <p:sp>
        <p:nvSpPr>
          <p:cNvPr id="26" name="Slide Number Placeholder 5"/>
          <p:cNvSpPr txBox="1">
            <a:spLocks/>
          </p:cNvSpPr>
          <p:nvPr userDrawn="1"/>
        </p:nvSpPr>
        <p:spPr>
          <a:xfrm>
            <a:off x="10080567" y="7270015"/>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pPr/>
              <a:t>‹#›</a:t>
            </a:fld>
            <a:endParaRPr lang="en-US" sz="1000"/>
          </a:p>
        </p:txBody>
      </p:sp>
      <p:sp>
        <p:nvSpPr>
          <p:cNvPr id="13" name="Title 1"/>
          <p:cNvSpPr>
            <a:spLocks noGrp="1"/>
          </p:cNvSpPr>
          <p:nvPr>
            <p:ph type="title"/>
          </p:nvPr>
        </p:nvSpPr>
        <p:spPr>
          <a:xfrm>
            <a:off x="628074" y="457205"/>
            <a:ext cx="12561455" cy="773115"/>
          </a:xfrm>
        </p:spPr>
        <p:txBody>
          <a:bodyPr/>
          <a:lstStyle>
            <a:lvl1pPr>
              <a:defRPr>
                <a:latin typeface="Roboto Condensed" panose="02000000000000000000" pitchFamily="2" charset="0"/>
                <a:ea typeface="Roboto Condensed" panose="02000000000000000000" pitchFamily="2" charset="0"/>
              </a:defRPr>
            </a:lvl1pPr>
          </a:lstStyle>
          <a:p>
            <a:r>
              <a:rPr lang="en-US"/>
              <a:t>Click to edit Master title style</a:t>
            </a:r>
          </a:p>
        </p:txBody>
      </p:sp>
      <p:cxnSp>
        <p:nvCxnSpPr>
          <p:cNvPr id="10" name="Straight Connector 9">
            <a:extLst>
              <a:ext uri="{FF2B5EF4-FFF2-40B4-BE49-F238E27FC236}">
                <a16:creationId xmlns:a16="http://schemas.microsoft.com/office/drawing/2014/main" id="{C9A796F7-9952-47C0-BB09-5A69F01E5403}"/>
              </a:ext>
            </a:extLst>
          </p:cNvPr>
          <p:cNvCxnSpPr/>
          <p:nvPr userDrawn="1"/>
        </p:nvCxnSpPr>
        <p:spPr>
          <a:xfrm flipV="1">
            <a:off x="628074" y="7204504"/>
            <a:ext cx="12561455" cy="551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4DAECA2-9B34-4BD0-83E9-A3336C3088FB}"/>
              </a:ext>
            </a:extLst>
          </p:cNvPr>
          <p:cNvCxnSpPr/>
          <p:nvPr userDrawn="1"/>
        </p:nvCxnSpPr>
        <p:spPr>
          <a:xfrm flipV="1">
            <a:off x="628074" y="1349375"/>
            <a:ext cx="12561455" cy="551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8BA0D135-BB95-4498-BADD-8ED0AF895BC6}"/>
              </a:ext>
            </a:extLst>
          </p:cNvPr>
          <p:cNvPicPr>
            <a:picLocks noChangeAspect="1"/>
          </p:cNvPicPr>
          <p:nvPr userDrawn="1"/>
        </p:nvPicPr>
        <p:blipFill>
          <a:blip r:embed="rId2"/>
          <a:stretch>
            <a:fillRect/>
          </a:stretch>
        </p:blipFill>
        <p:spPr>
          <a:xfrm>
            <a:off x="12390120" y="7285296"/>
            <a:ext cx="464594" cy="140334"/>
          </a:xfrm>
          <a:prstGeom prst="rect">
            <a:avLst/>
          </a:prstGeom>
        </p:spPr>
      </p:pic>
    </p:spTree>
    <p:extLst>
      <p:ext uri="{BB962C8B-B14F-4D97-AF65-F5344CB8AC3E}">
        <p14:creationId xmlns:p14="http://schemas.microsoft.com/office/powerpoint/2010/main" val="9406740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title, and Content | 4 column">
    <p:spTree>
      <p:nvGrpSpPr>
        <p:cNvPr id="1" name=""/>
        <p:cNvGrpSpPr/>
        <p:nvPr/>
      </p:nvGrpSpPr>
      <p:grpSpPr>
        <a:xfrm>
          <a:off x="0" y="0"/>
          <a:ext cx="0" cy="0"/>
          <a:chOff x="0" y="0"/>
          <a:chExt cx="0" cy="0"/>
        </a:xfrm>
      </p:grpSpPr>
      <p:sp>
        <p:nvSpPr>
          <p:cNvPr id="6" name="Content Placeholder 2"/>
          <p:cNvSpPr>
            <a:spLocks noGrp="1"/>
          </p:cNvSpPr>
          <p:nvPr>
            <p:ph idx="1"/>
          </p:nvPr>
        </p:nvSpPr>
        <p:spPr>
          <a:xfrm>
            <a:off x="628073" y="2058988"/>
            <a:ext cx="2933100" cy="411480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11" name="Text Placeholder 8"/>
          <p:cNvSpPr>
            <a:spLocks noGrp="1"/>
          </p:cNvSpPr>
          <p:nvPr>
            <p:ph type="body" sz="quarter" idx="14" hasCustomPrompt="1"/>
          </p:nvPr>
        </p:nvSpPr>
        <p:spPr>
          <a:xfrm>
            <a:off x="628074" y="6643179"/>
            <a:ext cx="12561455" cy="480810"/>
          </a:xfrm>
        </p:spPr>
        <p:txBody>
          <a:bodyPr anchor="b">
            <a:noAutofit/>
          </a:bodyPr>
          <a:lstStyle>
            <a:lvl1pPr marL="0" indent="0">
              <a:spcBef>
                <a:spcPts val="0"/>
              </a:spcBef>
              <a:spcAft>
                <a:spcPts val="0"/>
              </a:spcAft>
              <a:buNone/>
              <a:defRPr lang="en-US" sz="900" b="0" i="0" kern="1200" cap="none" spc="0" baseline="0" dirty="0" smtClean="0">
                <a:solidFill>
                  <a:schemeClr val="tx1">
                    <a:lumMod val="65000"/>
                    <a:lumOff val="35000"/>
                  </a:schemeClr>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pPr lvl="0"/>
            <a:r>
              <a:rPr lang="en-US"/>
              <a:t>Footnotes and / or disclosure info for charts and graphs</a:t>
            </a:r>
          </a:p>
        </p:txBody>
      </p:sp>
      <p:sp>
        <p:nvSpPr>
          <p:cNvPr id="17" name="Content Placeholder 2"/>
          <p:cNvSpPr>
            <a:spLocks noGrp="1"/>
          </p:cNvSpPr>
          <p:nvPr>
            <p:ph idx="16"/>
          </p:nvPr>
        </p:nvSpPr>
        <p:spPr>
          <a:xfrm>
            <a:off x="3838383" y="2058988"/>
            <a:ext cx="2933100" cy="411480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idx="17"/>
          </p:nvPr>
        </p:nvSpPr>
        <p:spPr>
          <a:xfrm>
            <a:off x="7048693" y="2058988"/>
            <a:ext cx="2933100" cy="411480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21" name="Content Placeholder 2"/>
          <p:cNvSpPr>
            <a:spLocks noGrp="1"/>
          </p:cNvSpPr>
          <p:nvPr>
            <p:ph idx="18"/>
          </p:nvPr>
        </p:nvSpPr>
        <p:spPr>
          <a:xfrm>
            <a:off x="10259002" y="2058988"/>
            <a:ext cx="2933100" cy="411480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30" name="Slide Number Placeholder 5"/>
          <p:cNvSpPr txBox="1">
            <a:spLocks/>
          </p:cNvSpPr>
          <p:nvPr userDrawn="1"/>
        </p:nvSpPr>
        <p:spPr>
          <a:xfrm>
            <a:off x="12875492" y="7270013"/>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endParaRPr lang="en-US" sz="1000"/>
          </a:p>
        </p:txBody>
      </p:sp>
      <p:sp>
        <p:nvSpPr>
          <p:cNvPr id="31" name="Slide Number Placeholder 5"/>
          <p:cNvSpPr txBox="1">
            <a:spLocks/>
          </p:cNvSpPr>
          <p:nvPr userDrawn="1"/>
        </p:nvSpPr>
        <p:spPr>
          <a:xfrm>
            <a:off x="10080567" y="7270015"/>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pPr/>
              <a:t>‹#›</a:t>
            </a:fld>
            <a:endParaRPr lang="en-US" sz="1000"/>
          </a:p>
        </p:txBody>
      </p:sp>
      <p:sp>
        <p:nvSpPr>
          <p:cNvPr id="14" name="Title 1"/>
          <p:cNvSpPr>
            <a:spLocks noGrp="1"/>
          </p:cNvSpPr>
          <p:nvPr>
            <p:ph type="title"/>
          </p:nvPr>
        </p:nvSpPr>
        <p:spPr>
          <a:xfrm>
            <a:off x="628074" y="457205"/>
            <a:ext cx="12561455" cy="773115"/>
          </a:xfrm>
        </p:spPr>
        <p:txBody>
          <a:bodyPr/>
          <a:lstStyle>
            <a:lvl1pPr>
              <a:defRPr>
                <a:latin typeface="Roboto Condensed" panose="02000000000000000000" pitchFamily="2" charset="0"/>
                <a:ea typeface="Roboto Condensed" panose="02000000000000000000" pitchFamily="2" charset="0"/>
              </a:defRPr>
            </a:lvl1pPr>
          </a:lstStyle>
          <a:p>
            <a:r>
              <a:rPr lang="en-US"/>
              <a:t>Click to edit Master title style</a:t>
            </a:r>
          </a:p>
        </p:txBody>
      </p:sp>
      <p:sp>
        <p:nvSpPr>
          <p:cNvPr id="16" name="Text Placeholder 13"/>
          <p:cNvSpPr>
            <a:spLocks noGrp="1"/>
          </p:cNvSpPr>
          <p:nvPr>
            <p:ph type="body" sz="quarter" idx="13"/>
          </p:nvPr>
        </p:nvSpPr>
        <p:spPr>
          <a:xfrm>
            <a:off x="628074" y="1457325"/>
            <a:ext cx="12561455" cy="242468"/>
          </a:xfrm>
        </p:spPr>
        <p:txBody>
          <a:bodyPr>
            <a:noAutofit/>
          </a:bodyPr>
          <a:lstStyle>
            <a:lvl1pPr>
              <a:defRPr sz="1800" b="1" i="1" cap="none" spc="0" baseline="0">
                <a:solidFill>
                  <a:schemeClr val="accent1"/>
                </a:solidFill>
                <a:latin typeface="Georgia" charset="0"/>
                <a:ea typeface="Georgia" charset="0"/>
                <a:cs typeface="Georgia" charset="0"/>
              </a:defRPr>
            </a:lvl1pPr>
          </a:lstStyle>
          <a:p>
            <a:pPr lvl="0"/>
            <a:r>
              <a:rPr lang="en-US"/>
              <a:t>Click to edit Master text styles</a:t>
            </a:r>
          </a:p>
        </p:txBody>
      </p:sp>
      <p:cxnSp>
        <p:nvCxnSpPr>
          <p:cNvPr id="12" name="Straight Connector 11">
            <a:extLst>
              <a:ext uri="{FF2B5EF4-FFF2-40B4-BE49-F238E27FC236}">
                <a16:creationId xmlns:a16="http://schemas.microsoft.com/office/drawing/2014/main" id="{B677B991-4CDD-42E2-AF93-971CC6205FD0}"/>
              </a:ext>
            </a:extLst>
          </p:cNvPr>
          <p:cNvCxnSpPr/>
          <p:nvPr userDrawn="1"/>
        </p:nvCxnSpPr>
        <p:spPr>
          <a:xfrm flipV="1">
            <a:off x="628074" y="7204504"/>
            <a:ext cx="12561455" cy="551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B04D2EF-2D23-4233-996C-18BDC1155CDC}"/>
              </a:ext>
            </a:extLst>
          </p:cNvPr>
          <p:cNvCxnSpPr/>
          <p:nvPr userDrawn="1"/>
        </p:nvCxnSpPr>
        <p:spPr>
          <a:xfrm flipV="1">
            <a:off x="628074" y="1349375"/>
            <a:ext cx="12561455" cy="551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E281FCB1-BB45-4262-BF58-58D933669FAF}"/>
              </a:ext>
            </a:extLst>
          </p:cNvPr>
          <p:cNvPicPr>
            <a:picLocks noChangeAspect="1"/>
          </p:cNvPicPr>
          <p:nvPr userDrawn="1"/>
        </p:nvPicPr>
        <p:blipFill>
          <a:blip r:embed="rId2"/>
          <a:stretch>
            <a:fillRect/>
          </a:stretch>
        </p:blipFill>
        <p:spPr>
          <a:xfrm>
            <a:off x="12390120" y="7285296"/>
            <a:ext cx="464594" cy="140334"/>
          </a:xfrm>
          <a:prstGeom prst="rect">
            <a:avLst/>
          </a:prstGeom>
        </p:spPr>
      </p:pic>
    </p:spTree>
    <p:extLst>
      <p:ext uri="{BB962C8B-B14F-4D97-AF65-F5344CB8AC3E}">
        <p14:creationId xmlns:p14="http://schemas.microsoft.com/office/powerpoint/2010/main" val="19512800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 4 column">
    <p:spTree>
      <p:nvGrpSpPr>
        <p:cNvPr id="1" name=""/>
        <p:cNvGrpSpPr/>
        <p:nvPr/>
      </p:nvGrpSpPr>
      <p:grpSpPr>
        <a:xfrm>
          <a:off x="0" y="0"/>
          <a:ext cx="0" cy="0"/>
          <a:chOff x="0" y="0"/>
          <a:chExt cx="0" cy="0"/>
        </a:xfrm>
      </p:grpSpPr>
      <p:sp>
        <p:nvSpPr>
          <p:cNvPr id="9" name="Content Placeholder 2"/>
          <p:cNvSpPr>
            <a:spLocks noGrp="1"/>
          </p:cNvSpPr>
          <p:nvPr>
            <p:ph idx="1"/>
          </p:nvPr>
        </p:nvSpPr>
        <p:spPr>
          <a:xfrm>
            <a:off x="628073" y="1824039"/>
            <a:ext cx="2933100" cy="434975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14" name="Text Placeholder 8"/>
          <p:cNvSpPr>
            <a:spLocks noGrp="1"/>
          </p:cNvSpPr>
          <p:nvPr>
            <p:ph type="body" sz="quarter" idx="14" hasCustomPrompt="1"/>
          </p:nvPr>
        </p:nvSpPr>
        <p:spPr>
          <a:xfrm>
            <a:off x="628074" y="6642943"/>
            <a:ext cx="12561455" cy="481046"/>
          </a:xfrm>
        </p:spPr>
        <p:txBody>
          <a:bodyPr anchor="b">
            <a:noAutofit/>
          </a:bodyPr>
          <a:lstStyle>
            <a:lvl1pPr marL="0" indent="0">
              <a:spcBef>
                <a:spcPts val="0"/>
              </a:spcBef>
              <a:spcAft>
                <a:spcPts val="0"/>
              </a:spcAft>
              <a:buNone/>
              <a:defRPr lang="en-US" sz="900" b="0" i="0" kern="1200" cap="none" spc="0" baseline="0" dirty="0" smtClean="0">
                <a:solidFill>
                  <a:schemeClr val="tx1">
                    <a:lumMod val="65000"/>
                    <a:lumOff val="35000"/>
                  </a:schemeClr>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pPr lvl="0"/>
            <a:r>
              <a:rPr lang="en-US"/>
              <a:t>Footnotes and / or disclosure info for charts and graphs</a:t>
            </a:r>
          </a:p>
        </p:txBody>
      </p:sp>
      <p:sp>
        <p:nvSpPr>
          <p:cNvPr id="17" name="Content Placeholder 2"/>
          <p:cNvSpPr>
            <a:spLocks noGrp="1"/>
          </p:cNvSpPr>
          <p:nvPr>
            <p:ph idx="16"/>
          </p:nvPr>
        </p:nvSpPr>
        <p:spPr>
          <a:xfrm>
            <a:off x="3838383" y="1824039"/>
            <a:ext cx="2933100" cy="4349750"/>
          </a:xfrm>
        </p:spPr>
        <p:txBody>
          <a:bodyPr/>
          <a:lstStyle>
            <a:lvl1pPr>
              <a:defRPr>
                <a:latin typeface="+mn-lt"/>
                <a:ea typeface="Roboto Condensed" panose="02000000000000000000" pitchFamily="2" charset="0"/>
              </a:defRPr>
            </a:lvl1pPr>
            <a:lvl2pPr>
              <a:defRPr>
                <a:latin typeface="+mn-lt"/>
                <a:ea typeface="Roboto Condensed" panose="02000000000000000000" pitchFamily="2" charset="0"/>
              </a:defRPr>
            </a:lvl2pPr>
            <a:lvl3pPr>
              <a:defRPr>
                <a:latin typeface="+mn-lt"/>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18" name="Content Placeholder 2"/>
          <p:cNvSpPr>
            <a:spLocks noGrp="1"/>
          </p:cNvSpPr>
          <p:nvPr>
            <p:ph idx="17"/>
          </p:nvPr>
        </p:nvSpPr>
        <p:spPr>
          <a:xfrm>
            <a:off x="7048693" y="1824039"/>
            <a:ext cx="2933100" cy="4349750"/>
          </a:xfrm>
        </p:spPr>
        <p:txBody>
          <a:bodyPr/>
          <a:lstStyle>
            <a:lvl1pPr>
              <a:defRPr>
                <a:latin typeface="Roboto Condensed" panose="02000000000000000000" pitchFamily="2" charset="0"/>
                <a:ea typeface="Roboto Condensed" panose="02000000000000000000" pitchFamily="2" charset="0"/>
              </a:defRPr>
            </a:lvl1pPr>
            <a:lvl2pPr>
              <a:defRPr>
                <a:latin typeface="Roboto Condensed" panose="02000000000000000000" pitchFamily="2" charset="0"/>
                <a:ea typeface="Roboto Condensed" panose="02000000000000000000" pitchFamily="2" charset="0"/>
              </a:defRPr>
            </a:lvl2pPr>
            <a:lvl3pPr>
              <a:defRPr>
                <a:latin typeface="Roboto Condensed" panose="02000000000000000000" pitchFamily="2" charset="0"/>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19" name="Content Placeholder 2"/>
          <p:cNvSpPr>
            <a:spLocks noGrp="1"/>
          </p:cNvSpPr>
          <p:nvPr>
            <p:ph idx="18"/>
          </p:nvPr>
        </p:nvSpPr>
        <p:spPr>
          <a:xfrm>
            <a:off x="10259002" y="1824039"/>
            <a:ext cx="2933100" cy="4349750"/>
          </a:xfrm>
        </p:spPr>
        <p:txBody>
          <a:bodyPr/>
          <a:lstStyle>
            <a:lvl1pPr>
              <a:defRPr>
                <a:latin typeface="Roboto Condensed" panose="02000000000000000000" pitchFamily="2" charset="0"/>
                <a:ea typeface="Roboto Condensed" panose="02000000000000000000" pitchFamily="2" charset="0"/>
              </a:defRPr>
            </a:lvl1pPr>
            <a:lvl2pPr>
              <a:defRPr>
                <a:latin typeface="Roboto Condensed" panose="02000000000000000000" pitchFamily="2" charset="0"/>
                <a:ea typeface="Roboto Condensed" panose="02000000000000000000" pitchFamily="2" charset="0"/>
              </a:defRPr>
            </a:lvl2pPr>
            <a:lvl3pPr>
              <a:defRPr>
                <a:latin typeface="Roboto Condensed" panose="02000000000000000000" pitchFamily="2" charset="0"/>
                <a:ea typeface="Roboto Condensed" panose="02000000000000000000" pitchFamily="2" charset="0"/>
              </a:defRPr>
            </a:lvl3pPr>
          </a:lstStyle>
          <a:p>
            <a:pPr lvl="0"/>
            <a:r>
              <a:rPr lang="en-US"/>
              <a:t>Click to edit Master text styles</a:t>
            </a:r>
          </a:p>
          <a:p>
            <a:pPr lvl="1"/>
            <a:r>
              <a:rPr lang="en-US"/>
              <a:t>Second level</a:t>
            </a:r>
          </a:p>
          <a:p>
            <a:pPr lvl="2"/>
            <a:r>
              <a:rPr lang="en-US"/>
              <a:t>Third level</a:t>
            </a:r>
          </a:p>
        </p:txBody>
      </p:sp>
      <p:sp>
        <p:nvSpPr>
          <p:cNvPr id="26" name="Slide Number Placeholder 5"/>
          <p:cNvSpPr txBox="1">
            <a:spLocks/>
          </p:cNvSpPr>
          <p:nvPr userDrawn="1"/>
        </p:nvSpPr>
        <p:spPr>
          <a:xfrm>
            <a:off x="12875492" y="7270013"/>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endParaRPr lang="en-US" sz="1000"/>
          </a:p>
        </p:txBody>
      </p:sp>
      <p:sp>
        <p:nvSpPr>
          <p:cNvPr id="27" name="Slide Number Placeholder 5"/>
          <p:cNvSpPr txBox="1">
            <a:spLocks/>
          </p:cNvSpPr>
          <p:nvPr userDrawn="1"/>
        </p:nvSpPr>
        <p:spPr>
          <a:xfrm>
            <a:off x="10080567" y="7270015"/>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pPr/>
              <a:t>‹#›</a:t>
            </a:fld>
            <a:endParaRPr lang="en-US" sz="1000"/>
          </a:p>
        </p:txBody>
      </p:sp>
      <p:sp>
        <p:nvSpPr>
          <p:cNvPr id="13" name="Title 1"/>
          <p:cNvSpPr>
            <a:spLocks noGrp="1"/>
          </p:cNvSpPr>
          <p:nvPr>
            <p:ph type="title"/>
          </p:nvPr>
        </p:nvSpPr>
        <p:spPr>
          <a:xfrm>
            <a:off x="628074" y="457205"/>
            <a:ext cx="12561455" cy="773115"/>
          </a:xfrm>
        </p:spPr>
        <p:txBody>
          <a:bodyPr/>
          <a:lstStyle>
            <a:lvl1pPr>
              <a:defRPr>
                <a:latin typeface="Roboto Condensed" panose="02000000000000000000" pitchFamily="2" charset="0"/>
                <a:ea typeface="Roboto Condensed" panose="02000000000000000000" pitchFamily="2" charset="0"/>
              </a:defRPr>
            </a:lvl1pPr>
          </a:lstStyle>
          <a:p>
            <a:r>
              <a:rPr lang="en-US"/>
              <a:t>Click to edit Master title style</a:t>
            </a:r>
          </a:p>
        </p:txBody>
      </p:sp>
      <p:cxnSp>
        <p:nvCxnSpPr>
          <p:cNvPr id="11" name="Straight Connector 10">
            <a:extLst>
              <a:ext uri="{FF2B5EF4-FFF2-40B4-BE49-F238E27FC236}">
                <a16:creationId xmlns:a16="http://schemas.microsoft.com/office/drawing/2014/main" id="{551EFC84-1264-41C1-ADC8-96752C664233}"/>
              </a:ext>
            </a:extLst>
          </p:cNvPr>
          <p:cNvCxnSpPr/>
          <p:nvPr userDrawn="1"/>
        </p:nvCxnSpPr>
        <p:spPr>
          <a:xfrm flipV="1">
            <a:off x="628074" y="7204504"/>
            <a:ext cx="12561455" cy="551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B2F9A06-6238-4A7D-B0FD-36B0834E7929}"/>
              </a:ext>
            </a:extLst>
          </p:cNvPr>
          <p:cNvCxnSpPr/>
          <p:nvPr userDrawn="1"/>
        </p:nvCxnSpPr>
        <p:spPr>
          <a:xfrm flipV="1">
            <a:off x="628074" y="1349375"/>
            <a:ext cx="12561455" cy="551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34AD6BEC-905E-4E5C-AB96-BF5E20F84432}"/>
              </a:ext>
            </a:extLst>
          </p:cNvPr>
          <p:cNvPicPr>
            <a:picLocks noChangeAspect="1"/>
          </p:cNvPicPr>
          <p:nvPr userDrawn="1"/>
        </p:nvPicPr>
        <p:blipFill>
          <a:blip r:embed="rId2"/>
          <a:stretch>
            <a:fillRect/>
          </a:stretch>
        </p:blipFill>
        <p:spPr>
          <a:xfrm>
            <a:off x="12390120" y="7285296"/>
            <a:ext cx="464594" cy="140334"/>
          </a:xfrm>
          <a:prstGeom prst="rect">
            <a:avLst/>
          </a:prstGeom>
        </p:spPr>
      </p:pic>
    </p:spTree>
    <p:extLst>
      <p:ext uri="{BB962C8B-B14F-4D97-AF65-F5344CB8AC3E}">
        <p14:creationId xmlns:p14="http://schemas.microsoft.com/office/powerpoint/2010/main" val="1344180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A">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0" y="0"/>
            <a:ext cx="13817600" cy="7772400"/>
          </a:xfrm>
        </p:spPr>
        <p:txBody>
          <a:bodyPr/>
          <a:lstStyle/>
          <a:p>
            <a:r>
              <a:rPr lang="en-US"/>
              <a:t>Click icon to add picture</a:t>
            </a:r>
          </a:p>
        </p:txBody>
      </p:sp>
      <p:cxnSp>
        <p:nvCxnSpPr>
          <p:cNvPr id="28" name="Straight Connector 27"/>
          <p:cNvCxnSpPr/>
          <p:nvPr userDrawn="1"/>
        </p:nvCxnSpPr>
        <p:spPr>
          <a:xfrm flipV="1">
            <a:off x="628074" y="7204504"/>
            <a:ext cx="12561455" cy="551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Text Placeholder 13"/>
          <p:cNvSpPr>
            <a:spLocks noGrp="1"/>
          </p:cNvSpPr>
          <p:nvPr>
            <p:ph type="body" sz="quarter" idx="14"/>
          </p:nvPr>
        </p:nvSpPr>
        <p:spPr>
          <a:xfrm>
            <a:off x="637048" y="685805"/>
            <a:ext cx="1658113" cy="1207009"/>
          </a:xfrm>
          <a:prstGeom prst="roundRect">
            <a:avLst/>
          </a:prstGeom>
          <a:solidFill>
            <a:schemeClr val="bg1">
              <a:alpha val="70000"/>
            </a:schemeClr>
          </a:solidFill>
          <a:ln w="6350">
            <a:solidFill>
              <a:srgbClr val="013957"/>
            </a:solidFill>
          </a:ln>
        </p:spPr>
        <p:txBody>
          <a:bodyPr lIns="68580" tIns="68580" rIns="68580" bIns="68580">
            <a:noAutofit/>
          </a:bodyPr>
          <a:lstStyle>
            <a:lvl1pPr marL="0" indent="0">
              <a:buNone/>
              <a:defRPr sz="900" b="0" i="0">
                <a:solidFill>
                  <a:srgbClr val="013957"/>
                </a:solidFill>
                <a:latin typeface="Roboto Condensed" charset="0"/>
                <a:ea typeface="Roboto Condensed" charset="0"/>
                <a:cs typeface="Roboto Condensed" charset="0"/>
              </a:defRPr>
            </a:lvl1pPr>
            <a:lvl2pPr marL="457162" indent="0">
              <a:buNone/>
              <a:defRPr/>
            </a:lvl2pPr>
          </a:lstStyle>
          <a:p>
            <a:pPr lvl="0"/>
            <a:r>
              <a:rPr lang="en-US"/>
              <a:t>Click to edit Master text styles</a:t>
            </a:r>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386995" y="7295382"/>
            <a:ext cx="488497" cy="103461"/>
          </a:xfrm>
          <a:prstGeom prst="rect">
            <a:avLst/>
          </a:prstGeom>
        </p:spPr>
      </p:pic>
      <p:sp>
        <p:nvSpPr>
          <p:cNvPr id="13" name="Slide Number Placeholder 5"/>
          <p:cNvSpPr txBox="1">
            <a:spLocks/>
          </p:cNvSpPr>
          <p:nvPr userDrawn="1"/>
        </p:nvSpPr>
        <p:spPr>
          <a:xfrm>
            <a:off x="12875492" y="7270013"/>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r>
              <a:rPr lang="en-US" sz="1000">
                <a:solidFill>
                  <a:schemeClr val="accent3"/>
                </a:solidFill>
              </a:rPr>
              <a:t>|</a:t>
            </a:r>
          </a:p>
        </p:txBody>
      </p:sp>
      <p:sp>
        <p:nvSpPr>
          <p:cNvPr id="14" name="Slide Number Placeholder 5"/>
          <p:cNvSpPr txBox="1">
            <a:spLocks/>
          </p:cNvSpPr>
          <p:nvPr userDrawn="1"/>
        </p:nvSpPr>
        <p:spPr>
          <a:xfrm>
            <a:off x="10080567" y="7270015"/>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solidFill>
                  <a:schemeClr val="bg1"/>
                </a:solidFill>
              </a:rPr>
              <a:pPr/>
              <a:t>‹#›</a:t>
            </a:fld>
            <a:endParaRPr lang="en-US" sz="1000">
              <a:solidFill>
                <a:schemeClr val="bg1"/>
              </a:solidFill>
            </a:endParaRPr>
          </a:p>
        </p:txBody>
      </p:sp>
    </p:spTree>
    <p:extLst>
      <p:ext uri="{BB962C8B-B14F-4D97-AF65-F5344CB8AC3E}">
        <p14:creationId xmlns:p14="http://schemas.microsoft.com/office/powerpoint/2010/main" val="1044420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B">
    <p:spTree>
      <p:nvGrpSpPr>
        <p:cNvPr id="1" name=""/>
        <p:cNvGrpSpPr/>
        <p:nvPr/>
      </p:nvGrpSpPr>
      <p:grpSpPr>
        <a:xfrm>
          <a:off x="0" y="0"/>
          <a:ext cx="0" cy="0"/>
          <a:chOff x="0" y="0"/>
          <a:chExt cx="0" cy="0"/>
        </a:xfrm>
      </p:grpSpPr>
      <p:sp>
        <p:nvSpPr>
          <p:cNvPr id="18" name="Picture Placeholder 2"/>
          <p:cNvSpPr>
            <a:spLocks noGrp="1"/>
          </p:cNvSpPr>
          <p:nvPr>
            <p:ph type="pic" sz="quarter" idx="13"/>
          </p:nvPr>
        </p:nvSpPr>
        <p:spPr>
          <a:xfrm>
            <a:off x="0" y="0"/>
            <a:ext cx="13817600" cy="7772400"/>
          </a:xfrm>
        </p:spPr>
        <p:txBody>
          <a:bodyPr/>
          <a:lstStyle/>
          <a:p>
            <a:r>
              <a:rPr lang="en-US"/>
              <a:t>Click icon to add picture</a:t>
            </a:r>
          </a:p>
        </p:txBody>
      </p:sp>
      <p:cxnSp>
        <p:nvCxnSpPr>
          <p:cNvPr id="28" name="Straight Connector 27"/>
          <p:cNvCxnSpPr/>
          <p:nvPr userDrawn="1"/>
        </p:nvCxnSpPr>
        <p:spPr>
          <a:xfrm flipV="1">
            <a:off x="628074" y="7204504"/>
            <a:ext cx="12561455" cy="551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 Placeholder 13"/>
          <p:cNvSpPr>
            <a:spLocks noGrp="1"/>
          </p:cNvSpPr>
          <p:nvPr>
            <p:ph type="body" sz="quarter" idx="15"/>
          </p:nvPr>
        </p:nvSpPr>
        <p:spPr>
          <a:xfrm>
            <a:off x="637048" y="685805"/>
            <a:ext cx="1658113" cy="1207009"/>
          </a:xfrm>
          <a:prstGeom prst="roundRect">
            <a:avLst/>
          </a:prstGeom>
          <a:solidFill>
            <a:srgbClr val="013957">
              <a:alpha val="79000"/>
            </a:srgbClr>
          </a:solidFill>
          <a:ln w="6350">
            <a:solidFill>
              <a:schemeClr val="bg1"/>
            </a:solidFill>
          </a:ln>
        </p:spPr>
        <p:txBody>
          <a:bodyPr lIns="68580" tIns="68580" rIns="68580" bIns="68580">
            <a:noAutofit/>
          </a:bodyPr>
          <a:lstStyle>
            <a:lvl1pPr marL="0" indent="0">
              <a:buNone/>
              <a:defRPr sz="900" b="0" i="0">
                <a:solidFill>
                  <a:schemeClr val="bg1"/>
                </a:solidFill>
                <a:latin typeface="Roboto Condensed" charset="0"/>
                <a:ea typeface="Roboto Condensed" charset="0"/>
                <a:cs typeface="Roboto Condensed" charset="0"/>
              </a:defRPr>
            </a:lvl1pPr>
            <a:lvl2pPr marL="457162" indent="0">
              <a:buNone/>
              <a:defRPr/>
            </a:lvl2pPr>
          </a:lstStyle>
          <a:p>
            <a:pPr lvl="0"/>
            <a:r>
              <a:rPr lang="en-US"/>
              <a:t>Click to edit Master text styles</a:t>
            </a:r>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386995" y="7295382"/>
            <a:ext cx="488497" cy="103461"/>
          </a:xfrm>
          <a:prstGeom prst="rect">
            <a:avLst/>
          </a:prstGeom>
        </p:spPr>
      </p:pic>
      <p:sp>
        <p:nvSpPr>
          <p:cNvPr id="14" name="Slide Number Placeholder 5"/>
          <p:cNvSpPr txBox="1">
            <a:spLocks/>
          </p:cNvSpPr>
          <p:nvPr userDrawn="1"/>
        </p:nvSpPr>
        <p:spPr>
          <a:xfrm>
            <a:off x="12875492" y="7270013"/>
            <a:ext cx="104679"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solidFill>
                  <a:schemeClr val="accent2"/>
                </a:solidFill>
              </a:rPr>
              <a:t> </a:t>
            </a:r>
            <a:r>
              <a:rPr lang="en-US" sz="1000">
                <a:solidFill>
                  <a:schemeClr val="accent3"/>
                </a:solidFill>
              </a:rPr>
              <a:t>|</a:t>
            </a:r>
          </a:p>
        </p:txBody>
      </p:sp>
      <p:sp>
        <p:nvSpPr>
          <p:cNvPr id="17" name="Slide Number Placeholder 5"/>
          <p:cNvSpPr txBox="1">
            <a:spLocks/>
          </p:cNvSpPr>
          <p:nvPr userDrawn="1"/>
        </p:nvSpPr>
        <p:spPr>
          <a:xfrm>
            <a:off x="10080567" y="7270015"/>
            <a:ext cx="3108960" cy="154197"/>
          </a:xfrm>
          <a:prstGeom prst="rect">
            <a:avLst/>
          </a:prstGeom>
        </p:spPr>
        <p:txBody>
          <a:bodyPr vert="horz" lIns="0" tIns="0" rIns="0" bIns="0" rtlCol="0" anchor="b"/>
          <a:lstStyle>
            <a:defPPr>
              <a:defRPr lang="en-US"/>
            </a:defPPr>
            <a:lvl1pPr marL="0" algn="r" defTabSz="914400" rtl="0" eaLnBrk="1" latinLnBrk="0" hangingPunct="1">
              <a:defRPr sz="10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57ECB3-A005-674B-8D47-1AD9B25F4884}" type="slidenum">
              <a:rPr lang="en-US" sz="1000" smtClean="0">
                <a:solidFill>
                  <a:schemeClr val="bg1"/>
                </a:solidFill>
              </a:rPr>
              <a:pPr/>
              <a:t>‹#›</a:t>
            </a:fld>
            <a:endParaRPr lang="en-US" sz="1000">
              <a:solidFill>
                <a:schemeClr val="bg1"/>
              </a:solidFill>
            </a:endParaRPr>
          </a:p>
        </p:txBody>
      </p:sp>
    </p:spTree>
    <p:extLst>
      <p:ext uri="{BB962C8B-B14F-4D97-AF65-F5344CB8AC3E}">
        <p14:creationId xmlns:p14="http://schemas.microsoft.com/office/powerpoint/2010/main" val="19906492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2736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074" y="457205"/>
            <a:ext cx="12561455" cy="773115"/>
          </a:xfrm>
          <a:prstGeom prst="rect">
            <a:avLst/>
          </a:prstGeom>
        </p:spPr>
        <p:txBody>
          <a:bodyPr vert="horz" lIns="0" tIns="0" rIns="0" bIns="0" rtlCol="0" anchor="b">
            <a:noAutofit/>
          </a:bodyPr>
          <a:lstStyle/>
          <a:p>
            <a:r>
              <a:rPr lang="en-US"/>
              <a:t>Click to edit Master title style</a:t>
            </a:r>
          </a:p>
        </p:txBody>
      </p:sp>
      <p:sp>
        <p:nvSpPr>
          <p:cNvPr id="3" name="Text Placeholder 2"/>
          <p:cNvSpPr>
            <a:spLocks noGrp="1"/>
          </p:cNvSpPr>
          <p:nvPr>
            <p:ph type="body" idx="1"/>
          </p:nvPr>
        </p:nvSpPr>
        <p:spPr>
          <a:xfrm>
            <a:off x="628074" y="1824038"/>
            <a:ext cx="12561455" cy="434975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4"/>
          </p:nvPr>
        </p:nvSpPr>
        <p:spPr>
          <a:xfrm>
            <a:off x="10080567" y="7270015"/>
            <a:ext cx="3108960" cy="154197"/>
          </a:xfrm>
          <a:prstGeom prst="rect">
            <a:avLst/>
          </a:prstGeom>
        </p:spPr>
        <p:txBody>
          <a:bodyPr vert="horz" lIns="0" tIns="0" rIns="0" bIns="0" rtlCol="0" anchor="b"/>
          <a:lstStyle>
            <a:lvl1pPr algn="r">
              <a:defRPr sz="1000" b="0" i="0">
                <a:solidFill>
                  <a:schemeClr val="accent1"/>
                </a:solidFill>
                <a:latin typeface="Arial Narrow" panose="020B0606020202030204" pitchFamily="34" charset="0"/>
                <a:ea typeface="Roboto Condensed" charset="0"/>
                <a:cs typeface="Arial Narrow" panose="020B0606020202030204" pitchFamily="34" charset="0"/>
              </a:defRPr>
            </a:lvl1pPr>
          </a:lstStyle>
          <a:p>
            <a:fld id="{2457ECB3-A005-674B-8D47-1AD9B25F4884}" type="slidenum">
              <a:rPr lang="en-US" smtClean="0"/>
              <a:pPr/>
              <a:t>‹#›</a:t>
            </a:fld>
            <a:endParaRPr lang="en-US"/>
          </a:p>
        </p:txBody>
      </p:sp>
      <p:sp>
        <p:nvSpPr>
          <p:cNvPr id="9" name="Footer Placeholder 4"/>
          <p:cNvSpPr txBox="1">
            <a:spLocks/>
          </p:cNvSpPr>
          <p:nvPr userDrawn="1"/>
        </p:nvSpPr>
        <p:spPr>
          <a:xfrm>
            <a:off x="628074" y="7270011"/>
            <a:ext cx="6490085" cy="140758"/>
          </a:xfrm>
          <a:prstGeom prst="rect">
            <a:avLst/>
          </a:prstGeom>
        </p:spPr>
        <p:txBody>
          <a:bodyPr vert="horz" lIns="0" tIns="0" rIns="0" bIns="0" rtlCol="0" anchor="b"/>
          <a:lstStyle>
            <a:defPPr>
              <a:defRPr lang="en-US"/>
            </a:defPPr>
            <a:lvl1pPr marL="0" algn="l" defTabSz="914400" rtl="0" eaLnBrk="1" latinLnBrk="0" hangingPunct="1">
              <a:defRPr sz="700" b="0" i="0" kern="1200">
                <a:solidFill>
                  <a:schemeClr val="accent1"/>
                </a:solidFill>
                <a:latin typeface="Roboto Condensed" charset="0"/>
                <a:ea typeface="Roboto Condensed" charset="0"/>
                <a:cs typeface="Roboto Condensed"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 2022 by GMO LLC. All rights reserved. For Institutional Use Only</a:t>
            </a:r>
          </a:p>
        </p:txBody>
      </p:sp>
    </p:spTree>
    <p:extLst>
      <p:ext uri="{BB962C8B-B14F-4D97-AF65-F5344CB8AC3E}">
        <p14:creationId xmlns:p14="http://schemas.microsoft.com/office/powerpoint/2010/main" val="376019858"/>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81" r:id="rId3"/>
    <p:sldLayoutId id="2147483676" r:id="rId4"/>
    <p:sldLayoutId id="2147483677" r:id="rId5"/>
    <p:sldLayoutId id="2147483664" r:id="rId6"/>
    <p:sldLayoutId id="2147483662" r:id="rId7"/>
    <p:sldLayoutId id="2147483665" r:id="rId8"/>
    <p:sldLayoutId id="2147483666" r:id="rId9"/>
    <p:sldLayoutId id="2147483671" r:id="rId10"/>
    <p:sldLayoutId id="2147483674" r:id="rId11"/>
    <p:sldLayoutId id="2147483672" r:id="rId12"/>
    <p:sldLayoutId id="2147483673" r:id="rId13"/>
    <p:sldLayoutId id="2147483670" r:id="rId14"/>
    <p:sldLayoutId id="2147483668" r:id="rId15"/>
    <p:sldLayoutId id="2147483667" r:id="rId16"/>
    <p:sldLayoutId id="2147483669" r:id="rId17"/>
    <p:sldLayoutId id="2147483679" r:id="rId18"/>
    <p:sldLayoutId id="2147483680" r:id="rId19"/>
    <p:sldLayoutId id="2147483678" r:id="rId20"/>
  </p:sldLayoutIdLst>
  <p:hf sldNum="0" hdr="0" dt="0"/>
  <p:txStyles>
    <p:titleStyle>
      <a:lvl1pPr algn="l" defTabSz="1005755" rtl="0" eaLnBrk="1" latinLnBrk="0" hangingPunct="1">
        <a:lnSpc>
          <a:spcPct val="90000"/>
        </a:lnSpc>
        <a:spcBef>
          <a:spcPct val="0"/>
        </a:spcBef>
        <a:buNone/>
        <a:defRPr sz="3200" b="0" i="0" kern="1200" cap="all" spc="100" baseline="0">
          <a:solidFill>
            <a:schemeClr val="accent2"/>
          </a:solidFill>
          <a:latin typeface="Roboto Condensed" panose="02000000000000000000" pitchFamily="2" charset="0"/>
          <a:ea typeface="Roboto Condensed" panose="02000000000000000000" pitchFamily="2" charset="0"/>
          <a:cs typeface="Roboto Condensed" panose="02000000000000000000" pitchFamily="2" charset="0"/>
        </a:defRPr>
      </a:lvl1pPr>
    </p:titleStyle>
    <p:bodyStyle>
      <a:lvl1pPr marL="0" indent="0" algn="l" defTabSz="1005755" rtl="0" eaLnBrk="1" latinLnBrk="0" hangingPunct="1">
        <a:lnSpc>
          <a:spcPct val="100000"/>
        </a:lnSpc>
        <a:spcBef>
          <a:spcPts val="1200"/>
        </a:spcBef>
        <a:spcAft>
          <a:spcPts val="600"/>
        </a:spcAft>
        <a:buFont typeface="Arial" panose="020B0604020202020204" pitchFamily="34" charset="0"/>
        <a:buNone/>
        <a:defRPr sz="2400" b="0" i="0" kern="1200">
          <a:solidFill>
            <a:schemeClr val="accent2"/>
          </a:solidFill>
          <a:latin typeface="+mn-lt"/>
          <a:ea typeface="Roboto Condensed" panose="02000000000000000000" pitchFamily="2" charset="0"/>
          <a:cs typeface="Arial" panose="020B0604020202020204" pitchFamily="34" charset="0"/>
        </a:defRPr>
      </a:lvl1pPr>
      <a:lvl2pPr marL="457162" indent="-285726" algn="l" defTabSz="1005755" rtl="0" eaLnBrk="1" latinLnBrk="0" hangingPunct="1">
        <a:lnSpc>
          <a:spcPct val="100000"/>
        </a:lnSpc>
        <a:spcBef>
          <a:spcPts val="600"/>
        </a:spcBef>
        <a:spcAft>
          <a:spcPts val="1200"/>
        </a:spcAft>
        <a:buClr>
          <a:schemeClr val="accent2"/>
        </a:buClr>
        <a:buFont typeface="Wingdings" panose="05000000000000000000" pitchFamily="2" charset="2"/>
        <a:buChar char="§"/>
        <a:defRPr sz="2000" b="0" i="0" kern="1200">
          <a:solidFill>
            <a:schemeClr val="tx1"/>
          </a:solidFill>
          <a:latin typeface="+mn-lt"/>
          <a:ea typeface="Roboto Condensed" panose="02000000000000000000" pitchFamily="2" charset="0"/>
          <a:cs typeface="Arial" panose="020B0604020202020204" pitchFamily="34" charset="0"/>
        </a:defRPr>
      </a:lvl2pPr>
      <a:lvl3pPr marL="800033" indent="-342871" algn="l" defTabSz="1005755" rtl="0" eaLnBrk="1" latinLnBrk="0" hangingPunct="1">
        <a:lnSpc>
          <a:spcPct val="100000"/>
        </a:lnSpc>
        <a:spcBef>
          <a:spcPts val="600"/>
        </a:spcBef>
        <a:spcAft>
          <a:spcPts val="1200"/>
        </a:spcAft>
        <a:buClr>
          <a:schemeClr val="accent2"/>
        </a:buClr>
        <a:buFont typeface="Roboto" pitchFamily="2" charset="0"/>
        <a:buChar char="―"/>
        <a:defRPr sz="2000" b="0" i="0" kern="1200">
          <a:solidFill>
            <a:schemeClr val="tx1"/>
          </a:solidFill>
          <a:latin typeface="+mn-lt"/>
          <a:ea typeface="Roboto Condensed" panose="02000000000000000000" pitchFamily="2" charset="0"/>
          <a:cs typeface="Arial" panose="020B0604020202020204" pitchFamily="34" charset="0"/>
        </a:defRPr>
      </a:lvl3pPr>
      <a:lvl4pPr marL="1760072" indent="-251439" algn="l" defTabSz="1005755" rtl="0" eaLnBrk="1" latinLnBrk="0" hangingPunct="1">
        <a:lnSpc>
          <a:spcPct val="90000"/>
        </a:lnSpc>
        <a:spcBef>
          <a:spcPts val="550"/>
        </a:spcBef>
        <a:buFont typeface="Arial" panose="020B0604020202020204" pitchFamily="34" charset="0"/>
        <a:buChar char="•"/>
        <a:defRPr sz="1000" b="0" i="0" kern="1200">
          <a:solidFill>
            <a:schemeClr val="tx1"/>
          </a:solidFill>
          <a:latin typeface="Roboto Light" charset="0"/>
          <a:ea typeface="Roboto Light" charset="0"/>
          <a:cs typeface="Roboto Light" charset="0"/>
        </a:defRPr>
      </a:lvl4pPr>
      <a:lvl5pPr marL="2262950" indent="-251439" algn="l" defTabSz="1005755" rtl="0" eaLnBrk="1" latinLnBrk="0" hangingPunct="1">
        <a:lnSpc>
          <a:spcPct val="90000"/>
        </a:lnSpc>
        <a:spcBef>
          <a:spcPts val="550"/>
        </a:spcBef>
        <a:buFont typeface="Arial" panose="020B0604020202020204" pitchFamily="34" charset="0"/>
        <a:buChar char="•"/>
        <a:defRPr sz="1000" b="0" i="0" kern="1200">
          <a:solidFill>
            <a:schemeClr val="tx1"/>
          </a:solidFill>
          <a:latin typeface="Roboto Light" charset="0"/>
          <a:ea typeface="Roboto Light" charset="0"/>
          <a:cs typeface="Roboto Light" charset="0"/>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 userDrawn="1">
          <p15:clr>
            <a:srgbClr val="F26B43"/>
          </p15:clr>
        </p15:guide>
        <p15:guide id="2" pos="396" userDrawn="1">
          <p15:clr>
            <a:srgbClr val="F26B43"/>
          </p15:clr>
        </p15:guide>
        <p15:guide id="3" orient="horz" pos="4608" userDrawn="1">
          <p15:clr>
            <a:srgbClr val="F26B43"/>
          </p15:clr>
        </p15:guide>
        <p15:guide id="4" pos="8308" userDrawn="1">
          <p15:clr>
            <a:srgbClr val="F26B43"/>
          </p15:clr>
        </p15:guide>
        <p15:guide id="5" orient="horz" pos="4656" userDrawn="1">
          <p15:clr>
            <a:srgbClr val="F26B43"/>
          </p15:clr>
        </p15:guide>
        <p15:guide id="6" orient="horz" pos="427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20.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20.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57A9A-6098-4CCA-86AB-EB1CB54C2752}"/>
              </a:ext>
            </a:extLst>
          </p:cNvPr>
          <p:cNvSpPr>
            <a:spLocks noGrp="1"/>
          </p:cNvSpPr>
          <p:nvPr>
            <p:ph type="ctrTitle"/>
          </p:nvPr>
        </p:nvSpPr>
        <p:spPr>
          <a:xfrm>
            <a:off x="1003575" y="3611225"/>
            <a:ext cx="12814025" cy="1234758"/>
          </a:xfrm>
        </p:spPr>
        <p:txBody>
          <a:bodyPr/>
          <a:lstStyle/>
          <a:p>
            <a:r>
              <a:rPr lang="en-US" dirty="0"/>
              <a:t>Reimagining emerging markets for</a:t>
            </a:r>
            <a:br>
              <a:rPr lang="en-US" dirty="0"/>
            </a:br>
            <a:r>
              <a:rPr lang="en-US" dirty="0"/>
              <a:t>a new world order</a:t>
            </a:r>
          </a:p>
        </p:txBody>
      </p:sp>
      <p:sp>
        <p:nvSpPr>
          <p:cNvPr id="3" name="Text Placeholder 2">
            <a:extLst>
              <a:ext uri="{FF2B5EF4-FFF2-40B4-BE49-F238E27FC236}">
                <a16:creationId xmlns:a16="http://schemas.microsoft.com/office/drawing/2014/main" id="{F8556A5D-2916-4241-B2FF-BE32670AB4DA}"/>
              </a:ext>
            </a:extLst>
          </p:cNvPr>
          <p:cNvSpPr>
            <a:spLocks noGrp="1"/>
          </p:cNvSpPr>
          <p:nvPr>
            <p:ph type="body" sz="quarter" idx="12"/>
          </p:nvPr>
        </p:nvSpPr>
        <p:spPr/>
        <p:txBody>
          <a:bodyPr/>
          <a:lstStyle/>
          <a:p>
            <a:r>
              <a:rPr lang="en-US" dirty="0"/>
              <a:t>Arjun Divecha</a:t>
            </a:r>
          </a:p>
        </p:txBody>
      </p:sp>
    </p:spTree>
    <p:extLst>
      <p:ext uri="{BB962C8B-B14F-4D97-AF65-F5344CB8AC3E}">
        <p14:creationId xmlns:p14="http://schemas.microsoft.com/office/powerpoint/2010/main" val="526502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9DF125-5363-9782-C928-A6D5D628FF19}"/>
              </a:ext>
            </a:extLst>
          </p:cNvPr>
          <p:cNvSpPr>
            <a:spLocks noGrp="1"/>
          </p:cNvSpPr>
          <p:nvPr>
            <p:ph type="title"/>
          </p:nvPr>
        </p:nvSpPr>
        <p:spPr/>
        <p:txBody>
          <a:bodyPr/>
          <a:lstStyle/>
          <a:p>
            <a:r>
              <a:rPr lang="en-US" dirty="0"/>
              <a:t>Reimagining emerging markets</a:t>
            </a:r>
          </a:p>
        </p:txBody>
      </p:sp>
      <p:sp>
        <p:nvSpPr>
          <p:cNvPr id="4" name="Content Placeholder 3">
            <a:extLst>
              <a:ext uri="{FF2B5EF4-FFF2-40B4-BE49-F238E27FC236}">
                <a16:creationId xmlns:a16="http://schemas.microsoft.com/office/drawing/2014/main" id="{C2C08AD6-9C72-41CF-E1F2-377B41E9BE57}"/>
              </a:ext>
            </a:extLst>
          </p:cNvPr>
          <p:cNvSpPr>
            <a:spLocks noGrp="1"/>
          </p:cNvSpPr>
          <p:nvPr>
            <p:ph idx="1"/>
          </p:nvPr>
        </p:nvSpPr>
        <p:spPr/>
        <p:txBody>
          <a:bodyPr/>
          <a:lstStyle/>
          <a:p>
            <a:pPr marL="171436" lvl="1" indent="0">
              <a:buNone/>
            </a:pPr>
            <a:endParaRPr lang="en-US" dirty="0"/>
          </a:p>
          <a:p>
            <a:pPr lvl="1"/>
            <a:r>
              <a:rPr lang="en-US" dirty="0"/>
              <a:t>What’s Wrong with Emerging Markets That We Need to Reimagine Them?</a:t>
            </a:r>
          </a:p>
          <a:p>
            <a:pPr lvl="1"/>
            <a:r>
              <a:rPr lang="en-US" dirty="0"/>
              <a:t>Possible Solutions and Why Conventional Ideas Don’t Work</a:t>
            </a:r>
          </a:p>
          <a:p>
            <a:pPr lvl="1"/>
            <a:r>
              <a:rPr lang="en-US" dirty="0"/>
              <a:t>Introducing the Concept of the “New Normal” Portfolio</a:t>
            </a:r>
          </a:p>
          <a:p>
            <a:pPr lvl="1"/>
            <a:r>
              <a:rPr lang="en-US" dirty="0"/>
              <a:t>Components of the “New Normal”</a:t>
            </a:r>
          </a:p>
          <a:p>
            <a:pPr lvl="1"/>
            <a:r>
              <a:rPr lang="en-US" dirty="0"/>
              <a:t>Characteristics of the “New Normal”</a:t>
            </a:r>
          </a:p>
          <a:p>
            <a:pPr lvl="1"/>
            <a:r>
              <a:rPr lang="en-US" dirty="0"/>
              <a:t>How This “New Normal” Can Be Used</a:t>
            </a:r>
          </a:p>
        </p:txBody>
      </p:sp>
      <p:sp>
        <p:nvSpPr>
          <p:cNvPr id="5" name="Text Placeholder 4">
            <a:extLst>
              <a:ext uri="{FF2B5EF4-FFF2-40B4-BE49-F238E27FC236}">
                <a16:creationId xmlns:a16="http://schemas.microsoft.com/office/drawing/2014/main" id="{73904F4D-54A1-64B4-94EE-63AC0ADDEAE6}"/>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273351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7C30C3-24EC-7D93-F9EA-840B9F159950}"/>
              </a:ext>
            </a:extLst>
          </p:cNvPr>
          <p:cNvSpPr>
            <a:spLocks noGrp="1"/>
          </p:cNvSpPr>
          <p:nvPr>
            <p:ph type="body" sz="quarter" idx="13"/>
          </p:nvPr>
        </p:nvSpPr>
        <p:spPr/>
        <p:txBody>
          <a:bodyPr/>
          <a:lstStyle/>
          <a:p>
            <a:r>
              <a:rPr lang="en-US" b="1" dirty="0"/>
              <a:t>As of 9/30/22 | Source: MSCI, GMO</a:t>
            </a:r>
          </a:p>
          <a:p>
            <a:r>
              <a:rPr lang="en-US" dirty="0"/>
              <a:t>MSCI data may not be reproduced or used for any other purpose. MSCI provides no warranties, has not prepared or approved this report, and has no liability hereunder. Please visit https://www.gmo.com/americas/benchmark-disclaimers/ to review the complete benchmark disclaimer notice.</a:t>
            </a:r>
          </a:p>
        </p:txBody>
      </p:sp>
      <p:sp>
        <p:nvSpPr>
          <p:cNvPr id="3" name="Title 2">
            <a:extLst>
              <a:ext uri="{FF2B5EF4-FFF2-40B4-BE49-F238E27FC236}">
                <a16:creationId xmlns:a16="http://schemas.microsoft.com/office/drawing/2014/main" id="{7F36EA3E-F82B-49BD-34B5-B23710358282}"/>
              </a:ext>
            </a:extLst>
          </p:cNvPr>
          <p:cNvSpPr>
            <a:spLocks noGrp="1"/>
          </p:cNvSpPr>
          <p:nvPr>
            <p:ph type="title"/>
          </p:nvPr>
        </p:nvSpPr>
        <p:spPr/>
        <p:txBody>
          <a:bodyPr/>
          <a:lstStyle/>
          <a:p>
            <a:r>
              <a:rPr lang="en-US" dirty="0"/>
              <a:t>The problem with </a:t>
            </a:r>
            <a:r>
              <a:rPr lang="en-US" dirty="0" err="1"/>
              <a:t>china</a:t>
            </a:r>
            <a:r>
              <a:rPr lang="en-US" dirty="0"/>
              <a:t>/</a:t>
            </a:r>
            <a:r>
              <a:rPr lang="en-US" dirty="0" err="1"/>
              <a:t>taiwan</a:t>
            </a:r>
            <a:endParaRPr lang="en-US" dirty="0"/>
          </a:p>
        </p:txBody>
      </p:sp>
      <p:sp>
        <p:nvSpPr>
          <p:cNvPr id="4" name="Text Box 3">
            <a:extLst>
              <a:ext uri="{FF2B5EF4-FFF2-40B4-BE49-F238E27FC236}">
                <a16:creationId xmlns:a16="http://schemas.microsoft.com/office/drawing/2014/main" id="{B62181A8-65E2-55C1-43F4-B201589361B6}"/>
              </a:ext>
            </a:extLst>
          </p:cNvPr>
          <p:cNvSpPr txBox="1">
            <a:spLocks noChangeArrowheads="1"/>
          </p:cNvSpPr>
          <p:nvPr/>
        </p:nvSpPr>
        <p:spPr bwMode="auto">
          <a:xfrm>
            <a:off x="1797582" y="1671061"/>
            <a:ext cx="3763156" cy="400110"/>
          </a:xfrm>
          <a:prstGeom prst="rect">
            <a:avLst/>
          </a:prstGeom>
          <a:noFill/>
          <a:ln w="9525">
            <a:noFill/>
            <a:miter lim="800000"/>
            <a:headEnd/>
            <a:tailEnd/>
          </a:ln>
        </p:spPr>
        <p:txBody>
          <a:bodyPr wrap="square">
            <a:spAutoFit/>
          </a:bodyPr>
          <a:lstStyle/>
          <a:p>
            <a:pPr eaLnBrk="0" hangingPunct="0"/>
            <a:r>
              <a:rPr lang="en-US" sz="2000" dirty="0">
                <a:solidFill>
                  <a:schemeClr val="accent2"/>
                </a:solidFill>
                <a:latin typeface="Roboto Condensed" panose="02000000000000000000" pitchFamily="2" charset="0"/>
              </a:rPr>
              <a:t> </a:t>
            </a:r>
          </a:p>
        </p:txBody>
      </p:sp>
      <p:sp>
        <p:nvSpPr>
          <p:cNvPr id="9" name="TextBox 8">
            <a:extLst>
              <a:ext uri="{FF2B5EF4-FFF2-40B4-BE49-F238E27FC236}">
                <a16:creationId xmlns:a16="http://schemas.microsoft.com/office/drawing/2014/main" id="{F51F3DC8-B40B-108D-7AD0-1086630E44FC}"/>
              </a:ext>
            </a:extLst>
          </p:cNvPr>
          <p:cNvSpPr txBox="1"/>
          <p:nvPr/>
        </p:nvSpPr>
        <p:spPr>
          <a:xfrm>
            <a:off x="1614311" y="2071171"/>
            <a:ext cx="9256889" cy="3970318"/>
          </a:xfrm>
          <a:prstGeom prst="rect">
            <a:avLst/>
          </a:prstGeom>
          <a:noFill/>
        </p:spPr>
        <p:txBody>
          <a:bodyPr wrap="square" rtlCol="0">
            <a:spAutoFit/>
          </a:bodyPr>
          <a:lstStyle/>
          <a:p>
            <a:r>
              <a:rPr lang="en-US" dirty="0"/>
              <a:t>Recent events have brought US/China/Taiwan events to the fore:</a:t>
            </a:r>
          </a:p>
          <a:p>
            <a:r>
              <a:rPr lang="en-US" dirty="0"/>
              <a:t>	- Ukraine War</a:t>
            </a:r>
          </a:p>
          <a:p>
            <a:r>
              <a:rPr lang="en-US" dirty="0"/>
              <a:t>	- Reselection of Xi Jinping</a:t>
            </a:r>
          </a:p>
          <a:p>
            <a:r>
              <a:rPr lang="en-US" dirty="0"/>
              <a:t>	- Tensions triggered by Pelosi visit to Taiwan</a:t>
            </a:r>
          </a:p>
          <a:p>
            <a:r>
              <a:rPr lang="en-US" dirty="0"/>
              <a:t>	- New US Semiconductor policy – The first meaningful act of economic war</a:t>
            </a:r>
          </a:p>
          <a:p>
            <a:endParaRPr lang="en-US" dirty="0"/>
          </a:p>
          <a:p>
            <a:r>
              <a:rPr lang="en-US" dirty="0"/>
              <a:t>What we are seeing from investors:</a:t>
            </a:r>
          </a:p>
          <a:p>
            <a:r>
              <a:rPr lang="en-US" dirty="0"/>
              <a:t>	- Large sovereign wealth fund reduced overall EM exposure</a:t>
            </a:r>
          </a:p>
          <a:p>
            <a:r>
              <a:rPr lang="en-US" dirty="0"/>
              <a:t>	- Texas Teachers Pension announced that they will reduce China to half weight</a:t>
            </a:r>
          </a:p>
          <a:p>
            <a:r>
              <a:rPr lang="en-US" dirty="0"/>
              <a:t>	- Large endowment reduced China weight by investing in GMO EM ex-China 	  Fund to bring down overall China weight</a:t>
            </a:r>
          </a:p>
          <a:p>
            <a:endParaRPr lang="en-US" dirty="0"/>
          </a:p>
          <a:p>
            <a:r>
              <a:rPr lang="en-US" dirty="0"/>
              <a:t>In addition to the current problem, the growing weight of China has presented a problem that needs to be dealt with, similar to Japan in EAFE in the 1980s. </a:t>
            </a:r>
          </a:p>
        </p:txBody>
      </p:sp>
      <p:sp>
        <p:nvSpPr>
          <p:cNvPr id="10" name="TextBox 9">
            <a:extLst>
              <a:ext uri="{FF2B5EF4-FFF2-40B4-BE49-F238E27FC236}">
                <a16:creationId xmlns:a16="http://schemas.microsoft.com/office/drawing/2014/main" id="{F6C90179-8B41-FC31-5040-B547252A47D0}"/>
              </a:ext>
            </a:extLst>
          </p:cNvPr>
          <p:cNvSpPr txBox="1"/>
          <p:nvPr/>
        </p:nvSpPr>
        <p:spPr>
          <a:xfrm>
            <a:off x="11853333" y="1253067"/>
            <a:ext cx="925689" cy="646331"/>
          </a:xfrm>
          <a:prstGeom prst="rect">
            <a:avLst/>
          </a:prstGeom>
          <a:noFill/>
        </p:spPr>
        <p:txBody>
          <a:bodyPr wrap="square" rtlCol="0">
            <a:spAutoFit/>
          </a:bodyPr>
          <a:lstStyle/>
          <a:p>
            <a:r>
              <a:rPr lang="en-US" dirty="0"/>
              <a:t>NEW SLIDE</a:t>
            </a:r>
          </a:p>
        </p:txBody>
      </p:sp>
    </p:spTree>
    <p:extLst>
      <p:ext uri="{BB962C8B-B14F-4D97-AF65-F5344CB8AC3E}">
        <p14:creationId xmlns:p14="http://schemas.microsoft.com/office/powerpoint/2010/main" val="3988444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7C30C3-24EC-7D93-F9EA-840B9F159950}"/>
              </a:ext>
            </a:extLst>
          </p:cNvPr>
          <p:cNvSpPr>
            <a:spLocks noGrp="1"/>
          </p:cNvSpPr>
          <p:nvPr>
            <p:ph type="body" sz="quarter" idx="13"/>
          </p:nvPr>
        </p:nvSpPr>
        <p:spPr/>
        <p:txBody>
          <a:bodyPr/>
          <a:lstStyle/>
          <a:p>
            <a:r>
              <a:rPr lang="en-US" b="1" dirty="0"/>
              <a:t>As of 9/30/22 | Source: MSCI, GMO</a:t>
            </a:r>
          </a:p>
          <a:p>
            <a:r>
              <a:rPr lang="en-US" dirty="0"/>
              <a:t>MSCI data may not be reproduced or used for any other purpose. MSCI provides no warranties, has not prepared or approved this report, and has no liability hereunder. Please visit https://www.gmo.com/americas/benchmark-disclaimers/ to review the complete benchmark disclaimer notice.</a:t>
            </a:r>
          </a:p>
        </p:txBody>
      </p:sp>
      <p:sp>
        <p:nvSpPr>
          <p:cNvPr id="3" name="Title 2">
            <a:extLst>
              <a:ext uri="{FF2B5EF4-FFF2-40B4-BE49-F238E27FC236}">
                <a16:creationId xmlns:a16="http://schemas.microsoft.com/office/drawing/2014/main" id="{7F36EA3E-F82B-49BD-34B5-B23710358282}"/>
              </a:ext>
            </a:extLst>
          </p:cNvPr>
          <p:cNvSpPr>
            <a:spLocks noGrp="1"/>
          </p:cNvSpPr>
          <p:nvPr>
            <p:ph type="title"/>
          </p:nvPr>
        </p:nvSpPr>
        <p:spPr/>
        <p:txBody>
          <a:bodyPr/>
          <a:lstStyle/>
          <a:p>
            <a:r>
              <a:rPr lang="en-US" dirty="0"/>
              <a:t>The problem with </a:t>
            </a:r>
            <a:r>
              <a:rPr lang="en-US" dirty="0" err="1"/>
              <a:t>china</a:t>
            </a:r>
            <a:r>
              <a:rPr lang="en-US" dirty="0"/>
              <a:t>/</a:t>
            </a:r>
            <a:r>
              <a:rPr lang="en-US" dirty="0" err="1"/>
              <a:t>taiwan</a:t>
            </a:r>
            <a:endParaRPr lang="en-US" dirty="0"/>
          </a:p>
        </p:txBody>
      </p:sp>
      <p:sp>
        <p:nvSpPr>
          <p:cNvPr id="4" name="Text Box 3">
            <a:extLst>
              <a:ext uri="{FF2B5EF4-FFF2-40B4-BE49-F238E27FC236}">
                <a16:creationId xmlns:a16="http://schemas.microsoft.com/office/drawing/2014/main" id="{B62181A8-65E2-55C1-43F4-B201589361B6}"/>
              </a:ext>
            </a:extLst>
          </p:cNvPr>
          <p:cNvSpPr txBox="1">
            <a:spLocks noChangeArrowheads="1"/>
          </p:cNvSpPr>
          <p:nvPr/>
        </p:nvSpPr>
        <p:spPr bwMode="auto">
          <a:xfrm>
            <a:off x="1797582" y="1671061"/>
            <a:ext cx="3763156" cy="400110"/>
          </a:xfrm>
          <a:prstGeom prst="rect">
            <a:avLst/>
          </a:prstGeom>
          <a:noFill/>
          <a:ln w="9525">
            <a:noFill/>
            <a:miter lim="800000"/>
            <a:headEnd/>
            <a:tailEnd/>
          </a:ln>
        </p:spPr>
        <p:txBody>
          <a:bodyPr wrap="square">
            <a:spAutoFit/>
          </a:bodyPr>
          <a:lstStyle/>
          <a:p>
            <a:pPr eaLnBrk="0" hangingPunct="0"/>
            <a:r>
              <a:rPr lang="en-US" sz="2000" dirty="0">
                <a:solidFill>
                  <a:schemeClr val="accent2"/>
                </a:solidFill>
                <a:latin typeface="Roboto Condensed" panose="02000000000000000000" pitchFamily="2" charset="0"/>
              </a:rPr>
              <a:t> INDEX WEIGHT</a:t>
            </a:r>
          </a:p>
        </p:txBody>
      </p:sp>
      <p:sp>
        <p:nvSpPr>
          <p:cNvPr id="5" name="TextBox 4">
            <a:extLst>
              <a:ext uri="{FF2B5EF4-FFF2-40B4-BE49-F238E27FC236}">
                <a16:creationId xmlns:a16="http://schemas.microsoft.com/office/drawing/2014/main" id="{58BC6348-FFFC-94F2-6452-06C0C7D1592A}"/>
              </a:ext>
            </a:extLst>
          </p:cNvPr>
          <p:cNvSpPr txBox="1"/>
          <p:nvPr/>
        </p:nvSpPr>
        <p:spPr>
          <a:xfrm>
            <a:off x="11902235" y="2858495"/>
            <a:ext cx="1607836" cy="646331"/>
          </a:xfrm>
          <a:prstGeom prst="rect">
            <a:avLst/>
          </a:prstGeom>
          <a:noFill/>
        </p:spPr>
        <p:txBody>
          <a:bodyPr wrap="square" rtlCol="0">
            <a:spAutoFit/>
          </a:bodyPr>
          <a:lstStyle/>
          <a:p>
            <a:r>
              <a:rPr lang="en-US" b="1" dirty="0">
                <a:latin typeface="Roboto Condensed" panose="02000000000000000000" pitchFamily="2" charset="0"/>
                <a:ea typeface="Roboto Condensed" panose="02000000000000000000" pitchFamily="2" charset="0"/>
              </a:rPr>
              <a:t>China + Taiwan</a:t>
            </a:r>
          </a:p>
          <a:p>
            <a:r>
              <a:rPr lang="en-US" b="1" dirty="0">
                <a:latin typeface="Roboto Condensed" panose="02000000000000000000" pitchFamily="2" charset="0"/>
                <a:ea typeface="Roboto Condensed" panose="02000000000000000000" pitchFamily="2" charset="0"/>
              </a:rPr>
              <a:t>45.5%</a:t>
            </a:r>
          </a:p>
        </p:txBody>
      </p:sp>
      <p:sp>
        <p:nvSpPr>
          <p:cNvPr id="6" name="TextBox 5">
            <a:extLst>
              <a:ext uri="{FF2B5EF4-FFF2-40B4-BE49-F238E27FC236}">
                <a16:creationId xmlns:a16="http://schemas.microsoft.com/office/drawing/2014/main" id="{806B5756-29B0-A419-E335-FC9C9881F301}"/>
              </a:ext>
            </a:extLst>
          </p:cNvPr>
          <p:cNvSpPr txBox="1"/>
          <p:nvPr/>
        </p:nvSpPr>
        <p:spPr>
          <a:xfrm>
            <a:off x="11902235" y="3807131"/>
            <a:ext cx="1316890" cy="646331"/>
          </a:xfrm>
          <a:prstGeom prst="rect">
            <a:avLst/>
          </a:prstGeom>
          <a:noFill/>
        </p:spPr>
        <p:txBody>
          <a:bodyPr wrap="square" rtlCol="0">
            <a:spAutoFit/>
          </a:bodyPr>
          <a:lstStyle/>
          <a:p>
            <a:r>
              <a:rPr lang="en-US" b="1" dirty="0">
                <a:latin typeface="Roboto Condensed" panose="02000000000000000000" pitchFamily="2" charset="0"/>
                <a:ea typeface="Roboto Condensed" panose="02000000000000000000" pitchFamily="2" charset="0"/>
              </a:rPr>
              <a:t>China</a:t>
            </a:r>
          </a:p>
          <a:p>
            <a:r>
              <a:rPr lang="en-US" b="1" dirty="0">
                <a:latin typeface="Roboto Condensed" panose="02000000000000000000" pitchFamily="2" charset="0"/>
                <a:ea typeface="Roboto Condensed" panose="02000000000000000000" pitchFamily="2" charset="0"/>
              </a:rPr>
              <a:t>31.0%</a:t>
            </a:r>
          </a:p>
        </p:txBody>
      </p:sp>
      <p:graphicFrame>
        <p:nvGraphicFramePr>
          <p:cNvPr id="7" name="Content Placeholder 8">
            <a:extLst>
              <a:ext uri="{FF2B5EF4-FFF2-40B4-BE49-F238E27FC236}">
                <a16:creationId xmlns:a16="http://schemas.microsoft.com/office/drawing/2014/main" id="{3EB84B83-BAB9-ECFA-AB2D-8F206C9C06EE}"/>
              </a:ext>
            </a:extLst>
          </p:cNvPr>
          <p:cNvGraphicFramePr>
            <a:graphicFrameLocks noGrp="1"/>
          </p:cNvGraphicFramePr>
          <p:nvPr>
            <p:extLst>
              <p:ext uri="{D42A27DB-BD31-4B8C-83A1-F6EECF244321}">
                <p14:modId xmlns:p14="http://schemas.microsoft.com/office/powerpoint/2010/main" val="4102501528"/>
              </p:ext>
            </p:extLst>
          </p:nvPr>
        </p:nvGraphicFramePr>
        <p:xfrm>
          <a:off x="1874956" y="2071171"/>
          <a:ext cx="100584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904A66D4-D65E-C651-B0B5-6D3CD2A518A9}"/>
              </a:ext>
            </a:extLst>
          </p:cNvPr>
          <p:cNvSpPr txBox="1"/>
          <p:nvPr/>
        </p:nvSpPr>
        <p:spPr>
          <a:xfrm>
            <a:off x="2554452" y="2311857"/>
            <a:ext cx="4349704" cy="1200329"/>
          </a:xfrm>
          <a:prstGeom prst="rect">
            <a:avLst/>
          </a:prstGeom>
          <a:solidFill>
            <a:schemeClr val="bg1"/>
          </a:solidFill>
        </p:spPr>
        <p:txBody>
          <a:bodyPr wrap="square" rtlCol="0">
            <a:spAutoFit/>
          </a:bodyPr>
          <a:lstStyle/>
          <a:p>
            <a:r>
              <a:rPr lang="en-US" b="1" dirty="0">
                <a:latin typeface="Roboto Condensed" panose="02000000000000000000" pitchFamily="2" charset="0"/>
                <a:ea typeface="Roboto Condensed" panose="02000000000000000000" pitchFamily="2" charset="0"/>
              </a:rPr>
              <a:t>China A–Shares are currently only included at 20% of their total market value. When fully included, China A-Shares will go from 5% of the MSCI Index to 22%</a:t>
            </a:r>
          </a:p>
        </p:txBody>
      </p:sp>
    </p:spTree>
    <p:extLst>
      <p:ext uri="{BB962C8B-B14F-4D97-AF65-F5344CB8AC3E}">
        <p14:creationId xmlns:p14="http://schemas.microsoft.com/office/powerpoint/2010/main" val="1893294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814E0E-5181-1E66-2712-993BB02B154D}"/>
              </a:ext>
            </a:extLst>
          </p:cNvPr>
          <p:cNvSpPr>
            <a:spLocks noGrp="1"/>
          </p:cNvSpPr>
          <p:nvPr>
            <p:ph type="body" sz="quarter" idx="13"/>
          </p:nvPr>
        </p:nvSpPr>
        <p:spPr/>
        <p:txBody>
          <a:bodyPr/>
          <a:lstStyle/>
          <a:p>
            <a:r>
              <a:rPr lang="en-US" b="1" dirty="0"/>
              <a:t>As of 9/30/22 | Source: MSCI, GMO</a:t>
            </a:r>
          </a:p>
          <a:p>
            <a:r>
              <a:rPr lang="en-US" dirty="0"/>
              <a:t>MSCI data may not be reproduced or used for any other purpose. MSCI provides no warranties, has not prepared or approved this report, and has no liability hereunder. Please visit https://www.gmo.com/americas/benchmark-disclaimers/ to review the complete benchmark disclaimer notice.</a:t>
            </a:r>
          </a:p>
        </p:txBody>
      </p:sp>
      <p:sp>
        <p:nvSpPr>
          <p:cNvPr id="3" name="Title 2">
            <a:extLst>
              <a:ext uri="{FF2B5EF4-FFF2-40B4-BE49-F238E27FC236}">
                <a16:creationId xmlns:a16="http://schemas.microsoft.com/office/drawing/2014/main" id="{DC892FD1-81A3-111B-4365-0419559C6425}"/>
              </a:ext>
            </a:extLst>
          </p:cNvPr>
          <p:cNvSpPr>
            <a:spLocks noGrp="1"/>
          </p:cNvSpPr>
          <p:nvPr>
            <p:ph type="title"/>
          </p:nvPr>
        </p:nvSpPr>
        <p:spPr/>
        <p:txBody>
          <a:bodyPr/>
          <a:lstStyle/>
          <a:p>
            <a:r>
              <a:rPr lang="en-US" dirty="0"/>
              <a:t>This creates a very lopsided portfolio</a:t>
            </a:r>
          </a:p>
        </p:txBody>
      </p:sp>
      <p:sp>
        <p:nvSpPr>
          <p:cNvPr id="4" name="Text Box 3">
            <a:extLst>
              <a:ext uri="{FF2B5EF4-FFF2-40B4-BE49-F238E27FC236}">
                <a16:creationId xmlns:a16="http://schemas.microsoft.com/office/drawing/2014/main" id="{50542A8A-95D1-D849-ADBD-A7A6EFB933E0}"/>
              </a:ext>
            </a:extLst>
          </p:cNvPr>
          <p:cNvSpPr txBox="1">
            <a:spLocks noChangeArrowheads="1"/>
          </p:cNvSpPr>
          <p:nvPr/>
        </p:nvSpPr>
        <p:spPr bwMode="auto">
          <a:xfrm>
            <a:off x="1852284" y="1671061"/>
            <a:ext cx="9950509" cy="400110"/>
          </a:xfrm>
          <a:prstGeom prst="rect">
            <a:avLst/>
          </a:prstGeom>
          <a:noFill/>
          <a:ln w="9525">
            <a:noFill/>
            <a:miter lim="800000"/>
            <a:headEnd/>
            <a:tailEnd/>
          </a:ln>
        </p:spPr>
        <p:txBody>
          <a:bodyPr wrap="square">
            <a:spAutoFit/>
          </a:bodyPr>
          <a:lstStyle/>
          <a:p>
            <a:pPr eaLnBrk="0" hangingPunct="0"/>
            <a:r>
              <a:rPr lang="en-US" sz="2000" dirty="0">
                <a:solidFill>
                  <a:schemeClr val="accent2"/>
                </a:solidFill>
                <a:latin typeface="Roboto Condensed" panose="02000000000000000000" pitchFamily="2" charset="0"/>
              </a:rPr>
              <a:t>COUNTRY LEVEL CONCENTRATION (HERFINDAHL-HIRSCHMAN INDEX)</a:t>
            </a:r>
          </a:p>
        </p:txBody>
      </p:sp>
      <p:sp>
        <p:nvSpPr>
          <p:cNvPr id="5" name="TextBox 4">
            <a:extLst>
              <a:ext uri="{FF2B5EF4-FFF2-40B4-BE49-F238E27FC236}">
                <a16:creationId xmlns:a16="http://schemas.microsoft.com/office/drawing/2014/main" id="{27B9C3A1-C251-A582-2599-02FCDF52CCDD}"/>
              </a:ext>
            </a:extLst>
          </p:cNvPr>
          <p:cNvSpPr txBox="1"/>
          <p:nvPr/>
        </p:nvSpPr>
        <p:spPr>
          <a:xfrm>
            <a:off x="11902235" y="3845279"/>
            <a:ext cx="1095848" cy="369332"/>
          </a:xfrm>
          <a:prstGeom prst="rect">
            <a:avLst/>
          </a:prstGeom>
          <a:noFill/>
        </p:spPr>
        <p:txBody>
          <a:bodyPr wrap="square" rtlCol="0">
            <a:spAutoFit/>
          </a:bodyPr>
          <a:lstStyle/>
          <a:p>
            <a:r>
              <a:rPr lang="en-US" b="1" dirty="0">
                <a:latin typeface="Roboto Condensed" panose="02000000000000000000" pitchFamily="2" charset="0"/>
                <a:ea typeface="Roboto Condensed" panose="02000000000000000000" pitchFamily="2" charset="0"/>
              </a:rPr>
              <a:t>MSCI EM</a:t>
            </a:r>
          </a:p>
        </p:txBody>
      </p:sp>
      <p:sp>
        <p:nvSpPr>
          <p:cNvPr id="6" name="TextBox 5">
            <a:extLst>
              <a:ext uri="{FF2B5EF4-FFF2-40B4-BE49-F238E27FC236}">
                <a16:creationId xmlns:a16="http://schemas.microsoft.com/office/drawing/2014/main" id="{667535FA-1D49-1918-9765-2A2FFFC29421}"/>
              </a:ext>
            </a:extLst>
          </p:cNvPr>
          <p:cNvSpPr txBox="1"/>
          <p:nvPr/>
        </p:nvSpPr>
        <p:spPr>
          <a:xfrm>
            <a:off x="11902235" y="4460998"/>
            <a:ext cx="1316890" cy="369332"/>
          </a:xfrm>
          <a:prstGeom prst="rect">
            <a:avLst/>
          </a:prstGeom>
          <a:noFill/>
        </p:spPr>
        <p:txBody>
          <a:bodyPr wrap="square" rtlCol="0">
            <a:spAutoFit/>
          </a:bodyPr>
          <a:lstStyle/>
          <a:p>
            <a:r>
              <a:rPr lang="en-US" b="1" dirty="0">
                <a:latin typeface="Roboto Condensed" panose="02000000000000000000" pitchFamily="2" charset="0"/>
                <a:ea typeface="Roboto Condensed" panose="02000000000000000000" pitchFamily="2" charset="0"/>
              </a:rPr>
              <a:t>MSCI EAFE</a:t>
            </a:r>
          </a:p>
        </p:txBody>
      </p:sp>
      <p:graphicFrame>
        <p:nvGraphicFramePr>
          <p:cNvPr id="7" name="Content Placeholder 8">
            <a:extLst>
              <a:ext uri="{FF2B5EF4-FFF2-40B4-BE49-F238E27FC236}">
                <a16:creationId xmlns:a16="http://schemas.microsoft.com/office/drawing/2014/main" id="{65DE6792-703F-3F09-BB29-DC1F487E512A}"/>
              </a:ext>
            </a:extLst>
          </p:cNvPr>
          <p:cNvGraphicFramePr>
            <a:graphicFrameLocks noGrp="1"/>
          </p:cNvGraphicFramePr>
          <p:nvPr>
            <p:extLst>
              <p:ext uri="{D42A27DB-BD31-4B8C-83A1-F6EECF244321}">
                <p14:modId xmlns:p14="http://schemas.microsoft.com/office/powerpoint/2010/main" val="1593107126"/>
              </p:ext>
            </p:extLst>
          </p:nvPr>
        </p:nvGraphicFramePr>
        <p:xfrm>
          <a:off x="1875198" y="2092427"/>
          <a:ext cx="10058400" cy="4572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97983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2E27365D-8E52-AF8D-696B-477AC43A97D8}"/>
              </a:ext>
            </a:extLst>
          </p:cNvPr>
          <p:cNvSpPr>
            <a:spLocks noGrp="1"/>
          </p:cNvSpPr>
          <p:nvPr>
            <p:ph type="body" sz="quarter" idx="14"/>
          </p:nvPr>
        </p:nvSpPr>
        <p:spPr/>
        <p:txBody>
          <a:bodyPr/>
          <a:lstStyle/>
          <a:p>
            <a:r>
              <a:rPr lang="en-US" b="1" dirty="0"/>
              <a:t>As of 9/30/22 | Source: MSCI, GMO</a:t>
            </a:r>
          </a:p>
          <a:p>
            <a:r>
              <a:rPr lang="en-US" dirty="0"/>
              <a:t>MSCI data may not be reproduced or used for any other purpose. MSCI provides no warranties, has not prepared or approved this report, and has no liability hereunder. Please visit https://www.gmo.com/americas/benchmark-disclaimers/ to review the complete benchmark disclaimer notice.</a:t>
            </a:r>
          </a:p>
        </p:txBody>
      </p:sp>
      <p:sp>
        <p:nvSpPr>
          <p:cNvPr id="4" name="Title 3">
            <a:extLst>
              <a:ext uri="{FF2B5EF4-FFF2-40B4-BE49-F238E27FC236}">
                <a16:creationId xmlns:a16="http://schemas.microsoft.com/office/drawing/2014/main" id="{FAB3DAB2-586F-45C2-3543-B3D696447BD3}"/>
              </a:ext>
            </a:extLst>
          </p:cNvPr>
          <p:cNvSpPr>
            <a:spLocks noGrp="1"/>
          </p:cNvSpPr>
          <p:nvPr>
            <p:ph type="title"/>
          </p:nvPr>
        </p:nvSpPr>
        <p:spPr/>
        <p:txBody>
          <a:bodyPr/>
          <a:lstStyle/>
          <a:p>
            <a:r>
              <a:rPr lang="en-US" dirty="0"/>
              <a:t>Cap weighting does have its positives</a:t>
            </a:r>
          </a:p>
        </p:txBody>
      </p:sp>
      <p:sp>
        <p:nvSpPr>
          <p:cNvPr id="5" name="Text Placeholder 4">
            <a:extLst>
              <a:ext uri="{FF2B5EF4-FFF2-40B4-BE49-F238E27FC236}">
                <a16:creationId xmlns:a16="http://schemas.microsoft.com/office/drawing/2014/main" id="{33A222E5-8E26-8A45-CAE4-B46334DFDDBF}"/>
              </a:ext>
            </a:extLst>
          </p:cNvPr>
          <p:cNvSpPr>
            <a:spLocks noGrp="1"/>
          </p:cNvSpPr>
          <p:nvPr>
            <p:ph type="body" sz="quarter" idx="13"/>
          </p:nvPr>
        </p:nvSpPr>
        <p:spPr/>
        <p:txBody>
          <a:bodyPr/>
          <a:lstStyle/>
          <a:p>
            <a:r>
              <a:rPr lang="en-US" dirty="0"/>
              <a:t>The main advantage of cap weighting is that it aligns with liquidity</a:t>
            </a:r>
          </a:p>
        </p:txBody>
      </p:sp>
      <p:graphicFrame>
        <p:nvGraphicFramePr>
          <p:cNvPr id="7" name="Table 6">
            <a:extLst>
              <a:ext uri="{FF2B5EF4-FFF2-40B4-BE49-F238E27FC236}">
                <a16:creationId xmlns:a16="http://schemas.microsoft.com/office/drawing/2014/main" id="{A1BA92BD-AC25-9CA7-BAD0-65076847DCC2}"/>
              </a:ext>
            </a:extLst>
          </p:cNvPr>
          <p:cNvGraphicFramePr>
            <a:graphicFrameLocks noGrp="1"/>
          </p:cNvGraphicFramePr>
          <p:nvPr>
            <p:extLst>
              <p:ext uri="{D42A27DB-BD31-4B8C-83A1-F6EECF244321}">
                <p14:modId xmlns:p14="http://schemas.microsoft.com/office/powerpoint/2010/main" val="2673976449"/>
              </p:ext>
            </p:extLst>
          </p:nvPr>
        </p:nvGraphicFramePr>
        <p:xfrm>
          <a:off x="952353" y="1836861"/>
          <a:ext cx="5577840" cy="4754880"/>
        </p:xfrm>
        <a:graphic>
          <a:graphicData uri="http://schemas.openxmlformats.org/drawingml/2006/table">
            <a:tbl>
              <a:tblPr/>
              <a:tblGrid>
                <a:gridCol w="1463040">
                  <a:extLst>
                    <a:ext uri="{9D8B030D-6E8A-4147-A177-3AD203B41FA5}">
                      <a16:colId xmlns:a16="http://schemas.microsoft.com/office/drawing/2014/main" val="115336323"/>
                    </a:ext>
                  </a:extLst>
                </a:gridCol>
                <a:gridCol w="1188720">
                  <a:extLst>
                    <a:ext uri="{9D8B030D-6E8A-4147-A177-3AD203B41FA5}">
                      <a16:colId xmlns:a16="http://schemas.microsoft.com/office/drawing/2014/main" val="4194873201"/>
                    </a:ext>
                  </a:extLst>
                </a:gridCol>
                <a:gridCol w="1463040">
                  <a:extLst>
                    <a:ext uri="{9D8B030D-6E8A-4147-A177-3AD203B41FA5}">
                      <a16:colId xmlns:a16="http://schemas.microsoft.com/office/drawing/2014/main" val="3220284537"/>
                    </a:ext>
                  </a:extLst>
                </a:gridCol>
                <a:gridCol w="1463040">
                  <a:extLst>
                    <a:ext uri="{9D8B030D-6E8A-4147-A177-3AD203B41FA5}">
                      <a16:colId xmlns:a16="http://schemas.microsoft.com/office/drawing/2014/main" val="1033398365"/>
                    </a:ext>
                  </a:extLst>
                </a:gridCol>
              </a:tblGrid>
              <a:tr h="145222">
                <a:tc>
                  <a:txBody>
                    <a:bodyPr/>
                    <a:lstStyle/>
                    <a:p>
                      <a:pPr algn="l" rtl="0" fontAlgn="ctr"/>
                      <a:r>
                        <a:rPr lang="en-US" sz="1200" b="1" i="1" u="none" strike="noStrike" dirty="0">
                          <a:solidFill>
                            <a:schemeClr val="accent1"/>
                          </a:solidFill>
                          <a:effectLst/>
                          <a:latin typeface="Georgia" panose="02040502050405020303" pitchFamily="18" charset="0"/>
                        </a:rPr>
                        <a:t> </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Market Cap</a:t>
                      </a:r>
                    </a:p>
                    <a:p>
                      <a:pPr algn="ctr" rtl="0" fontAlgn="ctr"/>
                      <a:r>
                        <a:rPr lang="en-US" sz="1200" b="1" i="1" u="none" strike="noStrike" dirty="0">
                          <a:solidFill>
                            <a:schemeClr val="accent1"/>
                          </a:solidFill>
                          <a:effectLst/>
                          <a:latin typeface="Georgia" panose="02040502050405020303" pitchFamily="18" charset="0"/>
                        </a:rPr>
                        <a:t>Weight</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30-Day Average</a:t>
                      </a:r>
                      <a:br>
                        <a:rPr lang="en-US" sz="1200" b="1" i="1" u="none" strike="noStrike" dirty="0">
                          <a:solidFill>
                            <a:schemeClr val="accent1"/>
                          </a:solidFill>
                          <a:effectLst/>
                          <a:latin typeface="Georgia" panose="02040502050405020303" pitchFamily="18" charset="0"/>
                        </a:rPr>
                      </a:br>
                      <a:r>
                        <a:rPr lang="en-US" sz="1200" b="1" i="1" u="none" strike="noStrike" dirty="0">
                          <a:solidFill>
                            <a:schemeClr val="accent1"/>
                          </a:solidFill>
                          <a:effectLst/>
                          <a:latin typeface="Georgia" panose="02040502050405020303" pitchFamily="18" charset="0"/>
                        </a:rPr>
                        <a:t>Traded Volume</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Days to Trade 3 Billion (USD) Portfolio</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2021191"/>
                  </a:ext>
                </a:extLst>
              </a:tr>
              <a:tr h="274320">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Brazil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3.5%</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3,610</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034438"/>
                  </a:ext>
                </a:extLst>
              </a:tr>
              <a:tr h="138307">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Chile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0.7%</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109</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9804652"/>
                  </a:ext>
                </a:extLst>
              </a:tr>
              <a:tr h="145222">
                <a:tc>
                  <a:txBody>
                    <a:bodyPr/>
                    <a:lstStyle/>
                    <a:p>
                      <a:pPr algn="l" rtl="0" fontAlgn="ctr"/>
                      <a:r>
                        <a:rPr lang="en-US" sz="1200" b="1" i="0" u="none" strike="noStrike" dirty="0">
                          <a:solidFill>
                            <a:schemeClr val="tx1"/>
                          </a:solidFill>
                          <a:effectLst/>
                          <a:latin typeface="Roboto Condensed" panose="02000000000000000000" pitchFamily="2" charset="0"/>
                          <a:ea typeface="Roboto Condensed" panose="02000000000000000000" pitchFamily="2" charset="0"/>
                        </a:rPr>
                        <a:t>China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41.7%</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49,919</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95391780"/>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Colombia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0.4%</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20</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1407475"/>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Czech Republic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0.2%</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22</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331394"/>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Egypt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0.2%</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10</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3177196"/>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Greece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0.2%</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44</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0927735"/>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Hungary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0.1%</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37</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2676218"/>
                  </a:ext>
                </a:extLst>
              </a:tr>
              <a:tr h="145222">
                <a:tc>
                  <a:txBody>
                    <a:bodyPr/>
                    <a:lstStyle/>
                    <a:p>
                      <a:pPr algn="l" rtl="0" fontAlgn="ctr"/>
                      <a:r>
                        <a:rPr lang="en-US" sz="1200" b="1" i="0" u="none" strike="noStrike" dirty="0">
                          <a:solidFill>
                            <a:srgbClr val="000000"/>
                          </a:solidFill>
                          <a:effectLst/>
                          <a:latin typeface="Roboto Condensed" panose="02000000000000000000" pitchFamily="2" charset="0"/>
                          <a:ea typeface="Roboto Condensed" panose="02000000000000000000" pitchFamily="2" charset="0"/>
                        </a:rPr>
                        <a:t>India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13.1%</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4,192</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644659175"/>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Indonesia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2.6%</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443</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2392666"/>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Korea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7.7%</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4,441</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1227081"/>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Kuwait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0.6%</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24</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1813535"/>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Malaysia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1.6%</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222</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3414056"/>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Mexico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1.7%</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382</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4157667"/>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Peru</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0.3%</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51</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6799193"/>
                  </a:ext>
                </a:extLst>
              </a:tr>
            </a:tbl>
          </a:graphicData>
        </a:graphic>
      </p:graphicFrame>
      <p:graphicFrame>
        <p:nvGraphicFramePr>
          <p:cNvPr id="9" name="Table 8">
            <a:extLst>
              <a:ext uri="{FF2B5EF4-FFF2-40B4-BE49-F238E27FC236}">
                <a16:creationId xmlns:a16="http://schemas.microsoft.com/office/drawing/2014/main" id="{CCCBCAE7-E063-B967-1741-C10094E28B49}"/>
              </a:ext>
            </a:extLst>
          </p:cNvPr>
          <p:cNvGraphicFramePr>
            <a:graphicFrameLocks noGrp="1"/>
          </p:cNvGraphicFramePr>
          <p:nvPr>
            <p:extLst>
              <p:ext uri="{D42A27DB-BD31-4B8C-83A1-F6EECF244321}">
                <p14:modId xmlns:p14="http://schemas.microsoft.com/office/powerpoint/2010/main" val="1151430154"/>
              </p:ext>
            </p:extLst>
          </p:nvPr>
        </p:nvGraphicFramePr>
        <p:xfrm>
          <a:off x="7315201" y="1836861"/>
          <a:ext cx="5577840" cy="4864608"/>
        </p:xfrm>
        <a:graphic>
          <a:graphicData uri="http://schemas.openxmlformats.org/drawingml/2006/table">
            <a:tbl>
              <a:tblPr/>
              <a:tblGrid>
                <a:gridCol w="1463040">
                  <a:extLst>
                    <a:ext uri="{9D8B030D-6E8A-4147-A177-3AD203B41FA5}">
                      <a16:colId xmlns:a16="http://schemas.microsoft.com/office/drawing/2014/main" val="115336323"/>
                    </a:ext>
                  </a:extLst>
                </a:gridCol>
                <a:gridCol w="1188720">
                  <a:extLst>
                    <a:ext uri="{9D8B030D-6E8A-4147-A177-3AD203B41FA5}">
                      <a16:colId xmlns:a16="http://schemas.microsoft.com/office/drawing/2014/main" val="4194873201"/>
                    </a:ext>
                  </a:extLst>
                </a:gridCol>
                <a:gridCol w="1463040">
                  <a:extLst>
                    <a:ext uri="{9D8B030D-6E8A-4147-A177-3AD203B41FA5}">
                      <a16:colId xmlns:a16="http://schemas.microsoft.com/office/drawing/2014/main" val="3220284537"/>
                    </a:ext>
                  </a:extLst>
                </a:gridCol>
                <a:gridCol w="1463040">
                  <a:extLst>
                    <a:ext uri="{9D8B030D-6E8A-4147-A177-3AD203B41FA5}">
                      <a16:colId xmlns:a16="http://schemas.microsoft.com/office/drawing/2014/main" val="1033398365"/>
                    </a:ext>
                  </a:extLst>
                </a:gridCol>
              </a:tblGrid>
              <a:tr h="145222">
                <a:tc>
                  <a:txBody>
                    <a:bodyPr/>
                    <a:lstStyle/>
                    <a:p>
                      <a:pPr algn="l" rtl="0" fontAlgn="ctr"/>
                      <a:r>
                        <a:rPr lang="en-US" sz="1200" b="1" i="1" u="none" strike="noStrike" dirty="0">
                          <a:solidFill>
                            <a:schemeClr val="accent1"/>
                          </a:solidFill>
                          <a:effectLst/>
                          <a:latin typeface="Georgia" panose="02040502050405020303" pitchFamily="18" charset="0"/>
                        </a:rPr>
                        <a:t> </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Market Cap</a:t>
                      </a:r>
                    </a:p>
                    <a:p>
                      <a:pPr algn="ctr" rtl="0" fontAlgn="ctr"/>
                      <a:r>
                        <a:rPr lang="en-US" sz="1200" b="1" i="1" u="none" strike="noStrike" dirty="0">
                          <a:solidFill>
                            <a:schemeClr val="accent1"/>
                          </a:solidFill>
                          <a:effectLst/>
                          <a:latin typeface="Georgia" panose="02040502050405020303" pitchFamily="18" charset="0"/>
                        </a:rPr>
                        <a:t>Weight</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30-Day Average</a:t>
                      </a:r>
                      <a:br>
                        <a:rPr lang="en-US" sz="1200" b="1" i="1" u="none" strike="noStrike" dirty="0">
                          <a:solidFill>
                            <a:schemeClr val="accent1"/>
                          </a:solidFill>
                          <a:effectLst/>
                          <a:latin typeface="Georgia" panose="02040502050405020303" pitchFamily="18" charset="0"/>
                        </a:rPr>
                      </a:br>
                      <a:r>
                        <a:rPr lang="en-US" sz="1200" b="1" i="1" u="none" strike="noStrike" dirty="0">
                          <a:solidFill>
                            <a:schemeClr val="accent1"/>
                          </a:solidFill>
                          <a:effectLst/>
                          <a:latin typeface="Georgia" panose="02040502050405020303" pitchFamily="18" charset="0"/>
                        </a:rPr>
                        <a:t>Traded Volume</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Days to Trade 3 Billion (USD) Portfolio</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2021191"/>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Philippines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a:solidFill>
                            <a:srgbClr val="000000"/>
                          </a:solidFill>
                          <a:effectLst/>
                          <a:latin typeface="Roboto Condensed" panose="02000000000000000000" pitchFamily="2" charset="0"/>
                          <a:ea typeface="Roboto Condensed" panose="02000000000000000000" pitchFamily="2" charset="0"/>
                        </a:rPr>
                        <a:t>1.0%</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69</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7939198"/>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Poland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0.6%</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208</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2268405"/>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Qatar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0.8%</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147</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2690356"/>
                  </a:ext>
                </a:extLst>
              </a:tr>
              <a:tr h="301752">
                <a:tc>
                  <a:txBody>
                    <a:bodyPr/>
                    <a:lstStyle/>
                    <a:p>
                      <a:pPr algn="l" rtl="0" fontAlgn="ctr"/>
                      <a:r>
                        <a:rPr lang="en-US" sz="1200" b="0" i="0" u="none" strike="noStrike">
                          <a:solidFill>
                            <a:srgbClr val="000000"/>
                          </a:solidFill>
                          <a:effectLst/>
                          <a:latin typeface="Roboto Condensed" panose="02000000000000000000" pitchFamily="2" charset="0"/>
                          <a:ea typeface="Roboto Condensed" panose="02000000000000000000" pitchFamily="2" charset="0"/>
                        </a:rPr>
                        <a:t>Russia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a:solidFill>
                            <a:srgbClr val="000000"/>
                          </a:solidFill>
                          <a:effectLst/>
                          <a:latin typeface="Roboto Condensed" panose="02000000000000000000" pitchFamily="2" charset="0"/>
                          <a:ea typeface="Roboto Condensed" panose="02000000000000000000" pitchFamily="2" charset="0"/>
                        </a:rPr>
                        <a:t>2.8%</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237</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0935598"/>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Saudi Arabia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2.5%</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500</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4160948"/>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South Africa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1.6%</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1,045</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4808559"/>
                  </a:ext>
                </a:extLst>
              </a:tr>
              <a:tr h="301752">
                <a:tc>
                  <a:txBody>
                    <a:bodyPr/>
                    <a:lstStyle/>
                    <a:p>
                      <a:pPr algn="l" rtl="0" fontAlgn="ctr"/>
                      <a:r>
                        <a:rPr lang="en-US" sz="1200" b="1" i="0" u="none" strike="noStrike" dirty="0">
                          <a:solidFill>
                            <a:srgbClr val="000000"/>
                          </a:solidFill>
                          <a:effectLst/>
                          <a:latin typeface="Roboto Condensed" panose="02000000000000000000" pitchFamily="2" charset="0"/>
                          <a:ea typeface="Roboto Condensed" panose="02000000000000000000" pitchFamily="2" charset="0"/>
                        </a:rPr>
                        <a:t>Taiwan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7.7%</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3,915</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3370176544"/>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Thailand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2.3%</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915</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8103568"/>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Turkey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0.7%</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983</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1714483"/>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United Arab Emirates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2.7%</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270</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1030533"/>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Argentina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0.2%</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3</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1.4</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2046342"/>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Bangladesh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1.5%</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154</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2006188"/>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Pakistan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0.1%</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2.3</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5755846"/>
                  </a:ext>
                </a:extLst>
              </a:tr>
              <a:tr h="301752">
                <a:tc>
                  <a:txBody>
                    <a:bodyPr/>
                    <a:lstStyle/>
                    <a:p>
                      <a:pPr algn="l" rtl="0" fontAlgn="ctr"/>
                      <a:r>
                        <a:rPr lang="en-US" sz="1200" b="1" i="0" u="none" strike="noStrike" dirty="0">
                          <a:solidFill>
                            <a:srgbClr val="000000"/>
                          </a:solidFill>
                          <a:effectLst/>
                          <a:latin typeface="Roboto Condensed" panose="02000000000000000000" pitchFamily="2" charset="0"/>
                          <a:ea typeface="Roboto Condensed" panose="02000000000000000000" pitchFamily="2" charset="0"/>
                        </a:rPr>
                        <a:t>Vietnam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1.1%</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742</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4021348649"/>
                  </a:ext>
                </a:extLst>
              </a:tr>
            </a:tbl>
          </a:graphicData>
        </a:graphic>
      </p:graphicFrame>
      <p:sp>
        <p:nvSpPr>
          <p:cNvPr id="2" name="TextBox 1">
            <a:extLst>
              <a:ext uri="{FF2B5EF4-FFF2-40B4-BE49-F238E27FC236}">
                <a16:creationId xmlns:a16="http://schemas.microsoft.com/office/drawing/2014/main" id="{41844952-9332-7275-8559-908885500BAD}"/>
              </a:ext>
            </a:extLst>
          </p:cNvPr>
          <p:cNvSpPr txBox="1"/>
          <p:nvPr/>
        </p:nvSpPr>
        <p:spPr>
          <a:xfrm>
            <a:off x="10047111" y="282222"/>
            <a:ext cx="2573867" cy="646331"/>
          </a:xfrm>
          <a:prstGeom prst="rect">
            <a:avLst/>
          </a:prstGeom>
          <a:noFill/>
        </p:spPr>
        <p:txBody>
          <a:bodyPr wrap="square" rtlCol="0">
            <a:spAutoFit/>
          </a:bodyPr>
          <a:lstStyle/>
          <a:p>
            <a:r>
              <a:rPr lang="en-US" dirty="0"/>
              <a:t>Alvaro – Change from 3 billion to 10 billion</a:t>
            </a:r>
          </a:p>
        </p:txBody>
      </p:sp>
    </p:spTree>
    <p:extLst>
      <p:ext uri="{BB962C8B-B14F-4D97-AF65-F5344CB8AC3E}">
        <p14:creationId xmlns:p14="http://schemas.microsoft.com/office/powerpoint/2010/main" val="2724258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2E27365D-8E52-AF8D-696B-477AC43A97D8}"/>
              </a:ext>
            </a:extLst>
          </p:cNvPr>
          <p:cNvSpPr>
            <a:spLocks noGrp="1"/>
          </p:cNvSpPr>
          <p:nvPr>
            <p:ph type="body" sz="quarter" idx="14"/>
          </p:nvPr>
        </p:nvSpPr>
        <p:spPr/>
        <p:txBody>
          <a:bodyPr/>
          <a:lstStyle/>
          <a:p>
            <a:r>
              <a:rPr lang="en-US" b="1" dirty="0"/>
              <a:t>As of 9/30/22 | Source: MSCI, GMO</a:t>
            </a:r>
          </a:p>
          <a:p>
            <a:r>
              <a:rPr lang="en-US" dirty="0"/>
              <a:t>MSCI data may not be reproduced or used for any other purpose. MSCI provides no warranties, has not prepared or approved this report, and has no liability hereunder. Please visit https://www.gmo.com/americas/benchmark-disclaimers/ to review the complete benchmark disclaimer notice.</a:t>
            </a:r>
          </a:p>
        </p:txBody>
      </p:sp>
      <p:sp>
        <p:nvSpPr>
          <p:cNvPr id="4" name="Title 3">
            <a:extLst>
              <a:ext uri="{FF2B5EF4-FFF2-40B4-BE49-F238E27FC236}">
                <a16:creationId xmlns:a16="http://schemas.microsoft.com/office/drawing/2014/main" id="{FAB3DAB2-586F-45C2-3543-B3D696447BD3}"/>
              </a:ext>
            </a:extLst>
          </p:cNvPr>
          <p:cNvSpPr>
            <a:spLocks noGrp="1"/>
          </p:cNvSpPr>
          <p:nvPr>
            <p:ph type="title"/>
          </p:nvPr>
        </p:nvSpPr>
        <p:spPr>
          <a:xfrm>
            <a:off x="628074" y="457205"/>
            <a:ext cx="12561455" cy="773115"/>
          </a:xfrm>
        </p:spPr>
        <p:txBody>
          <a:bodyPr/>
          <a:lstStyle/>
          <a:p>
            <a:r>
              <a:rPr lang="en-US" dirty="0"/>
              <a:t>Equal weighting solves one problem, but creates others</a:t>
            </a:r>
          </a:p>
        </p:txBody>
      </p:sp>
      <p:sp>
        <p:nvSpPr>
          <p:cNvPr id="5" name="Text Placeholder 4">
            <a:extLst>
              <a:ext uri="{FF2B5EF4-FFF2-40B4-BE49-F238E27FC236}">
                <a16:creationId xmlns:a16="http://schemas.microsoft.com/office/drawing/2014/main" id="{33A222E5-8E26-8A45-CAE4-B46334DFDDBF}"/>
              </a:ext>
            </a:extLst>
          </p:cNvPr>
          <p:cNvSpPr>
            <a:spLocks noGrp="1"/>
          </p:cNvSpPr>
          <p:nvPr>
            <p:ph type="body" sz="quarter" idx="13"/>
          </p:nvPr>
        </p:nvSpPr>
        <p:spPr/>
        <p:txBody>
          <a:bodyPr/>
          <a:lstStyle/>
          <a:p>
            <a:r>
              <a:rPr lang="en-US" dirty="0"/>
              <a:t>What about equal weighting?</a:t>
            </a:r>
          </a:p>
        </p:txBody>
      </p:sp>
      <p:graphicFrame>
        <p:nvGraphicFramePr>
          <p:cNvPr id="2" name="Table 1">
            <a:extLst>
              <a:ext uri="{FF2B5EF4-FFF2-40B4-BE49-F238E27FC236}">
                <a16:creationId xmlns:a16="http://schemas.microsoft.com/office/drawing/2014/main" id="{903858A4-D108-34D1-96C3-45DD0B1F6FFF}"/>
              </a:ext>
            </a:extLst>
          </p:cNvPr>
          <p:cNvGraphicFramePr>
            <a:graphicFrameLocks noGrp="1"/>
          </p:cNvGraphicFramePr>
          <p:nvPr>
            <p:extLst>
              <p:ext uri="{D42A27DB-BD31-4B8C-83A1-F6EECF244321}">
                <p14:modId xmlns:p14="http://schemas.microsoft.com/office/powerpoint/2010/main" val="3515769437"/>
              </p:ext>
            </p:extLst>
          </p:nvPr>
        </p:nvGraphicFramePr>
        <p:xfrm>
          <a:off x="944796" y="1836861"/>
          <a:ext cx="5577840" cy="4754880"/>
        </p:xfrm>
        <a:graphic>
          <a:graphicData uri="http://schemas.openxmlformats.org/drawingml/2006/table">
            <a:tbl>
              <a:tblPr/>
              <a:tblGrid>
                <a:gridCol w="1463040">
                  <a:extLst>
                    <a:ext uri="{9D8B030D-6E8A-4147-A177-3AD203B41FA5}">
                      <a16:colId xmlns:a16="http://schemas.microsoft.com/office/drawing/2014/main" val="115336323"/>
                    </a:ext>
                  </a:extLst>
                </a:gridCol>
                <a:gridCol w="1188720">
                  <a:extLst>
                    <a:ext uri="{9D8B030D-6E8A-4147-A177-3AD203B41FA5}">
                      <a16:colId xmlns:a16="http://schemas.microsoft.com/office/drawing/2014/main" val="4194873201"/>
                    </a:ext>
                  </a:extLst>
                </a:gridCol>
                <a:gridCol w="1463040">
                  <a:extLst>
                    <a:ext uri="{9D8B030D-6E8A-4147-A177-3AD203B41FA5}">
                      <a16:colId xmlns:a16="http://schemas.microsoft.com/office/drawing/2014/main" val="3220284537"/>
                    </a:ext>
                  </a:extLst>
                </a:gridCol>
                <a:gridCol w="1463040">
                  <a:extLst>
                    <a:ext uri="{9D8B030D-6E8A-4147-A177-3AD203B41FA5}">
                      <a16:colId xmlns:a16="http://schemas.microsoft.com/office/drawing/2014/main" val="1033398365"/>
                    </a:ext>
                  </a:extLst>
                </a:gridCol>
              </a:tblGrid>
              <a:tr h="145222">
                <a:tc>
                  <a:txBody>
                    <a:bodyPr/>
                    <a:lstStyle/>
                    <a:p>
                      <a:pPr algn="l" rtl="0" fontAlgn="ctr"/>
                      <a:r>
                        <a:rPr lang="en-US" sz="1200" b="1" i="1" u="none" strike="noStrike" dirty="0">
                          <a:solidFill>
                            <a:schemeClr val="accent1"/>
                          </a:solidFill>
                          <a:effectLst/>
                          <a:latin typeface="Georgia" panose="02040502050405020303" pitchFamily="18" charset="0"/>
                        </a:rPr>
                        <a:t> </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Market Cap</a:t>
                      </a:r>
                    </a:p>
                    <a:p>
                      <a:pPr algn="ctr" rtl="0" fontAlgn="ctr"/>
                      <a:r>
                        <a:rPr lang="en-US" sz="1200" b="1" i="1" u="none" strike="noStrike" dirty="0">
                          <a:solidFill>
                            <a:schemeClr val="accent1"/>
                          </a:solidFill>
                          <a:effectLst/>
                          <a:latin typeface="Georgia" panose="02040502050405020303" pitchFamily="18" charset="0"/>
                        </a:rPr>
                        <a:t>Weight</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30-Day Average</a:t>
                      </a:r>
                      <a:br>
                        <a:rPr lang="en-US" sz="1200" b="1" i="1" u="none" strike="noStrike" dirty="0">
                          <a:solidFill>
                            <a:schemeClr val="accent1"/>
                          </a:solidFill>
                          <a:effectLst/>
                          <a:latin typeface="Georgia" panose="02040502050405020303" pitchFamily="18" charset="0"/>
                        </a:rPr>
                      </a:br>
                      <a:r>
                        <a:rPr lang="en-US" sz="1200" b="1" i="1" u="none" strike="noStrike" dirty="0">
                          <a:solidFill>
                            <a:schemeClr val="accent1"/>
                          </a:solidFill>
                          <a:effectLst/>
                          <a:latin typeface="Georgia" panose="02040502050405020303" pitchFamily="18" charset="0"/>
                        </a:rPr>
                        <a:t>Traded Volume</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Days to Trade 3 Billion (USD) Portfolio</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2021191"/>
                  </a:ext>
                </a:extLst>
              </a:tr>
              <a:tr h="274320">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Brazil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3.4%</a:t>
                      </a: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3,610</a:t>
                      </a:r>
                    </a:p>
                  </a:txBody>
                  <a:tcPr marR="5486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034438"/>
                  </a:ext>
                </a:extLst>
              </a:tr>
              <a:tr h="138307">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Chile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109</a:t>
                      </a:r>
                    </a:p>
                  </a:txBody>
                  <a:tcPr marR="5486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9804652"/>
                  </a:ext>
                </a:extLst>
              </a:tr>
              <a:tr h="145222">
                <a:tc>
                  <a:txBody>
                    <a:bodyPr/>
                    <a:lstStyle/>
                    <a:p>
                      <a:pPr algn="l" rtl="0" fontAlgn="ctr"/>
                      <a:r>
                        <a:rPr lang="en-US" sz="1200" b="1" i="0" u="none" strike="noStrike" dirty="0">
                          <a:solidFill>
                            <a:srgbClr val="000000"/>
                          </a:solidFill>
                          <a:effectLst/>
                          <a:latin typeface="Roboto Condensed" panose="02000000000000000000" pitchFamily="2" charset="0"/>
                          <a:ea typeface="Roboto Condensed" panose="02000000000000000000" pitchFamily="2" charset="0"/>
                        </a:rPr>
                        <a:t>China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1"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49,919</a:t>
                      </a:r>
                    </a:p>
                  </a:txBody>
                  <a:tcPr marR="5486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1005755" rtl="0" eaLnBrk="1" fontAlgn="b" latinLnBrk="0" hangingPunct="1"/>
                      <a:r>
                        <a:rPr lang="en-US" sz="1200" b="1"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95391780"/>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Colombia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20</a:t>
                      </a:r>
                    </a:p>
                  </a:txBody>
                  <a:tcPr marR="5486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5</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1407475"/>
                  </a:ext>
                </a:extLst>
              </a:tr>
              <a:tr h="145222">
                <a:tc>
                  <a:txBody>
                    <a:bodyPr/>
                    <a:lstStyle/>
                    <a:p>
                      <a:pPr algn="l" rtl="0" fontAlgn="ctr"/>
                      <a:r>
                        <a:rPr lang="en-US" sz="1200" b="1" i="0" u="none" strike="noStrike" dirty="0">
                          <a:solidFill>
                            <a:srgbClr val="000000"/>
                          </a:solidFill>
                          <a:effectLst/>
                          <a:latin typeface="Roboto Condensed" panose="02000000000000000000" pitchFamily="2" charset="0"/>
                          <a:ea typeface="Roboto Condensed" panose="02000000000000000000" pitchFamily="2" charset="0"/>
                        </a:rPr>
                        <a:t>Czech Republic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1"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22</a:t>
                      </a:r>
                    </a:p>
                  </a:txBody>
                  <a:tcPr marR="5486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1005755" rtl="0" eaLnBrk="1" fontAlgn="b" latinLnBrk="0" hangingPunct="1"/>
                      <a:r>
                        <a:rPr lang="en-US" sz="1200" b="1" i="0" u="none" strike="noStrike" kern="1200" dirty="0">
                          <a:solidFill>
                            <a:srgbClr val="000000"/>
                          </a:solidFill>
                          <a:effectLst/>
                          <a:latin typeface="Roboto Condensed" panose="02000000000000000000" pitchFamily="2" charset="0"/>
                          <a:ea typeface="Roboto Condensed" panose="02000000000000000000" pitchFamily="2" charset="0"/>
                          <a:cs typeface="+mn-cs"/>
                        </a:rPr>
                        <a:t>5</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57331394"/>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Egypt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10</a:t>
                      </a:r>
                    </a:p>
                  </a:txBody>
                  <a:tcPr marR="5486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10</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3177196"/>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Greece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44</a:t>
                      </a:r>
                    </a:p>
                  </a:txBody>
                  <a:tcPr marR="5486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a:solidFill>
                            <a:srgbClr val="000000"/>
                          </a:solidFill>
                          <a:effectLst/>
                          <a:latin typeface="Roboto Condensed" panose="02000000000000000000" pitchFamily="2" charset="0"/>
                          <a:ea typeface="Roboto Condensed" panose="02000000000000000000" pitchFamily="2" charset="0"/>
                          <a:cs typeface="+mn-cs"/>
                        </a:rPr>
                        <a:t>2</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0927735"/>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Hungary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37</a:t>
                      </a:r>
                    </a:p>
                  </a:txBody>
                  <a:tcPr marR="5486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3</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2676218"/>
                  </a:ext>
                </a:extLst>
              </a:tr>
              <a:tr h="145222">
                <a:tc>
                  <a:txBody>
                    <a:bodyPr/>
                    <a:lstStyle/>
                    <a:p>
                      <a:pPr algn="l" rtl="0" fontAlgn="ctr"/>
                      <a:r>
                        <a:rPr lang="en-US" sz="1200" b="1" i="0" u="none" strike="noStrike" dirty="0">
                          <a:solidFill>
                            <a:srgbClr val="000000"/>
                          </a:solidFill>
                          <a:effectLst/>
                          <a:latin typeface="Roboto Condensed" panose="02000000000000000000" pitchFamily="2" charset="0"/>
                          <a:ea typeface="Roboto Condensed" panose="02000000000000000000" pitchFamily="2" charset="0"/>
                        </a:rPr>
                        <a:t>India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1"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4,192</a:t>
                      </a:r>
                    </a:p>
                  </a:txBody>
                  <a:tcPr marR="5486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1005755" rtl="0" eaLnBrk="1" fontAlgn="b" latinLnBrk="0" hangingPunct="1"/>
                      <a:r>
                        <a:rPr lang="en-US" sz="1200" b="1"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644659175"/>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Indonesia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443</a:t>
                      </a:r>
                    </a:p>
                  </a:txBody>
                  <a:tcPr marR="5486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2392666"/>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Korea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4,441</a:t>
                      </a:r>
                    </a:p>
                  </a:txBody>
                  <a:tcPr marR="5486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1227081"/>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Kuwait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24</a:t>
                      </a:r>
                    </a:p>
                  </a:txBody>
                  <a:tcPr marR="5486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4</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1813535"/>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Malaysia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222</a:t>
                      </a:r>
                    </a:p>
                  </a:txBody>
                  <a:tcPr marR="5486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3414056"/>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Mexico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382</a:t>
                      </a:r>
                    </a:p>
                  </a:txBody>
                  <a:tcPr marR="5486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4157667"/>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Peru</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rPr>
                        <a:t>3.4%</a:t>
                      </a: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51</a:t>
                      </a:r>
                    </a:p>
                  </a:txBody>
                  <a:tcPr marR="5486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2</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6799193"/>
                  </a:ext>
                </a:extLst>
              </a:tr>
            </a:tbl>
          </a:graphicData>
        </a:graphic>
      </p:graphicFrame>
      <p:graphicFrame>
        <p:nvGraphicFramePr>
          <p:cNvPr id="3" name="Table 2">
            <a:extLst>
              <a:ext uri="{FF2B5EF4-FFF2-40B4-BE49-F238E27FC236}">
                <a16:creationId xmlns:a16="http://schemas.microsoft.com/office/drawing/2014/main" id="{362D4CCA-A42D-691B-5DDC-92C5E635E8A5}"/>
              </a:ext>
            </a:extLst>
          </p:cNvPr>
          <p:cNvGraphicFramePr>
            <a:graphicFrameLocks noGrp="1"/>
          </p:cNvGraphicFramePr>
          <p:nvPr>
            <p:extLst>
              <p:ext uri="{D42A27DB-BD31-4B8C-83A1-F6EECF244321}">
                <p14:modId xmlns:p14="http://schemas.microsoft.com/office/powerpoint/2010/main" val="1978292928"/>
              </p:ext>
            </p:extLst>
          </p:nvPr>
        </p:nvGraphicFramePr>
        <p:xfrm>
          <a:off x="7307644" y="1836861"/>
          <a:ext cx="5577840" cy="4864608"/>
        </p:xfrm>
        <a:graphic>
          <a:graphicData uri="http://schemas.openxmlformats.org/drawingml/2006/table">
            <a:tbl>
              <a:tblPr/>
              <a:tblGrid>
                <a:gridCol w="1463040">
                  <a:extLst>
                    <a:ext uri="{9D8B030D-6E8A-4147-A177-3AD203B41FA5}">
                      <a16:colId xmlns:a16="http://schemas.microsoft.com/office/drawing/2014/main" val="115336323"/>
                    </a:ext>
                  </a:extLst>
                </a:gridCol>
                <a:gridCol w="1188720">
                  <a:extLst>
                    <a:ext uri="{9D8B030D-6E8A-4147-A177-3AD203B41FA5}">
                      <a16:colId xmlns:a16="http://schemas.microsoft.com/office/drawing/2014/main" val="4194873201"/>
                    </a:ext>
                  </a:extLst>
                </a:gridCol>
                <a:gridCol w="1463040">
                  <a:extLst>
                    <a:ext uri="{9D8B030D-6E8A-4147-A177-3AD203B41FA5}">
                      <a16:colId xmlns:a16="http://schemas.microsoft.com/office/drawing/2014/main" val="3220284537"/>
                    </a:ext>
                  </a:extLst>
                </a:gridCol>
                <a:gridCol w="1463040">
                  <a:extLst>
                    <a:ext uri="{9D8B030D-6E8A-4147-A177-3AD203B41FA5}">
                      <a16:colId xmlns:a16="http://schemas.microsoft.com/office/drawing/2014/main" val="1033398365"/>
                    </a:ext>
                  </a:extLst>
                </a:gridCol>
              </a:tblGrid>
              <a:tr h="145222">
                <a:tc>
                  <a:txBody>
                    <a:bodyPr/>
                    <a:lstStyle/>
                    <a:p>
                      <a:pPr algn="l" rtl="0" fontAlgn="ctr"/>
                      <a:r>
                        <a:rPr lang="en-US" sz="1200" b="1" i="1" u="none" strike="noStrike" dirty="0">
                          <a:solidFill>
                            <a:schemeClr val="accent1"/>
                          </a:solidFill>
                          <a:effectLst/>
                          <a:latin typeface="Georgia" panose="02040502050405020303" pitchFamily="18" charset="0"/>
                        </a:rPr>
                        <a:t> </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Market Cap</a:t>
                      </a:r>
                    </a:p>
                    <a:p>
                      <a:pPr algn="ctr" rtl="0" fontAlgn="ctr"/>
                      <a:r>
                        <a:rPr lang="en-US" sz="1200" b="1" i="1" u="none" strike="noStrike" dirty="0">
                          <a:solidFill>
                            <a:schemeClr val="accent1"/>
                          </a:solidFill>
                          <a:effectLst/>
                          <a:latin typeface="Georgia" panose="02040502050405020303" pitchFamily="18" charset="0"/>
                        </a:rPr>
                        <a:t>Weight</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30-Day Average</a:t>
                      </a:r>
                      <a:br>
                        <a:rPr lang="en-US" sz="1200" b="1" i="1" u="none" strike="noStrike" dirty="0">
                          <a:solidFill>
                            <a:schemeClr val="accent1"/>
                          </a:solidFill>
                          <a:effectLst/>
                          <a:latin typeface="Georgia" panose="02040502050405020303" pitchFamily="18" charset="0"/>
                        </a:rPr>
                      </a:br>
                      <a:r>
                        <a:rPr lang="en-US" sz="1200" b="1" i="1" u="none" strike="noStrike" dirty="0">
                          <a:solidFill>
                            <a:schemeClr val="accent1"/>
                          </a:solidFill>
                          <a:effectLst/>
                          <a:latin typeface="Georgia" panose="02040502050405020303" pitchFamily="18" charset="0"/>
                        </a:rPr>
                        <a:t>Traded Volume</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Days to Trade 3 Billion (USD) Portfolio</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2021191"/>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Philippines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3.4%</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69</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7939198"/>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Poland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208</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2268405"/>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Qatar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147</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2690356"/>
                  </a:ext>
                </a:extLst>
              </a:tr>
              <a:tr h="301752">
                <a:tc>
                  <a:txBody>
                    <a:bodyPr/>
                    <a:lstStyle/>
                    <a:p>
                      <a:pPr algn="l" rtl="0" fontAlgn="ctr"/>
                      <a:r>
                        <a:rPr lang="en-US" sz="1200" b="0" i="0" u="none" strike="noStrike">
                          <a:solidFill>
                            <a:srgbClr val="000000"/>
                          </a:solidFill>
                          <a:effectLst/>
                          <a:latin typeface="Roboto Condensed" panose="02000000000000000000" pitchFamily="2" charset="0"/>
                          <a:ea typeface="Roboto Condensed" panose="02000000000000000000" pitchFamily="2" charset="0"/>
                        </a:rPr>
                        <a:t>Russia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237</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0935598"/>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Saudi Arabia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500</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4160948"/>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South Africa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1,045</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4808559"/>
                  </a:ext>
                </a:extLst>
              </a:tr>
              <a:tr h="301752">
                <a:tc>
                  <a:txBody>
                    <a:bodyPr/>
                    <a:lstStyle/>
                    <a:p>
                      <a:pPr algn="l" rtl="0" fontAlgn="ctr"/>
                      <a:r>
                        <a:rPr lang="en-US" sz="1200" b="1" i="0" u="none" strike="noStrike" dirty="0">
                          <a:solidFill>
                            <a:srgbClr val="000000"/>
                          </a:solidFill>
                          <a:effectLst/>
                          <a:latin typeface="Roboto Condensed" panose="02000000000000000000" pitchFamily="2" charset="0"/>
                          <a:ea typeface="Roboto Condensed" panose="02000000000000000000" pitchFamily="2" charset="0"/>
                        </a:rPr>
                        <a:t>Taiwan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1"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3,915</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1005755" rtl="0" eaLnBrk="1" fontAlgn="b" latinLnBrk="0" hangingPunct="1"/>
                      <a:r>
                        <a:rPr lang="en-US" sz="1200" b="1"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3370176544"/>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Thailand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915</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8103568"/>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Turkey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983</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1714483"/>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United Arab Emirates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270</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1030533"/>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Argentina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3</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33</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2046342"/>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Bangladesh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154</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2006188"/>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Pakistan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Roboto Condensed" panose="02000000000000000000" pitchFamily="2" charset="0"/>
                          <a:ea typeface="Roboto Condensed" panose="02000000000000000000" pitchFamily="2" charset="0"/>
                          <a:cs typeface="+mn-cs"/>
                        </a:rPr>
                        <a:t>3.4%</a:t>
                      </a:r>
                      <a:endParaRPr kumimoji="0" lang="en-US" sz="1200" b="0"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endParaRP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54</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5755846"/>
                  </a:ext>
                </a:extLst>
              </a:tr>
              <a:tr h="301752">
                <a:tc>
                  <a:txBody>
                    <a:bodyPr/>
                    <a:lstStyle/>
                    <a:p>
                      <a:pPr algn="l" rtl="0" fontAlgn="ctr"/>
                      <a:r>
                        <a:rPr lang="en-US" sz="1200" b="1" i="0" u="none" strike="noStrike" dirty="0">
                          <a:solidFill>
                            <a:srgbClr val="000000"/>
                          </a:solidFill>
                          <a:effectLst/>
                          <a:latin typeface="Roboto Condensed" panose="02000000000000000000" pitchFamily="2" charset="0"/>
                          <a:ea typeface="Roboto Condensed" panose="02000000000000000000" pitchFamily="2" charset="0"/>
                        </a:rPr>
                        <a:t>Vietnam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r" defTabSz="1005755" rtl="0" eaLnBrk="1" fontAlgn="b"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Roboto Condensed" panose="02000000000000000000" pitchFamily="2" charset="0"/>
                          <a:ea typeface="Roboto Condensed" panose="02000000000000000000" pitchFamily="2" charset="0"/>
                          <a:cs typeface="+mn-cs"/>
                        </a:rPr>
                        <a:t>3.4%</a:t>
                      </a:r>
                    </a:p>
                  </a:txBody>
                  <a:tcPr marR="4572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742</a:t>
                      </a:r>
                    </a:p>
                  </a:txBody>
                  <a:tcPr marR="5486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1005755" rtl="0" eaLnBrk="1" fontAlgn="b" latinLnBrk="0" hangingPunct="1"/>
                      <a:r>
                        <a:rPr lang="en-US" sz="1200" b="1"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4021348649"/>
                  </a:ext>
                </a:extLst>
              </a:tr>
            </a:tbl>
          </a:graphicData>
        </a:graphic>
      </p:graphicFrame>
      <p:sp>
        <p:nvSpPr>
          <p:cNvPr id="7" name="TextBox 6">
            <a:extLst>
              <a:ext uri="{FF2B5EF4-FFF2-40B4-BE49-F238E27FC236}">
                <a16:creationId xmlns:a16="http://schemas.microsoft.com/office/drawing/2014/main" id="{151D7AA9-D8B6-CE9C-C6CE-3CF9BCB81E0D}"/>
              </a:ext>
            </a:extLst>
          </p:cNvPr>
          <p:cNvSpPr txBox="1"/>
          <p:nvPr/>
        </p:nvSpPr>
        <p:spPr>
          <a:xfrm>
            <a:off x="10047111" y="282222"/>
            <a:ext cx="2573867" cy="646331"/>
          </a:xfrm>
          <a:prstGeom prst="rect">
            <a:avLst/>
          </a:prstGeom>
          <a:noFill/>
        </p:spPr>
        <p:txBody>
          <a:bodyPr wrap="square" rtlCol="0">
            <a:spAutoFit/>
          </a:bodyPr>
          <a:lstStyle/>
          <a:p>
            <a:r>
              <a:rPr lang="en-US" dirty="0"/>
              <a:t>Alvaro – Change from 3 billion to 10 billion</a:t>
            </a:r>
          </a:p>
        </p:txBody>
      </p:sp>
    </p:spTree>
    <p:extLst>
      <p:ext uri="{BB962C8B-B14F-4D97-AF65-F5344CB8AC3E}">
        <p14:creationId xmlns:p14="http://schemas.microsoft.com/office/powerpoint/2010/main" val="1411504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2E27365D-8E52-AF8D-696B-477AC43A97D8}"/>
              </a:ext>
            </a:extLst>
          </p:cNvPr>
          <p:cNvSpPr>
            <a:spLocks noGrp="1"/>
          </p:cNvSpPr>
          <p:nvPr>
            <p:ph type="body" sz="quarter" idx="14"/>
          </p:nvPr>
        </p:nvSpPr>
        <p:spPr/>
        <p:txBody>
          <a:bodyPr/>
          <a:lstStyle/>
          <a:p>
            <a:r>
              <a:rPr lang="en-US" b="1" dirty="0"/>
              <a:t>As of 9/30/22 | Source: MSCI, GMO</a:t>
            </a:r>
          </a:p>
          <a:p>
            <a:r>
              <a:rPr lang="en-US" dirty="0"/>
              <a:t>MSCI data may not be reproduced or used for any other purpose. MSCI provides no warranties, has not prepared or approved this report, and has no liability hereunder. Please visit https://www.gmo.com/americas/benchmark-disclaimers/ to review the complete benchmark disclaimer notice.</a:t>
            </a:r>
          </a:p>
        </p:txBody>
      </p:sp>
      <p:sp>
        <p:nvSpPr>
          <p:cNvPr id="4" name="Title 3">
            <a:extLst>
              <a:ext uri="{FF2B5EF4-FFF2-40B4-BE49-F238E27FC236}">
                <a16:creationId xmlns:a16="http://schemas.microsoft.com/office/drawing/2014/main" id="{FAB3DAB2-586F-45C2-3543-B3D696447BD3}"/>
              </a:ext>
            </a:extLst>
          </p:cNvPr>
          <p:cNvSpPr>
            <a:spLocks noGrp="1"/>
          </p:cNvSpPr>
          <p:nvPr>
            <p:ph type="title"/>
          </p:nvPr>
        </p:nvSpPr>
        <p:spPr/>
        <p:txBody>
          <a:bodyPr/>
          <a:lstStyle/>
          <a:p>
            <a:r>
              <a:rPr lang="en-US" dirty="0"/>
              <a:t>Square Root cap weighting is a nice compromise</a:t>
            </a:r>
          </a:p>
        </p:txBody>
      </p:sp>
      <p:sp>
        <p:nvSpPr>
          <p:cNvPr id="5" name="Text Placeholder 4">
            <a:extLst>
              <a:ext uri="{FF2B5EF4-FFF2-40B4-BE49-F238E27FC236}">
                <a16:creationId xmlns:a16="http://schemas.microsoft.com/office/drawing/2014/main" id="{33A222E5-8E26-8A45-CAE4-B46334DFDDBF}"/>
              </a:ext>
            </a:extLst>
          </p:cNvPr>
          <p:cNvSpPr>
            <a:spLocks noGrp="1"/>
          </p:cNvSpPr>
          <p:nvPr>
            <p:ph type="body" sz="quarter" idx="13"/>
          </p:nvPr>
        </p:nvSpPr>
        <p:spPr/>
        <p:txBody>
          <a:bodyPr/>
          <a:lstStyle/>
          <a:p>
            <a:r>
              <a:rPr lang="en-US" dirty="0"/>
              <a:t>A decent in between is square root market cap weighting</a:t>
            </a:r>
          </a:p>
        </p:txBody>
      </p:sp>
      <p:graphicFrame>
        <p:nvGraphicFramePr>
          <p:cNvPr id="2" name="Table 1">
            <a:extLst>
              <a:ext uri="{FF2B5EF4-FFF2-40B4-BE49-F238E27FC236}">
                <a16:creationId xmlns:a16="http://schemas.microsoft.com/office/drawing/2014/main" id="{903858A4-D108-34D1-96C3-45DD0B1F6FFF}"/>
              </a:ext>
            </a:extLst>
          </p:cNvPr>
          <p:cNvGraphicFramePr>
            <a:graphicFrameLocks noGrp="1"/>
          </p:cNvGraphicFramePr>
          <p:nvPr>
            <p:extLst>
              <p:ext uri="{D42A27DB-BD31-4B8C-83A1-F6EECF244321}">
                <p14:modId xmlns:p14="http://schemas.microsoft.com/office/powerpoint/2010/main" val="4231128269"/>
              </p:ext>
            </p:extLst>
          </p:nvPr>
        </p:nvGraphicFramePr>
        <p:xfrm>
          <a:off x="944796" y="1836861"/>
          <a:ext cx="5577840" cy="4754880"/>
        </p:xfrm>
        <a:graphic>
          <a:graphicData uri="http://schemas.openxmlformats.org/drawingml/2006/table">
            <a:tbl>
              <a:tblPr/>
              <a:tblGrid>
                <a:gridCol w="1463040">
                  <a:extLst>
                    <a:ext uri="{9D8B030D-6E8A-4147-A177-3AD203B41FA5}">
                      <a16:colId xmlns:a16="http://schemas.microsoft.com/office/drawing/2014/main" val="115336323"/>
                    </a:ext>
                  </a:extLst>
                </a:gridCol>
                <a:gridCol w="1188720">
                  <a:extLst>
                    <a:ext uri="{9D8B030D-6E8A-4147-A177-3AD203B41FA5}">
                      <a16:colId xmlns:a16="http://schemas.microsoft.com/office/drawing/2014/main" val="4194873201"/>
                    </a:ext>
                  </a:extLst>
                </a:gridCol>
                <a:gridCol w="1463040">
                  <a:extLst>
                    <a:ext uri="{9D8B030D-6E8A-4147-A177-3AD203B41FA5}">
                      <a16:colId xmlns:a16="http://schemas.microsoft.com/office/drawing/2014/main" val="3220284537"/>
                    </a:ext>
                  </a:extLst>
                </a:gridCol>
                <a:gridCol w="1463040">
                  <a:extLst>
                    <a:ext uri="{9D8B030D-6E8A-4147-A177-3AD203B41FA5}">
                      <a16:colId xmlns:a16="http://schemas.microsoft.com/office/drawing/2014/main" val="1033398365"/>
                    </a:ext>
                  </a:extLst>
                </a:gridCol>
              </a:tblGrid>
              <a:tr h="145222">
                <a:tc>
                  <a:txBody>
                    <a:bodyPr/>
                    <a:lstStyle/>
                    <a:p>
                      <a:pPr algn="l" rtl="0" fontAlgn="ctr"/>
                      <a:r>
                        <a:rPr lang="en-US" sz="1200" b="1" i="1" u="none" strike="noStrike" dirty="0">
                          <a:solidFill>
                            <a:schemeClr val="accent1"/>
                          </a:solidFill>
                          <a:effectLst/>
                          <a:latin typeface="Georgia" panose="02040502050405020303" pitchFamily="18" charset="0"/>
                        </a:rPr>
                        <a:t> </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Market Cap</a:t>
                      </a:r>
                    </a:p>
                    <a:p>
                      <a:pPr algn="ctr" rtl="0" fontAlgn="ctr"/>
                      <a:r>
                        <a:rPr lang="en-US" sz="1200" b="1" i="1" u="none" strike="noStrike" dirty="0">
                          <a:solidFill>
                            <a:schemeClr val="accent1"/>
                          </a:solidFill>
                          <a:effectLst/>
                          <a:latin typeface="Georgia" panose="02040502050405020303" pitchFamily="18" charset="0"/>
                        </a:rPr>
                        <a:t>Weight</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30-Day Average</a:t>
                      </a:r>
                      <a:br>
                        <a:rPr lang="en-US" sz="1200" b="1" i="1" u="none" strike="noStrike" dirty="0">
                          <a:solidFill>
                            <a:schemeClr val="accent1"/>
                          </a:solidFill>
                          <a:effectLst/>
                          <a:latin typeface="Georgia" panose="02040502050405020303" pitchFamily="18" charset="0"/>
                        </a:rPr>
                      </a:br>
                      <a:r>
                        <a:rPr lang="en-US" sz="1200" b="1" i="1" u="none" strike="noStrike" dirty="0">
                          <a:solidFill>
                            <a:schemeClr val="accent1"/>
                          </a:solidFill>
                          <a:effectLst/>
                          <a:latin typeface="Georgia" panose="02040502050405020303" pitchFamily="18" charset="0"/>
                        </a:rPr>
                        <a:t>Traded Volume</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Days to Trade 3 Billion (USD) Portfolio</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2021191"/>
                  </a:ext>
                </a:extLst>
              </a:tr>
              <a:tr h="274320">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Brazil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4.8%</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3,610</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034438"/>
                  </a:ext>
                </a:extLst>
              </a:tr>
              <a:tr h="138307">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Chile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2.1%</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109</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9804652"/>
                  </a:ext>
                </a:extLst>
              </a:tr>
              <a:tr h="145222">
                <a:tc>
                  <a:txBody>
                    <a:bodyPr/>
                    <a:lstStyle/>
                    <a:p>
                      <a:pPr algn="l" rtl="0" fontAlgn="ctr"/>
                      <a:r>
                        <a:rPr lang="en-US" sz="1200" b="1" i="0" u="none" strike="noStrike" dirty="0">
                          <a:solidFill>
                            <a:srgbClr val="000000"/>
                          </a:solidFill>
                          <a:effectLst/>
                          <a:latin typeface="Roboto Condensed" panose="02000000000000000000" pitchFamily="2" charset="0"/>
                          <a:ea typeface="Roboto Condensed" panose="02000000000000000000" pitchFamily="2" charset="0"/>
                        </a:rPr>
                        <a:t>China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r" defTabSz="1005755" rtl="0" eaLnBrk="1" fontAlgn="b" latinLnBrk="0" hangingPunct="1"/>
                      <a:r>
                        <a:rPr lang="en-US" sz="1200" b="1" i="0" u="none" strike="noStrike" kern="1200" dirty="0">
                          <a:solidFill>
                            <a:srgbClr val="000000"/>
                          </a:solidFill>
                          <a:effectLst/>
                          <a:latin typeface="Roboto Condensed" panose="02000000000000000000" pitchFamily="2" charset="0"/>
                          <a:ea typeface="Roboto Condensed" panose="02000000000000000000" pitchFamily="2" charset="0"/>
                          <a:cs typeface="+mn-cs"/>
                        </a:rPr>
                        <a:t>16.4%</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r" defTabSz="1005755" rtl="0" eaLnBrk="1" fontAlgn="b" latinLnBrk="0" hangingPunct="1"/>
                      <a:r>
                        <a:rPr lang="en-US" sz="1200" b="1" i="0" u="none" strike="noStrike" kern="1200" dirty="0">
                          <a:solidFill>
                            <a:srgbClr val="000000"/>
                          </a:solidFill>
                          <a:effectLst/>
                          <a:latin typeface="Roboto Condensed" panose="02000000000000000000" pitchFamily="2" charset="0"/>
                          <a:ea typeface="Roboto Condensed" panose="02000000000000000000" pitchFamily="2" charset="0"/>
                          <a:cs typeface="+mn-cs"/>
                        </a:rPr>
                        <a:t>49,919</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1005755" rtl="0" eaLnBrk="1" fontAlgn="b" latinLnBrk="0" hangingPunct="1"/>
                      <a:r>
                        <a:rPr lang="en-US" sz="1200" b="1"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95391780"/>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Colombia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1.6%</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a:solidFill>
                            <a:srgbClr val="000000"/>
                          </a:solidFill>
                          <a:effectLst/>
                          <a:latin typeface="Roboto Condensed" panose="02000000000000000000" pitchFamily="2" charset="0"/>
                          <a:ea typeface="Roboto Condensed" panose="02000000000000000000" pitchFamily="2" charset="0"/>
                          <a:cs typeface="+mn-cs"/>
                        </a:rPr>
                        <a:t>20</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2</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1407475"/>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Czech Republic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1.0%</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22</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331394"/>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Egypt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1.0%</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a:solidFill>
                            <a:srgbClr val="000000"/>
                          </a:solidFill>
                          <a:effectLst/>
                          <a:latin typeface="Roboto Condensed" panose="02000000000000000000" pitchFamily="2" charset="0"/>
                          <a:ea typeface="Roboto Condensed" panose="02000000000000000000" pitchFamily="2" charset="0"/>
                          <a:cs typeface="+mn-cs"/>
                        </a:rPr>
                        <a:t>10</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a:solidFill>
                            <a:srgbClr val="000000"/>
                          </a:solidFill>
                          <a:effectLst/>
                          <a:latin typeface="Roboto Condensed" panose="02000000000000000000" pitchFamily="2" charset="0"/>
                          <a:ea typeface="Roboto Condensed" panose="02000000000000000000" pitchFamily="2" charset="0"/>
                          <a:cs typeface="+mn-cs"/>
                        </a:rPr>
                        <a:t>3</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3177196"/>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Greece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1.2%</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44</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0927735"/>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Hungary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0.8%</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37</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2676218"/>
                  </a:ext>
                </a:extLst>
              </a:tr>
              <a:tr h="145222">
                <a:tc>
                  <a:txBody>
                    <a:bodyPr/>
                    <a:lstStyle/>
                    <a:p>
                      <a:pPr algn="l" rtl="0" fontAlgn="ctr"/>
                      <a:r>
                        <a:rPr lang="en-US" sz="1200" b="1" i="0" u="none" strike="noStrike" dirty="0">
                          <a:solidFill>
                            <a:srgbClr val="000000"/>
                          </a:solidFill>
                          <a:effectLst/>
                          <a:latin typeface="Roboto Condensed" panose="02000000000000000000" pitchFamily="2" charset="0"/>
                          <a:ea typeface="Roboto Condensed" panose="02000000000000000000" pitchFamily="2" charset="0"/>
                        </a:rPr>
                        <a:t>India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r" defTabSz="1005755" rtl="0" eaLnBrk="1" fontAlgn="b" latinLnBrk="0" hangingPunct="1"/>
                      <a:r>
                        <a:rPr lang="en-US" sz="1200" b="1" i="0" u="none" strike="noStrike" kern="1200" dirty="0">
                          <a:solidFill>
                            <a:srgbClr val="000000"/>
                          </a:solidFill>
                          <a:effectLst/>
                          <a:latin typeface="Roboto Condensed" panose="02000000000000000000" pitchFamily="2" charset="0"/>
                          <a:ea typeface="Roboto Condensed" panose="02000000000000000000" pitchFamily="2" charset="0"/>
                          <a:cs typeface="+mn-cs"/>
                        </a:rPr>
                        <a:t>9.2%</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r" defTabSz="1005755" rtl="0" eaLnBrk="1" fontAlgn="b" latinLnBrk="0" hangingPunct="1"/>
                      <a:r>
                        <a:rPr lang="en-US" sz="1200" b="1" i="0" u="none" strike="noStrike" kern="1200" dirty="0">
                          <a:solidFill>
                            <a:srgbClr val="000000"/>
                          </a:solidFill>
                          <a:effectLst/>
                          <a:latin typeface="Roboto Condensed" panose="02000000000000000000" pitchFamily="2" charset="0"/>
                          <a:ea typeface="Roboto Condensed" panose="02000000000000000000" pitchFamily="2" charset="0"/>
                          <a:cs typeface="+mn-cs"/>
                        </a:rPr>
                        <a:t>4,192</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1005755" rtl="0" eaLnBrk="1" fontAlgn="b" latinLnBrk="0" hangingPunct="1"/>
                      <a:r>
                        <a:rPr lang="en-US" sz="1200" b="1"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644659175"/>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Indonesia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4.0%</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443</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2392666"/>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Korea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7.0%</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4,441</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1227081"/>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Kuwait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1.9%</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24</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2</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1813535"/>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Malaysia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3.2%</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222</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3414056"/>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Mexico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3.3%</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382</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4157667"/>
                  </a:ext>
                </a:extLst>
              </a:tr>
              <a:tr h="14522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Peru</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1.4%</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51</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200" b="0" i="0" u="none" strike="noStrike" kern="1200" dirty="0">
                          <a:solidFill>
                            <a:srgbClr val="000000"/>
                          </a:solidFill>
                          <a:effectLst/>
                          <a:latin typeface="Roboto Condensed" panose="02000000000000000000" pitchFamily="2" charset="0"/>
                          <a:ea typeface="Roboto Condensed" panose="02000000000000000000" pitchFamily="2" charset="0"/>
                          <a:cs typeface="+mn-cs"/>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6799193"/>
                  </a:ext>
                </a:extLst>
              </a:tr>
            </a:tbl>
          </a:graphicData>
        </a:graphic>
      </p:graphicFrame>
      <p:graphicFrame>
        <p:nvGraphicFramePr>
          <p:cNvPr id="3" name="Table 2">
            <a:extLst>
              <a:ext uri="{FF2B5EF4-FFF2-40B4-BE49-F238E27FC236}">
                <a16:creationId xmlns:a16="http://schemas.microsoft.com/office/drawing/2014/main" id="{362D4CCA-A42D-691B-5DDC-92C5E635E8A5}"/>
              </a:ext>
            </a:extLst>
          </p:cNvPr>
          <p:cNvGraphicFramePr>
            <a:graphicFrameLocks noGrp="1"/>
          </p:cNvGraphicFramePr>
          <p:nvPr>
            <p:extLst>
              <p:ext uri="{D42A27DB-BD31-4B8C-83A1-F6EECF244321}">
                <p14:modId xmlns:p14="http://schemas.microsoft.com/office/powerpoint/2010/main" val="951540331"/>
              </p:ext>
            </p:extLst>
          </p:nvPr>
        </p:nvGraphicFramePr>
        <p:xfrm>
          <a:off x="7307644" y="1836861"/>
          <a:ext cx="5577840" cy="4864608"/>
        </p:xfrm>
        <a:graphic>
          <a:graphicData uri="http://schemas.openxmlformats.org/drawingml/2006/table">
            <a:tbl>
              <a:tblPr/>
              <a:tblGrid>
                <a:gridCol w="1463040">
                  <a:extLst>
                    <a:ext uri="{9D8B030D-6E8A-4147-A177-3AD203B41FA5}">
                      <a16:colId xmlns:a16="http://schemas.microsoft.com/office/drawing/2014/main" val="115336323"/>
                    </a:ext>
                  </a:extLst>
                </a:gridCol>
                <a:gridCol w="1188720">
                  <a:extLst>
                    <a:ext uri="{9D8B030D-6E8A-4147-A177-3AD203B41FA5}">
                      <a16:colId xmlns:a16="http://schemas.microsoft.com/office/drawing/2014/main" val="4194873201"/>
                    </a:ext>
                  </a:extLst>
                </a:gridCol>
                <a:gridCol w="1463040">
                  <a:extLst>
                    <a:ext uri="{9D8B030D-6E8A-4147-A177-3AD203B41FA5}">
                      <a16:colId xmlns:a16="http://schemas.microsoft.com/office/drawing/2014/main" val="3220284537"/>
                    </a:ext>
                  </a:extLst>
                </a:gridCol>
                <a:gridCol w="1463040">
                  <a:extLst>
                    <a:ext uri="{9D8B030D-6E8A-4147-A177-3AD203B41FA5}">
                      <a16:colId xmlns:a16="http://schemas.microsoft.com/office/drawing/2014/main" val="1033398365"/>
                    </a:ext>
                  </a:extLst>
                </a:gridCol>
              </a:tblGrid>
              <a:tr h="145222">
                <a:tc>
                  <a:txBody>
                    <a:bodyPr/>
                    <a:lstStyle/>
                    <a:p>
                      <a:pPr algn="l" rtl="0" fontAlgn="ctr"/>
                      <a:r>
                        <a:rPr lang="en-US" sz="1200" b="1" i="1" u="none" strike="noStrike" dirty="0">
                          <a:solidFill>
                            <a:schemeClr val="accent1"/>
                          </a:solidFill>
                          <a:effectLst/>
                          <a:latin typeface="Georgia" panose="02040502050405020303" pitchFamily="18" charset="0"/>
                        </a:rPr>
                        <a:t> </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Market Cap</a:t>
                      </a:r>
                    </a:p>
                    <a:p>
                      <a:pPr algn="ctr" rtl="0" fontAlgn="ctr"/>
                      <a:r>
                        <a:rPr lang="en-US" sz="1200" b="1" i="1" u="none" strike="noStrike" dirty="0">
                          <a:solidFill>
                            <a:schemeClr val="accent1"/>
                          </a:solidFill>
                          <a:effectLst/>
                          <a:latin typeface="Georgia" panose="02040502050405020303" pitchFamily="18" charset="0"/>
                        </a:rPr>
                        <a:t>Weight</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30-Day Average</a:t>
                      </a:r>
                      <a:br>
                        <a:rPr lang="en-US" sz="1200" b="1" i="1" u="none" strike="noStrike" dirty="0">
                          <a:solidFill>
                            <a:schemeClr val="accent1"/>
                          </a:solidFill>
                          <a:effectLst/>
                          <a:latin typeface="Georgia" panose="02040502050405020303" pitchFamily="18" charset="0"/>
                        </a:rPr>
                      </a:br>
                      <a:r>
                        <a:rPr lang="en-US" sz="1200" b="1" i="1" u="none" strike="noStrike" dirty="0">
                          <a:solidFill>
                            <a:schemeClr val="accent1"/>
                          </a:solidFill>
                          <a:effectLst/>
                          <a:latin typeface="Georgia" panose="02040502050405020303" pitchFamily="18" charset="0"/>
                        </a:rPr>
                        <a:t>Traded Volume</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200" b="1" i="1" u="none" strike="noStrike" dirty="0">
                          <a:solidFill>
                            <a:schemeClr val="accent1"/>
                          </a:solidFill>
                          <a:effectLst/>
                          <a:latin typeface="Georgia" panose="02040502050405020303" pitchFamily="18" charset="0"/>
                        </a:rPr>
                        <a:t>Days to Trade 3 Billion (USD) Portfolio</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2021191"/>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Philippines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2.6%</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69</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a:solidFill>
                            <a:srgbClr val="000000"/>
                          </a:solidFill>
                          <a:effectLst/>
                          <a:latin typeface="Roboto Condensed" panose="02000000000000000000" pitchFamily="2" charset="0"/>
                          <a:ea typeface="Roboto Condensed" panose="02000000000000000000" pitchFamily="2" charset="0"/>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7939198"/>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Poland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2.0%</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208</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a:solidFill>
                            <a:srgbClr val="000000"/>
                          </a:solidFill>
                          <a:effectLst/>
                          <a:latin typeface="Roboto Condensed" panose="02000000000000000000" pitchFamily="2" charset="0"/>
                          <a:ea typeface="Roboto Condensed" panose="02000000000000000000" pitchFamily="2" charset="0"/>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2268405"/>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Qatar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a:solidFill>
                            <a:srgbClr val="000000"/>
                          </a:solidFill>
                          <a:effectLst/>
                          <a:latin typeface="Roboto Condensed" panose="02000000000000000000" pitchFamily="2" charset="0"/>
                          <a:ea typeface="Roboto Condensed" panose="02000000000000000000" pitchFamily="2" charset="0"/>
                        </a:rPr>
                        <a:t>2.3%</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147</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a:solidFill>
                            <a:srgbClr val="000000"/>
                          </a:solidFill>
                          <a:effectLst/>
                          <a:latin typeface="Roboto Condensed" panose="02000000000000000000" pitchFamily="2" charset="0"/>
                          <a:ea typeface="Roboto Condensed" panose="02000000000000000000" pitchFamily="2" charset="0"/>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2690356"/>
                  </a:ext>
                </a:extLst>
              </a:tr>
              <a:tr h="301752">
                <a:tc>
                  <a:txBody>
                    <a:bodyPr/>
                    <a:lstStyle/>
                    <a:p>
                      <a:pPr algn="l" rtl="0" fontAlgn="ctr"/>
                      <a:r>
                        <a:rPr lang="en-US" sz="1200" b="0" i="0" u="none" strike="noStrike">
                          <a:solidFill>
                            <a:srgbClr val="000000"/>
                          </a:solidFill>
                          <a:effectLst/>
                          <a:latin typeface="Roboto Condensed" panose="02000000000000000000" pitchFamily="2" charset="0"/>
                          <a:ea typeface="Roboto Condensed" panose="02000000000000000000" pitchFamily="2" charset="0"/>
                        </a:rPr>
                        <a:t>Russia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4.2%</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237</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a:solidFill>
                            <a:srgbClr val="000000"/>
                          </a:solidFill>
                          <a:effectLst/>
                          <a:latin typeface="Roboto Condensed" panose="02000000000000000000" pitchFamily="2" charset="0"/>
                          <a:ea typeface="Roboto Condensed" panose="02000000000000000000" pitchFamily="2" charset="0"/>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0935598"/>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Saudi Arabia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4.0%</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a:solidFill>
                            <a:srgbClr val="000000"/>
                          </a:solidFill>
                          <a:effectLst/>
                          <a:latin typeface="Roboto Condensed" panose="02000000000000000000" pitchFamily="2" charset="0"/>
                          <a:ea typeface="Roboto Condensed" panose="02000000000000000000" pitchFamily="2" charset="0"/>
                        </a:rPr>
                        <a:t>500</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a:solidFill>
                            <a:srgbClr val="000000"/>
                          </a:solidFill>
                          <a:effectLst/>
                          <a:latin typeface="Roboto Condensed" panose="02000000000000000000" pitchFamily="2" charset="0"/>
                          <a:ea typeface="Roboto Condensed" panose="02000000000000000000" pitchFamily="2" charset="0"/>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4160948"/>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South Africa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a:solidFill>
                            <a:srgbClr val="000000"/>
                          </a:solidFill>
                          <a:effectLst/>
                          <a:latin typeface="Roboto Condensed" panose="02000000000000000000" pitchFamily="2" charset="0"/>
                          <a:ea typeface="Roboto Condensed" panose="02000000000000000000" pitchFamily="2" charset="0"/>
                        </a:rPr>
                        <a:t>3.3%</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1,045</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4808559"/>
                  </a:ext>
                </a:extLst>
              </a:tr>
              <a:tr h="301752">
                <a:tc>
                  <a:txBody>
                    <a:bodyPr/>
                    <a:lstStyle/>
                    <a:p>
                      <a:pPr algn="l" rtl="0" fontAlgn="ctr"/>
                      <a:r>
                        <a:rPr lang="en-US" sz="1200" b="1" i="0" u="none" strike="noStrike" dirty="0">
                          <a:solidFill>
                            <a:srgbClr val="000000"/>
                          </a:solidFill>
                          <a:effectLst/>
                          <a:latin typeface="Roboto Condensed" panose="02000000000000000000" pitchFamily="2" charset="0"/>
                          <a:ea typeface="Roboto Condensed" panose="02000000000000000000" pitchFamily="2" charset="0"/>
                        </a:rPr>
                        <a:t>Taiwan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7.0%</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3,915</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3370176544"/>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Thailand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a:solidFill>
                            <a:srgbClr val="000000"/>
                          </a:solidFill>
                          <a:effectLst/>
                          <a:latin typeface="Roboto Condensed" panose="02000000000000000000" pitchFamily="2" charset="0"/>
                          <a:ea typeface="Roboto Condensed" panose="02000000000000000000" pitchFamily="2" charset="0"/>
                        </a:rPr>
                        <a:t>3.8%</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915</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8103568"/>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Turkey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2.1%</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983</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a:solidFill>
                            <a:srgbClr val="000000"/>
                          </a:solidFill>
                          <a:effectLst/>
                          <a:latin typeface="Roboto Condensed" panose="02000000000000000000" pitchFamily="2" charset="0"/>
                          <a:ea typeface="Roboto Condensed" panose="02000000000000000000" pitchFamily="2" charset="0"/>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1714483"/>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United Arab Emirates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4.2%</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270</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1030533"/>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Argentina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1.0%</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3</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9</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2046342"/>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Bangladesh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1.1%</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154</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2006188"/>
                  </a:ext>
                </a:extLst>
              </a:tr>
              <a:tr h="301752">
                <a:tc>
                  <a:txBody>
                    <a:bodyPr/>
                    <a:lstStyle/>
                    <a:p>
                      <a:pPr algn="l" rtl="0" fontAlgn="ctr"/>
                      <a:r>
                        <a:rPr lang="en-US" sz="1200" b="0" i="0" u="none" strike="noStrike" dirty="0">
                          <a:solidFill>
                            <a:srgbClr val="000000"/>
                          </a:solidFill>
                          <a:effectLst/>
                          <a:latin typeface="Roboto Condensed" panose="02000000000000000000" pitchFamily="2" charset="0"/>
                          <a:ea typeface="Roboto Condensed" panose="02000000000000000000" pitchFamily="2" charset="0"/>
                        </a:rPr>
                        <a:t>Pakistan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1.0%</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2</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b="0" i="0" u="none" strike="noStrike" dirty="0">
                          <a:solidFill>
                            <a:srgbClr val="000000"/>
                          </a:solidFill>
                          <a:effectLst/>
                          <a:latin typeface="Roboto Condensed" panose="02000000000000000000" pitchFamily="2" charset="0"/>
                          <a:ea typeface="Roboto Condensed" panose="02000000000000000000" pitchFamily="2" charset="0"/>
                        </a:rPr>
                        <a:t>15</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5755846"/>
                  </a:ext>
                </a:extLst>
              </a:tr>
              <a:tr h="301752">
                <a:tc>
                  <a:txBody>
                    <a:bodyPr/>
                    <a:lstStyle/>
                    <a:p>
                      <a:pPr algn="l" rtl="0" fontAlgn="ctr"/>
                      <a:r>
                        <a:rPr lang="en-US" sz="1200" b="1" i="0" u="none" strike="noStrike" dirty="0">
                          <a:solidFill>
                            <a:srgbClr val="000000"/>
                          </a:solidFill>
                          <a:effectLst/>
                          <a:latin typeface="Roboto Condensed" panose="02000000000000000000" pitchFamily="2" charset="0"/>
                          <a:ea typeface="Roboto Condensed" panose="02000000000000000000" pitchFamily="2" charset="0"/>
                        </a:rPr>
                        <a:t>Vietnam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2.7%</a:t>
                      </a:r>
                    </a:p>
                  </a:txBody>
                  <a:tcPr marL="6904" marR="45720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742</a:t>
                      </a:r>
                    </a:p>
                  </a:txBody>
                  <a:tcPr marL="6904" marR="548640"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
                      <a:r>
                        <a:rPr lang="en-US" sz="1200" b="1" i="0" u="none" strike="noStrike" dirty="0">
                          <a:solidFill>
                            <a:srgbClr val="000000"/>
                          </a:solidFill>
                          <a:effectLst/>
                          <a:latin typeface="Roboto Condensed" panose="02000000000000000000" pitchFamily="2" charset="0"/>
                          <a:ea typeface="Roboto Condensed" panose="02000000000000000000" pitchFamily="2" charset="0"/>
                        </a:rPr>
                        <a:t>1</a:t>
                      </a:r>
                    </a:p>
                  </a:txBody>
                  <a:tcPr marL="6904" marR="6904" marT="69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4021348649"/>
                  </a:ext>
                </a:extLst>
              </a:tr>
            </a:tbl>
          </a:graphicData>
        </a:graphic>
      </p:graphicFrame>
      <p:sp>
        <p:nvSpPr>
          <p:cNvPr id="7" name="TextBox 6">
            <a:extLst>
              <a:ext uri="{FF2B5EF4-FFF2-40B4-BE49-F238E27FC236}">
                <a16:creationId xmlns:a16="http://schemas.microsoft.com/office/drawing/2014/main" id="{12DBB092-B103-804B-1DEA-6D5832268702}"/>
              </a:ext>
            </a:extLst>
          </p:cNvPr>
          <p:cNvSpPr txBox="1"/>
          <p:nvPr/>
        </p:nvSpPr>
        <p:spPr>
          <a:xfrm>
            <a:off x="10047111" y="282222"/>
            <a:ext cx="2573867" cy="646331"/>
          </a:xfrm>
          <a:prstGeom prst="rect">
            <a:avLst/>
          </a:prstGeom>
          <a:noFill/>
        </p:spPr>
        <p:txBody>
          <a:bodyPr wrap="square" rtlCol="0">
            <a:spAutoFit/>
          </a:bodyPr>
          <a:lstStyle/>
          <a:p>
            <a:r>
              <a:rPr lang="en-US" dirty="0"/>
              <a:t>Alvaro – Change from 3 billion to 10 billion</a:t>
            </a:r>
          </a:p>
        </p:txBody>
      </p:sp>
    </p:spTree>
    <p:extLst>
      <p:ext uri="{BB962C8B-B14F-4D97-AF65-F5344CB8AC3E}">
        <p14:creationId xmlns:p14="http://schemas.microsoft.com/office/powerpoint/2010/main" val="1180518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205CB7-96CF-C74B-EC57-82331D47242F}"/>
              </a:ext>
            </a:extLst>
          </p:cNvPr>
          <p:cNvSpPr>
            <a:spLocks noGrp="1"/>
          </p:cNvSpPr>
          <p:nvPr>
            <p:ph type="title"/>
          </p:nvPr>
        </p:nvSpPr>
        <p:spPr/>
        <p:txBody>
          <a:bodyPr/>
          <a:lstStyle/>
          <a:p>
            <a:r>
              <a:rPr lang="en-US" dirty="0"/>
              <a:t>But we can do better! The “new normal” portfolio</a:t>
            </a:r>
          </a:p>
        </p:txBody>
      </p:sp>
      <p:sp>
        <p:nvSpPr>
          <p:cNvPr id="6" name="Content Placeholder 5">
            <a:extLst>
              <a:ext uri="{FF2B5EF4-FFF2-40B4-BE49-F238E27FC236}">
                <a16:creationId xmlns:a16="http://schemas.microsoft.com/office/drawing/2014/main" id="{213FB379-8D82-EF21-8BDC-E979961F842C}"/>
              </a:ext>
            </a:extLst>
          </p:cNvPr>
          <p:cNvSpPr>
            <a:spLocks noGrp="1"/>
          </p:cNvSpPr>
          <p:nvPr>
            <p:ph idx="1"/>
          </p:nvPr>
        </p:nvSpPr>
        <p:spPr>
          <a:xfrm>
            <a:off x="633110" y="1824039"/>
            <a:ext cx="12561455" cy="4349750"/>
          </a:xfrm>
        </p:spPr>
        <p:txBody>
          <a:bodyPr/>
          <a:lstStyle/>
          <a:p>
            <a:r>
              <a:rPr lang="en-US" dirty="0"/>
              <a:t>Is there a better solution? The concept of the “New Normal”</a:t>
            </a:r>
          </a:p>
          <a:p>
            <a:pPr lvl="1"/>
            <a:r>
              <a:rPr lang="en-US" dirty="0"/>
              <a:t>Not an index, as construction has a large amount of judgment</a:t>
            </a:r>
          </a:p>
          <a:p>
            <a:pPr lvl="1"/>
            <a:r>
              <a:rPr lang="en-US" dirty="0"/>
              <a:t>What does the ideal “New Normal” would look like:</a:t>
            </a:r>
          </a:p>
          <a:p>
            <a:pPr lvl="2"/>
            <a:r>
              <a:rPr lang="en-US" dirty="0"/>
              <a:t>Focus on country weights. Cap weight stocks within country to maximize liquidity</a:t>
            </a:r>
          </a:p>
          <a:p>
            <a:pPr lvl="2"/>
            <a:r>
              <a:rPr lang="en-US" dirty="0"/>
              <a:t>Must pass the smell test. Results should be intuitive and line up with a well-informed person’s views</a:t>
            </a:r>
          </a:p>
          <a:p>
            <a:pPr lvl="2"/>
            <a:r>
              <a:rPr lang="en-US" dirty="0"/>
              <a:t>China + Taiwan should be smaller, but that should be a natural fallout of the process, not a forced input</a:t>
            </a:r>
          </a:p>
          <a:p>
            <a:pPr lvl="2"/>
            <a:r>
              <a:rPr lang="en-US" dirty="0"/>
              <a:t>No country or highly correlated group of countries should be dominant</a:t>
            </a:r>
          </a:p>
          <a:p>
            <a:pPr lvl="2"/>
            <a:r>
              <a:rPr lang="en-US" dirty="0"/>
              <a:t>Should take into account multiple dimensions of risk and opportunity</a:t>
            </a:r>
          </a:p>
          <a:p>
            <a:pPr lvl="2"/>
            <a:r>
              <a:rPr lang="en-US" dirty="0"/>
              <a:t>What are these multiple dimensions?</a:t>
            </a:r>
          </a:p>
        </p:txBody>
      </p:sp>
      <p:sp>
        <p:nvSpPr>
          <p:cNvPr id="7" name="Text Placeholder 6">
            <a:extLst>
              <a:ext uri="{FF2B5EF4-FFF2-40B4-BE49-F238E27FC236}">
                <a16:creationId xmlns:a16="http://schemas.microsoft.com/office/drawing/2014/main" id="{6F78A1E0-E0EE-9969-7623-FF2157397AEB}"/>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996028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A07345E-6C97-9E0A-FD2F-3B131444C2F7}"/>
              </a:ext>
            </a:extLst>
          </p:cNvPr>
          <p:cNvSpPr>
            <a:spLocks noGrp="1"/>
          </p:cNvSpPr>
          <p:nvPr>
            <p:ph type="body" sz="quarter" idx="13"/>
          </p:nvPr>
        </p:nvSpPr>
        <p:spPr/>
        <p:txBody>
          <a:bodyPr/>
          <a:lstStyle/>
          <a:p>
            <a:endParaRPr lang="en-US"/>
          </a:p>
        </p:txBody>
      </p:sp>
      <p:sp>
        <p:nvSpPr>
          <p:cNvPr id="5" name="Title 4">
            <a:extLst>
              <a:ext uri="{FF2B5EF4-FFF2-40B4-BE49-F238E27FC236}">
                <a16:creationId xmlns:a16="http://schemas.microsoft.com/office/drawing/2014/main" id="{545D17D4-3356-D634-51BC-7FACB4613A0D}"/>
              </a:ext>
            </a:extLst>
          </p:cNvPr>
          <p:cNvSpPr>
            <a:spLocks noGrp="1"/>
          </p:cNvSpPr>
          <p:nvPr>
            <p:ph type="title"/>
          </p:nvPr>
        </p:nvSpPr>
        <p:spPr/>
        <p:txBody>
          <a:bodyPr/>
          <a:lstStyle/>
          <a:p>
            <a:r>
              <a:rPr lang="en-US" dirty="0"/>
              <a:t>factors to consider in the “new Normal”</a:t>
            </a:r>
          </a:p>
        </p:txBody>
      </p:sp>
      <p:grpSp>
        <p:nvGrpSpPr>
          <p:cNvPr id="18" name="Group 17">
            <a:extLst>
              <a:ext uri="{FF2B5EF4-FFF2-40B4-BE49-F238E27FC236}">
                <a16:creationId xmlns:a16="http://schemas.microsoft.com/office/drawing/2014/main" id="{F4657144-A2C1-0E45-D684-C4ECF622BECC}"/>
              </a:ext>
            </a:extLst>
          </p:cNvPr>
          <p:cNvGrpSpPr/>
          <p:nvPr/>
        </p:nvGrpSpPr>
        <p:grpSpPr>
          <a:xfrm>
            <a:off x="1456406" y="2269360"/>
            <a:ext cx="4556886" cy="546310"/>
            <a:chOff x="1418621" y="2509927"/>
            <a:chExt cx="4556886" cy="546310"/>
          </a:xfrm>
        </p:grpSpPr>
        <p:sp>
          <p:nvSpPr>
            <p:cNvPr id="7" name="Rectangle: Rounded Corners 6">
              <a:extLst>
                <a:ext uri="{FF2B5EF4-FFF2-40B4-BE49-F238E27FC236}">
                  <a16:creationId xmlns:a16="http://schemas.microsoft.com/office/drawing/2014/main" id="{ACBD1BA9-2E75-4AB0-6816-90488575853F}"/>
                </a:ext>
              </a:extLst>
            </p:cNvPr>
            <p:cNvSpPr/>
            <p:nvPr/>
          </p:nvSpPr>
          <p:spPr>
            <a:xfrm>
              <a:off x="1418621" y="2509927"/>
              <a:ext cx="4556886" cy="54631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Roboto Black" pitchFamily="2" charset="0"/>
                  <a:ea typeface="Roboto Black" pitchFamily="2" charset="0"/>
                </a:rPr>
                <a:t>Demographics</a:t>
              </a:r>
            </a:p>
          </p:txBody>
        </p:sp>
        <p:sp>
          <p:nvSpPr>
            <p:cNvPr id="11" name="Arrow: Right 10">
              <a:extLst>
                <a:ext uri="{FF2B5EF4-FFF2-40B4-BE49-F238E27FC236}">
                  <a16:creationId xmlns:a16="http://schemas.microsoft.com/office/drawing/2014/main" id="{C2858A4D-BC56-F241-04C7-A0E7D3272B1B}"/>
                </a:ext>
              </a:extLst>
            </p:cNvPr>
            <p:cNvSpPr/>
            <p:nvPr/>
          </p:nvSpPr>
          <p:spPr>
            <a:xfrm>
              <a:off x="1418621" y="2509927"/>
              <a:ext cx="402622" cy="54631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EBFC2264-703A-DEF9-0E89-F583BB68F2E4}"/>
              </a:ext>
            </a:extLst>
          </p:cNvPr>
          <p:cNvGrpSpPr/>
          <p:nvPr/>
        </p:nvGrpSpPr>
        <p:grpSpPr>
          <a:xfrm>
            <a:off x="1456406" y="3378489"/>
            <a:ext cx="4556886" cy="546310"/>
            <a:chOff x="1418621" y="3470928"/>
            <a:chExt cx="4556886" cy="546310"/>
          </a:xfrm>
        </p:grpSpPr>
        <p:sp>
          <p:nvSpPr>
            <p:cNvPr id="12" name="Rectangle: Rounded Corners 11">
              <a:extLst>
                <a:ext uri="{FF2B5EF4-FFF2-40B4-BE49-F238E27FC236}">
                  <a16:creationId xmlns:a16="http://schemas.microsoft.com/office/drawing/2014/main" id="{7B537D88-6C13-797B-A060-CA094155501C}"/>
                </a:ext>
              </a:extLst>
            </p:cNvPr>
            <p:cNvSpPr/>
            <p:nvPr/>
          </p:nvSpPr>
          <p:spPr>
            <a:xfrm>
              <a:off x="1418621" y="3470928"/>
              <a:ext cx="4556886" cy="54631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boto Black" pitchFamily="2" charset="0"/>
                  <a:ea typeface="Roboto Black" pitchFamily="2" charset="0"/>
                </a:rPr>
                <a:t>Predicted Growth</a:t>
              </a:r>
            </a:p>
          </p:txBody>
        </p:sp>
        <p:sp>
          <p:nvSpPr>
            <p:cNvPr id="13" name="Arrow: Right 12">
              <a:extLst>
                <a:ext uri="{FF2B5EF4-FFF2-40B4-BE49-F238E27FC236}">
                  <a16:creationId xmlns:a16="http://schemas.microsoft.com/office/drawing/2014/main" id="{CB9AF8E1-E079-9B4C-BEF7-A6B1A33410B9}"/>
                </a:ext>
              </a:extLst>
            </p:cNvPr>
            <p:cNvSpPr/>
            <p:nvPr/>
          </p:nvSpPr>
          <p:spPr>
            <a:xfrm>
              <a:off x="1418621" y="3470928"/>
              <a:ext cx="402622" cy="54631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F42DE67D-5771-23FC-C8AD-8812164BA603}"/>
              </a:ext>
            </a:extLst>
          </p:cNvPr>
          <p:cNvGrpSpPr/>
          <p:nvPr/>
        </p:nvGrpSpPr>
        <p:grpSpPr>
          <a:xfrm>
            <a:off x="1456406" y="4487618"/>
            <a:ext cx="4556886" cy="546310"/>
            <a:chOff x="1418621" y="4672496"/>
            <a:chExt cx="4556886" cy="546310"/>
          </a:xfrm>
        </p:grpSpPr>
        <p:sp>
          <p:nvSpPr>
            <p:cNvPr id="14" name="Rectangle: Rounded Corners 13">
              <a:extLst>
                <a:ext uri="{FF2B5EF4-FFF2-40B4-BE49-F238E27FC236}">
                  <a16:creationId xmlns:a16="http://schemas.microsoft.com/office/drawing/2014/main" id="{59427E93-3BFF-2B6E-6989-A9C22D3AC2E4}"/>
                </a:ext>
              </a:extLst>
            </p:cNvPr>
            <p:cNvSpPr/>
            <p:nvPr/>
          </p:nvSpPr>
          <p:spPr>
            <a:xfrm>
              <a:off x="1418621" y="4672496"/>
              <a:ext cx="4556886" cy="54631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boto Black" pitchFamily="2" charset="0"/>
                  <a:ea typeface="Roboto Black" pitchFamily="2" charset="0"/>
                </a:rPr>
                <a:t>Macroeconomic Risk</a:t>
              </a:r>
            </a:p>
          </p:txBody>
        </p:sp>
        <p:sp>
          <p:nvSpPr>
            <p:cNvPr id="15" name="Arrow: Right 14">
              <a:extLst>
                <a:ext uri="{FF2B5EF4-FFF2-40B4-BE49-F238E27FC236}">
                  <a16:creationId xmlns:a16="http://schemas.microsoft.com/office/drawing/2014/main" id="{960A5F1E-E880-641D-266C-FA9F09181755}"/>
                </a:ext>
              </a:extLst>
            </p:cNvPr>
            <p:cNvSpPr/>
            <p:nvPr/>
          </p:nvSpPr>
          <p:spPr>
            <a:xfrm>
              <a:off x="1418621" y="4672496"/>
              <a:ext cx="402622" cy="54631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1" name="Group 20">
            <a:extLst>
              <a:ext uri="{FF2B5EF4-FFF2-40B4-BE49-F238E27FC236}">
                <a16:creationId xmlns:a16="http://schemas.microsoft.com/office/drawing/2014/main" id="{FA851941-9EFB-BA48-A7B5-07FA992174E4}"/>
              </a:ext>
            </a:extLst>
          </p:cNvPr>
          <p:cNvGrpSpPr/>
          <p:nvPr/>
        </p:nvGrpSpPr>
        <p:grpSpPr>
          <a:xfrm>
            <a:off x="1456406" y="5596747"/>
            <a:ext cx="4556886" cy="546310"/>
            <a:chOff x="1418621" y="5860945"/>
            <a:chExt cx="4556886" cy="546310"/>
          </a:xfrm>
        </p:grpSpPr>
        <p:sp>
          <p:nvSpPr>
            <p:cNvPr id="16" name="Rectangle: Rounded Corners 15">
              <a:extLst>
                <a:ext uri="{FF2B5EF4-FFF2-40B4-BE49-F238E27FC236}">
                  <a16:creationId xmlns:a16="http://schemas.microsoft.com/office/drawing/2014/main" id="{BA17248C-C999-533B-E6C1-D79A87BA37C7}"/>
                </a:ext>
              </a:extLst>
            </p:cNvPr>
            <p:cNvSpPr/>
            <p:nvPr/>
          </p:nvSpPr>
          <p:spPr>
            <a:xfrm>
              <a:off x="1418621" y="5860945"/>
              <a:ext cx="4556886" cy="54631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boto Black" pitchFamily="2" charset="0"/>
                  <a:ea typeface="Roboto Black" pitchFamily="2" charset="0"/>
                </a:rPr>
                <a:t>Climate Risk</a:t>
              </a:r>
            </a:p>
          </p:txBody>
        </p:sp>
        <p:sp>
          <p:nvSpPr>
            <p:cNvPr id="17" name="Arrow: Right 16">
              <a:extLst>
                <a:ext uri="{FF2B5EF4-FFF2-40B4-BE49-F238E27FC236}">
                  <a16:creationId xmlns:a16="http://schemas.microsoft.com/office/drawing/2014/main" id="{712AFC0C-23E2-234B-2287-F8986F2FAC64}"/>
                </a:ext>
              </a:extLst>
            </p:cNvPr>
            <p:cNvSpPr/>
            <p:nvPr/>
          </p:nvSpPr>
          <p:spPr>
            <a:xfrm>
              <a:off x="1418621" y="5860945"/>
              <a:ext cx="402622" cy="54631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7D1BBFC7-1401-6322-DA94-551471C8CE27}"/>
              </a:ext>
            </a:extLst>
          </p:cNvPr>
          <p:cNvGrpSpPr/>
          <p:nvPr/>
        </p:nvGrpSpPr>
        <p:grpSpPr>
          <a:xfrm>
            <a:off x="7714882" y="2269360"/>
            <a:ext cx="4556886" cy="546310"/>
            <a:chOff x="1418621" y="2509927"/>
            <a:chExt cx="4556886" cy="546310"/>
          </a:xfrm>
        </p:grpSpPr>
        <p:sp>
          <p:nvSpPr>
            <p:cNvPr id="23" name="Rectangle: Rounded Corners 22">
              <a:extLst>
                <a:ext uri="{FF2B5EF4-FFF2-40B4-BE49-F238E27FC236}">
                  <a16:creationId xmlns:a16="http://schemas.microsoft.com/office/drawing/2014/main" id="{C3F9BAAE-17B8-BDF4-5386-1C45000DE499}"/>
                </a:ext>
              </a:extLst>
            </p:cNvPr>
            <p:cNvSpPr/>
            <p:nvPr/>
          </p:nvSpPr>
          <p:spPr>
            <a:xfrm>
              <a:off x="1418621" y="2509927"/>
              <a:ext cx="4556886" cy="546310"/>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Roboto Black" pitchFamily="2" charset="0"/>
                  <a:ea typeface="Roboto Black" pitchFamily="2" charset="0"/>
                </a:rPr>
                <a:t>Geopolitical Risk</a:t>
              </a:r>
            </a:p>
          </p:txBody>
        </p:sp>
        <p:sp>
          <p:nvSpPr>
            <p:cNvPr id="24" name="Arrow: Right 23">
              <a:extLst>
                <a:ext uri="{FF2B5EF4-FFF2-40B4-BE49-F238E27FC236}">
                  <a16:creationId xmlns:a16="http://schemas.microsoft.com/office/drawing/2014/main" id="{6F3F1980-3F31-3919-7C57-70E2B79DCE1A}"/>
                </a:ext>
              </a:extLst>
            </p:cNvPr>
            <p:cNvSpPr/>
            <p:nvPr/>
          </p:nvSpPr>
          <p:spPr>
            <a:xfrm>
              <a:off x="1418621" y="2509927"/>
              <a:ext cx="402622" cy="54631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 name="Group 24">
            <a:extLst>
              <a:ext uri="{FF2B5EF4-FFF2-40B4-BE49-F238E27FC236}">
                <a16:creationId xmlns:a16="http://schemas.microsoft.com/office/drawing/2014/main" id="{B57F3B58-B1FD-3DBD-6799-5928EF2E282B}"/>
              </a:ext>
            </a:extLst>
          </p:cNvPr>
          <p:cNvGrpSpPr/>
          <p:nvPr/>
        </p:nvGrpSpPr>
        <p:grpSpPr>
          <a:xfrm>
            <a:off x="7714882" y="3378489"/>
            <a:ext cx="4556886" cy="546310"/>
            <a:chOff x="1418621" y="3470928"/>
            <a:chExt cx="4556886" cy="546310"/>
          </a:xfrm>
        </p:grpSpPr>
        <p:sp>
          <p:nvSpPr>
            <p:cNvPr id="26" name="Rectangle: Rounded Corners 25">
              <a:extLst>
                <a:ext uri="{FF2B5EF4-FFF2-40B4-BE49-F238E27FC236}">
                  <a16:creationId xmlns:a16="http://schemas.microsoft.com/office/drawing/2014/main" id="{2FB207A6-4DE3-555A-5C4A-A4EF7026BAEE}"/>
                </a:ext>
              </a:extLst>
            </p:cNvPr>
            <p:cNvSpPr/>
            <p:nvPr/>
          </p:nvSpPr>
          <p:spPr>
            <a:xfrm>
              <a:off x="1418621" y="3470928"/>
              <a:ext cx="4556886" cy="54631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boto Black" pitchFamily="2" charset="0"/>
                  <a:ea typeface="Roboto Black" pitchFamily="2" charset="0"/>
                </a:rPr>
                <a:t>Domestic Policy Risk</a:t>
              </a:r>
            </a:p>
          </p:txBody>
        </p:sp>
        <p:sp>
          <p:nvSpPr>
            <p:cNvPr id="27" name="Arrow: Right 26">
              <a:extLst>
                <a:ext uri="{FF2B5EF4-FFF2-40B4-BE49-F238E27FC236}">
                  <a16:creationId xmlns:a16="http://schemas.microsoft.com/office/drawing/2014/main" id="{E225B2C4-25F0-B873-A7B2-70750692F4E8}"/>
                </a:ext>
              </a:extLst>
            </p:cNvPr>
            <p:cNvSpPr/>
            <p:nvPr/>
          </p:nvSpPr>
          <p:spPr>
            <a:xfrm>
              <a:off x="1418621" y="3470928"/>
              <a:ext cx="402622" cy="54631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27">
            <a:extLst>
              <a:ext uri="{FF2B5EF4-FFF2-40B4-BE49-F238E27FC236}">
                <a16:creationId xmlns:a16="http://schemas.microsoft.com/office/drawing/2014/main" id="{0A0A23FC-8F7F-BD5E-D0B1-0D52B0DC0630}"/>
              </a:ext>
            </a:extLst>
          </p:cNvPr>
          <p:cNvGrpSpPr/>
          <p:nvPr/>
        </p:nvGrpSpPr>
        <p:grpSpPr>
          <a:xfrm>
            <a:off x="7714882" y="4487618"/>
            <a:ext cx="4556886" cy="546310"/>
            <a:chOff x="1418621" y="4672496"/>
            <a:chExt cx="4556886" cy="546310"/>
          </a:xfrm>
        </p:grpSpPr>
        <p:sp>
          <p:nvSpPr>
            <p:cNvPr id="29" name="Rectangle: Rounded Corners 28">
              <a:extLst>
                <a:ext uri="{FF2B5EF4-FFF2-40B4-BE49-F238E27FC236}">
                  <a16:creationId xmlns:a16="http://schemas.microsoft.com/office/drawing/2014/main" id="{D7E69C34-8DCA-1270-07C2-DCD3AF9275A3}"/>
                </a:ext>
              </a:extLst>
            </p:cNvPr>
            <p:cNvSpPr/>
            <p:nvPr/>
          </p:nvSpPr>
          <p:spPr>
            <a:xfrm>
              <a:off x="1418621" y="4672496"/>
              <a:ext cx="4556886" cy="54631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boto Black" pitchFamily="2" charset="0"/>
                  <a:ea typeface="Roboto Black" pitchFamily="2" charset="0"/>
                </a:rPr>
                <a:t>Diversification</a:t>
              </a:r>
            </a:p>
          </p:txBody>
        </p:sp>
        <p:sp>
          <p:nvSpPr>
            <p:cNvPr id="30" name="Arrow: Right 29">
              <a:extLst>
                <a:ext uri="{FF2B5EF4-FFF2-40B4-BE49-F238E27FC236}">
                  <a16:creationId xmlns:a16="http://schemas.microsoft.com/office/drawing/2014/main" id="{C0F6BD39-9977-0365-36DF-EF5AE1C9ED9A}"/>
                </a:ext>
              </a:extLst>
            </p:cNvPr>
            <p:cNvSpPr/>
            <p:nvPr/>
          </p:nvSpPr>
          <p:spPr>
            <a:xfrm>
              <a:off x="1418621" y="4672496"/>
              <a:ext cx="402622" cy="54631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274073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solidFill>
                  <a:srgbClr val="013957"/>
                </a:solidFill>
              </a:rPr>
              <a:t>Demographics:</a:t>
            </a:r>
            <a:br>
              <a:rPr lang="en-US" dirty="0"/>
            </a:br>
            <a:r>
              <a:rPr lang="en-US" dirty="0"/>
              <a:t>bigger is better, but labor market dynamics matter too</a:t>
            </a:r>
          </a:p>
        </p:txBody>
      </p:sp>
      <p:graphicFrame>
        <p:nvGraphicFramePr>
          <p:cNvPr id="4" name="Table 3">
            <a:extLst>
              <a:ext uri="{FF2B5EF4-FFF2-40B4-BE49-F238E27FC236}">
                <a16:creationId xmlns:a16="http://schemas.microsoft.com/office/drawing/2014/main" id="{7769DDB2-0FC1-58E1-2126-1F00DE447B34}"/>
              </a:ext>
            </a:extLst>
          </p:cNvPr>
          <p:cNvGraphicFramePr>
            <a:graphicFrameLocks noGrp="1"/>
          </p:cNvGraphicFramePr>
          <p:nvPr>
            <p:extLst>
              <p:ext uri="{D42A27DB-BD31-4B8C-83A1-F6EECF244321}">
                <p14:modId xmlns:p14="http://schemas.microsoft.com/office/powerpoint/2010/main" val="549212338"/>
              </p:ext>
            </p:extLst>
          </p:nvPr>
        </p:nvGraphicFramePr>
        <p:xfrm>
          <a:off x="907683" y="2146566"/>
          <a:ext cx="11978640" cy="4206240"/>
        </p:xfrm>
        <a:graphic>
          <a:graphicData uri="http://schemas.openxmlformats.org/drawingml/2006/table">
            <a:tbl>
              <a:tblPr>
                <a:tableStyleId>{5C22544A-7EE6-4342-B048-85BDC9FD1C3A}</a:tableStyleId>
              </a:tblPr>
              <a:tblGrid>
                <a:gridCol w="3017520">
                  <a:extLst>
                    <a:ext uri="{9D8B030D-6E8A-4147-A177-3AD203B41FA5}">
                      <a16:colId xmlns:a16="http://schemas.microsoft.com/office/drawing/2014/main" val="1898463280"/>
                    </a:ext>
                  </a:extLst>
                </a:gridCol>
                <a:gridCol w="1097280">
                  <a:extLst>
                    <a:ext uri="{9D8B030D-6E8A-4147-A177-3AD203B41FA5}">
                      <a16:colId xmlns:a16="http://schemas.microsoft.com/office/drawing/2014/main" val="2417231881"/>
                    </a:ext>
                  </a:extLst>
                </a:gridCol>
                <a:gridCol w="1097280">
                  <a:extLst>
                    <a:ext uri="{9D8B030D-6E8A-4147-A177-3AD203B41FA5}">
                      <a16:colId xmlns:a16="http://schemas.microsoft.com/office/drawing/2014/main" val="4088223132"/>
                    </a:ext>
                  </a:extLst>
                </a:gridCol>
                <a:gridCol w="1097280">
                  <a:extLst>
                    <a:ext uri="{9D8B030D-6E8A-4147-A177-3AD203B41FA5}">
                      <a16:colId xmlns:a16="http://schemas.microsoft.com/office/drawing/2014/main" val="1431477524"/>
                    </a:ext>
                  </a:extLst>
                </a:gridCol>
                <a:gridCol w="1280160">
                  <a:extLst>
                    <a:ext uri="{9D8B030D-6E8A-4147-A177-3AD203B41FA5}">
                      <a16:colId xmlns:a16="http://schemas.microsoft.com/office/drawing/2014/main" val="355499506"/>
                    </a:ext>
                  </a:extLst>
                </a:gridCol>
                <a:gridCol w="1097280">
                  <a:extLst>
                    <a:ext uri="{9D8B030D-6E8A-4147-A177-3AD203B41FA5}">
                      <a16:colId xmlns:a16="http://schemas.microsoft.com/office/drawing/2014/main" val="171442710"/>
                    </a:ext>
                  </a:extLst>
                </a:gridCol>
                <a:gridCol w="1097280">
                  <a:extLst>
                    <a:ext uri="{9D8B030D-6E8A-4147-A177-3AD203B41FA5}">
                      <a16:colId xmlns:a16="http://schemas.microsoft.com/office/drawing/2014/main" val="1588504413"/>
                    </a:ext>
                  </a:extLst>
                </a:gridCol>
                <a:gridCol w="1097280">
                  <a:extLst>
                    <a:ext uri="{9D8B030D-6E8A-4147-A177-3AD203B41FA5}">
                      <a16:colId xmlns:a16="http://schemas.microsoft.com/office/drawing/2014/main" val="3209936391"/>
                    </a:ext>
                  </a:extLst>
                </a:gridCol>
                <a:gridCol w="1097280">
                  <a:extLst>
                    <a:ext uri="{9D8B030D-6E8A-4147-A177-3AD203B41FA5}">
                      <a16:colId xmlns:a16="http://schemas.microsoft.com/office/drawing/2014/main" val="330847030"/>
                    </a:ext>
                  </a:extLst>
                </a:gridCol>
              </a:tblGrid>
              <a:tr h="274320">
                <a:tc>
                  <a:txBody>
                    <a:bodyPr/>
                    <a:lstStyle/>
                    <a:p>
                      <a:pPr algn="l" fontAlgn="b"/>
                      <a:endParaRPr lang="en-US" sz="1600" b="1" i="1" u="none" strike="noStrike" dirty="0">
                        <a:solidFill>
                          <a:schemeClr val="bg1"/>
                        </a:solidFill>
                        <a:effectLst/>
                        <a:latin typeface="Georgia" panose="02040502050405020303" pitchFamily="18" charset="0"/>
                      </a:endParaRP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gridSpan="7">
                  <a:txBody>
                    <a:bodyPr/>
                    <a:lstStyle/>
                    <a:p>
                      <a:pPr algn="ctr" fontAlgn="b"/>
                      <a:r>
                        <a:rPr lang="en-US" sz="1600" b="1" i="1" u="none" strike="noStrike" dirty="0">
                          <a:solidFill>
                            <a:schemeClr val="bg1"/>
                          </a:solidFill>
                          <a:effectLst/>
                          <a:latin typeface="Georgia" panose="02040502050405020303" pitchFamily="18" charset="0"/>
                        </a:rPr>
                        <a:t>EMERGING MARKETS</a:t>
                      </a:r>
                    </a:p>
                  </a:txBody>
                  <a:tcPr anchor="b">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
                      <a:r>
                        <a:rPr lang="en-US" sz="1600" b="1" i="1" u="none" strike="noStrike" dirty="0">
                          <a:solidFill>
                            <a:schemeClr val="bg1"/>
                          </a:solidFill>
                          <a:effectLst/>
                          <a:latin typeface="Georgia" panose="02040502050405020303" pitchFamily="18" charset="0"/>
                        </a:rPr>
                        <a:t> </a:t>
                      </a:r>
                    </a:p>
                  </a:txBody>
                  <a:tcPr anchor="b">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896036985"/>
                  </a:ext>
                </a:extLst>
              </a:tr>
              <a:tr h="365760">
                <a:tc>
                  <a:txBody>
                    <a:bodyPr/>
                    <a:lstStyle/>
                    <a:p>
                      <a:pPr algn="ctr" fontAlgn="ctr"/>
                      <a:endParaRPr lang="en-US" sz="1600" b="1" i="1" u="none" strike="noStrike">
                        <a:solidFill>
                          <a:schemeClr val="bg1"/>
                        </a:solidFill>
                        <a:effectLst/>
                        <a:latin typeface="Georgia" panose="02040502050405020303" pitchFamily="18" charset="0"/>
                      </a:endParaRP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fontAlgn="ctr"/>
                      <a:r>
                        <a:rPr lang="en-US" sz="1600" b="1" i="1" u="none" strike="noStrike" dirty="0">
                          <a:solidFill>
                            <a:schemeClr val="bg1"/>
                          </a:solidFill>
                          <a:effectLst/>
                          <a:latin typeface="Georgia" panose="02040502050405020303" pitchFamily="18" charset="0"/>
                        </a:rPr>
                        <a:t>Brazil</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fontAlgn="ctr"/>
                      <a:r>
                        <a:rPr lang="en-US" sz="1600" b="1" i="1" u="none" strike="noStrike" dirty="0">
                          <a:solidFill>
                            <a:schemeClr val="bg1"/>
                          </a:solidFill>
                          <a:effectLst/>
                          <a:latin typeface="Georgia" panose="02040502050405020303" pitchFamily="18" charset="0"/>
                        </a:rPr>
                        <a:t>China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fontAlgn="ctr"/>
                      <a:r>
                        <a:rPr lang="en-US" sz="1600" b="1" i="1" u="none" strike="noStrike" dirty="0">
                          <a:solidFill>
                            <a:schemeClr val="bg1"/>
                          </a:solidFill>
                          <a:effectLst/>
                          <a:latin typeface="Georgia" panose="02040502050405020303" pitchFamily="18" charset="0"/>
                        </a:rPr>
                        <a:t>India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fontAlgn="ctr"/>
                      <a:r>
                        <a:rPr lang="en-US" sz="1600" b="1" i="1" u="none" strike="noStrike" dirty="0">
                          <a:solidFill>
                            <a:schemeClr val="bg1"/>
                          </a:solidFill>
                          <a:effectLst/>
                          <a:latin typeface="Georgia" panose="02040502050405020303" pitchFamily="18" charset="0"/>
                        </a:rPr>
                        <a:t>Indonesia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fontAlgn="ctr"/>
                      <a:r>
                        <a:rPr lang="en-US" sz="1600" b="1" i="1" u="none" strike="noStrike" dirty="0">
                          <a:solidFill>
                            <a:schemeClr val="bg1"/>
                          </a:solidFill>
                          <a:effectLst/>
                          <a:latin typeface="Georgia" panose="02040502050405020303" pitchFamily="18" charset="0"/>
                        </a:rPr>
                        <a:t>Mexico</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fontAlgn="ctr"/>
                      <a:r>
                        <a:rPr lang="en-US" sz="1600" b="1" i="1" u="none" strike="noStrike" dirty="0">
                          <a:solidFill>
                            <a:schemeClr val="bg1"/>
                          </a:solidFill>
                          <a:effectLst/>
                          <a:latin typeface="Georgia" panose="02040502050405020303" pitchFamily="18" charset="0"/>
                        </a:rPr>
                        <a:t>Poland</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fontAlgn="ctr"/>
                      <a:r>
                        <a:rPr lang="en-US" sz="1600" b="1" i="1" u="none" strike="noStrike" dirty="0">
                          <a:solidFill>
                            <a:schemeClr val="bg1"/>
                          </a:solidFill>
                          <a:effectLst/>
                          <a:latin typeface="Georgia" panose="02040502050405020303" pitchFamily="18" charset="0"/>
                        </a:rPr>
                        <a:t>Taiwan</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fontAlgn="ctr"/>
                      <a:r>
                        <a:rPr lang="en-US" sz="1600" b="1" i="1" u="none" strike="noStrike" dirty="0">
                          <a:solidFill>
                            <a:schemeClr val="bg1"/>
                          </a:solidFill>
                          <a:effectLst/>
                          <a:latin typeface="Georgia" panose="02040502050405020303" pitchFamily="18" charset="0"/>
                        </a:rPr>
                        <a:t>Vietnam</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27546343"/>
                  </a:ext>
                </a:extLst>
              </a:tr>
              <a:tr h="457200">
                <a:tc>
                  <a:txBody>
                    <a:bodyPr/>
                    <a:lstStyle/>
                    <a:p>
                      <a:pPr algn="l"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Population (Millions)</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212.6</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1,439.3</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1,380.0</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a:solidFill>
                            <a:schemeClr val="tx1"/>
                          </a:solidFill>
                          <a:effectLst/>
                          <a:latin typeface="Roboto Condensed" panose="02000000000000000000" pitchFamily="2" charset="0"/>
                          <a:ea typeface="Roboto Condensed" panose="02000000000000000000" pitchFamily="2" charset="0"/>
                        </a:rPr>
                        <a:t>273.5</a:t>
                      </a:r>
                      <a:endParaRPr lang="en-US" sz="1600" b="0" i="0" u="none" strike="noStrike">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a:solidFill>
                            <a:schemeClr val="tx1"/>
                          </a:solidFill>
                          <a:effectLst/>
                          <a:latin typeface="Roboto Condensed" panose="02000000000000000000" pitchFamily="2" charset="0"/>
                          <a:ea typeface="Roboto Condensed" panose="02000000000000000000" pitchFamily="2" charset="0"/>
                        </a:rPr>
                        <a:t>128.9</a:t>
                      </a:r>
                      <a:endParaRPr lang="en-US" sz="1600" b="0" i="0" u="none" strike="noStrike">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a:solidFill>
                            <a:schemeClr val="tx1"/>
                          </a:solidFill>
                          <a:effectLst/>
                          <a:latin typeface="Roboto Condensed" panose="02000000000000000000" pitchFamily="2" charset="0"/>
                          <a:ea typeface="Roboto Condensed" panose="02000000000000000000" pitchFamily="2" charset="0"/>
                        </a:rPr>
                        <a:t>37.8</a:t>
                      </a:r>
                      <a:endParaRPr lang="en-US" sz="1600" b="0" i="0" u="none" strike="noStrike">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a:solidFill>
                            <a:schemeClr val="tx1"/>
                          </a:solidFill>
                          <a:effectLst/>
                          <a:latin typeface="Roboto Condensed" panose="02000000000000000000" pitchFamily="2" charset="0"/>
                          <a:ea typeface="Roboto Condensed" panose="02000000000000000000" pitchFamily="2" charset="0"/>
                        </a:rPr>
                        <a:t>23.8</a:t>
                      </a:r>
                      <a:endParaRPr lang="en-US" sz="1600" b="0" i="0" u="none" strike="noStrike">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97.3</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6940382"/>
                  </a:ext>
                </a:extLst>
              </a:tr>
              <a:tr h="457200">
                <a:tc>
                  <a:txBody>
                    <a:bodyPr/>
                    <a:lstStyle/>
                    <a:p>
                      <a:pPr algn="l"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Old Age Dependency Ratio</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13.8</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b="1" u="none" strike="noStrike" dirty="0">
                          <a:solidFill>
                            <a:schemeClr val="tx1"/>
                          </a:solidFill>
                          <a:effectLst/>
                          <a:latin typeface="Roboto Condensed" panose="02000000000000000000" pitchFamily="2" charset="0"/>
                          <a:ea typeface="Roboto Condensed" panose="02000000000000000000" pitchFamily="2" charset="0"/>
                        </a:rPr>
                        <a:t>17.0</a:t>
                      </a:r>
                      <a:endParaRPr lang="en-US" sz="1600" b="1"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fontAlgn="b"/>
                      <a:r>
                        <a:rPr lang="en-US" sz="1600" b="1" u="none" strike="noStrike" dirty="0">
                          <a:solidFill>
                            <a:schemeClr val="tx1"/>
                          </a:solidFill>
                          <a:effectLst/>
                          <a:latin typeface="Roboto Condensed" panose="02000000000000000000" pitchFamily="2" charset="0"/>
                          <a:ea typeface="Roboto Condensed" panose="02000000000000000000" pitchFamily="2" charset="0"/>
                        </a:rPr>
                        <a:t>9.8</a:t>
                      </a:r>
                      <a:endParaRPr lang="en-US" sz="1600" b="1"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9.2</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a:solidFill>
                            <a:schemeClr val="tx1"/>
                          </a:solidFill>
                          <a:effectLst/>
                          <a:latin typeface="Roboto Condensed" panose="02000000000000000000" pitchFamily="2" charset="0"/>
                          <a:ea typeface="Roboto Condensed" panose="02000000000000000000" pitchFamily="2" charset="0"/>
                        </a:rPr>
                        <a:t>11.4</a:t>
                      </a:r>
                      <a:endParaRPr lang="en-US" sz="1600" b="0" i="0" u="none" strike="noStrike">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b="1" u="none" strike="noStrike" dirty="0">
                          <a:solidFill>
                            <a:schemeClr val="tx1"/>
                          </a:solidFill>
                          <a:effectLst/>
                          <a:latin typeface="Roboto Condensed" panose="02000000000000000000" pitchFamily="2" charset="0"/>
                          <a:ea typeface="Roboto Condensed" panose="02000000000000000000" pitchFamily="2" charset="0"/>
                        </a:rPr>
                        <a:t>28.4</a:t>
                      </a:r>
                      <a:endParaRPr lang="en-US" sz="1600" b="1"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fontAlgn="b"/>
                      <a:r>
                        <a:rPr lang="en-US" sz="1600" u="none" strike="noStrike">
                          <a:solidFill>
                            <a:schemeClr val="tx1"/>
                          </a:solidFill>
                          <a:effectLst/>
                          <a:latin typeface="Roboto Condensed" panose="02000000000000000000" pitchFamily="2" charset="0"/>
                          <a:ea typeface="Roboto Condensed" panose="02000000000000000000" pitchFamily="2" charset="0"/>
                        </a:rPr>
                        <a:t>22.2</a:t>
                      </a:r>
                      <a:endParaRPr lang="en-US" sz="1600" b="0" i="0" u="none" strike="noStrike">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b="1" u="none" strike="noStrike" dirty="0">
                          <a:solidFill>
                            <a:schemeClr val="tx1"/>
                          </a:solidFill>
                          <a:effectLst/>
                          <a:latin typeface="Roboto Condensed" panose="02000000000000000000" pitchFamily="2" charset="0"/>
                          <a:ea typeface="Roboto Condensed" panose="02000000000000000000" pitchFamily="2" charset="0"/>
                        </a:rPr>
                        <a:t>11.4</a:t>
                      </a:r>
                      <a:endParaRPr lang="en-US" sz="1600" b="1"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764691729"/>
                  </a:ext>
                </a:extLst>
              </a:tr>
              <a:tr h="457200">
                <a:tc>
                  <a:txBody>
                    <a:bodyPr/>
                    <a:lstStyle/>
                    <a:p>
                      <a:pPr algn="l"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Change in Old Age Dependency Ratio</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4.1</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4.9</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1.9</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2.9</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a:solidFill>
                            <a:schemeClr val="tx1"/>
                          </a:solidFill>
                          <a:effectLst/>
                          <a:latin typeface="Roboto Condensed" panose="02000000000000000000" pitchFamily="2" charset="0"/>
                          <a:ea typeface="Roboto Condensed" panose="02000000000000000000" pitchFamily="2" charset="0"/>
                        </a:rPr>
                        <a:t>2.4</a:t>
                      </a:r>
                      <a:endParaRPr lang="en-US" sz="1600" b="0" i="0" u="none" strike="noStrike">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a:solidFill>
                            <a:schemeClr val="tx1"/>
                          </a:solidFill>
                          <a:effectLst/>
                          <a:latin typeface="Roboto Condensed" panose="02000000000000000000" pitchFamily="2" charset="0"/>
                          <a:ea typeface="Roboto Condensed" panose="02000000000000000000" pitchFamily="2" charset="0"/>
                        </a:rPr>
                        <a:t>7.2</a:t>
                      </a:r>
                      <a:endParaRPr lang="en-US" sz="1600" b="0" i="0" u="none" strike="noStrike">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a:solidFill>
                            <a:schemeClr val="tx1"/>
                          </a:solidFill>
                          <a:effectLst/>
                          <a:latin typeface="Roboto Condensed" panose="02000000000000000000" pitchFamily="2" charset="0"/>
                          <a:ea typeface="Roboto Condensed" panose="02000000000000000000" pitchFamily="2" charset="0"/>
                        </a:rPr>
                        <a:t>9.8</a:t>
                      </a:r>
                      <a:endParaRPr lang="en-US" sz="1600" b="0" i="0" u="none" strike="noStrike">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4.4</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307822"/>
                  </a:ext>
                </a:extLst>
              </a:tr>
              <a:tr h="457200">
                <a:tc>
                  <a:txBody>
                    <a:bodyPr/>
                    <a:lstStyle/>
                    <a:p>
                      <a:pPr algn="l"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Labor Force Increase (%)</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2.6</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b="1" u="none" strike="noStrike" dirty="0">
                          <a:solidFill>
                            <a:schemeClr val="tx1"/>
                          </a:solidFill>
                          <a:effectLst/>
                          <a:latin typeface="Roboto Condensed" panose="02000000000000000000" pitchFamily="2" charset="0"/>
                          <a:ea typeface="Roboto Condensed" panose="02000000000000000000" pitchFamily="2" charset="0"/>
                        </a:rPr>
                        <a:t>-1.1</a:t>
                      </a:r>
                      <a:endParaRPr lang="en-US" sz="1600" b="1"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fontAlgn="b"/>
                      <a:r>
                        <a:rPr lang="en-US" sz="1600" b="1" u="none" strike="noStrike" dirty="0">
                          <a:solidFill>
                            <a:schemeClr val="tx1"/>
                          </a:solidFill>
                          <a:effectLst/>
                          <a:latin typeface="Roboto Condensed" panose="02000000000000000000" pitchFamily="2" charset="0"/>
                          <a:ea typeface="Roboto Condensed" panose="02000000000000000000" pitchFamily="2" charset="0"/>
                        </a:rPr>
                        <a:t>8.2</a:t>
                      </a:r>
                      <a:endParaRPr lang="en-US" sz="1600" b="1"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6.6</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7.7</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-5.7</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a:solidFill>
                            <a:schemeClr val="tx1"/>
                          </a:solidFill>
                          <a:effectLst/>
                          <a:latin typeface="Roboto Condensed" panose="02000000000000000000" pitchFamily="2" charset="0"/>
                          <a:ea typeface="Roboto Condensed" panose="02000000000000000000" pitchFamily="2" charset="0"/>
                        </a:rPr>
                        <a:t>-6.8</a:t>
                      </a:r>
                      <a:endParaRPr lang="en-US" sz="1600" b="0" i="0" u="none" strike="noStrike">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2.8</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0037602"/>
                  </a:ext>
                </a:extLst>
              </a:tr>
              <a:tr h="640080">
                <a:tc>
                  <a:txBody>
                    <a:bodyPr/>
                    <a:lstStyle/>
                    <a:p>
                      <a:pPr algn="l"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Female Labor Force Participation</a:t>
                      </a:r>
                      <a:br>
                        <a:rPr lang="en-US" sz="1600" u="none" strike="noStrike" dirty="0">
                          <a:solidFill>
                            <a:schemeClr val="tx1"/>
                          </a:solidFill>
                          <a:effectLst/>
                          <a:latin typeface="Roboto Condensed" panose="02000000000000000000" pitchFamily="2" charset="0"/>
                          <a:ea typeface="Roboto Condensed" panose="02000000000000000000" pitchFamily="2" charset="0"/>
                        </a:rPr>
                      </a:br>
                      <a:r>
                        <a:rPr lang="en-US" sz="1600" u="none" strike="noStrike" dirty="0">
                          <a:solidFill>
                            <a:schemeClr val="tx1"/>
                          </a:solidFill>
                          <a:effectLst/>
                          <a:latin typeface="Roboto Condensed" panose="02000000000000000000" pitchFamily="2" charset="0"/>
                          <a:ea typeface="Roboto Condensed" panose="02000000000000000000" pitchFamily="2" charset="0"/>
                        </a:rPr>
                        <a:t>(% of Total)</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49.1</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b="1" u="none" strike="noStrike" dirty="0">
                          <a:solidFill>
                            <a:schemeClr val="tx1"/>
                          </a:solidFill>
                          <a:effectLst/>
                          <a:latin typeface="Roboto Condensed" panose="02000000000000000000" pitchFamily="2" charset="0"/>
                          <a:ea typeface="Roboto Condensed" panose="02000000000000000000" pitchFamily="2" charset="0"/>
                        </a:rPr>
                        <a:t>61.6</a:t>
                      </a:r>
                      <a:endParaRPr lang="en-US" sz="1600" b="1"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fontAlgn="b"/>
                      <a:r>
                        <a:rPr lang="en-US" sz="1600" b="1" u="none" strike="noStrike" dirty="0">
                          <a:solidFill>
                            <a:schemeClr val="tx1"/>
                          </a:solidFill>
                          <a:effectLst/>
                          <a:latin typeface="Roboto Condensed" panose="02000000000000000000" pitchFamily="2" charset="0"/>
                          <a:ea typeface="Roboto Condensed" panose="02000000000000000000" pitchFamily="2" charset="0"/>
                        </a:rPr>
                        <a:t>19.2</a:t>
                      </a:r>
                      <a:endParaRPr lang="en-US" sz="1600" b="1"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53.7</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43.8</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49.2</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51.5</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b="1" u="none" strike="noStrike" dirty="0">
                          <a:solidFill>
                            <a:schemeClr val="tx1"/>
                          </a:solidFill>
                          <a:effectLst/>
                          <a:latin typeface="Roboto Condensed" panose="02000000000000000000" pitchFamily="2" charset="0"/>
                          <a:ea typeface="Roboto Condensed" panose="02000000000000000000" pitchFamily="2" charset="0"/>
                        </a:rPr>
                        <a:t>69.6</a:t>
                      </a:r>
                      <a:endParaRPr lang="en-US" sz="1600" b="1"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632853511"/>
                  </a:ext>
                </a:extLst>
              </a:tr>
              <a:tr h="457200">
                <a:tc>
                  <a:txBody>
                    <a:bodyPr/>
                    <a:lstStyle/>
                    <a:p>
                      <a:pPr algn="l"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Human Development Index</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0.8</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a:solidFill>
                            <a:schemeClr val="tx1"/>
                          </a:solidFill>
                          <a:effectLst/>
                          <a:latin typeface="Roboto Condensed" panose="02000000000000000000" pitchFamily="2" charset="0"/>
                          <a:ea typeface="Roboto Condensed" panose="02000000000000000000" pitchFamily="2" charset="0"/>
                        </a:rPr>
                        <a:t>0.8</a:t>
                      </a:r>
                      <a:endParaRPr lang="en-US" sz="1600" b="0" i="0" u="none" strike="noStrike">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0.6</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0.7</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0.8</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0.9</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0.9</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0.7</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4863926"/>
                  </a:ext>
                </a:extLst>
              </a:tr>
              <a:tr h="457200">
                <a:tc>
                  <a:txBody>
                    <a:bodyPr/>
                    <a:lstStyle/>
                    <a:p>
                      <a:pPr algn="l" fontAlgn="b"/>
                      <a:r>
                        <a:rPr lang="en-US" sz="1800" b="1" i="0" u="none" strike="noStrike" dirty="0">
                          <a:solidFill>
                            <a:srgbClr val="002060"/>
                          </a:solidFill>
                          <a:effectLst/>
                          <a:latin typeface="Roboto Condensed" panose="02000000000000000000" pitchFamily="2" charset="0"/>
                          <a:ea typeface="Roboto Condensed" panose="02000000000000000000" pitchFamily="2" charset="0"/>
                        </a:rPr>
                        <a:t>Demographics (0 to 10)</a:t>
                      </a: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1" i="0" u="none" strike="noStrike" dirty="0">
                          <a:solidFill>
                            <a:srgbClr val="002060"/>
                          </a:solidFill>
                          <a:effectLst/>
                          <a:latin typeface="Roboto Condensed" panose="02000000000000000000" pitchFamily="2" charset="0"/>
                          <a:ea typeface="Roboto Condensed" panose="02000000000000000000" pitchFamily="2" charset="0"/>
                        </a:rPr>
                        <a:t>6.4</a:t>
                      </a: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1" i="0" u="none" strike="noStrike" dirty="0">
                          <a:solidFill>
                            <a:srgbClr val="002060"/>
                          </a:solidFill>
                          <a:effectLst/>
                          <a:latin typeface="Roboto Condensed" panose="02000000000000000000" pitchFamily="2" charset="0"/>
                          <a:ea typeface="Roboto Condensed" panose="02000000000000000000" pitchFamily="2" charset="0"/>
                        </a:rPr>
                        <a:t>7.1</a:t>
                      </a: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1" i="0" u="none" strike="noStrike" dirty="0">
                          <a:solidFill>
                            <a:srgbClr val="002060"/>
                          </a:solidFill>
                          <a:effectLst/>
                          <a:latin typeface="Roboto Condensed" panose="02000000000000000000" pitchFamily="2" charset="0"/>
                          <a:ea typeface="Roboto Condensed" panose="02000000000000000000" pitchFamily="2" charset="0"/>
                        </a:rPr>
                        <a:t>8.6</a:t>
                      </a: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1" i="0" u="none" strike="noStrike" dirty="0">
                          <a:solidFill>
                            <a:srgbClr val="002060"/>
                          </a:solidFill>
                          <a:effectLst/>
                          <a:latin typeface="Roboto Condensed" panose="02000000000000000000" pitchFamily="2" charset="0"/>
                          <a:ea typeface="Roboto Condensed" panose="02000000000000000000" pitchFamily="2" charset="0"/>
                        </a:rPr>
                        <a:t>10.0</a:t>
                      </a: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1" i="0" u="none" strike="noStrike" dirty="0">
                          <a:solidFill>
                            <a:srgbClr val="002060"/>
                          </a:solidFill>
                          <a:effectLst/>
                          <a:latin typeface="Roboto Condensed" panose="02000000000000000000" pitchFamily="2" charset="0"/>
                          <a:ea typeface="Roboto Condensed" panose="02000000000000000000" pitchFamily="2" charset="0"/>
                        </a:rPr>
                        <a:t>9.3</a:t>
                      </a: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1" i="0" u="none" strike="noStrike" dirty="0">
                          <a:solidFill>
                            <a:srgbClr val="002060"/>
                          </a:solidFill>
                          <a:effectLst/>
                          <a:latin typeface="Roboto Condensed" panose="02000000000000000000" pitchFamily="2" charset="0"/>
                          <a:ea typeface="Roboto Condensed" panose="02000000000000000000" pitchFamily="2" charset="0"/>
                        </a:rPr>
                        <a:t>1.8</a:t>
                      </a: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1" i="0" u="none" strike="noStrike" dirty="0">
                          <a:solidFill>
                            <a:srgbClr val="002060"/>
                          </a:solidFill>
                          <a:effectLst/>
                          <a:latin typeface="Roboto Condensed" panose="02000000000000000000" pitchFamily="2" charset="0"/>
                          <a:ea typeface="Roboto Condensed" panose="02000000000000000000" pitchFamily="2" charset="0"/>
                        </a:rPr>
                        <a:t>1.1</a:t>
                      </a: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1" i="0" u="none" strike="noStrike" dirty="0">
                          <a:solidFill>
                            <a:srgbClr val="002060"/>
                          </a:solidFill>
                          <a:effectLst/>
                          <a:latin typeface="Roboto Condensed" panose="02000000000000000000" pitchFamily="2" charset="0"/>
                          <a:ea typeface="Roboto Condensed" panose="02000000000000000000" pitchFamily="2" charset="0"/>
                        </a:rPr>
                        <a:t>5.7</a:t>
                      </a: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716270"/>
                  </a:ext>
                </a:extLst>
              </a:tr>
            </a:tbl>
          </a:graphicData>
        </a:graphic>
      </p:graphicFrame>
    </p:spTree>
    <p:extLst>
      <p:ext uri="{BB962C8B-B14F-4D97-AF65-F5344CB8AC3E}">
        <p14:creationId xmlns:p14="http://schemas.microsoft.com/office/powerpoint/2010/main" val="2512966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solidFill>
                  <a:srgbClr val="013957"/>
                </a:solidFill>
              </a:rPr>
              <a:t>Demographics:</a:t>
            </a:r>
            <a:br>
              <a:rPr lang="en-US" dirty="0"/>
            </a:br>
            <a:r>
              <a:rPr lang="en-US" dirty="0"/>
              <a:t>bigger is better, but labor market dynamics matter too</a:t>
            </a:r>
          </a:p>
        </p:txBody>
      </p:sp>
      <p:graphicFrame>
        <p:nvGraphicFramePr>
          <p:cNvPr id="5" name="Table 4">
            <a:extLst>
              <a:ext uri="{FF2B5EF4-FFF2-40B4-BE49-F238E27FC236}">
                <a16:creationId xmlns:a16="http://schemas.microsoft.com/office/drawing/2014/main" id="{B8BB91D6-D8A4-113A-6FBD-0B6140DBF6F7}"/>
              </a:ext>
            </a:extLst>
          </p:cNvPr>
          <p:cNvGraphicFramePr>
            <a:graphicFrameLocks noGrp="1"/>
          </p:cNvGraphicFramePr>
          <p:nvPr>
            <p:extLst>
              <p:ext uri="{D42A27DB-BD31-4B8C-83A1-F6EECF244321}">
                <p14:modId xmlns:p14="http://schemas.microsoft.com/office/powerpoint/2010/main" val="3866190018"/>
              </p:ext>
            </p:extLst>
          </p:nvPr>
        </p:nvGraphicFramePr>
        <p:xfrm>
          <a:off x="3617910" y="2160634"/>
          <a:ext cx="6583680" cy="3931920"/>
        </p:xfrm>
        <a:graphic>
          <a:graphicData uri="http://schemas.openxmlformats.org/drawingml/2006/table">
            <a:tbl>
              <a:tblPr>
                <a:tableStyleId>{5C22544A-7EE6-4342-B048-85BDC9FD1C3A}</a:tableStyleId>
              </a:tblPr>
              <a:tblGrid>
                <a:gridCol w="3474720">
                  <a:extLst>
                    <a:ext uri="{9D8B030D-6E8A-4147-A177-3AD203B41FA5}">
                      <a16:colId xmlns:a16="http://schemas.microsoft.com/office/drawing/2014/main" val="1898463280"/>
                    </a:ext>
                  </a:extLst>
                </a:gridCol>
                <a:gridCol w="1554480">
                  <a:extLst>
                    <a:ext uri="{9D8B030D-6E8A-4147-A177-3AD203B41FA5}">
                      <a16:colId xmlns:a16="http://schemas.microsoft.com/office/drawing/2014/main" val="4088223132"/>
                    </a:ext>
                  </a:extLst>
                </a:gridCol>
                <a:gridCol w="1554480">
                  <a:extLst>
                    <a:ext uri="{9D8B030D-6E8A-4147-A177-3AD203B41FA5}">
                      <a16:colId xmlns:a16="http://schemas.microsoft.com/office/drawing/2014/main" val="1431477524"/>
                    </a:ext>
                  </a:extLst>
                </a:gridCol>
              </a:tblGrid>
              <a:tr h="365760">
                <a:tc>
                  <a:txBody>
                    <a:bodyPr/>
                    <a:lstStyle/>
                    <a:p>
                      <a:pPr algn="ctr" fontAlgn="ctr"/>
                      <a:endParaRPr lang="en-US" sz="1800" b="1" i="1" u="none" strike="noStrike" dirty="0">
                        <a:solidFill>
                          <a:schemeClr val="bg1"/>
                        </a:solidFill>
                        <a:effectLst/>
                        <a:latin typeface="Georgia" panose="02040502050405020303" pitchFamily="18" charset="0"/>
                      </a:endParaRP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fontAlgn="ctr"/>
                      <a:r>
                        <a:rPr lang="en-US" sz="1800" b="1" i="1" u="none" strike="noStrike" dirty="0">
                          <a:solidFill>
                            <a:schemeClr val="bg1"/>
                          </a:solidFill>
                          <a:effectLst/>
                          <a:latin typeface="Georgia" panose="02040502050405020303" pitchFamily="18" charset="0"/>
                        </a:rPr>
                        <a:t>China</a:t>
                      </a: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fontAlgn="ctr"/>
                      <a:r>
                        <a:rPr lang="en-US" sz="1800" b="1" i="1" u="none" strike="noStrike" dirty="0">
                          <a:solidFill>
                            <a:schemeClr val="bg1"/>
                          </a:solidFill>
                          <a:effectLst/>
                          <a:latin typeface="Georgia" panose="02040502050405020303" pitchFamily="18" charset="0"/>
                        </a:rPr>
                        <a:t>India</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27546343"/>
                  </a:ext>
                </a:extLst>
              </a:tr>
              <a:tr h="457200">
                <a:tc>
                  <a:txBody>
                    <a:bodyPr/>
                    <a:lstStyle/>
                    <a:p>
                      <a:pPr algn="l" fontAlgn="b"/>
                      <a:r>
                        <a:rPr lang="en-US" sz="1800" u="none" strike="noStrike" dirty="0">
                          <a:solidFill>
                            <a:schemeClr val="tx1"/>
                          </a:solidFill>
                          <a:effectLst/>
                          <a:latin typeface="Roboto Condensed" panose="02000000000000000000" pitchFamily="2" charset="0"/>
                          <a:ea typeface="Roboto Condensed" panose="02000000000000000000" pitchFamily="2" charset="0"/>
                        </a:rPr>
                        <a:t>Population (Millions)</a:t>
                      </a:r>
                      <a:endParaRPr lang="en-US" sz="18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u="none" strike="noStrike" dirty="0">
                          <a:solidFill>
                            <a:schemeClr val="tx1"/>
                          </a:solidFill>
                          <a:effectLst/>
                          <a:latin typeface="Roboto Condensed" panose="02000000000000000000" pitchFamily="2" charset="0"/>
                          <a:ea typeface="Roboto Condensed" panose="02000000000000000000" pitchFamily="2" charset="0"/>
                        </a:rPr>
                        <a:t>1,439.3</a:t>
                      </a:r>
                      <a:endParaRPr lang="en-US" sz="18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u="none" strike="noStrike" dirty="0">
                          <a:solidFill>
                            <a:schemeClr val="tx1"/>
                          </a:solidFill>
                          <a:effectLst/>
                          <a:latin typeface="Roboto Condensed" panose="02000000000000000000" pitchFamily="2" charset="0"/>
                          <a:ea typeface="Roboto Condensed" panose="02000000000000000000" pitchFamily="2" charset="0"/>
                        </a:rPr>
                        <a:t>1,380.0</a:t>
                      </a:r>
                      <a:endParaRPr lang="en-US" sz="18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6940382"/>
                  </a:ext>
                </a:extLst>
              </a:tr>
              <a:tr h="457200">
                <a:tc>
                  <a:txBody>
                    <a:bodyPr/>
                    <a:lstStyle/>
                    <a:p>
                      <a:pPr algn="l" fontAlgn="b"/>
                      <a:r>
                        <a:rPr lang="en-US" sz="1800" u="none" strike="noStrike" dirty="0">
                          <a:solidFill>
                            <a:schemeClr val="tx1"/>
                          </a:solidFill>
                          <a:effectLst/>
                          <a:latin typeface="Roboto Condensed" panose="02000000000000000000" pitchFamily="2" charset="0"/>
                          <a:ea typeface="Roboto Condensed" panose="02000000000000000000" pitchFamily="2" charset="0"/>
                        </a:rPr>
                        <a:t>Old Age Dependency Ratio</a:t>
                      </a:r>
                      <a:endParaRPr lang="en-US" sz="18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1" u="none" strike="noStrike" dirty="0">
                          <a:solidFill>
                            <a:schemeClr val="tx1"/>
                          </a:solidFill>
                          <a:effectLst/>
                          <a:latin typeface="Roboto Condensed" panose="02000000000000000000" pitchFamily="2" charset="0"/>
                          <a:ea typeface="Roboto Condensed" panose="02000000000000000000" pitchFamily="2" charset="0"/>
                        </a:rPr>
                        <a:t>17.0</a:t>
                      </a:r>
                      <a:endParaRPr lang="en-US" sz="1800" b="1"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fontAlgn="b"/>
                      <a:r>
                        <a:rPr lang="en-US" sz="1800" b="1" u="none" strike="noStrike" dirty="0">
                          <a:solidFill>
                            <a:schemeClr val="tx1"/>
                          </a:solidFill>
                          <a:effectLst/>
                          <a:latin typeface="Roboto Condensed" panose="02000000000000000000" pitchFamily="2" charset="0"/>
                          <a:ea typeface="Roboto Condensed" panose="02000000000000000000" pitchFamily="2" charset="0"/>
                        </a:rPr>
                        <a:t>9.8</a:t>
                      </a:r>
                      <a:endParaRPr lang="en-US" sz="1800" b="1"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764691729"/>
                  </a:ext>
                </a:extLst>
              </a:tr>
              <a:tr h="457200">
                <a:tc>
                  <a:txBody>
                    <a:bodyPr/>
                    <a:lstStyle/>
                    <a:p>
                      <a:pPr algn="l" fontAlgn="b"/>
                      <a:r>
                        <a:rPr lang="en-US" sz="1800" u="none" strike="noStrike" dirty="0">
                          <a:solidFill>
                            <a:schemeClr val="tx1"/>
                          </a:solidFill>
                          <a:effectLst/>
                          <a:latin typeface="Roboto Condensed" panose="02000000000000000000" pitchFamily="2" charset="0"/>
                          <a:ea typeface="Roboto Condensed" panose="02000000000000000000" pitchFamily="2" charset="0"/>
                        </a:rPr>
                        <a:t>Change in Old Age Dependency Ratio</a:t>
                      </a:r>
                      <a:endParaRPr lang="en-US" sz="18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u="none" strike="noStrike" dirty="0">
                          <a:solidFill>
                            <a:schemeClr val="tx1"/>
                          </a:solidFill>
                          <a:effectLst/>
                          <a:latin typeface="Roboto Condensed" panose="02000000000000000000" pitchFamily="2" charset="0"/>
                          <a:ea typeface="Roboto Condensed" panose="02000000000000000000" pitchFamily="2" charset="0"/>
                        </a:rPr>
                        <a:t>4.9</a:t>
                      </a:r>
                      <a:endParaRPr lang="en-US" sz="18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u="none" strike="noStrike" dirty="0">
                          <a:solidFill>
                            <a:schemeClr val="tx1"/>
                          </a:solidFill>
                          <a:effectLst/>
                          <a:latin typeface="Roboto Condensed" panose="02000000000000000000" pitchFamily="2" charset="0"/>
                          <a:ea typeface="Roboto Condensed" panose="02000000000000000000" pitchFamily="2" charset="0"/>
                        </a:rPr>
                        <a:t>1.9</a:t>
                      </a:r>
                      <a:endParaRPr lang="en-US" sz="18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307822"/>
                  </a:ext>
                </a:extLst>
              </a:tr>
              <a:tr h="457200">
                <a:tc>
                  <a:txBody>
                    <a:bodyPr/>
                    <a:lstStyle/>
                    <a:p>
                      <a:pPr algn="l" fontAlgn="b"/>
                      <a:r>
                        <a:rPr lang="en-US" sz="1800" u="none" strike="noStrike" dirty="0">
                          <a:solidFill>
                            <a:schemeClr val="tx1"/>
                          </a:solidFill>
                          <a:effectLst/>
                          <a:latin typeface="Roboto Condensed" panose="02000000000000000000" pitchFamily="2" charset="0"/>
                          <a:ea typeface="Roboto Condensed" panose="02000000000000000000" pitchFamily="2" charset="0"/>
                        </a:rPr>
                        <a:t>Labor Force Increase (%)</a:t>
                      </a:r>
                      <a:endParaRPr lang="en-US" sz="18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1" u="none" strike="noStrike" dirty="0">
                          <a:solidFill>
                            <a:schemeClr val="tx1"/>
                          </a:solidFill>
                          <a:effectLst/>
                          <a:latin typeface="Roboto Condensed" panose="02000000000000000000" pitchFamily="2" charset="0"/>
                          <a:ea typeface="Roboto Condensed" panose="02000000000000000000" pitchFamily="2" charset="0"/>
                        </a:rPr>
                        <a:t>-1.1</a:t>
                      </a:r>
                      <a:endParaRPr lang="en-US" sz="1800" b="1"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fontAlgn="b"/>
                      <a:r>
                        <a:rPr lang="en-US" sz="1800" b="1" u="none" strike="noStrike" dirty="0">
                          <a:solidFill>
                            <a:schemeClr val="tx1"/>
                          </a:solidFill>
                          <a:effectLst/>
                          <a:latin typeface="Roboto Condensed" panose="02000000000000000000" pitchFamily="2" charset="0"/>
                          <a:ea typeface="Roboto Condensed" panose="02000000000000000000" pitchFamily="2" charset="0"/>
                        </a:rPr>
                        <a:t>8.2</a:t>
                      </a:r>
                      <a:endParaRPr lang="en-US" sz="1800" b="1"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3590037602"/>
                  </a:ext>
                </a:extLst>
              </a:tr>
              <a:tr h="640080">
                <a:tc>
                  <a:txBody>
                    <a:bodyPr/>
                    <a:lstStyle/>
                    <a:p>
                      <a:pPr algn="l" fontAlgn="b"/>
                      <a:r>
                        <a:rPr lang="en-US" sz="1800" u="none" strike="noStrike" dirty="0">
                          <a:solidFill>
                            <a:schemeClr val="tx1"/>
                          </a:solidFill>
                          <a:effectLst/>
                          <a:latin typeface="Roboto Condensed" panose="02000000000000000000" pitchFamily="2" charset="0"/>
                          <a:ea typeface="Roboto Condensed" panose="02000000000000000000" pitchFamily="2" charset="0"/>
                        </a:rPr>
                        <a:t>Female Labor Force Participation</a:t>
                      </a:r>
                      <a:br>
                        <a:rPr lang="en-US" sz="1800" u="none" strike="noStrike" dirty="0">
                          <a:solidFill>
                            <a:schemeClr val="tx1"/>
                          </a:solidFill>
                          <a:effectLst/>
                          <a:latin typeface="Roboto Condensed" panose="02000000000000000000" pitchFamily="2" charset="0"/>
                          <a:ea typeface="Roboto Condensed" panose="02000000000000000000" pitchFamily="2" charset="0"/>
                        </a:rPr>
                      </a:br>
                      <a:r>
                        <a:rPr lang="en-US" sz="1800" u="none" strike="noStrike" dirty="0">
                          <a:solidFill>
                            <a:schemeClr val="tx1"/>
                          </a:solidFill>
                          <a:effectLst/>
                          <a:latin typeface="Roboto Condensed" panose="02000000000000000000" pitchFamily="2" charset="0"/>
                          <a:ea typeface="Roboto Condensed" panose="02000000000000000000" pitchFamily="2" charset="0"/>
                        </a:rPr>
                        <a:t>(% of Total)</a:t>
                      </a:r>
                      <a:endParaRPr lang="en-US" sz="18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1" u="none" strike="noStrike" dirty="0">
                          <a:solidFill>
                            <a:schemeClr val="tx1"/>
                          </a:solidFill>
                          <a:effectLst/>
                          <a:latin typeface="Roboto Condensed" panose="02000000000000000000" pitchFamily="2" charset="0"/>
                          <a:ea typeface="Roboto Condensed" panose="02000000000000000000" pitchFamily="2" charset="0"/>
                        </a:rPr>
                        <a:t>61.6</a:t>
                      </a:r>
                      <a:endParaRPr lang="en-US" sz="1800" b="1"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fontAlgn="b"/>
                      <a:r>
                        <a:rPr lang="en-US" sz="1800" b="1" u="none" strike="noStrike" dirty="0">
                          <a:solidFill>
                            <a:schemeClr val="tx1"/>
                          </a:solidFill>
                          <a:effectLst/>
                          <a:latin typeface="Roboto Condensed" panose="02000000000000000000" pitchFamily="2" charset="0"/>
                          <a:ea typeface="Roboto Condensed" panose="02000000000000000000" pitchFamily="2" charset="0"/>
                        </a:rPr>
                        <a:t>19.2</a:t>
                      </a:r>
                      <a:endParaRPr lang="en-US" sz="1800" b="1"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632853511"/>
                  </a:ext>
                </a:extLst>
              </a:tr>
              <a:tr h="457200">
                <a:tc>
                  <a:txBody>
                    <a:bodyPr/>
                    <a:lstStyle/>
                    <a:p>
                      <a:pPr algn="l" fontAlgn="b"/>
                      <a:r>
                        <a:rPr lang="en-US" sz="1800" u="none" strike="noStrike" dirty="0">
                          <a:solidFill>
                            <a:schemeClr val="tx1"/>
                          </a:solidFill>
                          <a:effectLst/>
                          <a:latin typeface="Roboto Condensed" panose="02000000000000000000" pitchFamily="2" charset="0"/>
                          <a:ea typeface="Roboto Condensed" panose="02000000000000000000" pitchFamily="2" charset="0"/>
                        </a:rPr>
                        <a:t>Human Development Index</a:t>
                      </a:r>
                      <a:endParaRPr lang="en-US" sz="18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u="none" strike="noStrike">
                          <a:solidFill>
                            <a:schemeClr val="tx1"/>
                          </a:solidFill>
                          <a:effectLst/>
                          <a:latin typeface="Roboto Condensed" panose="02000000000000000000" pitchFamily="2" charset="0"/>
                          <a:ea typeface="Roboto Condensed" panose="02000000000000000000" pitchFamily="2" charset="0"/>
                        </a:rPr>
                        <a:t>0.8</a:t>
                      </a:r>
                      <a:endParaRPr lang="en-US" sz="1800" b="0" i="0" u="none" strike="noStrike">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u="none" strike="noStrike" dirty="0">
                          <a:solidFill>
                            <a:schemeClr val="tx1"/>
                          </a:solidFill>
                          <a:effectLst/>
                          <a:latin typeface="Roboto Condensed" panose="02000000000000000000" pitchFamily="2" charset="0"/>
                          <a:ea typeface="Roboto Condensed" panose="02000000000000000000" pitchFamily="2" charset="0"/>
                        </a:rPr>
                        <a:t>0.6</a:t>
                      </a:r>
                      <a:endParaRPr lang="en-US" sz="1800" b="0" i="0" u="none" strike="noStrike" dirty="0">
                        <a:solidFill>
                          <a:schemeClr val="tx1"/>
                        </a:solidFill>
                        <a:effectLst/>
                        <a:latin typeface="Roboto Condensed" panose="02000000000000000000" pitchFamily="2" charset="0"/>
                        <a:ea typeface="Roboto Condensed" panose="02000000000000000000" pitchFamily="2" charset="0"/>
                      </a:endParaRPr>
                    </a:p>
                  </a:txBody>
                  <a:tcPr marR="27432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4863926"/>
                  </a:ext>
                </a:extLst>
              </a:tr>
              <a:tr h="457200">
                <a:tc>
                  <a:txBody>
                    <a:bodyPr/>
                    <a:lstStyle/>
                    <a:p>
                      <a:pPr algn="l" fontAlgn="b"/>
                      <a:r>
                        <a:rPr lang="en-US" sz="2000" b="1" i="0" u="none" strike="noStrike" dirty="0">
                          <a:solidFill>
                            <a:schemeClr val="accent1"/>
                          </a:solidFill>
                          <a:effectLst/>
                          <a:latin typeface="Roboto Condensed" panose="02000000000000000000" pitchFamily="2" charset="0"/>
                          <a:ea typeface="Roboto Condensed" panose="02000000000000000000" pitchFamily="2" charset="0"/>
                        </a:rPr>
                        <a:t>Demographics (0 to 10)</a:t>
                      </a: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1" i="0" u="none" strike="noStrike" dirty="0">
                          <a:solidFill>
                            <a:schemeClr val="accent1"/>
                          </a:solidFill>
                          <a:effectLst/>
                          <a:latin typeface="Roboto Condensed" panose="02000000000000000000" pitchFamily="2" charset="0"/>
                          <a:ea typeface="Roboto Condensed" panose="02000000000000000000" pitchFamily="2" charset="0"/>
                        </a:rPr>
                        <a:t>7.1</a:t>
                      </a: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1" i="0" u="none" strike="noStrike" dirty="0">
                          <a:solidFill>
                            <a:schemeClr val="accent1"/>
                          </a:solidFill>
                          <a:effectLst/>
                          <a:latin typeface="Roboto Condensed" panose="02000000000000000000" pitchFamily="2" charset="0"/>
                          <a:ea typeface="Roboto Condensed" panose="02000000000000000000" pitchFamily="2" charset="0"/>
                        </a:rPr>
                        <a:t>8.6</a:t>
                      </a:r>
                    </a:p>
                  </a:txBody>
                  <a:tcPr marR="27432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716270"/>
                  </a:ext>
                </a:extLst>
              </a:tr>
            </a:tbl>
          </a:graphicData>
        </a:graphic>
      </p:graphicFrame>
    </p:spTree>
    <p:extLst>
      <p:ext uri="{BB962C8B-B14F-4D97-AF65-F5344CB8AC3E}">
        <p14:creationId xmlns:p14="http://schemas.microsoft.com/office/powerpoint/2010/main" val="181722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endParaRPr lang="en-US" dirty="0"/>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solidFill>
                  <a:srgbClr val="013957"/>
                </a:solidFill>
              </a:rPr>
              <a:t>Demographics:</a:t>
            </a:r>
            <a:br>
              <a:rPr lang="en-US" dirty="0"/>
            </a:br>
            <a:r>
              <a:rPr lang="en-US" dirty="0"/>
              <a:t>bigger is better, but labor market dynamics matter too</a:t>
            </a:r>
          </a:p>
        </p:txBody>
      </p:sp>
      <p:graphicFrame>
        <p:nvGraphicFramePr>
          <p:cNvPr id="16" name="Chart 15">
            <a:extLst>
              <a:ext uri="{FF2B5EF4-FFF2-40B4-BE49-F238E27FC236}">
                <a16:creationId xmlns:a16="http://schemas.microsoft.com/office/drawing/2014/main" id="{1338121F-086A-DFB5-08F1-A48479EA44EB}"/>
              </a:ext>
            </a:extLst>
          </p:cNvPr>
          <p:cNvGraphicFramePr>
            <a:graphicFrameLocks/>
          </p:cNvGraphicFramePr>
          <p:nvPr>
            <p:extLst>
              <p:ext uri="{D42A27DB-BD31-4B8C-83A1-F6EECF244321}">
                <p14:modId xmlns:p14="http://schemas.microsoft.com/office/powerpoint/2010/main" val="2675576208"/>
              </p:ext>
            </p:extLst>
          </p:nvPr>
        </p:nvGraphicFramePr>
        <p:xfrm>
          <a:off x="1878780" y="2057400"/>
          <a:ext cx="100584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Box 3">
            <a:extLst>
              <a:ext uri="{FF2B5EF4-FFF2-40B4-BE49-F238E27FC236}">
                <a16:creationId xmlns:a16="http://schemas.microsoft.com/office/drawing/2014/main" id="{2B940177-A8FD-682A-9357-2585DD01C891}"/>
              </a:ext>
            </a:extLst>
          </p:cNvPr>
          <p:cNvSpPr txBox="1">
            <a:spLocks noChangeArrowheads="1"/>
          </p:cNvSpPr>
          <p:nvPr/>
        </p:nvSpPr>
        <p:spPr bwMode="auto">
          <a:xfrm>
            <a:off x="1852284" y="1671061"/>
            <a:ext cx="9950509" cy="400110"/>
          </a:xfrm>
          <a:prstGeom prst="rect">
            <a:avLst/>
          </a:prstGeom>
          <a:noFill/>
          <a:ln w="9525">
            <a:noFill/>
            <a:miter lim="800000"/>
            <a:headEnd/>
            <a:tailEnd/>
          </a:ln>
        </p:spPr>
        <p:txBody>
          <a:bodyPr wrap="square">
            <a:spAutoFit/>
          </a:bodyPr>
          <a:lstStyle/>
          <a:p>
            <a:pPr eaLnBrk="0" hangingPunct="0"/>
            <a:r>
              <a:rPr lang="en-US" sz="2000" dirty="0">
                <a:solidFill>
                  <a:schemeClr val="accent2"/>
                </a:solidFill>
                <a:latin typeface="Roboto Condensed" panose="02000000000000000000" pitchFamily="2" charset="0"/>
              </a:rPr>
              <a:t>CHINA AND INDIA DEMOGRAPHICS OVERALL DEPENDENCY RATIO</a:t>
            </a:r>
          </a:p>
        </p:txBody>
      </p:sp>
      <p:sp>
        <p:nvSpPr>
          <p:cNvPr id="5" name="TextBox 4">
            <a:extLst>
              <a:ext uri="{FF2B5EF4-FFF2-40B4-BE49-F238E27FC236}">
                <a16:creationId xmlns:a16="http://schemas.microsoft.com/office/drawing/2014/main" id="{A88997B1-8EEA-DEE8-61C2-33B44C45B715}"/>
              </a:ext>
            </a:extLst>
          </p:cNvPr>
          <p:cNvSpPr txBox="1"/>
          <p:nvPr/>
        </p:nvSpPr>
        <p:spPr>
          <a:xfrm>
            <a:off x="11802793" y="2858495"/>
            <a:ext cx="1095848" cy="369332"/>
          </a:xfrm>
          <a:prstGeom prst="rect">
            <a:avLst/>
          </a:prstGeom>
          <a:noFill/>
        </p:spPr>
        <p:txBody>
          <a:bodyPr wrap="square" rtlCol="0">
            <a:spAutoFit/>
          </a:bodyPr>
          <a:lstStyle/>
          <a:p>
            <a:r>
              <a:rPr lang="en-US" b="1" dirty="0">
                <a:latin typeface="Roboto Condensed" panose="02000000000000000000" pitchFamily="2" charset="0"/>
                <a:ea typeface="Roboto Condensed" panose="02000000000000000000" pitchFamily="2" charset="0"/>
              </a:rPr>
              <a:t>China</a:t>
            </a:r>
          </a:p>
        </p:txBody>
      </p:sp>
      <p:sp>
        <p:nvSpPr>
          <p:cNvPr id="6" name="TextBox 5">
            <a:extLst>
              <a:ext uri="{FF2B5EF4-FFF2-40B4-BE49-F238E27FC236}">
                <a16:creationId xmlns:a16="http://schemas.microsoft.com/office/drawing/2014/main" id="{A418AE14-EF6C-CE8D-7F9E-3CF8D56FC576}"/>
              </a:ext>
            </a:extLst>
          </p:cNvPr>
          <p:cNvSpPr txBox="1"/>
          <p:nvPr/>
        </p:nvSpPr>
        <p:spPr>
          <a:xfrm>
            <a:off x="11802793" y="3761761"/>
            <a:ext cx="1316890" cy="369332"/>
          </a:xfrm>
          <a:prstGeom prst="rect">
            <a:avLst/>
          </a:prstGeom>
          <a:noFill/>
        </p:spPr>
        <p:txBody>
          <a:bodyPr wrap="square" rtlCol="0">
            <a:spAutoFit/>
          </a:bodyPr>
          <a:lstStyle/>
          <a:p>
            <a:r>
              <a:rPr lang="en-US" b="1" dirty="0">
                <a:latin typeface="Roboto Condensed" panose="02000000000000000000" pitchFamily="2" charset="0"/>
                <a:ea typeface="Roboto Condensed" panose="02000000000000000000" pitchFamily="2" charset="0"/>
              </a:rPr>
              <a:t>India</a:t>
            </a:r>
          </a:p>
        </p:txBody>
      </p:sp>
      <p:sp>
        <p:nvSpPr>
          <p:cNvPr id="7" name="Oval 6">
            <a:extLst>
              <a:ext uri="{FF2B5EF4-FFF2-40B4-BE49-F238E27FC236}">
                <a16:creationId xmlns:a16="http://schemas.microsoft.com/office/drawing/2014/main" id="{7C9D79C5-EE30-DD9A-F3CE-5BCACCA66A7D}"/>
              </a:ext>
            </a:extLst>
          </p:cNvPr>
          <p:cNvSpPr/>
          <p:nvPr/>
        </p:nvSpPr>
        <p:spPr>
          <a:xfrm>
            <a:off x="6627483" y="4322298"/>
            <a:ext cx="400110" cy="40011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8" name="Oval 7">
            <a:extLst>
              <a:ext uri="{FF2B5EF4-FFF2-40B4-BE49-F238E27FC236}">
                <a16:creationId xmlns:a16="http://schemas.microsoft.com/office/drawing/2014/main" id="{4FE61B4A-6F2B-2372-4B23-96FC26A8FA73}"/>
              </a:ext>
            </a:extLst>
          </p:cNvPr>
          <p:cNvSpPr/>
          <p:nvPr/>
        </p:nvSpPr>
        <p:spPr>
          <a:xfrm>
            <a:off x="9410542" y="3945987"/>
            <a:ext cx="400110" cy="40011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9" name="TextBox 8">
            <a:extLst>
              <a:ext uri="{FF2B5EF4-FFF2-40B4-BE49-F238E27FC236}">
                <a16:creationId xmlns:a16="http://schemas.microsoft.com/office/drawing/2014/main" id="{8F053223-BABB-94F1-3552-C56167109238}"/>
              </a:ext>
            </a:extLst>
          </p:cNvPr>
          <p:cNvSpPr txBox="1"/>
          <p:nvPr/>
        </p:nvSpPr>
        <p:spPr>
          <a:xfrm>
            <a:off x="5202698" y="4786968"/>
            <a:ext cx="3252371" cy="987450"/>
          </a:xfrm>
          <a:prstGeom prst="rect">
            <a:avLst/>
          </a:prstGeom>
          <a:noFill/>
        </p:spPr>
        <p:txBody>
          <a:bodyPr wrap="square" rtlCol="0">
            <a:spAutoFit/>
          </a:bodyPr>
          <a:lstStyle/>
          <a:p>
            <a:pPr marL="285750" indent="-285750">
              <a:buClr>
                <a:schemeClr val="bg2"/>
              </a:buClr>
              <a:buFont typeface="Wingdings" panose="05000000000000000000" pitchFamily="2" charset="2"/>
              <a:buChar char="§"/>
            </a:pPr>
            <a:r>
              <a:rPr lang="en-US" b="1" dirty="0">
                <a:latin typeface="Roboto Condensed" panose="02000000000000000000" pitchFamily="2" charset="0"/>
                <a:ea typeface="Roboto Condensed" panose="02000000000000000000" pitchFamily="2" charset="0"/>
              </a:rPr>
              <a:t>China's one child policy led to peak demographics  in 2010 </a:t>
            </a:r>
          </a:p>
          <a:p>
            <a:pPr marL="285750" indent="-285750">
              <a:spcBef>
                <a:spcPts val="500"/>
              </a:spcBef>
              <a:buClr>
                <a:schemeClr val="bg2"/>
              </a:buClr>
              <a:buFont typeface="Wingdings" panose="05000000000000000000" pitchFamily="2" charset="2"/>
              <a:buChar char="§"/>
            </a:pPr>
            <a:r>
              <a:rPr lang="en-US" b="1" dirty="0">
                <a:latin typeface="Roboto Condensed" panose="02000000000000000000" pitchFamily="2" charset="0"/>
                <a:ea typeface="Roboto Condensed" panose="02000000000000000000" pitchFamily="2" charset="0"/>
              </a:rPr>
              <a:t>Labor force now shrinking</a:t>
            </a:r>
          </a:p>
        </p:txBody>
      </p:sp>
      <p:sp>
        <p:nvSpPr>
          <p:cNvPr id="10" name="TextBox 9">
            <a:extLst>
              <a:ext uri="{FF2B5EF4-FFF2-40B4-BE49-F238E27FC236}">
                <a16:creationId xmlns:a16="http://schemas.microsoft.com/office/drawing/2014/main" id="{E2365AF1-4B83-45FE-02CF-BB3537251978}"/>
              </a:ext>
            </a:extLst>
          </p:cNvPr>
          <p:cNvSpPr txBox="1"/>
          <p:nvPr/>
        </p:nvSpPr>
        <p:spPr>
          <a:xfrm>
            <a:off x="8481565" y="4399682"/>
            <a:ext cx="2953827" cy="987450"/>
          </a:xfrm>
          <a:prstGeom prst="rect">
            <a:avLst/>
          </a:prstGeom>
          <a:noFill/>
        </p:spPr>
        <p:txBody>
          <a:bodyPr wrap="square" rtlCol="0">
            <a:spAutoFit/>
          </a:bodyPr>
          <a:lstStyle/>
          <a:p>
            <a:pPr marL="285750" indent="-285750">
              <a:buClr>
                <a:schemeClr val="accent1"/>
              </a:buClr>
              <a:buFont typeface="Wingdings" panose="05000000000000000000" pitchFamily="2" charset="2"/>
              <a:buChar char="§"/>
            </a:pPr>
            <a:r>
              <a:rPr lang="en-US" b="1" dirty="0">
                <a:latin typeface="Roboto Condensed" panose="02000000000000000000" pitchFamily="2" charset="0"/>
                <a:ea typeface="Roboto Condensed" panose="02000000000000000000" pitchFamily="2" charset="0"/>
              </a:rPr>
              <a:t>India's demographics to peak in 2030</a:t>
            </a:r>
          </a:p>
          <a:p>
            <a:pPr marL="285750" indent="-285750">
              <a:spcBef>
                <a:spcPts val="500"/>
              </a:spcBef>
              <a:buClr>
                <a:schemeClr val="accent1"/>
              </a:buClr>
              <a:buFont typeface="Wingdings" panose="05000000000000000000" pitchFamily="2" charset="2"/>
              <a:buChar char="§"/>
            </a:pPr>
            <a:r>
              <a:rPr lang="en-US" b="1" dirty="0">
                <a:latin typeface="Roboto Condensed" panose="02000000000000000000" pitchFamily="2" charset="0"/>
                <a:ea typeface="Roboto Condensed" panose="02000000000000000000" pitchFamily="2" charset="0"/>
              </a:rPr>
              <a:t>Labor force still expanding</a:t>
            </a:r>
          </a:p>
        </p:txBody>
      </p:sp>
    </p:spTree>
    <p:extLst>
      <p:ext uri="{BB962C8B-B14F-4D97-AF65-F5344CB8AC3E}">
        <p14:creationId xmlns:p14="http://schemas.microsoft.com/office/powerpoint/2010/main" val="1663586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endParaRPr lang="en-US" dirty="0"/>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solidFill>
                  <a:srgbClr val="76637F"/>
                </a:solidFill>
              </a:rPr>
              <a:t>Climate:</a:t>
            </a:r>
            <a:br>
              <a:rPr lang="en-US" dirty="0"/>
            </a:br>
            <a:r>
              <a:rPr lang="en-US" dirty="0"/>
              <a:t>Climate factors are becoming more important</a:t>
            </a:r>
          </a:p>
        </p:txBody>
      </p:sp>
      <p:graphicFrame>
        <p:nvGraphicFramePr>
          <p:cNvPr id="4" name="Table 3">
            <a:extLst>
              <a:ext uri="{FF2B5EF4-FFF2-40B4-BE49-F238E27FC236}">
                <a16:creationId xmlns:a16="http://schemas.microsoft.com/office/drawing/2014/main" id="{7769DDB2-0FC1-58E1-2126-1F00DE447B34}"/>
              </a:ext>
            </a:extLst>
          </p:cNvPr>
          <p:cNvGraphicFramePr>
            <a:graphicFrameLocks noGrp="1"/>
          </p:cNvGraphicFramePr>
          <p:nvPr>
            <p:extLst>
              <p:ext uri="{D42A27DB-BD31-4B8C-83A1-F6EECF244321}">
                <p14:modId xmlns:p14="http://schemas.microsoft.com/office/powerpoint/2010/main" val="179289294"/>
              </p:ext>
            </p:extLst>
          </p:nvPr>
        </p:nvGraphicFramePr>
        <p:xfrm>
          <a:off x="907683" y="2146566"/>
          <a:ext cx="11978640" cy="2529840"/>
        </p:xfrm>
        <a:graphic>
          <a:graphicData uri="http://schemas.openxmlformats.org/drawingml/2006/table">
            <a:tbl>
              <a:tblPr>
                <a:tableStyleId>{5C22544A-7EE6-4342-B048-85BDC9FD1C3A}</a:tableStyleId>
              </a:tblPr>
              <a:tblGrid>
                <a:gridCol w="3017520">
                  <a:extLst>
                    <a:ext uri="{9D8B030D-6E8A-4147-A177-3AD203B41FA5}">
                      <a16:colId xmlns:a16="http://schemas.microsoft.com/office/drawing/2014/main" val="1898463280"/>
                    </a:ext>
                  </a:extLst>
                </a:gridCol>
                <a:gridCol w="1097280">
                  <a:extLst>
                    <a:ext uri="{9D8B030D-6E8A-4147-A177-3AD203B41FA5}">
                      <a16:colId xmlns:a16="http://schemas.microsoft.com/office/drawing/2014/main" val="2417231881"/>
                    </a:ext>
                  </a:extLst>
                </a:gridCol>
                <a:gridCol w="1097280">
                  <a:extLst>
                    <a:ext uri="{9D8B030D-6E8A-4147-A177-3AD203B41FA5}">
                      <a16:colId xmlns:a16="http://schemas.microsoft.com/office/drawing/2014/main" val="4088223132"/>
                    </a:ext>
                  </a:extLst>
                </a:gridCol>
                <a:gridCol w="1097280">
                  <a:extLst>
                    <a:ext uri="{9D8B030D-6E8A-4147-A177-3AD203B41FA5}">
                      <a16:colId xmlns:a16="http://schemas.microsoft.com/office/drawing/2014/main" val="1431477524"/>
                    </a:ext>
                  </a:extLst>
                </a:gridCol>
                <a:gridCol w="1280160">
                  <a:extLst>
                    <a:ext uri="{9D8B030D-6E8A-4147-A177-3AD203B41FA5}">
                      <a16:colId xmlns:a16="http://schemas.microsoft.com/office/drawing/2014/main" val="355499506"/>
                    </a:ext>
                  </a:extLst>
                </a:gridCol>
                <a:gridCol w="1097280">
                  <a:extLst>
                    <a:ext uri="{9D8B030D-6E8A-4147-A177-3AD203B41FA5}">
                      <a16:colId xmlns:a16="http://schemas.microsoft.com/office/drawing/2014/main" val="171442710"/>
                    </a:ext>
                  </a:extLst>
                </a:gridCol>
                <a:gridCol w="1097280">
                  <a:extLst>
                    <a:ext uri="{9D8B030D-6E8A-4147-A177-3AD203B41FA5}">
                      <a16:colId xmlns:a16="http://schemas.microsoft.com/office/drawing/2014/main" val="1588504413"/>
                    </a:ext>
                  </a:extLst>
                </a:gridCol>
                <a:gridCol w="1097280">
                  <a:extLst>
                    <a:ext uri="{9D8B030D-6E8A-4147-A177-3AD203B41FA5}">
                      <a16:colId xmlns:a16="http://schemas.microsoft.com/office/drawing/2014/main" val="3209936391"/>
                    </a:ext>
                  </a:extLst>
                </a:gridCol>
                <a:gridCol w="1097280">
                  <a:extLst>
                    <a:ext uri="{9D8B030D-6E8A-4147-A177-3AD203B41FA5}">
                      <a16:colId xmlns:a16="http://schemas.microsoft.com/office/drawing/2014/main" val="330847030"/>
                    </a:ext>
                  </a:extLst>
                </a:gridCol>
              </a:tblGrid>
              <a:tr h="274320">
                <a:tc>
                  <a:txBody>
                    <a:bodyPr/>
                    <a:lstStyle/>
                    <a:p>
                      <a:pPr algn="l" fontAlgn="b"/>
                      <a:endParaRPr lang="en-US" sz="1600" b="1" i="1" u="none" strike="noStrike" dirty="0">
                        <a:solidFill>
                          <a:schemeClr val="bg1"/>
                        </a:solidFill>
                        <a:effectLst/>
                        <a:latin typeface="Georgia" panose="02040502050405020303" pitchFamily="18" charset="0"/>
                      </a:endParaRP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solidFill>
                  </a:tcPr>
                </a:tc>
                <a:tc gridSpan="7">
                  <a:txBody>
                    <a:bodyPr/>
                    <a:lstStyle/>
                    <a:p>
                      <a:pPr algn="ctr" fontAlgn="b"/>
                      <a:r>
                        <a:rPr lang="en-US" sz="1600" b="1" i="1" u="none" strike="noStrike" dirty="0">
                          <a:solidFill>
                            <a:schemeClr val="bg1"/>
                          </a:solidFill>
                          <a:effectLst/>
                          <a:latin typeface="Georgia" panose="02040502050405020303" pitchFamily="18" charset="0"/>
                        </a:rPr>
                        <a:t>EMERGING MARKETS</a:t>
                      </a:r>
                    </a:p>
                  </a:txBody>
                  <a:tcPr anchor="b">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
                      <a:r>
                        <a:rPr lang="en-US" sz="1600" b="1" i="1" u="none" strike="noStrike" dirty="0">
                          <a:solidFill>
                            <a:schemeClr val="bg1"/>
                          </a:solidFill>
                          <a:effectLst/>
                          <a:latin typeface="Georgia" panose="02040502050405020303" pitchFamily="18" charset="0"/>
                        </a:rPr>
                        <a:t> </a:t>
                      </a:r>
                    </a:p>
                  </a:txBody>
                  <a:tcPr anchor="b">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896036985"/>
                  </a:ext>
                </a:extLst>
              </a:tr>
              <a:tr h="365760">
                <a:tc>
                  <a:txBody>
                    <a:bodyPr/>
                    <a:lstStyle/>
                    <a:p>
                      <a:pPr algn="ctr" fontAlgn="ctr"/>
                      <a:endParaRPr lang="en-US" sz="1600" b="1" i="1" u="none" strike="noStrike">
                        <a:solidFill>
                          <a:schemeClr val="bg1"/>
                        </a:solidFill>
                        <a:effectLst/>
                        <a:latin typeface="Georgia" panose="02040502050405020303" pitchFamily="18" charset="0"/>
                      </a:endParaRP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r>
                        <a:rPr lang="en-US" sz="1600" b="1" i="1" u="none" strike="noStrike" dirty="0">
                          <a:solidFill>
                            <a:schemeClr val="bg1"/>
                          </a:solidFill>
                          <a:effectLst/>
                          <a:latin typeface="Georgia" panose="02040502050405020303" pitchFamily="18" charset="0"/>
                        </a:rPr>
                        <a:t>Brazil</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r>
                        <a:rPr lang="en-US" sz="1600" b="1" i="1" u="none" strike="noStrike" dirty="0">
                          <a:solidFill>
                            <a:schemeClr val="bg1"/>
                          </a:solidFill>
                          <a:effectLst/>
                          <a:latin typeface="Georgia" panose="02040502050405020303" pitchFamily="18" charset="0"/>
                        </a:rPr>
                        <a:t>China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r>
                        <a:rPr lang="en-US" sz="1600" b="1" i="1" u="none" strike="noStrike" dirty="0">
                          <a:solidFill>
                            <a:schemeClr val="bg1"/>
                          </a:solidFill>
                          <a:effectLst/>
                          <a:latin typeface="Georgia" panose="02040502050405020303" pitchFamily="18" charset="0"/>
                        </a:rPr>
                        <a:t>India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r>
                        <a:rPr lang="en-US" sz="1600" b="1" i="1" u="none" strike="noStrike" dirty="0">
                          <a:solidFill>
                            <a:schemeClr val="bg1"/>
                          </a:solidFill>
                          <a:effectLst/>
                          <a:latin typeface="Georgia" panose="02040502050405020303" pitchFamily="18" charset="0"/>
                        </a:rPr>
                        <a:t>Indonesia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r>
                        <a:rPr lang="en-US" sz="1600" b="1" i="1" u="none" strike="noStrike" dirty="0">
                          <a:solidFill>
                            <a:schemeClr val="bg1"/>
                          </a:solidFill>
                          <a:effectLst/>
                          <a:latin typeface="Georgia" panose="02040502050405020303" pitchFamily="18" charset="0"/>
                        </a:rPr>
                        <a:t>Mexico</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r>
                        <a:rPr lang="en-US" sz="1600" b="1" i="1" u="none" strike="noStrike" dirty="0">
                          <a:solidFill>
                            <a:schemeClr val="bg1"/>
                          </a:solidFill>
                          <a:effectLst/>
                          <a:latin typeface="Georgia" panose="02040502050405020303" pitchFamily="18" charset="0"/>
                        </a:rPr>
                        <a:t>Poland</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r>
                        <a:rPr lang="en-US" sz="1600" b="1" i="1" u="none" strike="noStrike" dirty="0">
                          <a:solidFill>
                            <a:schemeClr val="bg1"/>
                          </a:solidFill>
                          <a:effectLst/>
                          <a:latin typeface="Georgia" panose="02040502050405020303" pitchFamily="18" charset="0"/>
                        </a:rPr>
                        <a:t>Taiwan</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r>
                        <a:rPr lang="en-US" sz="1600" b="1" i="1" u="none" strike="noStrike" dirty="0">
                          <a:solidFill>
                            <a:schemeClr val="bg1"/>
                          </a:solidFill>
                          <a:effectLst/>
                          <a:latin typeface="Georgia" panose="02040502050405020303" pitchFamily="18" charset="0"/>
                        </a:rPr>
                        <a:t>Vietnam</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227546343"/>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Climate Risk</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33.67</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42.83</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16.67</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24.83</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59.50</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80.00</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99.67</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50.17</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6940382"/>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Forward Climate Risk</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79.5</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56.3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38.5</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74.0</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65.5</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75.2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53.5</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35.7</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691729"/>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GMO Climate Risk</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10.7</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9.1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6.3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11.3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11.3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endPar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endParaRP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13.8</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endPar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endParaRP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307822"/>
                  </a:ext>
                </a:extLst>
              </a:tr>
              <a:tr h="457200">
                <a:tc>
                  <a:txBody>
                    <a:bodyPr/>
                    <a:lstStyle/>
                    <a:p>
                      <a:pPr algn="l" fontAlgn="b"/>
                      <a:r>
                        <a:rPr lang="en-US" sz="1800" b="1" u="none" strike="noStrike" dirty="0">
                          <a:solidFill>
                            <a:schemeClr val="accent4"/>
                          </a:solidFill>
                          <a:effectLst/>
                          <a:latin typeface="Roboto Condensed" panose="02000000000000000000" pitchFamily="2" charset="0"/>
                          <a:ea typeface="Roboto Condensed" panose="02000000000000000000" pitchFamily="2" charset="0"/>
                        </a:rPr>
                        <a:t>Climate Risk (0 to 10)</a:t>
                      </a:r>
                      <a:endParaRPr lang="en-US" sz="1800" b="1" i="0" u="none" strike="noStrike" dirty="0">
                        <a:solidFill>
                          <a:schemeClr val="accent4"/>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accent4"/>
                          </a:solidFill>
                          <a:effectLst/>
                          <a:latin typeface="Roboto Condensed" panose="02000000000000000000" pitchFamily="2" charset="0"/>
                          <a:ea typeface="Roboto Condensed" panose="02000000000000000000" pitchFamily="2" charset="0"/>
                          <a:cs typeface="+mn-cs"/>
                        </a:rPr>
                        <a:t>2.9</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accent4"/>
                          </a:solidFill>
                          <a:effectLst/>
                          <a:latin typeface="Roboto Condensed" panose="02000000000000000000" pitchFamily="2" charset="0"/>
                          <a:ea typeface="Roboto Condensed" panose="02000000000000000000" pitchFamily="2" charset="0"/>
                          <a:cs typeface="+mn-cs"/>
                        </a:rPr>
                        <a:t>0.7</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accent4"/>
                          </a:solidFill>
                          <a:effectLst/>
                          <a:latin typeface="Roboto Condensed" panose="02000000000000000000" pitchFamily="2" charset="0"/>
                          <a:ea typeface="Roboto Condensed" panose="02000000000000000000" pitchFamily="2" charset="0"/>
                          <a:cs typeface="+mn-cs"/>
                        </a:rPr>
                        <a:t>0.0</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accent4"/>
                          </a:solidFill>
                          <a:effectLst/>
                          <a:latin typeface="Roboto Condensed" panose="02000000000000000000" pitchFamily="2" charset="0"/>
                          <a:ea typeface="Roboto Condensed" panose="02000000000000000000" pitchFamily="2" charset="0"/>
                          <a:cs typeface="+mn-cs"/>
                        </a:rPr>
                        <a:t>2.5</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accent4"/>
                          </a:solidFill>
                          <a:effectLst/>
                          <a:latin typeface="Roboto Condensed" panose="02000000000000000000" pitchFamily="2" charset="0"/>
                          <a:ea typeface="Roboto Condensed" panose="02000000000000000000" pitchFamily="2" charset="0"/>
                          <a:cs typeface="+mn-cs"/>
                        </a:rPr>
                        <a:t>5.4</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accent4"/>
                          </a:solidFill>
                          <a:effectLst/>
                          <a:latin typeface="Roboto Condensed" panose="02000000000000000000" pitchFamily="2" charset="0"/>
                          <a:ea typeface="Roboto Condensed" panose="02000000000000000000" pitchFamily="2" charset="0"/>
                          <a:cs typeface="+mn-cs"/>
                        </a:rPr>
                        <a:t>6.4</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accent4"/>
                          </a:solidFill>
                          <a:effectLst/>
                          <a:latin typeface="Roboto Condensed" panose="02000000000000000000" pitchFamily="2" charset="0"/>
                          <a:ea typeface="Roboto Condensed" panose="02000000000000000000" pitchFamily="2" charset="0"/>
                          <a:cs typeface="+mn-cs"/>
                        </a:rPr>
                        <a:t>7.9</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accent4"/>
                          </a:solidFill>
                          <a:effectLst/>
                          <a:latin typeface="Roboto Condensed" panose="02000000000000000000" pitchFamily="2" charset="0"/>
                          <a:ea typeface="Roboto Condensed" panose="02000000000000000000" pitchFamily="2" charset="0"/>
                          <a:cs typeface="+mn-cs"/>
                        </a:rPr>
                        <a:t>3.6</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716270"/>
                  </a:ext>
                </a:extLst>
              </a:tr>
            </a:tbl>
          </a:graphicData>
        </a:graphic>
      </p:graphicFrame>
    </p:spTree>
    <p:extLst>
      <p:ext uri="{BB962C8B-B14F-4D97-AF65-F5344CB8AC3E}">
        <p14:creationId xmlns:p14="http://schemas.microsoft.com/office/powerpoint/2010/main" val="663222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solidFill>
                  <a:srgbClr val="76637F"/>
                </a:solidFill>
              </a:rPr>
              <a:t>Climate:</a:t>
            </a:r>
            <a:br>
              <a:rPr lang="en-US" dirty="0"/>
            </a:br>
            <a:r>
              <a:rPr lang="en-US" dirty="0"/>
              <a:t>Climate factors are becoming more important</a:t>
            </a:r>
          </a:p>
        </p:txBody>
      </p:sp>
      <p:sp>
        <p:nvSpPr>
          <p:cNvPr id="4" name="Content Placeholder 3">
            <a:extLst>
              <a:ext uri="{FF2B5EF4-FFF2-40B4-BE49-F238E27FC236}">
                <a16:creationId xmlns:a16="http://schemas.microsoft.com/office/drawing/2014/main" id="{5AA4C13D-4FED-784A-3A20-20DFBEB4EB50}"/>
              </a:ext>
            </a:extLst>
          </p:cNvPr>
          <p:cNvSpPr>
            <a:spLocks noGrp="1"/>
          </p:cNvSpPr>
          <p:nvPr>
            <p:ph idx="1"/>
          </p:nvPr>
        </p:nvSpPr>
        <p:spPr>
          <a:xfrm>
            <a:off x="2090686" y="2011679"/>
            <a:ext cx="9641769" cy="4162109"/>
          </a:xfrm>
        </p:spPr>
        <p:txBody>
          <a:bodyPr/>
          <a:lstStyle/>
          <a:p>
            <a:pPr lvl="1"/>
            <a:r>
              <a:rPr lang="en-US" dirty="0"/>
              <a:t>Need to focus not only on the vulnerability to climate change, but also the ability to respond</a:t>
            </a:r>
          </a:p>
          <a:p>
            <a:pPr lvl="1"/>
            <a:r>
              <a:rPr lang="en-US" dirty="0"/>
              <a:t>Thus, while Taiwan is vulnerable to sea level rise, it also has the resources to build sea walls while Bangladesh does not</a:t>
            </a:r>
          </a:p>
          <a:p>
            <a:pPr lvl="1"/>
            <a:r>
              <a:rPr lang="en-US" dirty="0"/>
              <a:t>In addition, one has to look at companies and their ability to respond. In the Czech Republic, CEZ, the electricity company, makes up around 30% of the market cap and gets about 30-40% of its energy from coal</a:t>
            </a:r>
          </a:p>
        </p:txBody>
      </p:sp>
      <p:sp>
        <p:nvSpPr>
          <p:cNvPr id="7" name="Text Placeholder 6">
            <a:extLst>
              <a:ext uri="{FF2B5EF4-FFF2-40B4-BE49-F238E27FC236}">
                <a16:creationId xmlns:a16="http://schemas.microsoft.com/office/drawing/2014/main" id="{6FD2C670-1E68-08D4-AEE3-312DDDBA6D43}"/>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465929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endParaRPr lang="en-US" dirty="0"/>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solidFill>
                  <a:srgbClr val="407D98"/>
                </a:solidFill>
              </a:rPr>
              <a:t>Geopolitics: </a:t>
            </a:r>
            <a:r>
              <a:rPr lang="en-US" dirty="0"/>
              <a:t>geopolitical risks are likely to become more important, but hard to predict</a:t>
            </a:r>
          </a:p>
        </p:txBody>
      </p:sp>
      <p:graphicFrame>
        <p:nvGraphicFramePr>
          <p:cNvPr id="4" name="Table 3">
            <a:extLst>
              <a:ext uri="{FF2B5EF4-FFF2-40B4-BE49-F238E27FC236}">
                <a16:creationId xmlns:a16="http://schemas.microsoft.com/office/drawing/2014/main" id="{7769DDB2-0FC1-58E1-2126-1F00DE447B34}"/>
              </a:ext>
            </a:extLst>
          </p:cNvPr>
          <p:cNvGraphicFramePr>
            <a:graphicFrameLocks noGrp="1"/>
          </p:cNvGraphicFramePr>
          <p:nvPr>
            <p:extLst>
              <p:ext uri="{D42A27DB-BD31-4B8C-83A1-F6EECF244321}">
                <p14:modId xmlns:p14="http://schemas.microsoft.com/office/powerpoint/2010/main" val="1525147083"/>
              </p:ext>
            </p:extLst>
          </p:nvPr>
        </p:nvGraphicFramePr>
        <p:xfrm>
          <a:off x="907683" y="2146566"/>
          <a:ext cx="11978640" cy="3444240"/>
        </p:xfrm>
        <a:graphic>
          <a:graphicData uri="http://schemas.openxmlformats.org/drawingml/2006/table">
            <a:tbl>
              <a:tblPr>
                <a:tableStyleId>{5C22544A-7EE6-4342-B048-85BDC9FD1C3A}</a:tableStyleId>
              </a:tblPr>
              <a:tblGrid>
                <a:gridCol w="3017520">
                  <a:extLst>
                    <a:ext uri="{9D8B030D-6E8A-4147-A177-3AD203B41FA5}">
                      <a16:colId xmlns:a16="http://schemas.microsoft.com/office/drawing/2014/main" val="1898463280"/>
                    </a:ext>
                  </a:extLst>
                </a:gridCol>
                <a:gridCol w="1097280">
                  <a:extLst>
                    <a:ext uri="{9D8B030D-6E8A-4147-A177-3AD203B41FA5}">
                      <a16:colId xmlns:a16="http://schemas.microsoft.com/office/drawing/2014/main" val="2417231881"/>
                    </a:ext>
                  </a:extLst>
                </a:gridCol>
                <a:gridCol w="1097280">
                  <a:extLst>
                    <a:ext uri="{9D8B030D-6E8A-4147-A177-3AD203B41FA5}">
                      <a16:colId xmlns:a16="http://schemas.microsoft.com/office/drawing/2014/main" val="4088223132"/>
                    </a:ext>
                  </a:extLst>
                </a:gridCol>
                <a:gridCol w="1097280">
                  <a:extLst>
                    <a:ext uri="{9D8B030D-6E8A-4147-A177-3AD203B41FA5}">
                      <a16:colId xmlns:a16="http://schemas.microsoft.com/office/drawing/2014/main" val="1431477524"/>
                    </a:ext>
                  </a:extLst>
                </a:gridCol>
                <a:gridCol w="1280160">
                  <a:extLst>
                    <a:ext uri="{9D8B030D-6E8A-4147-A177-3AD203B41FA5}">
                      <a16:colId xmlns:a16="http://schemas.microsoft.com/office/drawing/2014/main" val="355499506"/>
                    </a:ext>
                  </a:extLst>
                </a:gridCol>
                <a:gridCol w="1097280">
                  <a:extLst>
                    <a:ext uri="{9D8B030D-6E8A-4147-A177-3AD203B41FA5}">
                      <a16:colId xmlns:a16="http://schemas.microsoft.com/office/drawing/2014/main" val="171442710"/>
                    </a:ext>
                  </a:extLst>
                </a:gridCol>
                <a:gridCol w="1097280">
                  <a:extLst>
                    <a:ext uri="{9D8B030D-6E8A-4147-A177-3AD203B41FA5}">
                      <a16:colId xmlns:a16="http://schemas.microsoft.com/office/drawing/2014/main" val="1588504413"/>
                    </a:ext>
                  </a:extLst>
                </a:gridCol>
                <a:gridCol w="1097280">
                  <a:extLst>
                    <a:ext uri="{9D8B030D-6E8A-4147-A177-3AD203B41FA5}">
                      <a16:colId xmlns:a16="http://schemas.microsoft.com/office/drawing/2014/main" val="3209936391"/>
                    </a:ext>
                  </a:extLst>
                </a:gridCol>
                <a:gridCol w="1097280">
                  <a:extLst>
                    <a:ext uri="{9D8B030D-6E8A-4147-A177-3AD203B41FA5}">
                      <a16:colId xmlns:a16="http://schemas.microsoft.com/office/drawing/2014/main" val="330847030"/>
                    </a:ext>
                  </a:extLst>
                </a:gridCol>
              </a:tblGrid>
              <a:tr h="274320">
                <a:tc>
                  <a:txBody>
                    <a:bodyPr/>
                    <a:lstStyle/>
                    <a:p>
                      <a:pPr algn="l" fontAlgn="b"/>
                      <a:endParaRPr lang="en-US" sz="1600" b="1" i="1" u="none" strike="noStrike" dirty="0">
                        <a:solidFill>
                          <a:schemeClr val="bg1"/>
                        </a:solidFill>
                        <a:effectLst/>
                        <a:latin typeface="Georgia" panose="02040502050405020303" pitchFamily="18" charset="0"/>
                      </a:endParaRP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50000"/>
                      </a:schemeClr>
                    </a:solidFill>
                  </a:tcPr>
                </a:tc>
                <a:tc gridSpan="7">
                  <a:txBody>
                    <a:bodyPr/>
                    <a:lstStyle/>
                    <a:p>
                      <a:pPr algn="ctr" fontAlgn="b"/>
                      <a:r>
                        <a:rPr lang="en-US" sz="1600" b="1" i="1" u="none" strike="noStrike" dirty="0">
                          <a:solidFill>
                            <a:schemeClr val="bg1"/>
                          </a:solidFill>
                          <a:effectLst/>
                          <a:latin typeface="Georgia" panose="02040502050405020303" pitchFamily="18" charset="0"/>
                        </a:rPr>
                        <a:t>EMERGING MARKETS</a:t>
                      </a:r>
                    </a:p>
                  </a:txBody>
                  <a:tcPr anchor="b">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
                      <a:r>
                        <a:rPr lang="en-US" sz="1600" b="1" i="1" u="none" strike="noStrike" dirty="0">
                          <a:solidFill>
                            <a:schemeClr val="bg1"/>
                          </a:solidFill>
                          <a:effectLst/>
                          <a:latin typeface="Georgia" panose="02040502050405020303" pitchFamily="18" charset="0"/>
                        </a:rPr>
                        <a:t> </a:t>
                      </a:r>
                    </a:p>
                  </a:txBody>
                  <a:tcPr anchor="b">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extLst>
                  <a:ext uri="{0D108BD9-81ED-4DB2-BD59-A6C34878D82A}">
                    <a16:rowId xmlns:a16="http://schemas.microsoft.com/office/drawing/2014/main" val="2896036985"/>
                  </a:ext>
                </a:extLst>
              </a:tr>
              <a:tr h="365760">
                <a:tc>
                  <a:txBody>
                    <a:bodyPr/>
                    <a:lstStyle/>
                    <a:p>
                      <a:pPr algn="ctr" fontAlgn="ctr"/>
                      <a:endParaRPr lang="en-US" sz="1600" b="1" i="1" u="none" strike="noStrike">
                        <a:solidFill>
                          <a:schemeClr val="bg1"/>
                        </a:solidFill>
                        <a:effectLst/>
                        <a:latin typeface="Georgia" panose="02040502050405020303" pitchFamily="18" charset="0"/>
                      </a:endParaRP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ctr" fontAlgn="ctr"/>
                      <a:r>
                        <a:rPr lang="en-US" sz="1600" b="1" i="1" u="none" strike="noStrike" dirty="0">
                          <a:solidFill>
                            <a:schemeClr val="bg1"/>
                          </a:solidFill>
                          <a:effectLst/>
                          <a:latin typeface="Georgia" panose="02040502050405020303" pitchFamily="18" charset="0"/>
                        </a:rPr>
                        <a:t>Brazil</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ctr" fontAlgn="ctr"/>
                      <a:r>
                        <a:rPr lang="en-US" sz="1600" b="1" i="1" u="none" strike="noStrike" dirty="0">
                          <a:solidFill>
                            <a:schemeClr val="bg1"/>
                          </a:solidFill>
                          <a:effectLst/>
                          <a:latin typeface="Georgia" panose="02040502050405020303" pitchFamily="18" charset="0"/>
                        </a:rPr>
                        <a:t>China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ctr" fontAlgn="ctr"/>
                      <a:r>
                        <a:rPr lang="en-US" sz="1600" b="1" i="1" u="none" strike="noStrike" dirty="0">
                          <a:solidFill>
                            <a:schemeClr val="bg1"/>
                          </a:solidFill>
                          <a:effectLst/>
                          <a:latin typeface="Georgia" panose="02040502050405020303" pitchFamily="18" charset="0"/>
                        </a:rPr>
                        <a:t>India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ctr" fontAlgn="ctr"/>
                      <a:r>
                        <a:rPr lang="en-US" sz="1600" b="1" i="1" u="none" strike="noStrike" dirty="0">
                          <a:solidFill>
                            <a:schemeClr val="bg1"/>
                          </a:solidFill>
                          <a:effectLst/>
                          <a:latin typeface="Georgia" panose="02040502050405020303" pitchFamily="18" charset="0"/>
                        </a:rPr>
                        <a:t>Indonesia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ctr" fontAlgn="ctr"/>
                      <a:r>
                        <a:rPr lang="en-US" sz="1600" b="1" i="1" u="none" strike="noStrike" dirty="0">
                          <a:solidFill>
                            <a:schemeClr val="bg1"/>
                          </a:solidFill>
                          <a:effectLst/>
                          <a:latin typeface="Georgia" panose="02040502050405020303" pitchFamily="18" charset="0"/>
                        </a:rPr>
                        <a:t>Mexico</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ctr" fontAlgn="ctr"/>
                      <a:r>
                        <a:rPr lang="en-US" sz="1600" b="1" i="1" u="none" strike="noStrike" dirty="0">
                          <a:solidFill>
                            <a:schemeClr val="bg1"/>
                          </a:solidFill>
                          <a:effectLst/>
                          <a:latin typeface="Georgia" panose="02040502050405020303" pitchFamily="18" charset="0"/>
                        </a:rPr>
                        <a:t>Poland</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ctr" fontAlgn="ctr"/>
                      <a:r>
                        <a:rPr lang="en-US" sz="1600" b="1" i="1" u="none" strike="noStrike" dirty="0">
                          <a:solidFill>
                            <a:schemeClr val="bg1"/>
                          </a:solidFill>
                          <a:effectLst/>
                          <a:latin typeface="Georgia" panose="02040502050405020303" pitchFamily="18" charset="0"/>
                        </a:rPr>
                        <a:t>Taiwan</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ctr" fontAlgn="ctr"/>
                      <a:r>
                        <a:rPr lang="en-US" sz="1600" b="1" i="1" u="none" strike="noStrike" dirty="0">
                          <a:solidFill>
                            <a:schemeClr val="bg1"/>
                          </a:solidFill>
                          <a:effectLst/>
                          <a:latin typeface="Georgia" panose="02040502050405020303" pitchFamily="18" charset="0"/>
                        </a:rPr>
                        <a:t>Vietnam</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extLst>
                  <a:ext uri="{0D108BD9-81ED-4DB2-BD59-A6C34878D82A}">
                    <a16:rowId xmlns:a16="http://schemas.microsoft.com/office/drawing/2014/main" val="4227546343"/>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New World Order Risk</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0.8</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0.0</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0.6</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0.7</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0.9</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1.0</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0.0</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0.8</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6940382"/>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Net Food Exports</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32.6</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-5.6</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7.3</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11.0</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2.6</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4.9</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0.0</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1.0</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691729"/>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Net Energy Exports</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1.8</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-12.6</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-18.3</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4.5</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-2.6</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-3.7</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-5.0</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-4.0</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307822"/>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 of Global Trade</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14.8</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1.8</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2.3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1.5</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1.7</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1.4</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1049383"/>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Trade Growth Past 3 Years (%)</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4.2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2.2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8.2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-1.8</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3.0</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2.6</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4.0</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4740945"/>
                  </a:ext>
                </a:extLst>
              </a:tr>
              <a:tr h="457200">
                <a:tc>
                  <a:txBody>
                    <a:bodyPr/>
                    <a:lstStyle/>
                    <a:p>
                      <a:pPr algn="l" fontAlgn="b"/>
                      <a:r>
                        <a:rPr lang="en-US" sz="1800" b="1" u="none" strike="noStrike" dirty="0">
                          <a:solidFill>
                            <a:srgbClr val="407D98"/>
                          </a:solidFill>
                          <a:effectLst/>
                          <a:latin typeface="Roboto Condensed" panose="02000000000000000000" pitchFamily="2" charset="0"/>
                          <a:ea typeface="Roboto Condensed" panose="02000000000000000000" pitchFamily="2" charset="0"/>
                        </a:rPr>
                        <a:t>Geopolitical Risk (0 to 10)</a:t>
                      </a:r>
                      <a:endParaRPr lang="en-US" sz="1800" b="1" i="0" u="none" strike="noStrike" dirty="0">
                        <a:solidFill>
                          <a:srgbClr val="407D98"/>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rgbClr val="407D98"/>
                          </a:solidFill>
                          <a:effectLst/>
                          <a:latin typeface="Roboto Condensed" panose="02000000000000000000" pitchFamily="2" charset="0"/>
                          <a:ea typeface="Roboto Condensed" panose="02000000000000000000" pitchFamily="2" charset="0"/>
                          <a:cs typeface="+mn-cs"/>
                        </a:rPr>
                        <a:t>9.3</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rgbClr val="407D98"/>
                          </a:solidFill>
                          <a:effectLst/>
                          <a:latin typeface="Roboto Condensed" panose="02000000000000000000" pitchFamily="2" charset="0"/>
                          <a:ea typeface="Roboto Condensed" panose="02000000000000000000" pitchFamily="2" charset="0"/>
                          <a:cs typeface="+mn-cs"/>
                        </a:rPr>
                        <a:t>1.4</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rgbClr val="407D98"/>
                          </a:solidFill>
                          <a:effectLst/>
                          <a:latin typeface="Roboto Condensed" panose="02000000000000000000" pitchFamily="2" charset="0"/>
                          <a:ea typeface="Roboto Condensed" panose="02000000000000000000" pitchFamily="2" charset="0"/>
                          <a:cs typeface="+mn-cs"/>
                        </a:rPr>
                        <a:t>6.1</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rgbClr val="407D98"/>
                          </a:solidFill>
                          <a:effectLst/>
                          <a:latin typeface="Roboto Condensed" panose="02000000000000000000" pitchFamily="2" charset="0"/>
                          <a:ea typeface="Roboto Condensed" panose="02000000000000000000" pitchFamily="2" charset="0"/>
                          <a:cs typeface="+mn-cs"/>
                        </a:rPr>
                        <a:t>9.6</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rgbClr val="407D98"/>
                          </a:solidFill>
                          <a:effectLst/>
                          <a:latin typeface="Roboto Condensed" panose="02000000000000000000" pitchFamily="2" charset="0"/>
                          <a:ea typeface="Roboto Condensed" panose="02000000000000000000" pitchFamily="2" charset="0"/>
                          <a:cs typeface="+mn-cs"/>
                        </a:rPr>
                        <a:t>8.9</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rgbClr val="407D98"/>
                          </a:solidFill>
                          <a:effectLst/>
                          <a:latin typeface="Roboto Condensed" panose="02000000000000000000" pitchFamily="2" charset="0"/>
                          <a:ea typeface="Roboto Condensed" panose="02000000000000000000" pitchFamily="2" charset="0"/>
                          <a:cs typeface="+mn-cs"/>
                        </a:rPr>
                        <a:t>10.0</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rgbClr val="407D98"/>
                          </a:solidFill>
                          <a:effectLst/>
                          <a:latin typeface="Roboto Condensed" panose="02000000000000000000" pitchFamily="2" charset="0"/>
                          <a:ea typeface="Roboto Condensed" panose="02000000000000000000" pitchFamily="2" charset="0"/>
                          <a:cs typeface="+mn-cs"/>
                        </a:rPr>
                        <a:t>2.1</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rgbClr val="407D98"/>
                          </a:solidFill>
                          <a:effectLst/>
                          <a:latin typeface="Roboto Condensed" panose="02000000000000000000" pitchFamily="2" charset="0"/>
                          <a:ea typeface="Roboto Condensed" panose="02000000000000000000" pitchFamily="2" charset="0"/>
                          <a:cs typeface="+mn-cs"/>
                        </a:rPr>
                        <a:t>8.2</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716270"/>
                  </a:ext>
                </a:extLst>
              </a:tr>
            </a:tbl>
          </a:graphicData>
        </a:graphic>
      </p:graphicFrame>
    </p:spTree>
    <p:extLst>
      <p:ext uri="{BB962C8B-B14F-4D97-AF65-F5344CB8AC3E}">
        <p14:creationId xmlns:p14="http://schemas.microsoft.com/office/powerpoint/2010/main" val="258052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solidFill>
                  <a:srgbClr val="407D98"/>
                </a:solidFill>
              </a:rPr>
              <a:t>Geopolitics: </a:t>
            </a:r>
            <a:r>
              <a:rPr lang="en-US" dirty="0"/>
              <a:t>geopolitical risks are likely to become more important, but hard to predict</a:t>
            </a:r>
          </a:p>
        </p:txBody>
      </p:sp>
      <p:sp>
        <p:nvSpPr>
          <p:cNvPr id="9" name="Content Placeholder 8">
            <a:extLst>
              <a:ext uri="{FF2B5EF4-FFF2-40B4-BE49-F238E27FC236}">
                <a16:creationId xmlns:a16="http://schemas.microsoft.com/office/drawing/2014/main" id="{1F4F9C72-C2A2-E8A7-93A9-6825D241C970}"/>
              </a:ext>
            </a:extLst>
          </p:cNvPr>
          <p:cNvSpPr>
            <a:spLocks noGrp="1"/>
          </p:cNvSpPr>
          <p:nvPr>
            <p:ph idx="1"/>
          </p:nvPr>
        </p:nvSpPr>
        <p:spPr>
          <a:xfrm>
            <a:off x="628650" y="2561563"/>
            <a:ext cx="5103935" cy="3612226"/>
          </a:xfrm>
        </p:spPr>
        <p:txBody>
          <a:bodyPr/>
          <a:lstStyle/>
          <a:p>
            <a:pPr lvl="1"/>
            <a:r>
              <a:rPr lang="en-US" dirty="0"/>
              <a:t>In addition to New World Order risk, which makes its dependence on exports a vulnerability, China is also dependent on the rest of the world for food and energy. The opposite is true of Brazil</a:t>
            </a:r>
          </a:p>
        </p:txBody>
      </p:sp>
      <p:sp>
        <p:nvSpPr>
          <p:cNvPr id="10" name="Text Placeholder 9">
            <a:extLst>
              <a:ext uri="{FF2B5EF4-FFF2-40B4-BE49-F238E27FC236}">
                <a16:creationId xmlns:a16="http://schemas.microsoft.com/office/drawing/2014/main" id="{F3AB46D4-380C-AE2E-6AC4-E840EEF140D7}"/>
              </a:ext>
            </a:extLst>
          </p:cNvPr>
          <p:cNvSpPr>
            <a:spLocks noGrp="1"/>
          </p:cNvSpPr>
          <p:nvPr>
            <p:ph type="body" sz="quarter" idx="13"/>
          </p:nvPr>
        </p:nvSpPr>
        <p:spPr/>
        <p:txBody>
          <a:bodyPr/>
          <a:lstStyle/>
          <a:p>
            <a:endParaRPr lang="en-US"/>
          </a:p>
        </p:txBody>
      </p:sp>
      <p:graphicFrame>
        <p:nvGraphicFramePr>
          <p:cNvPr id="4" name="Table 3">
            <a:extLst>
              <a:ext uri="{FF2B5EF4-FFF2-40B4-BE49-F238E27FC236}">
                <a16:creationId xmlns:a16="http://schemas.microsoft.com/office/drawing/2014/main" id="{FD4FE9BC-4197-5721-7D60-ACA84C48C3EB}"/>
              </a:ext>
            </a:extLst>
          </p:cNvPr>
          <p:cNvGraphicFramePr>
            <a:graphicFrameLocks noGrp="1"/>
          </p:cNvGraphicFramePr>
          <p:nvPr>
            <p:extLst>
              <p:ext uri="{D42A27DB-BD31-4B8C-83A1-F6EECF244321}">
                <p14:modId xmlns:p14="http://schemas.microsoft.com/office/powerpoint/2010/main" val="763476320"/>
              </p:ext>
            </p:extLst>
          </p:nvPr>
        </p:nvGraphicFramePr>
        <p:xfrm>
          <a:off x="6415184" y="2561563"/>
          <a:ext cx="6126480" cy="3108960"/>
        </p:xfrm>
        <a:graphic>
          <a:graphicData uri="http://schemas.openxmlformats.org/drawingml/2006/table">
            <a:tbl>
              <a:tblPr>
                <a:tableStyleId>{5C22544A-7EE6-4342-B048-85BDC9FD1C3A}</a:tableStyleId>
              </a:tblPr>
              <a:tblGrid>
                <a:gridCol w="3017520">
                  <a:extLst>
                    <a:ext uri="{9D8B030D-6E8A-4147-A177-3AD203B41FA5}">
                      <a16:colId xmlns:a16="http://schemas.microsoft.com/office/drawing/2014/main" val="1898463280"/>
                    </a:ext>
                  </a:extLst>
                </a:gridCol>
                <a:gridCol w="1554480">
                  <a:extLst>
                    <a:ext uri="{9D8B030D-6E8A-4147-A177-3AD203B41FA5}">
                      <a16:colId xmlns:a16="http://schemas.microsoft.com/office/drawing/2014/main" val="2417231881"/>
                    </a:ext>
                  </a:extLst>
                </a:gridCol>
                <a:gridCol w="1554480">
                  <a:extLst>
                    <a:ext uri="{9D8B030D-6E8A-4147-A177-3AD203B41FA5}">
                      <a16:colId xmlns:a16="http://schemas.microsoft.com/office/drawing/2014/main" val="4088223132"/>
                    </a:ext>
                  </a:extLst>
                </a:gridCol>
              </a:tblGrid>
              <a:tr h="365760">
                <a:tc>
                  <a:txBody>
                    <a:bodyPr/>
                    <a:lstStyle/>
                    <a:p>
                      <a:pPr algn="ctr" fontAlgn="ctr"/>
                      <a:endParaRPr lang="en-US" sz="1600" b="1" i="1" u="none" strike="noStrike">
                        <a:solidFill>
                          <a:schemeClr val="bg1"/>
                        </a:solidFill>
                        <a:effectLst/>
                        <a:latin typeface="Georgia" panose="02040502050405020303" pitchFamily="18" charset="0"/>
                      </a:endParaRP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ctr" fontAlgn="ctr"/>
                      <a:r>
                        <a:rPr lang="en-US" sz="1800" b="1" i="1" u="none" strike="noStrike" dirty="0">
                          <a:solidFill>
                            <a:schemeClr val="bg1"/>
                          </a:solidFill>
                          <a:effectLst/>
                          <a:latin typeface="Georgia" panose="02040502050405020303" pitchFamily="18" charset="0"/>
                        </a:rPr>
                        <a:t>Brazil</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ctr" fontAlgn="ctr"/>
                      <a:r>
                        <a:rPr lang="en-US" sz="1800" b="1" i="1" u="none" strike="noStrike" dirty="0">
                          <a:solidFill>
                            <a:schemeClr val="bg1"/>
                          </a:solidFill>
                          <a:effectLst/>
                          <a:latin typeface="Georgia" panose="02040502050405020303" pitchFamily="18" charset="0"/>
                        </a:rPr>
                        <a:t>China</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extLst>
                  <a:ext uri="{0D108BD9-81ED-4DB2-BD59-A6C34878D82A}">
                    <a16:rowId xmlns:a16="http://schemas.microsoft.com/office/drawing/2014/main" val="4227546343"/>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New World Order Risk</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0.8</a:t>
                      </a:r>
                    </a:p>
                  </a:txBody>
                  <a:tcPr marL="0" marR="54864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0.0</a:t>
                      </a:r>
                    </a:p>
                  </a:txBody>
                  <a:tcPr marL="0" marR="54864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6940382"/>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Net Food Exports</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a:solidFill>
                            <a:schemeClr val="dk1"/>
                          </a:solidFill>
                          <a:effectLst/>
                          <a:latin typeface="Roboto Condensed" panose="02000000000000000000" pitchFamily="2" charset="0"/>
                          <a:ea typeface="Roboto Condensed" panose="02000000000000000000" pitchFamily="2" charset="0"/>
                          <a:cs typeface="+mn-cs"/>
                        </a:rPr>
                        <a:t>32.6</a:t>
                      </a:r>
                    </a:p>
                  </a:txBody>
                  <a:tcPr marL="0" marR="54864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-5.6</a:t>
                      </a:r>
                    </a:p>
                  </a:txBody>
                  <a:tcPr marL="0" marR="54864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691729"/>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Net Energy Exports</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a:solidFill>
                            <a:schemeClr val="dk1"/>
                          </a:solidFill>
                          <a:effectLst/>
                          <a:latin typeface="Roboto Condensed" panose="02000000000000000000" pitchFamily="2" charset="0"/>
                          <a:ea typeface="Roboto Condensed" panose="02000000000000000000" pitchFamily="2" charset="0"/>
                          <a:cs typeface="+mn-cs"/>
                        </a:rPr>
                        <a:t>1.8</a:t>
                      </a:r>
                    </a:p>
                  </a:txBody>
                  <a:tcPr marL="0" marR="54864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-12.6</a:t>
                      </a:r>
                    </a:p>
                  </a:txBody>
                  <a:tcPr marL="0" marR="54864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307822"/>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 of Global Trade</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1.3</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14.8</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1049383"/>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Trade Growth Past 3 Years (%)</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0.2</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4.2</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4740945"/>
                  </a:ext>
                </a:extLst>
              </a:tr>
              <a:tr h="457200">
                <a:tc>
                  <a:txBody>
                    <a:bodyPr/>
                    <a:lstStyle/>
                    <a:p>
                      <a:pPr algn="l" fontAlgn="b"/>
                      <a:r>
                        <a:rPr lang="en-US" sz="2000" b="1" u="none" strike="noStrike" dirty="0">
                          <a:solidFill>
                            <a:srgbClr val="407D98"/>
                          </a:solidFill>
                          <a:effectLst/>
                          <a:latin typeface="Roboto Condensed" panose="02000000000000000000" pitchFamily="2" charset="0"/>
                          <a:ea typeface="Roboto Condensed" panose="02000000000000000000" pitchFamily="2" charset="0"/>
                        </a:rPr>
                        <a:t>Geopolitical Risk</a:t>
                      </a:r>
                      <a:endParaRPr lang="en-US" sz="2000" b="1" i="0" u="none" strike="noStrike" dirty="0">
                        <a:solidFill>
                          <a:srgbClr val="407D98"/>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2000" b="1" u="none" strike="noStrike" kern="1200" dirty="0">
                          <a:solidFill>
                            <a:srgbClr val="407D98"/>
                          </a:solidFill>
                          <a:effectLst/>
                          <a:latin typeface="Roboto Condensed" panose="02000000000000000000" pitchFamily="2" charset="0"/>
                          <a:ea typeface="Roboto Condensed" panose="02000000000000000000" pitchFamily="2" charset="0"/>
                          <a:cs typeface="+mn-cs"/>
                        </a:rPr>
                        <a:t>9.3</a:t>
                      </a:r>
                    </a:p>
                  </a:txBody>
                  <a:tcPr marL="8610" marR="54864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2000" b="1" u="none" strike="noStrike" kern="1200" dirty="0">
                          <a:solidFill>
                            <a:srgbClr val="407D98"/>
                          </a:solidFill>
                          <a:effectLst/>
                          <a:latin typeface="Roboto Condensed" panose="02000000000000000000" pitchFamily="2" charset="0"/>
                          <a:ea typeface="Roboto Condensed" panose="02000000000000000000" pitchFamily="2" charset="0"/>
                          <a:cs typeface="+mn-cs"/>
                        </a:rPr>
                        <a:t>1.4</a:t>
                      </a:r>
                    </a:p>
                  </a:txBody>
                  <a:tcPr marL="8610" marR="54864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716270"/>
                  </a:ext>
                </a:extLst>
              </a:tr>
            </a:tbl>
          </a:graphicData>
        </a:graphic>
      </p:graphicFrame>
    </p:spTree>
    <p:extLst>
      <p:ext uri="{BB962C8B-B14F-4D97-AF65-F5344CB8AC3E}">
        <p14:creationId xmlns:p14="http://schemas.microsoft.com/office/powerpoint/2010/main" val="508263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A07345E-6C97-9E0A-FD2F-3B131444C2F7}"/>
              </a:ext>
            </a:extLst>
          </p:cNvPr>
          <p:cNvSpPr>
            <a:spLocks noGrp="1"/>
          </p:cNvSpPr>
          <p:nvPr>
            <p:ph type="body" sz="quarter" idx="13"/>
          </p:nvPr>
        </p:nvSpPr>
        <p:spPr/>
        <p:txBody>
          <a:bodyPr/>
          <a:lstStyle/>
          <a:p>
            <a:endParaRPr lang="en-US"/>
          </a:p>
        </p:txBody>
      </p:sp>
      <p:sp>
        <p:nvSpPr>
          <p:cNvPr id="5" name="Title 4">
            <a:extLst>
              <a:ext uri="{FF2B5EF4-FFF2-40B4-BE49-F238E27FC236}">
                <a16:creationId xmlns:a16="http://schemas.microsoft.com/office/drawing/2014/main" id="{545D17D4-3356-D634-51BC-7FACB4613A0D}"/>
              </a:ext>
            </a:extLst>
          </p:cNvPr>
          <p:cNvSpPr>
            <a:spLocks noGrp="1"/>
          </p:cNvSpPr>
          <p:nvPr>
            <p:ph type="title"/>
          </p:nvPr>
        </p:nvSpPr>
        <p:spPr/>
        <p:txBody>
          <a:bodyPr/>
          <a:lstStyle/>
          <a:p>
            <a:r>
              <a:rPr lang="en-US" dirty="0"/>
              <a:t>How should these factors be weighted? An art, not a science </a:t>
            </a:r>
          </a:p>
        </p:txBody>
      </p:sp>
      <p:grpSp>
        <p:nvGrpSpPr>
          <p:cNvPr id="18" name="Group 17">
            <a:extLst>
              <a:ext uri="{FF2B5EF4-FFF2-40B4-BE49-F238E27FC236}">
                <a16:creationId xmlns:a16="http://schemas.microsoft.com/office/drawing/2014/main" id="{F4657144-A2C1-0E45-D684-C4ECF622BECC}"/>
              </a:ext>
            </a:extLst>
          </p:cNvPr>
          <p:cNvGrpSpPr/>
          <p:nvPr/>
        </p:nvGrpSpPr>
        <p:grpSpPr>
          <a:xfrm>
            <a:off x="1456406" y="2269360"/>
            <a:ext cx="4556886" cy="546310"/>
            <a:chOff x="1418621" y="2509927"/>
            <a:chExt cx="4556886" cy="546310"/>
          </a:xfrm>
        </p:grpSpPr>
        <p:sp>
          <p:nvSpPr>
            <p:cNvPr id="7" name="Rectangle: Rounded Corners 6">
              <a:extLst>
                <a:ext uri="{FF2B5EF4-FFF2-40B4-BE49-F238E27FC236}">
                  <a16:creationId xmlns:a16="http://schemas.microsoft.com/office/drawing/2014/main" id="{ACBD1BA9-2E75-4AB0-6816-90488575853F}"/>
                </a:ext>
              </a:extLst>
            </p:cNvPr>
            <p:cNvSpPr/>
            <p:nvPr/>
          </p:nvSpPr>
          <p:spPr>
            <a:xfrm>
              <a:off x="1418621" y="2509927"/>
              <a:ext cx="4556886" cy="54631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Roboto Black" pitchFamily="2" charset="0"/>
                  <a:ea typeface="Roboto Black" pitchFamily="2" charset="0"/>
                </a:rPr>
                <a:t>Demographics = 15%</a:t>
              </a:r>
            </a:p>
          </p:txBody>
        </p:sp>
        <p:sp>
          <p:nvSpPr>
            <p:cNvPr id="11" name="Arrow: Right 10">
              <a:extLst>
                <a:ext uri="{FF2B5EF4-FFF2-40B4-BE49-F238E27FC236}">
                  <a16:creationId xmlns:a16="http://schemas.microsoft.com/office/drawing/2014/main" id="{C2858A4D-BC56-F241-04C7-A0E7D3272B1B}"/>
                </a:ext>
              </a:extLst>
            </p:cNvPr>
            <p:cNvSpPr/>
            <p:nvPr/>
          </p:nvSpPr>
          <p:spPr>
            <a:xfrm>
              <a:off x="1418621" y="2509927"/>
              <a:ext cx="402622" cy="54631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EBFC2264-703A-DEF9-0E89-F583BB68F2E4}"/>
              </a:ext>
            </a:extLst>
          </p:cNvPr>
          <p:cNvGrpSpPr/>
          <p:nvPr/>
        </p:nvGrpSpPr>
        <p:grpSpPr>
          <a:xfrm>
            <a:off x="1456406" y="3378489"/>
            <a:ext cx="4556886" cy="546310"/>
            <a:chOff x="1418621" y="3470928"/>
            <a:chExt cx="4556886" cy="546310"/>
          </a:xfrm>
        </p:grpSpPr>
        <p:sp>
          <p:nvSpPr>
            <p:cNvPr id="12" name="Rectangle: Rounded Corners 11">
              <a:extLst>
                <a:ext uri="{FF2B5EF4-FFF2-40B4-BE49-F238E27FC236}">
                  <a16:creationId xmlns:a16="http://schemas.microsoft.com/office/drawing/2014/main" id="{7B537D88-6C13-797B-A060-CA094155501C}"/>
                </a:ext>
              </a:extLst>
            </p:cNvPr>
            <p:cNvSpPr/>
            <p:nvPr/>
          </p:nvSpPr>
          <p:spPr>
            <a:xfrm>
              <a:off x="1418621" y="3470928"/>
              <a:ext cx="4556886" cy="54631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boto Black" pitchFamily="2" charset="0"/>
                  <a:ea typeface="Roboto Black" pitchFamily="2" charset="0"/>
                </a:rPr>
                <a:t>Predicted Growth = 20%</a:t>
              </a:r>
            </a:p>
          </p:txBody>
        </p:sp>
        <p:sp>
          <p:nvSpPr>
            <p:cNvPr id="13" name="Arrow: Right 12">
              <a:extLst>
                <a:ext uri="{FF2B5EF4-FFF2-40B4-BE49-F238E27FC236}">
                  <a16:creationId xmlns:a16="http://schemas.microsoft.com/office/drawing/2014/main" id="{CB9AF8E1-E079-9B4C-BEF7-A6B1A33410B9}"/>
                </a:ext>
              </a:extLst>
            </p:cNvPr>
            <p:cNvSpPr/>
            <p:nvPr/>
          </p:nvSpPr>
          <p:spPr>
            <a:xfrm>
              <a:off x="1418621" y="3470928"/>
              <a:ext cx="402622" cy="54631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F42DE67D-5771-23FC-C8AD-8812164BA603}"/>
              </a:ext>
            </a:extLst>
          </p:cNvPr>
          <p:cNvGrpSpPr/>
          <p:nvPr/>
        </p:nvGrpSpPr>
        <p:grpSpPr>
          <a:xfrm>
            <a:off x="1456406" y="4487618"/>
            <a:ext cx="4556886" cy="546310"/>
            <a:chOff x="1418621" y="4672496"/>
            <a:chExt cx="4556886" cy="546310"/>
          </a:xfrm>
        </p:grpSpPr>
        <p:sp>
          <p:nvSpPr>
            <p:cNvPr id="14" name="Rectangle: Rounded Corners 13">
              <a:extLst>
                <a:ext uri="{FF2B5EF4-FFF2-40B4-BE49-F238E27FC236}">
                  <a16:creationId xmlns:a16="http://schemas.microsoft.com/office/drawing/2014/main" id="{59427E93-3BFF-2B6E-6989-A9C22D3AC2E4}"/>
                </a:ext>
              </a:extLst>
            </p:cNvPr>
            <p:cNvSpPr/>
            <p:nvPr/>
          </p:nvSpPr>
          <p:spPr>
            <a:xfrm>
              <a:off x="1418621" y="4672496"/>
              <a:ext cx="4556886" cy="54631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boto Black" pitchFamily="2" charset="0"/>
                  <a:ea typeface="Roboto Black" pitchFamily="2" charset="0"/>
                </a:rPr>
                <a:t>Macroeconomic Risk = 15%</a:t>
              </a:r>
            </a:p>
          </p:txBody>
        </p:sp>
        <p:sp>
          <p:nvSpPr>
            <p:cNvPr id="15" name="Arrow: Right 14">
              <a:extLst>
                <a:ext uri="{FF2B5EF4-FFF2-40B4-BE49-F238E27FC236}">
                  <a16:creationId xmlns:a16="http://schemas.microsoft.com/office/drawing/2014/main" id="{960A5F1E-E880-641D-266C-FA9F09181755}"/>
                </a:ext>
              </a:extLst>
            </p:cNvPr>
            <p:cNvSpPr/>
            <p:nvPr/>
          </p:nvSpPr>
          <p:spPr>
            <a:xfrm>
              <a:off x="1418621" y="4672496"/>
              <a:ext cx="402622" cy="54631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1" name="Group 20">
            <a:extLst>
              <a:ext uri="{FF2B5EF4-FFF2-40B4-BE49-F238E27FC236}">
                <a16:creationId xmlns:a16="http://schemas.microsoft.com/office/drawing/2014/main" id="{FA851941-9EFB-BA48-A7B5-07FA992174E4}"/>
              </a:ext>
            </a:extLst>
          </p:cNvPr>
          <p:cNvGrpSpPr/>
          <p:nvPr/>
        </p:nvGrpSpPr>
        <p:grpSpPr>
          <a:xfrm>
            <a:off x="1456406" y="5596747"/>
            <a:ext cx="4556886" cy="546310"/>
            <a:chOff x="1418621" y="5860945"/>
            <a:chExt cx="4556886" cy="546310"/>
          </a:xfrm>
        </p:grpSpPr>
        <p:sp>
          <p:nvSpPr>
            <p:cNvPr id="16" name="Rectangle: Rounded Corners 15">
              <a:extLst>
                <a:ext uri="{FF2B5EF4-FFF2-40B4-BE49-F238E27FC236}">
                  <a16:creationId xmlns:a16="http://schemas.microsoft.com/office/drawing/2014/main" id="{BA17248C-C999-533B-E6C1-D79A87BA37C7}"/>
                </a:ext>
              </a:extLst>
            </p:cNvPr>
            <p:cNvSpPr/>
            <p:nvPr/>
          </p:nvSpPr>
          <p:spPr>
            <a:xfrm>
              <a:off x="1418621" y="5860945"/>
              <a:ext cx="4556886" cy="54631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boto Black" pitchFamily="2" charset="0"/>
                  <a:ea typeface="Roboto Black" pitchFamily="2" charset="0"/>
                </a:rPr>
                <a:t>Climate Risk = 15%</a:t>
              </a:r>
            </a:p>
          </p:txBody>
        </p:sp>
        <p:sp>
          <p:nvSpPr>
            <p:cNvPr id="17" name="Arrow: Right 16">
              <a:extLst>
                <a:ext uri="{FF2B5EF4-FFF2-40B4-BE49-F238E27FC236}">
                  <a16:creationId xmlns:a16="http://schemas.microsoft.com/office/drawing/2014/main" id="{712AFC0C-23E2-234B-2287-F8986F2FAC64}"/>
                </a:ext>
              </a:extLst>
            </p:cNvPr>
            <p:cNvSpPr/>
            <p:nvPr/>
          </p:nvSpPr>
          <p:spPr>
            <a:xfrm>
              <a:off x="1418621" y="5860945"/>
              <a:ext cx="402622" cy="54631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7D1BBFC7-1401-6322-DA94-551471C8CE27}"/>
              </a:ext>
            </a:extLst>
          </p:cNvPr>
          <p:cNvGrpSpPr/>
          <p:nvPr/>
        </p:nvGrpSpPr>
        <p:grpSpPr>
          <a:xfrm>
            <a:off x="7714882" y="2269360"/>
            <a:ext cx="4556886" cy="546310"/>
            <a:chOff x="1418621" y="2509927"/>
            <a:chExt cx="4556886" cy="546310"/>
          </a:xfrm>
        </p:grpSpPr>
        <p:sp>
          <p:nvSpPr>
            <p:cNvPr id="23" name="Rectangle: Rounded Corners 22">
              <a:extLst>
                <a:ext uri="{FF2B5EF4-FFF2-40B4-BE49-F238E27FC236}">
                  <a16:creationId xmlns:a16="http://schemas.microsoft.com/office/drawing/2014/main" id="{C3F9BAAE-17B8-BDF4-5386-1C45000DE499}"/>
                </a:ext>
              </a:extLst>
            </p:cNvPr>
            <p:cNvSpPr/>
            <p:nvPr/>
          </p:nvSpPr>
          <p:spPr>
            <a:xfrm>
              <a:off x="1418621" y="2509927"/>
              <a:ext cx="4556886" cy="546310"/>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Roboto Black" pitchFamily="2" charset="0"/>
                  <a:ea typeface="Roboto Black" pitchFamily="2" charset="0"/>
                </a:rPr>
                <a:t>Geopolitical Risk = 10%</a:t>
              </a:r>
            </a:p>
          </p:txBody>
        </p:sp>
        <p:sp>
          <p:nvSpPr>
            <p:cNvPr id="24" name="Arrow: Right 23">
              <a:extLst>
                <a:ext uri="{FF2B5EF4-FFF2-40B4-BE49-F238E27FC236}">
                  <a16:creationId xmlns:a16="http://schemas.microsoft.com/office/drawing/2014/main" id="{6F3F1980-3F31-3919-7C57-70E2B79DCE1A}"/>
                </a:ext>
              </a:extLst>
            </p:cNvPr>
            <p:cNvSpPr/>
            <p:nvPr/>
          </p:nvSpPr>
          <p:spPr>
            <a:xfrm>
              <a:off x="1418621" y="2509927"/>
              <a:ext cx="402622" cy="54631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 name="Group 24">
            <a:extLst>
              <a:ext uri="{FF2B5EF4-FFF2-40B4-BE49-F238E27FC236}">
                <a16:creationId xmlns:a16="http://schemas.microsoft.com/office/drawing/2014/main" id="{B57F3B58-B1FD-3DBD-6799-5928EF2E282B}"/>
              </a:ext>
            </a:extLst>
          </p:cNvPr>
          <p:cNvGrpSpPr/>
          <p:nvPr/>
        </p:nvGrpSpPr>
        <p:grpSpPr>
          <a:xfrm>
            <a:off x="7714882" y="3378489"/>
            <a:ext cx="4556886" cy="546310"/>
            <a:chOff x="1418621" y="3470928"/>
            <a:chExt cx="4556886" cy="546310"/>
          </a:xfrm>
        </p:grpSpPr>
        <p:sp>
          <p:nvSpPr>
            <p:cNvPr id="26" name="Rectangle: Rounded Corners 25">
              <a:extLst>
                <a:ext uri="{FF2B5EF4-FFF2-40B4-BE49-F238E27FC236}">
                  <a16:creationId xmlns:a16="http://schemas.microsoft.com/office/drawing/2014/main" id="{2FB207A6-4DE3-555A-5C4A-A4EF7026BAEE}"/>
                </a:ext>
              </a:extLst>
            </p:cNvPr>
            <p:cNvSpPr/>
            <p:nvPr/>
          </p:nvSpPr>
          <p:spPr>
            <a:xfrm>
              <a:off x="1418621" y="3470928"/>
              <a:ext cx="4556886" cy="54631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boto Black" pitchFamily="2" charset="0"/>
                  <a:ea typeface="Roboto Black" pitchFamily="2" charset="0"/>
                </a:rPr>
                <a:t>Domestic Policy Risk = 15%</a:t>
              </a:r>
            </a:p>
          </p:txBody>
        </p:sp>
        <p:sp>
          <p:nvSpPr>
            <p:cNvPr id="27" name="Arrow: Right 26">
              <a:extLst>
                <a:ext uri="{FF2B5EF4-FFF2-40B4-BE49-F238E27FC236}">
                  <a16:creationId xmlns:a16="http://schemas.microsoft.com/office/drawing/2014/main" id="{E225B2C4-25F0-B873-A7B2-70750692F4E8}"/>
                </a:ext>
              </a:extLst>
            </p:cNvPr>
            <p:cNvSpPr/>
            <p:nvPr/>
          </p:nvSpPr>
          <p:spPr>
            <a:xfrm>
              <a:off x="1418621" y="3470928"/>
              <a:ext cx="402622" cy="54631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27">
            <a:extLst>
              <a:ext uri="{FF2B5EF4-FFF2-40B4-BE49-F238E27FC236}">
                <a16:creationId xmlns:a16="http://schemas.microsoft.com/office/drawing/2014/main" id="{0A0A23FC-8F7F-BD5E-D0B1-0D52B0DC0630}"/>
              </a:ext>
            </a:extLst>
          </p:cNvPr>
          <p:cNvGrpSpPr/>
          <p:nvPr/>
        </p:nvGrpSpPr>
        <p:grpSpPr>
          <a:xfrm>
            <a:off x="7714882" y="4487618"/>
            <a:ext cx="4556886" cy="546310"/>
            <a:chOff x="1418621" y="4672496"/>
            <a:chExt cx="4556886" cy="546310"/>
          </a:xfrm>
        </p:grpSpPr>
        <p:sp>
          <p:nvSpPr>
            <p:cNvPr id="29" name="Rectangle: Rounded Corners 28">
              <a:extLst>
                <a:ext uri="{FF2B5EF4-FFF2-40B4-BE49-F238E27FC236}">
                  <a16:creationId xmlns:a16="http://schemas.microsoft.com/office/drawing/2014/main" id="{D7E69C34-8DCA-1270-07C2-DCD3AF9275A3}"/>
                </a:ext>
              </a:extLst>
            </p:cNvPr>
            <p:cNvSpPr/>
            <p:nvPr/>
          </p:nvSpPr>
          <p:spPr>
            <a:xfrm>
              <a:off x="1418621" y="4672496"/>
              <a:ext cx="4556886" cy="54631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boto Black" pitchFamily="2" charset="0"/>
                  <a:ea typeface="Roboto Black" pitchFamily="2" charset="0"/>
                </a:rPr>
                <a:t>Diversification = 10%</a:t>
              </a:r>
            </a:p>
          </p:txBody>
        </p:sp>
        <p:sp>
          <p:nvSpPr>
            <p:cNvPr id="30" name="Arrow: Right 29">
              <a:extLst>
                <a:ext uri="{FF2B5EF4-FFF2-40B4-BE49-F238E27FC236}">
                  <a16:creationId xmlns:a16="http://schemas.microsoft.com/office/drawing/2014/main" id="{C0F6BD39-9977-0365-36DF-EF5AE1C9ED9A}"/>
                </a:ext>
              </a:extLst>
            </p:cNvPr>
            <p:cNvSpPr/>
            <p:nvPr/>
          </p:nvSpPr>
          <p:spPr>
            <a:xfrm>
              <a:off x="1418621" y="4672496"/>
              <a:ext cx="402622" cy="54631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extBox 1">
            <a:extLst>
              <a:ext uri="{FF2B5EF4-FFF2-40B4-BE49-F238E27FC236}">
                <a16:creationId xmlns:a16="http://schemas.microsoft.com/office/drawing/2014/main" id="{A869E1CA-B53D-99D3-280D-E33FAFB663AC}"/>
              </a:ext>
            </a:extLst>
          </p:cNvPr>
          <p:cNvSpPr txBox="1"/>
          <p:nvPr/>
        </p:nvSpPr>
        <p:spPr>
          <a:xfrm>
            <a:off x="8894618" y="5637690"/>
            <a:ext cx="2258952" cy="461665"/>
          </a:xfrm>
          <a:prstGeom prst="rect">
            <a:avLst/>
          </a:prstGeom>
          <a:noFill/>
        </p:spPr>
        <p:txBody>
          <a:bodyPr wrap="none" rtlCol="0">
            <a:spAutoFit/>
          </a:bodyPr>
          <a:lstStyle/>
          <a:p>
            <a:r>
              <a:rPr lang="en-US" sz="2400" b="1" i="1" dirty="0">
                <a:solidFill>
                  <a:schemeClr val="accent1"/>
                </a:solidFill>
                <a:latin typeface="Georgia" panose="02040502050405020303" pitchFamily="18" charset="0"/>
              </a:rPr>
              <a:t>Total = 100%</a:t>
            </a:r>
          </a:p>
        </p:txBody>
      </p:sp>
      <p:cxnSp>
        <p:nvCxnSpPr>
          <p:cNvPr id="4" name="Straight Connector 3">
            <a:extLst>
              <a:ext uri="{FF2B5EF4-FFF2-40B4-BE49-F238E27FC236}">
                <a16:creationId xmlns:a16="http://schemas.microsoft.com/office/drawing/2014/main" id="{D60D3FF6-2E8D-FD90-3CE3-3A446B81A391}"/>
              </a:ext>
            </a:extLst>
          </p:cNvPr>
          <p:cNvCxnSpPr/>
          <p:nvPr/>
        </p:nvCxnSpPr>
        <p:spPr>
          <a:xfrm>
            <a:off x="7481455" y="5425944"/>
            <a:ext cx="5100991"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937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2E27365D-8E52-AF8D-696B-477AC43A97D8}"/>
              </a:ext>
            </a:extLst>
          </p:cNvPr>
          <p:cNvSpPr>
            <a:spLocks noGrp="1"/>
          </p:cNvSpPr>
          <p:nvPr>
            <p:ph type="body" sz="quarter" idx="13"/>
          </p:nvPr>
        </p:nvSpPr>
        <p:spPr/>
        <p:txBody>
          <a:bodyPr/>
          <a:lstStyle/>
          <a:p>
            <a:endParaRPr lang="en-US" dirty="0"/>
          </a:p>
        </p:txBody>
      </p:sp>
      <p:sp>
        <p:nvSpPr>
          <p:cNvPr id="4" name="Title 3">
            <a:extLst>
              <a:ext uri="{FF2B5EF4-FFF2-40B4-BE49-F238E27FC236}">
                <a16:creationId xmlns:a16="http://schemas.microsoft.com/office/drawing/2014/main" id="{FAB3DAB2-586F-45C2-3543-B3D696447BD3}"/>
              </a:ext>
            </a:extLst>
          </p:cNvPr>
          <p:cNvSpPr>
            <a:spLocks noGrp="1"/>
          </p:cNvSpPr>
          <p:nvPr>
            <p:ph type="title"/>
          </p:nvPr>
        </p:nvSpPr>
        <p:spPr/>
        <p:txBody>
          <a:bodyPr/>
          <a:lstStyle/>
          <a:p>
            <a:r>
              <a:rPr lang="en-US" dirty="0"/>
              <a:t>Top and Bottom countries on this metric</a:t>
            </a:r>
          </a:p>
        </p:txBody>
      </p:sp>
      <p:cxnSp>
        <p:nvCxnSpPr>
          <p:cNvPr id="20" name="Straight Connector 19">
            <a:extLst>
              <a:ext uri="{FF2B5EF4-FFF2-40B4-BE49-F238E27FC236}">
                <a16:creationId xmlns:a16="http://schemas.microsoft.com/office/drawing/2014/main" id="{DA379063-44E2-4E4C-CC16-7A05666D2416}"/>
              </a:ext>
            </a:extLst>
          </p:cNvPr>
          <p:cNvCxnSpPr/>
          <p:nvPr/>
        </p:nvCxnSpPr>
        <p:spPr>
          <a:xfrm flipV="1">
            <a:off x="4127500" y="2410691"/>
            <a:ext cx="1230431" cy="377851"/>
          </a:xfrm>
          <a:prstGeom prst="line">
            <a:avLst/>
          </a:prstGeom>
          <a:ln w="635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6FFD545-9C7C-1406-8167-312D1172A4D1}"/>
              </a:ext>
            </a:extLst>
          </p:cNvPr>
          <p:cNvCxnSpPr/>
          <p:nvPr/>
        </p:nvCxnSpPr>
        <p:spPr>
          <a:xfrm flipV="1">
            <a:off x="8639225" y="5794034"/>
            <a:ext cx="1230431" cy="377851"/>
          </a:xfrm>
          <a:prstGeom prst="line">
            <a:avLst/>
          </a:prstGeom>
          <a:ln w="63500" cap="rnd">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2" name="Table 2">
            <a:extLst>
              <a:ext uri="{FF2B5EF4-FFF2-40B4-BE49-F238E27FC236}">
                <a16:creationId xmlns:a16="http://schemas.microsoft.com/office/drawing/2014/main" id="{89AF219E-CEC9-983E-2792-14C2DBF3426F}"/>
              </a:ext>
            </a:extLst>
          </p:cNvPr>
          <p:cNvGraphicFramePr>
            <a:graphicFrameLocks noGrp="1"/>
          </p:cNvGraphicFramePr>
          <p:nvPr>
            <p:extLst>
              <p:ext uri="{D42A27DB-BD31-4B8C-83A1-F6EECF244321}">
                <p14:modId xmlns:p14="http://schemas.microsoft.com/office/powerpoint/2010/main" val="438180828"/>
              </p:ext>
            </p:extLst>
          </p:nvPr>
        </p:nvGraphicFramePr>
        <p:xfrm>
          <a:off x="2976880" y="1615440"/>
          <a:ext cx="7863840" cy="51663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752389579"/>
                    </a:ext>
                  </a:extLst>
                </a:gridCol>
                <a:gridCol w="1188720">
                  <a:extLst>
                    <a:ext uri="{9D8B030D-6E8A-4147-A177-3AD203B41FA5}">
                      <a16:colId xmlns:a16="http://schemas.microsoft.com/office/drawing/2014/main" val="3628856395"/>
                    </a:ext>
                  </a:extLst>
                </a:gridCol>
                <a:gridCol w="914400">
                  <a:extLst>
                    <a:ext uri="{9D8B030D-6E8A-4147-A177-3AD203B41FA5}">
                      <a16:colId xmlns:a16="http://schemas.microsoft.com/office/drawing/2014/main" val="3163267321"/>
                    </a:ext>
                  </a:extLst>
                </a:gridCol>
                <a:gridCol w="2286000">
                  <a:extLst>
                    <a:ext uri="{9D8B030D-6E8A-4147-A177-3AD203B41FA5}">
                      <a16:colId xmlns:a16="http://schemas.microsoft.com/office/drawing/2014/main" val="3599939884"/>
                    </a:ext>
                  </a:extLst>
                </a:gridCol>
                <a:gridCol w="1188720">
                  <a:extLst>
                    <a:ext uri="{9D8B030D-6E8A-4147-A177-3AD203B41FA5}">
                      <a16:colId xmlns:a16="http://schemas.microsoft.com/office/drawing/2014/main" val="1016924150"/>
                    </a:ext>
                  </a:extLst>
                </a:gridCol>
              </a:tblGrid>
              <a:tr h="274320">
                <a:tc>
                  <a:txBody>
                    <a:bodyPr/>
                    <a:lstStyle/>
                    <a:p>
                      <a:r>
                        <a:rPr lang="en-US" sz="1800" b="1" i="1" dirty="0">
                          <a:solidFill>
                            <a:schemeClr val="accent1"/>
                          </a:solidFill>
                          <a:latin typeface="Georgia" panose="02040502050405020303" pitchFamily="18" charset="0"/>
                          <a:ea typeface="Roboto Condensed" panose="02000000000000000000" pitchFamily="2" charset="0"/>
                        </a:rPr>
                        <a:t>Final Score</a:t>
                      </a:r>
                    </a:p>
                  </a:txBody>
                  <a:tcP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3251930"/>
                  </a:ext>
                </a:extLst>
              </a:tr>
              <a:tr h="274320">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dirty="0">
                          <a:solidFill>
                            <a:schemeClr val="tx1"/>
                          </a:solidFill>
                          <a:latin typeface="Roboto Condensed" panose="02000000000000000000" pitchFamily="2" charset="0"/>
                          <a:ea typeface="Roboto Condensed" panose="02000000000000000000" pitchFamily="2" charset="0"/>
                        </a:rPr>
                        <a:t>Colombia</a:t>
                      </a:r>
                    </a:p>
                  </a:txBody>
                  <a:tcP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5.0</a:t>
                      </a:r>
                    </a:p>
                  </a:txBody>
                  <a:tcP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4266596"/>
                  </a:ext>
                </a:extLst>
              </a:tr>
              <a:tr h="274320">
                <a:tc>
                  <a:txBody>
                    <a:bodyPr/>
                    <a:lstStyle/>
                    <a:p>
                      <a:r>
                        <a:rPr lang="en-US" sz="1500" b="0" dirty="0">
                          <a:solidFill>
                            <a:schemeClr val="bg1"/>
                          </a:solidFill>
                          <a:latin typeface="Roboto Condensed" panose="02000000000000000000" pitchFamily="2" charset="0"/>
                          <a:ea typeface="Roboto Condensed" panose="02000000000000000000" pitchFamily="2" charset="0"/>
                        </a:rPr>
                        <a:t>Indonesia</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500" b="0" dirty="0">
                          <a:solidFill>
                            <a:schemeClr val="bg1"/>
                          </a:solidFill>
                          <a:latin typeface="Roboto Condensed" panose="02000000000000000000" pitchFamily="2" charset="0"/>
                          <a:ea typeface="Roboto Condensed" panose="02000000000000000000" pitchFamily="2" charset="0"/>
                        </a:rPr>
                        <a:t>10.0</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dirty="0">
                          <a:solidFill>
                            <a:schemeClr val="tx1"/>
                          </a:solidFill>
                          <a:latin typeface="Roboto Condensed" panose="02000000000000000000" pitchFamily="2" charset="0"/>
                          <a:ea typeface="Roboto Condensed" panose="02000000000000000000" pitchFamily="2" charset="0"/>
                        </a:rPr>
                        <a:t>Philippines</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4.6</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2250209"/>
                  </a:ext>
                </a:extLst>
              </a:tr>
              <a:tr h="274320">
                <a:tc>
                  <a:txBody>
                    <a:bodyPr/>
                    <a:lstStyle/>
                    <a:p>
                      <a:r>
                        <a:rPr lang="en-US" sz="1500" b="0" dirty="0">
                          <a:solidFill>
                            <a:schemeClr val="bg1"/>
                          </a:solidFill>
                          <a:latin typeface="Roboto Condensed" panose="02000000000000000000" pitchFamily="2" charset="0"/>
                          <a:ea typeface="Roboto Condensed" panose="02000000000000000000" pitchFamily="2" charset="0"/>
                        </a:rPr>
                        <a:t>Mexico</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500" b="0" dirty="0">
                          <a:solidFill>
                            <a:schemeClr val="bg1"/>
                          </a:solidFill>
                          <a:latin typeface="Roboto Condensed" panose="02000000000000000000" pitchFamily="2" charset="0"/>
                          <a:ea typeface="Roboto Condensed" panose="02000000000000000000" pitchFamily="2" charset="0"/>
                        </a:rPr>
                        <a:t>9.6</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dirty="0">
                          <a:solidFill>
                            <a:schemeClr val="tx1"/>
                          </a:solidFill>
                          <a:latin typeface="Roboto Condensed" panose="02000000000000000000" pitchFamily="2" charset="0"/>
                          <a:ea typeface="Roboto Condensed" panose="02000000000000000000" pitchFamily="2" charset="0"/>
                        </a:rPr>
                        <a:t>Saudi Arabia</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4.3</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9373687"/>
                  </a:ext>
                </a:extLst>
              </a:tr>
              <a:tr h="274320">
                <a:tc>
                  <a:txBody>
                    <a:bodyPr/>
                    <a:lstStyle/>
                    <a:p>
                      <a:r>
                        <a:rPr lang="en-US" sz="1500" b="0" dirty="0">
                          <a:solidFill>
                            <a:schemeClr val="bg1"/>
                          </a:solidFill>
                          <a:latin typeface="Roboto Condensed" panose="02000000000000000000" pitchFamily="2" charset="0"/>
                          <a:ea typeface="Roboto Condensed" panose="02000000000000000000" pitchFamily="2" charset="0"/>
                        </a:rPr>
                        <a:t>Vietnam</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500" b="0" dirty="0">
                          <a:solidFill>
                            <a:schemeClr val="bg1"/>
                          </a:solidFill>
                          <a:latin typeface="Roboto Condensed" panose="02000000000000000000" pitchFamily="2" charset="0"/>
                          <a:ea typeface="Roboto Condensed" panose="02000000000000000000" pitchFamily="2" charset="0"/>
                        </a:rPr>
                        <a:t>9.3</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dirty="0">
                          <a:solidFill>
                            <a:schemeClr val="tx1"/>
                          </a:solidFill>
                          <a:latin typeface="Roboto Condensed" panose="02000000000000000000" pitchFamily="2" charset="0"/>
                          <a:ea typeface="Roboto Condensed" panose="02000000000000000000" pitchFamily="2" charset="0"/>
                        </a:rPr>
                        <a:t>Egypt</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3.9</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8147717"/>
                  </a:ext>
                </a:extLst>
              </a:tr>
              <a:tr h="274320">
                <a:tc>
                  <a:txBody>
                    <a:bodyPr/>
                    <a:lstStyle/>
                    <a:p>
                      <a:r>
                        <a:rPr lang="en-US" sz="1500" b="0" dirty="0">
                          <a:solidFill>
                            <a:schemeClr val="tx1"/>
                          </a:solidFill>
                          <a:latin typeface="Roboto Condensed" panose="02000000000000000000" pitchFamily="2" charset="0"/>
                          <a:ea typeface="Roboto Condensed" panose="02000000000000000000" pitchFamily="2" charset="0"/>
                        </a:rPr>
                        <a:t>Czech Republic</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8.9</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dirty="0">
                          <a:solidFill>
                            <a:schemeClr val="tx1"/>
                          </a:solidFill>
                          <a:latin typeface="Roboto Condensed" panose="02000000000000000000" pitchFamily="2" charset="0"/>
                          <a:ea typeface="Roboto Condensed" panose="02000000000000000000" pitchFamily="2" charset="0"/>
                        </a:rPr>
                        <a:t>Hungary</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3.6</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0986156"/>
                  </a:ext>
                </a:extLst>
              </a:tr>
              <a:tr h="274320">
                <a:tc>
                  <a:txBody>
                    <a:bodyPr/>
                    <a:lstStyle/>
                    <a:p>
                      <a:r>
                        <a:rPr lang="en-US" sz="1500" b="0" dirty="0">
                          <a:solidFill>
                            <a:schemeClr val="tx1"/>
                          </a:solidFill>
                          <a:latin typeface="Roboto Condensed" panose="02000000000000000000" pitchFamily="2" charset="0"/>
                          <a:ea typeface="Roboto Condensed" panose="02000000000000000000" pitchFamily="2" charset="0"/>
                        </a:rPr>
                        <a:t>Taiwan</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8.6</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dirty="0">
                          <a:solidFill>
                            <a:schemeClr val="tx1"/>
                          </a:solidFill>
                          <a:latin typeface="Roboto Condensed" panose="02000000000000000000" pitchFamily="2" charset="0"/>
                          <a:ea typeface="Roboto Condensed" panose="02000000000000000000" pitchFamily="2" charset="0"/>
                        </a:rPr>
                        <a:t>China</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3.2</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3827682771"/>
                  </a:ext>
                </a:extLst>
              </a:tr>
              <a:tr h="274320">
                <a:tc>
                  <a:txBody>
                    <a:bodyPr/>
                    <a:lstStyle/>
                    <a:p>
                      <a:r>
                        <a:rPr lang="en-US" sz="1500" b="0" dirty="0">
                          <a:solidFill>
                            <a:schemeClr val="tx1"/>
                          </a:solidFill>
                          <a:latin typeface="Roboto Condensed" panose="02000000000000000000" pitchFamily="2" charset="0"/>
                          <a:ea typeface="Roboto Condensed" panose="02000000000000000000" pitchFamily="2" charset="0"/>
                        </a:rPr>
                        <a:t>Turkey</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8.2</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dirty="0">
                          <a:solidFill>
                            <a:schemeClr val="tx1"/>
                          </a:solidFill>
                          <a:latin typeface="Roboto Condensed" panose="02000000000000000000" pitchFamily="2" charset="0"/>
                          <a:ea typeface="Roboto Condensed" panose="02000000000000000000" pitchFamily="2" charset="0"/>
                        </a:rPr>
                        <a:t>Russia</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2.9</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4176178648"/>
                  </a:ext>
                </a:extLst>
              </a:tr>
              <a:tr h="274320">
                <a:tc>
                  <a:txBody>
                    <a:bodyPr/>
                    <a:lstStyle/>
                    <a:p>
                      <a:r>
                        <a:rPr lang="en-US" sz="1500" b="0" dirty="0">
                          <a:solidFill>
                            <a:schemeClr val="tx1"/>
                          </a:solidFill>
                          <a:latin typeface="Roboto Condensed" panose="02000000000000000000" pitchFamily="2" charset="0"/>
                          <a:ea typeface="Roboto Condensed" panose="02000000000000000000" pitchFamily="2" charset="0"/>
                        </a:rPr>
                        <a:t>Peru</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7.9</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dirty="0">
                          <a:solidFill>
                            <a:schemeClr val="tx1"/>
                          </a:solidFill>
                          <a:latin typeface="Roboto Condensed" panose="02000000000000000000" pitchFamily="2" charset="0"/>
                          <a:ea typeface="Roboto Condensed" panose="02000000000000000000" pitchFamily="2" charset="0"/>
                        </a:rPr>
                        <a:t>Bangladesh</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2.5</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3525571"/>
                  </a:ext>
                </a:extLst>
              </a:tr>
              <a:tr h="274320">
                <a:tc>
                  <a:txBody>
                    <a:bodyPr/>
                    <a:lstStyle/>
                    <a:p>
                      <a:r>
                        <a:rPr lang="en-US" sz="1500" b="0" dirty="0">
                          <a:solidFill>
                            <a:schemeClr val="tx1"/>
                          </a:solidFill>
                          <a:latin typeface="Roboto Condensed" panose="02000000000000000000" pitchFamily="2" charset="0"/>
                          <a:ea typeface="Roboto Condensed" panose="02000000000000000000" pitchFamily="2" charset="0"/>
                        </a:rPr>
                        <a:t>Chile</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7.5</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dirty="0">
                          <a:solidFill>
                            <a:schemeClr val="tx1"/>
                          </a:solidFill>
                          <a:latin typeface="Roboto Condensed" panose="02000000000000000000" pitchFamily="2" charset="0"/>
                          <a:ea typeface="Roboto Condensed" panose="02000000000000000000" pitchFamily="2" charset="0"/>
                        </a:rPr>
                        <a:t>Argentina</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2.1</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2474350"/>
                  </a:ext>
                </a:extLst>
              </a:tr>
              <a:tr h="274320">
                <a:tc>
                  <a:txBody>
                    <a:bodyPr/>
                    <a:lstStyle/>
                    <a:p>
                      <a:r>
                        <a:rPr lang="en-US" sz="1500" b="0" dirty="0">
                          <a:solidFill>
                            <a:schemeClr val="tx1"/>
                          </a:solidFill>
                          <a:latin typeface="Roboto Condensed" panose="02000000000000000000" pitchFamily="2" charset="0"/>
                          <a:ea typeface="Roboto Condensed" panose="02000000000000000000" pitchFamily="2" charset="0"/>
                        </a:rPr>
                        <a:t>Korea</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7.1</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dirty="0">
                          <a:solidFill>
                            <a:schemeClr val="tx1"/>
                          </a:solidFill>
                          <a:latin typeface="Roboto Condensed" panose="02000000000000000000" pitchFamily="2" charset="0"/>
                          <a:ea typeface="Roboto Condensed" panose="02000000000000000000" pitchFamily="2" charset="0"/>
                        </a:rPr>
                        <a:t>Kuwait</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1.8</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4555775"/>
                  </a:ext>
                </a:extLst>
              </a:tr>
              <a:tr h="274320">
                <a:tc>
                  <a:txBody>
                    <a:bodyPr/>
                    <a:lstStyle/>
                    <a:p>
                      <a:r>
                        <a:rPr lang="en-US" sz="1500" b="0" dirty="0">
                          <a:solidFill>
                            <a:schemeClr val="tx1"/>
                          </a:solidFill>
                          <a:latin typeface="Roboto Condensed" panose="02000000000000000000" pitchFamily="2" charset="0"/>
                          <a:ea typeface="Roboto Condensed" panose="02000000000000000000" pitchFamily="2" charset="0"/>
                        </a:rPr>
                        <a:t>Malaysia</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6.8</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dirty="0">
                          <a:solidFill>
                            <a:schemeClr val="tx1"/>
                          </a:solidFill>
                          <a:latin typeface="Roboto Condensed" panose="02000000000000000000" pitchFamily="2" charset="0"/>
                          <a:ea typeface="Roboto Condensed" panose="02000000000000000000" pitchFamily="2" charset="0"/>
                        </a:rPr>
                        <a:t>South Africa</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1.4</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6058861"/>
                  </a:ext>
                </a:extLst>
              </a:tr>
              <a:tr h="274320">
                <a:tc>
                  <a:txBody>
                    <a:bodyPr/>
                    <a:lstStyle/>
                    <a:p>
                      <a:r>
                        <a:rPr lang="en-US" sz="1500" b="0" dirty="0">
                          <a:solidFill>
                            <a:schemeClr val="tx1"/>
                          </a:solidFill>
                          <a:latin typeface="Roboto Condensed" panose="02000000000000000000" pitchFamily="2" charset="0"/>
                          <a:ea typeface="Roboto Condensed" panose="02000000000000000000" pitchFamily="2" charset="0"/>
                        </a:rPr>
                        <a:t>Qatar</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6.4</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dirty="0">
                          <a:solidFill>
                            <a:schemeClr val="tx1"/>
                          </a:solidFill>
                          <a:latin typeface="Roboto Condensed" panose="02000000000000000000" pitchFamily="2" charset="0"/>
                          <a:ea typeface="Roboto Condensed" panose="02000000000000000000" pitchFamily="2" charset="0"/>
                        </a:rPr>
                        <a:t>Pakistan</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1.1</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2316508"/>
                  </a:ext>
                </a:extLst>
              </a:tr>
              <a:tr h="274320">
                <a:tc>
                  <a:txBody>
                    <a:bodyPr/>
                    <a:lstStyle/>
                    <a:p>
                      <a:r>
                        <a:rPr lang="en-US" sz="1500" b="0" dirty="0">
                          <a:solidFill>
                            <a:schemeClr val="tx1"/>
                          </a:solidFill>
                          <a:latin typeface="Roboto Condensed" panose="02000000000000000000" pitchFamily="2" charset="0"/>
                          <a:ea typeface="Roboto Condensed" panose="02000000000000000000" pitchFamily="2" charset="0"/>
                        </a:rPr>
                        <a:t>United Arab Emirates</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6.1</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dirty="0">
                          <a:solidFill>
                            <a:schemeClr val="bg1"/>
                          </a:solidFill>
                          <a:latin typeface="Roboto Condensed" panose="02000000000000000000" pitchFamily="2" charset="0"/>
                          <a:ea typeface="Roboto Condensed" panose="02000000000000000000" pitchFamily="2" charset="0"/>
                        </a:rPr>
                        <a:t>Greece</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500" b="0" dirty="0">
                          <a:solidFill>
                            <a:schemeClr val="bg1"/>
                          </a:solidFill>
                          <a:latin typeface="Roboto Condensed" panose="02000000000000000000" pitchFamily="2" charset="0"/>
                          <a:ea typeface="Roboto Condensed" panose="02000000000000000000" pitchFamily="2" charset="0"/>
                        </a:rPr>
                        <a:t>0.7</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159816786"/>
                  </a:ext>
                </a:extLst>
              </a:tr>
              <a:tr h="274320">
                <a:tc>
                  <a:txBody>
                    <a:bodyPr/>
                    <a:lstStyle/>
                    <a:p>
                      <a:r>
                        <a:rPr lang="en-US" sz="1500" b="0" dirty="0">
                          <a:solidFill>
                            <a:schemeClr val="tx1"/>
                          </a:solidFill>
                          <a:latin typeface="Roboto Condensed" panose="02000000000000000000" pitchFamily="2" charset="0"/>
                          <a:ea typeface="Roboto Condensed" panose="02000000000000000000" pitchFamily="2" charset="0"/>
                        </a:rPr>
                        <a:t>Poland</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5.7</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dirty="0">
                          <a:solidFill>
                            <a:schemeClr val="bg1"/>
                          </a:solidFill>
                          <a:latin typeface="Roboto Condensed" panose="02000000000000000000" pitchFamily="2" charset="0"/>
                          <a:ea typeface="Roboto Condensed" panose="02000000000000000000" pitchFamily="2" charset="0"/>
                        </a:rPr>
                        <a:t>Brazil</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500" b="0" dirty="0">
                          <a:solidFill>
                            <a:schemeClr val="bg1"/>
                          </a:solidFill>
                          <a:latin typeface="Roboto Condensed" panose="02000000000000000000" pitchFamily="2" charset="0"/>
                          <a:ea typeface="Roboto Condensed" panose="02000000000000000000" pitchFamily="2" charset="0"/>
                        </a:rPr>
                        <a:t>0.4</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290405330"/>
                  </a:ext>
                </a:extLst>
              </a:tr>
              <a:tr h="274320">
                <a:tc>
                  <a:txBody>
                    <a:bodyPr/>
                    <a:lstStyle/>
                    <a:p>
                      <a:r>
                        <a:rPr lang="en-US" sz="1500" b="0" dirty="0">
                          <a:solidFill>
                            <a:schemeClr val="tx1"/>
                          </a:solidFill>
                          <a:latin typeface="Roboto Condensed" panose="02000000000000000000" pitchFamily="2" charset="0"/>
                          <a:ea typeface="Roboto Condensed" panose="02000000000000000000" pitchFamily="2" charset="0"/>
                        </a:rPr>
                        <a:t>India</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1500" b="0" dirty="0">
                          <a:solidFill>
                            <a:schemeClr val="tx1"/>
                          </a:solidFill>
                          <a:latin typeface="Roboto Condensed" panose="02000000000000000000" pitchFamily="2" charset="0"/>
                          <a:ea typeface="Roboto Condensed" panose="02000000000000000000" pitchFamily="2" charset="0"/>
                        </a:rPr>
                        <a:t>5.4</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endParaRPr lang="en-US" sz="1500" b="0" dirty="0">
                        <a:solidFill>
                          <a:schemeClr val="tx1"/>
                        </a:solidFill>
                        <a:latin typeface="Roboto Condensed" panose="02000000000000000000" pitchFamily="2" charset="0"/>
                        <a:ea typeface="Roboto Condensed" panose="02000000000000000000" pitchFamily="2" charset="0"/>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b="0" dirty="0">
                          <a:solidFill>
                            <a:schemeClr val="bg1"/>
                          </a:solidFill>
                          <a:latin typeface="Roboto Condensed" panose="02000000000000000000" pitchFamily="2" charset="0"/>
                          <a:ea typeface="Roboto Condensed" panose="02000000000000000000" pitchFamily="2" charset="0"/>
                        </a:rPr>
                        <a:t>Thailand</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500" b="0" dirty="0">
                          <a:solidFill>
                            <a:schemeClr val="bg1"/>
                          </a:solidFill>
                          <a:latin typeface="Roboto Condensed" panose="02000000000000000000" pitchFamily="2" charset="0"/>
                          <a:ea typeface="Roboto Condensed" panose="02000000000000000000" pitchFamily="2" charset="0"/>
                        </a:rPr>
                        <a:t>0.0</a:t>
                      </a:r>
                    </a:p>
                  </a:txBody>
                  <a:tcP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93936882"/>
                  </a:ext>
                </a:extLst>
              </a:tr>
            </a:tbl>
          </a:graphicData>
        </a:graphic>
      </p:graphicFrame>
    </p:spTree>
    <p:extLst>
      <p:ext uri="{BB962C8B-B14F-4D97-AF65-F5344CB8AC3E}">
        <p14:creationId xmlns:p14="http://schemas.microsoft.com/office/powerpoint/2010/main" val="2130623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endParaRPr lang="en-US" dirty="0"/>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t>A closer look some of the countries</a:t>
            </a:r>
          </a:p>
        </p:txBody>
      </p:sp>
      <p:graphicFrame>
        <p:nvGraphicFramePr>
          <p:cNvPr id="4" name="Table 3">
            <a:extLst>
              <a:ext uri="{FF2B5EF4-FFF2-40B4-BE49-F238E27FC236}">
                <a16:creationId xmlns:a16="http://schemas.microsoft.com/office/drawing/2014/main" id="{7769DDB2-0FC1-58E1-2126-1F00DE447B34}"/>
              </a:ext>
            </a:extLst>
          </p:cNvPr>
          <p:cNvGraphicFramePr>
            <a:graphicFrameLocks noGrp="1"/>
          </p:cNvGraphicFramePr>
          <p:nvPr>
            <p:extLst>
              <p:ext uri="{D42A27DB-BD31-4B8C-83A1-F6EECF244321}">
                <p14:modId xmlns:p14="http://schemas.microsoft.com/office/powerpoint/2010/main" val="2752199861"/>
              </p:ext>
            </p:extLst>
          </p:nvPr>
        </p:nvGraphicFramePr>
        <p:xfrm>
          <a:off x="907683" y="1882592"/>
          <a:ext cx="11978640" cy="4450080"/>
        </p:xfrm>
        <a:graphic>
          <a:graphicData uri="http://schemas.openxmlformats.org/drawingml/2006/table">
            <a:tbl>
              <a:tblPr>
                <a:tableStyleId>{5C22544A-7EE6-4342-B048-85BDC9FD1C3A}</a:tableStyleId>
              </a:tblPr>
              <a:tblGrid>
                <a:gridCol w="2973201">
                  <a:extLst>
                    <a:ext uri="{9D8B030D-6E8A-4147-A177-3AD203B41FA5}">
                      <a16:colId xmlns:a16="http://schemas.microsoft.com/office/drawing/2014/main" val="1898463280"/>
                    </a:ext>
                  </a:extLst>
                </a:gridCol>
                <a:gridCol w="1141599">
                  <a:extLst>
                    <a:ext uri="{9D8B030D-6E8A-4147-A177-3AD203B41FA5}">
                      <a16:colId xmlns:a16="http://schemas.microsoft.com/office/drawing/2014/main" val="2417231881"/>
                    </a:ext>
                  </a:extLst>
                </a:gridCol>
                <a:gridCol w="1097280">
                  <a:extLst>
                    <a:ext uri="{9D8B030D-6E8A-4147-A177-3AD203B41FA5}">
                      <a16:colId xmlns:a16="http://schemas.microsoft.com/office/drawing/2014/main" val="4088223132"/>
                    </a:ext>
                  </a:extLst>
                </a:gridCol>
                <a:gridCol w="1097280">
                  <a:extLst>
                    <a:ext uri="{9D8B030D-6E8A-4147-A177-3AD203B41FA5}">
                      <a16:colId xmlns:a16="http://schemas.microsoft.com/office/drawing/2014/main" val="1431477524"/>
                    </a:ext>
                  </a:extLst>
                </a:gridCol>
                <a:gridCol w="1280160">
                  <a:extLst>
                    <a:ext uri="{9D8B030D-6E8A-4147-A177-3AD203B41FA5}">
                      <a16:colId xmlns:a16="http://schemas.microsoft.com/office/drawing/2014/main" val="355499506"/>
                    </a:ext>
                  </a:extLst>
                </a:gridCol>
                <a:gridCol w="1097280">
                  <a:extLst>
                    <a:ext uri="{9D8B030D-6E8A-4147-A177-3AD203B41FA5}">
                      <a16:colId xmlns:a16="http://schemas.microsoft.com/office/drawing/2014/main" val="171442710"/>
                    </a:ext>
                  </a:extLst>
                </a:gridCol>
                <a:gridCol w="1097280">
                  <a:extLst>
                    <a:ext uri="{9D8B030D-6E8A-4147-A177-3AD203B41FA5}">
                      <a16:colId xmlns:a16="http://schemas.microsoft.com/office/drawing/2014/main" val="1588504413"/>
                    </a:ext>
                  </a:extLst>
                </a:gridCol>
                <a:gridCol w="1097280">
                  <a:extLst>
                    <a:ext uri="{9D8B030D-6E8A-4147-A177-3AD203B41FA5}">
                      <a16:colId xmlns:a16="http://schemas.microsoft.com/office/drawing/2014/main" val="3209936391"/>
                    </a:ext>
                  </a:extLst>
                </a:gridCol>
                <a:gridCol w="1097280">
                  <a:extLst>
                    <a:ext uri="{9D8B030D-6E8A-4147-A177-3AD203B41FA5}">
                      <a16:colId xmlns:a16="http://schemas.microsoft.com/office/drawing/2014/main" val="330847030"/>
                    </a:ext>
                  </a:extLst>
                </a:gridCol>
              </a:tblGrid>
              <a:tr h="274320">
                <a:tc>
                  <a:txBody>
                    <a:bodyPr/>
                    <a:lstStyle/>
                    <a:p>
                      <a:pPr algn="l" fontAlgn="b"/>
                      <a:endParaRPr lang="en-US" sz="1600" b="1" i="1" u="none" strike="noStrike" dirty="0">
                        <a:solidFill>
                          <a:schemeClr val="accent1"/>
                        </a:solidFill>
                        <a:effectLst/>
                        <a:latin typeface="Georgia" panose="02040502050405020303" pitchFamily="18" charset="0"/>
                      </a:endParaRP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gridSpan="7">
                  <a:txBody>
                    <a:bodyPr/>
                    <a:lstStyle/>
                    <a:p>
                      <a:pPr algn="ctr" fontAlgn="b"/>
                      <a:r>
                        <a:rPr lang="en-US" sz="1600" b="1" i="1" u="none" strike="noStrike" dirty="0">
                          <a:solidFill>
                            <a:schemeClr val="accent1"/>
                          </a:solidFill>
                          <a:effectLst/>
                          <a:latin typeface="Georgia" panose="02040502050405020303" pitchFamily="18" charset="0"/>
                        </a:rPr>
                        <a:t>EMERGING MARKETS</a:t>
                      </a: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
                      <a:r>
                        <a:rPr lang="en-US" sz="1600" b="1" i="1" u="none" strike="noStrike" dirty="0">
                          <a:solidFill>
                            <a:schemeClr val="accent1"/>
                          </a:solidFill>
                          <a:effectLst/>
                          <a:latin typeface="Georgia" panose="02040502050405020303" pitchFamily="18" charset="0"/>
                        </a:rPr>
                        <a:t> </a:t>
                      </a: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6036985"/>
                  </a:ext>
                </a:extLst>
              </a:tr>
              <a:tr h="365760">
                <a:tc>
                  <a:txBody>
                    <a:bodyPr/>
                    <a:lstStyle/>
                    <a:p>
                      <a:pPr algn="ctr" fontAlgn="ctr"/>
                      <a:endParaRPr lang="en-US" sz="1600" b="1" i="1" u="none" strike="noStrike">
                        <a:solidFill>
                          <a:schemeClr val="accent1"/>
                        </a:solidFill>
                        <a:effectLst/>
                        <a:latin typeface="Georgia" panose="02040502050405020303" pitchFamily="18" charset="0"/>
                      </a:endParaRP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600" b="1" i="1" u="none" strike="noStrike" dirty="0">
                          <a:solidFill>
                            <a:schemeClr val="accent1"/>
                          </a:solidFill>
                          <a:effectLst/>
                          <a:latin typeface="Georgia" panose="02040502050405020303" pitchFamily="18" charset="0"/>
                        </a:rPr>
                        <a:t>Brazil</a:t>
                      </a:r>
                    </a:p>
                  </a:txBody>
                  <a:tcPr anchor="b">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600" b="1" i="1" u="none" strike="noStrike" dirty="0">
                          <a:solidFill>
                            <a:schemeClr val="accent1"/>
                          </a:solidFill>
                          <a:effectLst/>
                          <a:latin typeface="Georgia" panose="02040502050405020303" pitchFamily="18" charset="0"/>
                        </a:rPr>
                        <a:t>China</a:t>
                      </a:r>
                    </a:p>
                  </a:txBody>
                  <a:tcPr anchor="b">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600" b="1" i="1" u="none" strike="noStrike" dirty="0">
                          <a:solidFill>
                            <a:schemeClr val="accent1"/>
                          </a:solidFill>
                          <a:effectLst/>
                          <a:latin typeface="Georgia" panose="02040502050405020303" pitchFamily="18" charset="0"/>
                        </a:rPr>
                        <a:t>India</a:t>
                      </a:r>
                    </a:p>
                  </a:txBody>
                  <a:tcPr anchor="b">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600" b="1" i="1" u="none" strike="noStrike" dirty="0">
                          <a:solidFill>
                            <a:schemeClr val="accent1"/>
                          </a:solidFill>
                          <a:effectLst/>
                          <a:latin typeface="Georgia" panose="02040502050405020303" pitchFamily="18" charset="0"/>
                        </a:rPr>
                        <a:t>Indonesia</a:t>
                      </a:r>
                    </a:p>
                  </a:txBody>
                  <a:tcPr anchor="b">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600" b="1" i="1" u="none" strike="noStrike" dirty="0">
                          <a:solidFill>
                            <a:schemeClr val="accent1"/>
                          </a:solidFill>
                          <a:effectLst/>
                          <a:latin typeface="Georgia" panose="02040502050405020303" pitchFamily="18" charset="0"/>
                        </a:rPr>
                        <a:t>Mexico</a:t>
                      </a:r>
                    </a:p>
                  </a:txBody>
                  <a:tcPr anchor="b">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600" b="1" i="1" u="none" strike="noStrike" dirty="0">
                          <a:solidFill>
                            <a:schemeClr val="accent1"/>
                          </a:solidFill>
                          <a:effectLst/>
                          <a:latin typeface="Georgia" panose="02040502050405020303" pitchFamily="18" charset="0"/>
                        </a:rPr>
                        <a:t>Poland</a:t>
                      </a:r>
                    </a:p>
                  </a:txBody>
                  <a:tcPr anchor="b">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600" b="1" i="1" u="none" strike="noStrike" dirty="0">
                          <a:solidFill>
                            <a:schemeClr val="accent1"/>
                          </a:solidFill>
                          <a:effectLst/>
                          <a:latin typeface="Georgia" panose="02040502050405020303" pitchFamily="18" charset="0"/>
                        </a:rPr>
                        <a:t>Taiwan</a:t>
                      </a:r>
                    </a:p>
                  </a:txBody>
                  <a:tcPr anchor="b">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600" b="1" i="1" u="none" strike="noStrike" dirty="0">
                          <a:solidFill>
                            <a:schemeClr val="accent1"/>
                          </a:solidFill>
                          <a:effectLst/>
                          <a:latin typeface="Georgia" panose="02040502050405020303" pitchFamily="18" charset="0"/>
                        </a:rPr>
                        <a:t>Vietnam</a:t>
                      </a:r>
                    </a:p>
                  </a:txBody>
                  <a:tcPr anchor="b">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7546343"/>
                  </a:ext>
                </a:extLst>
              </a:tr>
              <a:tr h="365760">
                <a:tc>
                  <a:txBody>
                    <a:bodyPr/>
                    <a:lstStyle/>
                    <a:p>
                      <a:pPr algn="l" fontAlgn="b"/>
                      <a:r>
                        <a:rPr lang="en-US" sz="1600" u="none" strike="noStrike" dirty="0">
                          <a:solidFill>
                            <a:schemeClr val="accent1"/>
                          </a:solidFill>
                          <a:effectLst/>
                          <a:latin typeface="Roboto Condensed" panose="02000000000000000000" pitchFamily="2" charset="0"/>
                          <a:ea typeface="Roboto Condensed" panose="02000000000000000000" pitchFamily="2" charset="0"/>
                        </a:rPr>
                        <a:t>Demographics</a:t>
                      </a:r>
                      <a:endParaRPr lang="en-US" sz="16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1"/>
                          </a:solidFill>
                          <a:effectLst/>
                          <a:latin typeface="Roboto Condensed" panose="02000000000000000000" pitchFamily="2" charset="0"/>
                          <a:ea typeface="Roboto Condensed" panose="02000000000000000000" pitchFamily="2" charset="0"/>
                          <a:cs typeface="+mn-cs"/>
                        </a:rPr>
                        <a:t>6.4</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1"/>
                          </a:solidFill>
                          <a:effectLst/>
                          <a:latin typeface="Roboto Condensed" panose="02000000000000000000" pitchFamily="2" charset="0"/>
                          <a:ea typeface="Roboto Condensed" panose="02000000000000000000" pitchFamily="2" charset="0"/>
                          <a:cs typeface="+mn-cs"/>
                        </a:rPr>
                        <a:t>7.1</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1"/>
                          </a:solidFill>
                          <a:effectLst/>
                          <a:latin typeface="Roboto Condensed" panose="02000000000000000000" pitchFamily="2" charset="0"/>
                          <a:ea typeface="Roboto Condensed" panose="02000000000000000000" pitchFamily="2" charset="0"/>
                          <a:cs typeface="+mn-cs"/>
                        </a:rPr>
                        <a:t>8.6</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1"/>
                          </a:solidFill>
                          <a:effectLst/>
                          <a:latin typeface="Roboto Condensed" panose="02000000000000000000" pitchFamily="2" charset="0"/>
                          <a:ea typeface="Roboto Condensed" panose="02000000000000000000" pitchFamily="2" charset="0"/>
                          <a:cs typeface="+mn-cs"/>
                        </a:rPr>
                        <a:t>10.0</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1"/>
                          </a:solidFill>
                          <a:effectLst/>
                          <a:latin typeface="Roboto Condensed" panose="02000000000000000000" pitchFamily="2" charset="0"/>
                          <a:ea typeface="Roboto Condensed" panose="02000000000000000000" pitchFamily="2" charset="0"/>
                          <a:cs typeface="+mn-cs"/>
                        </a:rPr>
                        <a:t>9.3</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1"/>
                          </a:solidFill>
                          <a:effectLst/>
                          <a:latin typeface="Roboto Condensed" panose="02000000000000000000" pitchFamily="2" charset="0"/>
                          <a:ea typeface="Roboto Condensed" panose="02000000000000000000" pitchFamily="2" charset="0"/>
                          <a:cs typeface="+mn-cs"/>
                        </a:rPr>
                        <a:t>1.8</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1"/>
                          </a:solidFill>
                          <a:effectLst/>
                          <a:latin typeface="Roboto Condensed" panose="02000000000000000000" pitchFamily="2" charset="0"/>
                          <a:ea typeface="Roboto Condensed" panose="02000000000000000000" pitchFamily="2" charset="0"/>
                          <a:cs typeface="+mn-cs"/>
                        </a:rPr>
                        <a:t>1.1</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1"/>
                          </a:solidFill>
                          <a:effectLst/>
                          <a:latin typeface="Roboto Condensed" panose="02000000000000000000" pitchFamily="2" charset="0"/>
                          <a:ea typeface="Roboto Condensed" panose="02000000000000000000" pitchFamily="2" charset="0"/>
                          <a:cs typeface="+mn-cs"/>
                        </a:rPr>
                        <a:t>5.7</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6940382"/>
                  </a:ext>
                </a:extLst>
              </a:tr>
              <a:tr h="365760">
                <a:tc>
                  <a:txBody>
                    <a:bodyPr/>
                    <a:lstStyle/>
                    <a:p>
                      <a:pPr algn="l" fontAlgn="b"/>
                      <a:r>
                        <a:rPr lang="en-US" sz="1600" u="none" strike="noStrike" dirty="0">
                          <a:solidFill>
                            <a:schemeClr val="bg2"/>
                          </a:solidFill>
                          <a:effectLst/>
                          <a:latin typeface="Roboto Condensed" panose="02000000000000000000" pitchFamily="2" charset="0"/>
                          <a:ea typeface="Roboto Condensed" panose="02000000000000000000" pitchFamily="2" charset="0"/>
                        </a:rPr>
                        <a:t>Predicted Growth</a:t>
                      </a:r>
                      <a:endParaRPr lang="en-US" sz="1600" b="0" i="0" u="none" strike="noStrike" dirty="0">
                        <a:solidFill>
                          <a:schemeClr val="bg2"/>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bg2"/>
                          </a:solidFill>
                          <a:effectLst/>
                          <a:latin typeface="Roboto Condensed" panose="02000000000000000000" pitchFamily="2" charset="0"/>
                          <a:ea typeface="Roboto Condensed" panose="02000000000000000000" pitchFamily="2" charset="0"/>
                          <a:cs typeface="+mn-cs"/>
                        </a:rPr>
                        <a:t>2.1</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bg2"/>
                          </a:solidFill>
                          <a:effectLst/>
                          <a:latin typeface="Roboto Condensed" panose="02000000000000000000" pitchFamily="2" charset="0"/>
                          <a:ea typeface="Roboto Condensed" panose="02000000000000000000" pitchFamily="2" charset="0"/>
                          <a:cs typeface="+mn-cs"/>
                        </a:rPr>
                        <a:t>8.6</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bg2"/>
                          </a:solidFill>
                          <a:effectLst/>
                          <a:latin typeface="Roboto Condensed" panose="02000000000000000000" pitchFamily="2" charset="0"/>
                          <a:ea typeface="Roboto Condensed" panose="02000000000000000000" pitchFamily="2" charset="0"/>
                          <a:cs typeface="+mn-cs"/>
                        </a:rPr>
                        <a:t>9.3</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bg2"/>
                          </a:solidFill>
                          <a:effectLst/>
                          <a:latin typeface="Roboto Condensed" panose="02000000000000000000" pitchFamily="2" charset="0"/>
                          <a:ea typeface="Roboto Condensed" panose="02000000000000000000" pitchFamily="2" charset="0"/>
                          <a:cs typeface="+mn-cs"/>
                        </a:rPr>
                        <a:t>8.9</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bg2"/>
                          </a:solidFill>
                          <a:effectLst/>
                          <a:latin typeface="Roboto Condensed" panose="02000000000000000000" pitchFamily="2" charset="0"/>
                          <a:ea typeface="Roboto Condensed" panose="02000000000000000000" pitchFamily="2" charset="0"/>
                          <a:cs typeface="+mn-cs"/>
                        </a:rPr>
                        <a:t>6.4</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bg2"/>
                          </a:solidFill>
                          <a:effectLst/>
                          <a:latin typeface="Roboto Condensed" panose="02000000000000000000" pitchFamily="2" charset="0"/>
                          <a:ea typeface="Roboto Condensed" panose="02000000000000000000" pitchFamily="2" charset="0"/>
                          <a:cs typeface="+mn-cs"/>
                        </a:rPr>
                        <a:t>3.6</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bg2"/>
                          </a:solidFill>
                          <a:effectLst/>
                          <a:latin typeface="Roboto Condensed" panose="02000000000000000000" pitchFamily="2" charset="0"/>
                          <a:ea typeface="Roboto Condensed" panose="02000000000000000000" pitchFamily="2" charset="0"/>
                          <a:cs typeface="+mn-cs"/>
                        </a:rPr>
                        <a:t>5.4</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bg2"/>
                          </a:solidFill>
                          <a:effectLst/>
                          <a:latin typeface="Roboto Condensed" panose="02000000000000000000" pitchFamily="2" charset="0"/>
                          <a:ea typeface="Roboto Condensed" panose="02000000000000000000" pitchFamily="2" charset="0"/>
                          <a:cs typeface="+mn-cs"/>
                        </a:rPr>
                        <a:t>10.0</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691729"/>
                  </a:ext>
                </a:extLst>
              </a:tr>
              <a:tr h="365760">
                <a:tc>
                  <a:txBody>
                    <a:bodyPr/>
                    <a:lstStyle/>
                    <a:p>
                      <a:pPr algn="l" fontAlgn="b"/>
                      <a:r>
                        <a:rPr lang="en-US" sz="16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Macroeconomic Risk</a:t>
                      </a:r>
                      <a:endParaRPr lang="en-US" sz="16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1.8</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3.9</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1.4</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6.4</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7.5</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7.1</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10.0</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6.1</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307822"/>
                  </a:ext>
                </a:extLst>
              </a:tr>
              <a:tr h="365760">
                <a:tc>
                  <a:txBody>
                    <a:bodyPr/>
                    <a:lstStyle/>
                    <a:p>
                      <a:pPr algn="l" fontAlgn="b"/>
                      <a:r>
                        <a:rPr lang="en-US" sz="1600" u="none" strike="noStrike" dirty="0">
                          <a:solidFill>
                            <a:schemeClr val="accent4"/>
                          </a:solidFill>
                          <a:effectLst/>
                          <a:latin typeface="Roboto Condensed" panose="02000000000000000000" pitchFamily="2" charset="0"/>
                          <a:ea typeface="Roboto Condensed" panose="02000000000000000000" pitchFamily="2" charset="0"/>
                        </a:rPr>
                        <a:t>Climate Risk</a:t>
                      </a:r>
                      <a:endParaRPr lang="en-US" sz="16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4"/>
                          </a:solidFill>
                          <a:effectLst/>
                          <a:latin typeface="Roboto Condensed" panose="02000000000000000000" pitchFamily="2" charset="0"/>
                          <a:ea typeface="Roboto Condensed" panose="02000000000000000000" pitchFamily="2" charset="0"/>
                          <a:cs typeface="+mn-cs"/>
                        </a:rPr>
                        <a:t>2.9</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4"/>
                          </a:solidFill>
                          <a:effectLst/>
                          <a:latin typeface="Roboto Condensed" panose="02000000000000000000" pitchFamily="2" charset="0"/>
                          <a:ea typeface="Roboto Condensed" panose="02000000000000000000" pitchFamily="2" charset="0"/>
                          <a:cs typeface="+mn-cs"/>
                        </a:rPr>
                        <a:t>0.7</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4"/>
                          </a:solidFill>
                          <a:effectLst/>
                          <a:latin typeface="Roboto Condensed" panose="02000000000000000000" pitchFamily="2" charset="0"/>
                          <a:ea typeface="Roboto Condensed" panose="02000000000000000000" pitchFamily="2" charset="0"/>
                          <a:cs typeface="+mn-cs"/>
                        </a:rPr>
                        <a:t>0.0</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4"/>
                          </a:solidFill>
                          <a:effectLst/>
                          <a:latin typeface="Roboto Condensed" panose="02000000000000000000" pitchFamily="2" charset="0"/>
                          <a:ea typeface="Roboto Condensed" panose="02000000000000000000" pitchFamily="2" charset="0"/>
                          <a:cs typeface="+mn-cs"/>
                        </a:rPr>
                        <a:t>2.5</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4"/>
                          </a:solidFill>
                          <a:effectLst/>
                          <a:latin typeface="Roboto Condensed" panose="02000000000000000000" pitchFamily="2" charset="0"/>
                          <a:ea typeface="Roboto Condensed" panose="02000000000000000000" pitchFamily="2" charset="0"/>
                          <a:cs typeface="+mn-cs"/>
                        </a:rPr>
                        <a:t>5.4</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4"/>
                          </a:solidFill>
                          <a:effectLst/>
                          <a:latin typeface="Roboto Condensed" panose="02000000000000000000" pitchFamily="2" charset="0"/>
                          <a:ea typeface="Roboto Condensed" panose="02000000000000000000" pitchFamily="2" charset="0"/>
                          <a:cs typeface="+mn-cs"/>
                        </a:rPr>
                        <a:t>6.4</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4"/>
                          </a:solidFill>
                          <a:effectLst/>
                          <a:latin typeface="Roboto Condensed" panose="02000000000000000000" pitchFamily="2" charset="0"/>
                          <a:ea typeface="Roboto Condensed" panose="02000000000000000000" pitchFamily="2" charset="0"/>
                          <a:cs typeface="+mn-cs"/>
                        </a:rPr>
                        <a:t>7.9</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4"/>
                          </a:solidFill>
                          <a:effectLst/>
                          <a:latin typeface="Roboto Condensed" panose="02000000000000000000" pitchFamily="2" charset="0"/>
                          <a:ea typeface="Roboto Condensed" panose="02000000000000000000" pitchFamily="2" charset="0"/>
                          <a:cs typeface="+mn-cs"/>
                        </a:rPr>
                        <a:t>3.6</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1049383"/>
                  </a:ext>
                </a:extLst>
              </a:tr>
              <a:tr h="365760">
                <a:tc>
                  <a:txBody>
                    <a:bodyPr/>
                    <a:lstStyle/>
                    <a:p>
                      <a:pPr algn="l" fontAlgn="b"/>
                      <a:r>
                        <a:rPr lang="en-US" sz="16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Geopolitical Risk</a:t>
                      </a:r>
                      <a:endParaRPr lang="en-US" sz="16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3">
                              <a:lumMod val="50000"/>
                            </a:schemeClr>
                          </a:solidFill>
                          <a:effectLst/>
                          <a:latin typeface="Roboto Condensed" panose="02000000000000000000" pitchFamily="2" charset="0"/>
                          <a:ea typeface="Roboto Condensed" panose="02000000000000000000" pitchFamily="2" charset="0"/>
                          <a:cs typeface="+mn-cs"/>
                        </a:rPr>
                        <a:t>9.3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3">
                              <a:lumMod val="50000"/>
                            </a:schemeClr>
                          </a:solidFill>
                          <a:effectLst/>
                          <a:latin typeface="Roboto Condensed" panose="02000000000000000000" pitchFamily="2" charset="0"/>
                          <a:ea typeface="Roboto Condensed" panose="02000000000000000000" pitchFamily="2" charset="0"/>
                          <a:cs typeface="+mn-cs"/>
                        </a:rPr>
                        <a:t>1.4</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3">
                              <a:lumMod val="50000"/>
                            </a:schemeClr>
                          </a:solidFill>
                          <a:effectLst/>
                          <a:latin typeface="Roboto Condensed" panose="02000000000000000000" pitchFamily="2" charset="0"/>
                          <a:ea typeface="Roboto Condensed" panose="02000000000000000000" pitchFamily="2" charset="0"/>
                          <a:cs typeface="+mn-cs"/>
                        </a:rPr>
                        <a:t>6.1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3">
                              <a:lumMod val="50000"/>
                            </a:schemeClr>
                          </a:solidFill>
                          <a:effectLst/>
                          <a:latin typeface="Roboto Condensed" panose="02000000000000000000" pitchFamily="2" charset="0"/>
                          <a:ea typeface="Roboto Condensed" panose="02000000000000000000" pitchFamily="2" charset="0"/>
                          <a:cs typeface="+mn-cs"/>
                        </a:rPr>
                        <a:t>9.6</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3">
                              <a:lumMod val="50000"/>
                            </a:schemeClr>
                          </a:solidFill>
                          <a:effectLst/>
                          <a:latin typeface="Roboto Condensed" panose="02000000000000000000" pitchFamily="2" charset="0"/>
                          <a:ea typeface="Roboto Condensed" panose="02000000000000000000" pitchFamily="2" charset="0"/>
                          <a:cs typeface="+mn-cs"/>
                        </a:rPr>
                        <a:t>8.9</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3">
                              <a:lumMod val="50000"/>
                            </a:schemeClr>
                          </a:solidFill>
                          <a:effectLst/>
                          <a:latin typeface="Roboto Condensed" panose="02000000000000000000" pitchFamily="2" charset="0"/>
                          <a:ea typeface="Roboto Condensed" panose="02000000000000000000" pitchFamily="2" charset="0"/>
                          <a:cs typeface="+mn-cs"/>
                        </a:rPr>
                        <a:t>10.0</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3">
                              <a:lumMod val="50000"/>
                            </a:schemeClr>
                          </a:solidFill>
                          <a:effectLst/>
                          <a:latin typeface="Roboto Condensed" panose="02000000000000000000" pitchFamily="2" charset="0"/>
                          <a:ea typeface="Roboto Condensed" panose="02000000000000000000" pitchFamily="2" charset="0"/>
                          <a:cs typeface="+mn-cs"/>
                        </a:rPr>
                        <a:t>2.1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3">
                              <a:lumMod val="50000"/>
                            </a:schemeClr>
                          </a:solidFill>
                          <a:effectLst/>
                          <a:latin typeface="Roboto Condensed" panose="02000000000000000000" pitchFamily="2" charset="0"/>
                          <a:ea typeface="Roboto Condensed" panose="02000000000000000000" pitchFamily="2" charset="0"/>
                          <a:cs typeface="+mn-cs"/>
                        </a:rPr>
                        <a:t>8.2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4740945"/>
                  </a:ext>
                </a:extLst>
              </a:tr>
              <a:tr h="365760">
                <a:tc>
                  <a:txBody>
                    <a:bodyPr/>
                    <a:lstStyle/>
                    <a:p>
                      <a:pPr algn="l" fontAlgn="b"/>
                      <a:r>
                        <a:rPr lang="en-US" sz="1600" u="none" strike="noStrike" dirty="0">
                          <a:solidFill>
                            <a:schemeClr val="accent6"/>
                          </a:solidFill>
                          <a:effectLst/>
                          <a:latin typeface="Roboto Condensed" panose="02000000000000000000" pitchFamily="2" charset="0"/>
                          <a:ea typeface="Roboto Condensed" panose="02000000000000000000" pitchFamily="2" charset="0"/>
                        </a:rPr>
                        <a:t>Domestic Policy Risk</a:t>
                      </a:r>
                      <a:endParaRPr lang="en-US" sz="16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6"/>
                          </a:solidFill>
                          <a:effectLst/>
                          <a:latin typeface="Roboto Condensed" panose="02000000000000000000" pitchFamily="2" charset="0"/>
                          <a:ea typeface="Roboto Condensed" panose="02000000000000000000" pitchFamily="2" charset="0"/>
                          <a:cs typeface="+mn-cs"/>
                        </a:rPr>
                        <a:t>2.1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6"/>
                          </a:solidFill>
                          <a:effectLst/>
                          <a:latin typeface="Roboto Condensed" panose="02000000000000000000" pitchFamily="2" charset="0"/>
                          <a:ea typeface="Roboto Condensed" panose="02000000000000000000" pitchFamily="2" charset="0"/>
                          <a:cs typeface="+mn-cs"/>
                        </a:rPr>
                        <a:t>5.7</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6"/>
                          </a:solidFill>
                          <a:effectLst/>
                          <a:latin typeface="Roboto Condensed" panose="02000000000000000000" pitchFamily="2" charset="0"/>
                          <a:ea typeface="Roboto Condensed" panose="02000000000000000000" pitchFamily="2" charset="0"/>
                          <a:cs typeface="+mn-cs"/>
                        </a:rPr>
                        <a:t>5.4</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6"/>
                          </a:solidFill>
                          <a:effectLst/>
                          <a:latin typeface="Roboto Condensed" panose="02000000000000000000" pitchFamily="2" charset="0"/>
                          <a:ea typeface="Roboto Condensed" panose="02000000000000000000" pitchFamily="2" charset="0"/>
                          <a:cs typeface="+mn-cs"/>
                        </a:rPr>
                        <a:t>5.0</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6"/>
                          </a:solidFill>
                          <a:effectLst/>
                          <a:latin typeface="Roboto Condensed" panose="02000000000000000000" pitchFamily="2" charset="0"/>
                          <a:ea typeface="Roboto Condensed" panose="02000000000000000000" pitchFamily="2" charset="0"/>
                          <a:cs typeface="+mn-cs"/>
                        </a:rPr>
                        <a:t>1.1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6"/>
                          </a:solidFill>
                          <a:effectLst/>
                          <a:latin typeface="Roboto Condensed" panose="02000000000000000000" pitchFamily="2" charset="0"/>
                          <a:ea typeface="Roboto Condensed" panose="02000000000000000000" pitchFamily="2" charset="0"/>
                          <a:cs typeface="+mn-cs"/>
                        </a:rPr>
                        <a:t>7.1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6"/>
                          </a:solidFill>
                          <a:effectLst/>
                          <a:latin typeface="Roboto Condensed" panose="02000000000000000000" pitchFamily="2" charset="0"/>
                          <a:ea typeface="Roboto Condensed" panose="02000000000000000000" pitchFamily="2" charset="0"/>
                          <a:cs typeface="+mn-cs"/>
                        </a:rPr>
                        <a:t>10.0</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accent6"/>
                          </a:solidFill>
                          <a:effectLst/>
                          <a:latin typeface="Roboto Condensed" panose="02000000000000000000" pitchFamily="2" charset="0"/>
                          <a:ea typeface="Roboto Condensed" panose="02000000000000000000" pitchFamily="2" charset="0"/>
                          <a:cs typeface="+mn-cs"/>
                        </a:rPr>
                        <a:t>2.9</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0670485"/>
                  </a:ext>
                </a:extLst>
              </a:tr>
              <a:tr h="365760">
                <a:tc>
                  <a:txBody>
                    <a:bodyPr/>
                    <a:lstStyle/>
                    <a:p>
                      <a:pPr algn="l" fontAlgn="b"/>
                      <a:r>
                        <a:rPr lang="en-US" sz="1600" u="none" strike="noStrike" dirty="0">
                          <a:solidFill>
                            <a:schemeClr val="tx2"/>
                          </a:solidFill>
                          <a:effectLst/>
                          <a:latin typeface="Roboto Condensed" panose="02000000000000000000" pitchFamily="2" charset="0"/>
                          <a:ea typeface="Roboto Condensed" panose="02000000000000000000" pitchFamily="2" charset="0"/>
                        </a:rPr>
                        <a:t>Diversification</a:t>
                      </a:r>
                      <a:endParaRPr lang="en-US" sz="1600" b="0" i="0" u="none" strike="noStrike" dirty="0">
                        <a:solidFill>
                          <a:schemeClr val="tx2"/>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2"/>
                          </a:solidFill>
                          <a:effectLst/>
                          <a:latin typeface="Roboto Condensed" panose="02000000000000000000" pitchFamily="2" charset="0"/>
                          <a:ea typeface="Roboto Condensed" panose="02000000000000000000" pitchFamily="2" charset="0"/>
                          <a:cs typeface="+mn-cs"/>
                        </a:rPr>
                        <a:t>1.1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2"/>
                          </a:solidFill>
                          <a:effectLst/>
                          <a:latin typeface="Roboto Condensed" panose="02000000000000000000" pitchFamily="2" charset="0"/>
                          <a:ea typeface="Roboto Condensed" panose="02000000000000000000" pitchFamily="2" charset="0"/>
                          <a:cs typeface="+mn-cs"/>
                        </a:rPr>
                        <a:t>0.4</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2"/>
                          </a:solidFill>
                          <a:effectLst/>
                          <a:latin typeface="Roboto Condensed" panose="02000000000000000000" pitchFamily="2" charset="0"/>
                          <a:ea typeface="Roboto Condensed" panose="02000000000000000000" pitchFamily="2" charset="0"/>
                          <a:cs typeface="+mn-cs"/>
                        </a:rPr>
                        <a:t>5.4</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2"/>
                          </a:solidFill>
                          <a:effectLst/>
                          <a:latin typeface="Roboto Condensed" panose="02000000000000000000" pitchFamily="2" charset="0"/>
                          <a:ea typeface="Roboto Condensed" panose="02000000000000000000" pitchFamily="2" charset="0"/>
                          <a:cs typeface="+mn-cs"/>
                        </a:rPr>
                        <a:t>7.5</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2"/>
                          </a:solidFill>
                          <a:effectLst/>
                          <a:latin typeface="Roboto Condensed" panose="02000000000000000000" pitchFamily="2" charset="0"/>
                          <a:ea typeface="Roboto Condensed" panose="02000000000000000000" pitchFamily="2" charset="0"/>
                          <a:cs typeface="+mn-cs"/>
                        </a:rPr>
                        <a:t>6.8</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2"/>
                          </a:solidFill>
                          <a:effectLst/>
                          <a:latin typeface="Roboto Condensed" panose="02000000000000000000" pitchFamily="2" charset="0"/>
                          <a:ea typeface="Roboto Condensed" panose="02000000000000000000" pitchFamily="2" charset="0"/>
                          <a:cs typeface="+mn-cs"/>
                        </a:rPr>
                        <a:t>2.1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2"/>
                          </a:solidFill>
                          <a:effectLst/>
                          <a:latin typeface="Roboto Condensed" panose="02000000000000000000" pitchFamily="2" charset="0"/>
                          <a:ea typeface="Roboto Condensed" panose="02000000000000000000" pitchFamily="2" charset="0"/>
                          <a:cs typeface="+mn-cs"/>
                        </a:rPr>
                        <a:t>2.5</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2"/>
                          </a:solidFill>
                          <a:effectLst/>
                          <a:latin typeface="Roboto Condensed" panose="02000000000000000000" pitchFamily="2" charset="0"/>
                          <a:ea typeface="Roboto Condensed" panose="02000000000000000000" pitchFamily="2" charset="0"/>
                          <a:cs typeface="+mn-cs"/>
                        </a:rPr>
                        <a:t>6.1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2339990"/>
                  </a:ext>
                </a:extLst>
              </a:tr>
              <a:tr h="36576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Final Score</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0.35</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3.21</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5.35</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10.00</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9.64</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5.71</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8.57</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9.28</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6492022"/>
                  </a:ext>
                </a:extLst>
              </a:tr>
              <a:tr h="36576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Market Cap Weight (%)</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3.5</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41.7</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13.1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2.6</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1.7</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0.6</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7.7</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4250340"/>
                  </a:ext>
                </a:extLst>
              </a:tr>
              <a:tr h="457200">
                <a:tc>
                  <a:txBody>
                    <a:bodyPr/>
                    <a:lstStyle/>
                    <a:p>
                      <a:pPr algn="l" fontAlgn="b"/>
                      <a:r>
                        <a:rPr lang="en-US" sz="1600" b="1" i="1" u="none" strike="noStrike" dirty="0">
                          <a:solidFill>
                            <a:schemeClr val="accent1"/>
                          </a:solidFill>
                          <a:effectLst/>
                          <a:latin typeface="Georgia" panose="02040502050405020303" pitchFamily="18" charset="0"/>
                          <a:ea typeface="Roboto Condensed" panose="02000000000000000000" pitchFamily="2" charset="0"/>
                        </a:rPr>
                        <a:t>Final Weight (%)</a:t>
                      </a: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b="1" i="1" u="none" strike="noStrike" kern="1200" dirty="0">
                          <a:solidFill>
                            <a:schemeClr val="accent1"/>
                          </a:solidFill>
                          <a:effectLst/>
                          <a:latin typeface="Georgia" panose="02040502050405020303" pitchFamily="18" charset="0"/>
                          <a:ea typeface="Roboto Condensed" panose="02000000000000000000" pitchFamily="2" charset="0"/>
                          <a:cs typeface="+mn-cs"/>
                        </a:rPr>
                        <a:t>0.3</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b="1" i="1" u="none" strike="noStrike" kern="1200" dirty="0">
                          <a:solidFill>
                            <a:schemeClr val="accent1"/>
                          </a:solidFill>
                          <a:effectLst/>
                          <a:latin typeface="Georgia" panose="02040502050405020303" pitchFamily="18" charset="0"/>
                          <a:ea typeface="Roboto Condensed" panose="02000000000000000000" pitchFamily="2" charset="0"/>
                          <a:cs typeface="+mn-cs"/>
                        </a:rPr>
                        <a:t>10.3</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b="1" i="1" u="none" strike="noStrike" kern="1200" dirty="0">
                          <a:solidFill>
                            <a:schemeClr val="accent1"/>
                          </a:solidFill>
                          <a:effectLst/>
                          <a:latin typeface="Georgia" panose="02040502050405020303" pitchFamily="18" charset="0"/>
                          <a:ea typeface="Roboto Condensed" panose="02000000000000000000" pitchFamily="2" charset="0"/>
                          <a:cs typeface="+mn-cs"/>
                        </a:rPr>
                        <a:t>9.6</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b="1" i="1" u="none" strike="noStrike" kern="1200" dirty="0">
                          <a:solidFill>
                            <a:schemeClr val="accent1"/>
                          </a:solidFill>
                          <a:effectLst/>
                          <a:latin typeface="Georgia" panose="02040502050405020303" pitchFamily="18" charset="0"/>
                          <a:ea typeface="Roboto Condensed" panose="02000000000000000000" pitchFamily="2" charset="0"/>
                          <a:cs typeface="+mn-cs"/>
                        </a:rPr>
                        <a:t>7.9</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b="1" i="1" u="none" strike="noStrike" kern="1200" dirty="0">
                          <a:solidFill>
                            <a:schemeClr val="accent1"/>
                          </a:solidFill>
                          <a:effectLst/>
                          <a:latin typeface="Georgia" panose="02040502050405020303" pitchFamily="18" charset="0"/>
                          <a:ea typeface="Roboto Condensed" panose="02000000000000000000" pitchFamily="2" charset="0"/>
                          <a:cs typeface="+mn-cs"/>
                        </a:rPr>
                        <a:t>6.2</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b="1" i="1" u="none" strike="noStrike" kern="1200" dirty="0">
                          <a:solidFill>
                            <a:schemeClr val="accent1"/>
                          </a:solidFill>
                          <a:effectLst/>
                          <a:latin typeface="Georgia" panose="02040502050405020303" pitchFamily="18" charset="0"/>
                          <a:ea typeface="Roboto Condensed" panose="02000000000000000000" pitchFamily="2" charset="0"/>
                          <a:cs typeface="+mn-cs"/>
                        </a:rPr>
                        <a:t>2.2</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b="1" i="1" u="none" strike="noStrike" kern="1200" dirty="0">
                          <a:solidFill>
                            <a:schemeClr val="accent1"/>
                          </a:solidFill>
                          <a:effectLst/>
                          <a:latin typeface="Georgia" panose="02040502050405020303" pitchFamily="18" charset="0"/>
                          <a:ea typeface="Roboto Condensed" panose="02000000000000000000" pitchFamily="2" charset="0"/>
                          <a:cs typeface="+mn-cs"/>
                        </a:rPr>
                        <a:t>11.8</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b="1" i="1" u="none" strike="noStrike" kern="1200" dirty="0">
                          <a:solidFill>
                            <a:schemeClr val="accent1"/>
                          </a:solidFill>
                          <a:effectLst/>
                          <a:latin typeface="Georgia" panose="02040502050405020303" pitchFamily="18" charset="0"/>
                          <a:ea typeface="Roboto Condensed" panose="02000000000000000000" pitchFamily="2" charset="0"/>
                          <a:cs typeface="+mn-cs"/>
                        </a:rPr>
                        <a:t>4.9</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716270"/>
                  </a:ext>
                </a:extLst>
              </a:tr>
            </a:tbl>
          </a:graphicData>
        </a:graphic>
      </p:graphicFrame>
    </p:spTree>
    <p:extLst>
      <p:ext uri="{BB962C8B-B14F-4D97-AF65-F5344CB8AC3E}">
        <p14:creationId xmlns:p14="http://schemas.microsoft.com/office/powerpoint/2010/main" val="1759347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endParaRPr lang="en-US" dirty="0"/>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t>A closer look some of the countries</a:t>
            </a:r>
          </a:p>
        </p:txBody>
      </p:sp>
      <p:graphicFrame>
        <p:nvGraphicFramePr>
          <p:cNvPr id="4" name="Table 3">
            <a:extLst>
              <a:ext uri="{FF2B5EF4-FFF2-40B4-BE49-F238E27FC236}">
                <a16:creationId xmlns:a16="http://schemas.microsoft.com/office/drawing/2014/main" id="{4272F432-991B-DB6A-F323-9DFA547D5631}"/>
              </a:ext>
            </a:extLst>
          </p:cNvPr>
          <p:cNvGraphicFramePr>
            <a:graphicFrameLocks noGrp="1"/>
          </p:cNvGraphicFramePr>
          <p:nvPr>
            <p:extLst>
              <p:ext uri="{D42A27DB-BD31-4B8C-83A1-F6EECF244321}">
                <p14:modId xmlns:p14="http://schemas.microsoft.com/office/powerpoint/2010/main" val="3834346464"/>
              </p:ext>
            </p:extLst>
          </p:nvPr>
        </p:nvGraphicFramePr>
        <p:xfrm>
          <a:off x="3868932" y="2019300"/>
          <a:ext cx="6082161" cy="4114800"/>
        </p:xfrm>
        <a:graphic>
          <a:graphicData uri="http://schemas.openxmlformats.org/drawingml/2006/table">
            <a:tbl>
              <a:tblPr>
                <a:tableStyleId>{5C22544A-7EE6-4342-B048-85BDC9FD1C3A}</a:tableStyleId>
              </a:tblPr>
              <a:tblGrid>
                <a:gridCol w="2973201">
                  <a:extLst>
                    <a:ext uri="{9D8B030D-6E8A-4147-A177-3AD203B41FA5}">
                      <a16:colId xmlns:a16="http://schemas.microsoft.com/office/drawing/2014/main" val="1898463280"/>
                    </a:ext>
                  </a:extLst>
                </a:gridCol>
                <a:gridCol w="1554480">
                  <a:extLst>
                    <a:ext uri="{9D8B030D-6E8A-4147-A177-3AD203B41FA5}">
                      <a16:colId xmlns:a16="http://schemas.microsoft.com/office/drawing/2014/main" val="4088223132"/>
                    </a:ext>
                  </a:extLst>
                </a:gridCol>
                <a:gridCol w="1554480">
                  <a:extLst>
                    <a:ext uri="{9D8B030D-6E8A-4147-A177-3AD203B41FA5}">
                      <a16:colId xmlns:a16="http://schemas.microsoft.com/office/drawing/2014/main" val="330847030"/>
                    </a:ext>
                  </a:extLst>
                </a:gridCol>
              </a:tblGrid>
              <a:tr h="365760">
                <a:tc>
                  <a:txBody>
                    <a:bodyPr/>
                    <a:lstStyle/>
                    <a:p>
                      <a:pPr algn="ctr" fontAlgn="ctr"/>
                      <a:endParaRPr lang="en-US" sz="1800" b="1" i="1" u="none" strike="noStrike">
                        <a:solidFill>
                          <a:schemeClr val="accent1"/>
                        </a:solidFill>
                        <a:effectLst/>
                        <a:latin typeface="Georgia" panose="02040502050405020303" pitchFamily="18" charset="0"/>
                      </a:endParaRP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800" b="1" i="1" u="none" strike="noStrike" dirty="0">
                          <a:solidFill>
                            <a:schemeClr val="accent1"/>
                          </a:solidFill>
                          <a:effectLst/>
                          <a:latin typeface="Georgia" panose="02040502050405020303" pitchFamily="18" charset="0"/>
                        </a:rPr>
                        <a:t>China</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800" b="1" i="1" u="none" strike="noStrike" dirty="0">
                          <a:solidFill>
                            <a:schemeClr val="accent1"/>
                          </a:solidFill>
                          <a:effectLst/>
                          <a:latin typeface="Georgia" panose="02040502050405020303" pitchFamily="18" charset="0"/>
                        </a:rPr>
                        <a:t>Vietnam</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7546343"/>
                  </a:ext>
                </a:extLst>
              </a:tr>
              <a:tr h="365760">
                <a:tc>
                  <a:txBody>
                    <a:bodyPr/>
                    <a:lstStyle/>
                    <a:p>
                      <a:pPr algn="l" fontAlgn="b"/>
                      <a:r>
                        <a:rPr lang="en-US" sz="1800" u="none" strike="noStrike" dirty="0">
                          <a:solidFill>
                            <a:schemeClr val="accent1"/>
                          </a:solidFill>
                          <a:effectLst/>
                          <a:latin typeface="Roboto Condensed" panose="02000000000000000000" pitchFamily="2" charset="0"/>
                          <a:ea typeface="Roboto Condensed" panose="02000000000000000000" pitchFamily="2" charset="0"/>
                        </a:rPr>
                        <a:t>Demographics</a:t>
                      </a:r>
                      <a:endParaRPr lang="en-US" sz="18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accent1"/>
                          </a:solidFill>
                          <a:effectLst/>
                          <a:latin typeface="Roboto Condensed" panose="02000000000000000000" pitchFamily="2" charset="0"/>
                          <a:ea typeface="Roboto Condensed" panose="02000000000000000000" pitchFamily="2" charset="0"/>
                          <a:cs typeface="+mn-cs"/>
                        </a:rPr>
                        <a:t>7.1</a:t>
                      </a:r>
                    </a:p>
                  </a:txBody>
                  <a:tcPr marL="0" marR="54864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accent1"/>
                          </a:solidFill>
                          <a:effectLst/>
                          <a:latin typeface="Roboto Condensed" panose="02000000000000000000" pitchFamily="2" charset="0"/>
                          <a:ea typeface="Roboto Condensed" panose="02000000000000000000" pitchFamily="2" charset="0"/>
                          <a:cs typeface="+mn-cs"/>
                        </a:rPr>
                        <a:t>5.7</a:t>
                      </a:r>
                    </a:p>
                  </a:txBody>
                  <a:tcPr marL="0" marR="54864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6940382"/>
                  </a:ext>
                </a:extLst>
              </a:tr>
              <a:tr h="365760">
                <a:tc>
                  <a:txBody>
                    <a:bodyPr/>
                    <a:lstStyle/>
                    <a:p>
                      <a:pPr algn="l" fontAlgn="b"/>
                      <a:r>
                        <a:rPr lang="en-US" sz="1800" u="none" strike="noStrike" dirty="0">
                          <a:solidFill>
                            <a:schemeClr val="bg2"/>
                          </a:solidFill>
                          <a:effectLst/>
                          <a:latin typeface="Roboto Condensed" panose="02000000000000000000" pitchFamily="2" charset="0"/>
                          <a:ea typeface="Roboto Condensed" panose="02000000000000000000" pitchFamily="2" charset="0"/>
                        </a:rPr>
                        <a:t>Predicted Growth</a:t>
                      </a:r>
                      <a:endParaRPr lang="en-US" sz="1800" b="0" i="0" u="none" strike="noStrike" dirty="0">
                        <a:solidFill>
                          <a:schemeClr val="bg2"/>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bg2"/>
                          </a:solidFill>
                          <a:effectLst/>
                          <a:latin typeface="Roboto Condensed" panose="02000000000000000000" pitchFamily="2" charset="0"/>
                          <a:ea typeface="Roboto Condensed" panose="02000000000000000000" pitchFamily="2" charset="0"/>
                          <a:cs typeface="+mn-cs"/>
                        </a:rPr>
                        <a:t>8.6</a:t>
                      </a:r>
                    </a:p>
                  </a:txBody>
                  <a:tcPr marL="0" marR="54864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bg2"/>
                          </a:solidFill>
                          <a:effectLst/>
                          <a:latin typeface="Roboto Condensed" panose="02000000000000000000" pitchFamily="2" charset="0"/>
                          <a:ea typeface="Roboto Condensed" panose="02000000000000000000" pitchFamily="2" charset="0"/>
                          <a:cs typeface="+mn-cs"/>
                        </a:rPr>
                        <a:t>10.0</a:t>
                      </a:r>
                    </a:p>
                  </a:txBody>
                  <a:tcPr marL="0" marR="54864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691729"/>
                  </a:ext>
                </a:extLst>
              </a:tr>
              <a:tr h="365760">
                <a:tc>
                  <a:txBody>
                    <a:bodyPr/>
                    <a:lstStyle/>
                    <a:p>
                      <a:pPr algn="l" fontAlgn="b"/>
                      <a:r>
                        <a:rPr lang="en-US" sz="18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Macroeconomic Risk</a:t>
                      </a:r>
                      <a:endParaRPr lang="en-US" sz="18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3.9</a:t>
                      </a:r>
                    </a:p>
                  </a:txBody>
                  <a:tcPr marL="0" marR="54864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6.1</a:t>
                      </a:r>
                    </a:p>
                  </a:txBody>
                  <a:tcPr marL="0" marR="54864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307822"/>
                  </a:ext>
                </a:extLst>
              </a:tr>
              <a:tr h="365760">
                <a:tc>
                  <a:txBody>
                    <a:bodyPr/>
                    <a:lstStyle/>
                    <a:p>
                      <a:pPr algn="l" fontAlgn="b"/>
                      <a:r>
                        <a:rPr lang="en-US" sz="1800" u="none" strike="noStrike" dirty="0">
                          <a:solidFill>
                            <a:schemeClr val="accent4"/>
                          </a:solidFill>
                          <a:effectLst/>
                          <a:latin typeface="Roboto Condensed" panose="02000000000000000000" pitchFamily="2" charset="0"/>
                          <a:ea typeface="Roboto Condensed" panose="02000000000000000000" pitchFamily="2" charset="0"/>
                        </a:rPr>
                        <a:t>Climate Risk</a:t>
                      </a:r>
                      <a:endParaRPr lang="en-US" sz="18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accent4"/>
                          </a:solidFill>
                          <a:effectLst/>
                          <a:latin typeface="Roboto Condensed" panose="02000000000000000000" pitchFamily="2" charset="0"/>
                          <a:ea typeface="Roboto Condensed" panose="02000000000000000000" pitchFamily="2" charset="0"/>
                          <a:cs typeface="+mn-cs"/>
                        </a:rPr>
                        <a:t>0.7</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accent4"/>
                          </a:solidFill>
                          <a:effectLst/>
                          <a:latin typeface="Roboto Condensed" panose="02000000000000000000" pitchFamily="2" charset="0"/>
                          <a:ea typeface="Roboto Condensed" panose="02000000000000000000" pitchFamily="2" charset="0"/>
                          <a:cs typeface="+mn-cs"/>
                        </a:rPr>
                        <a:t>3.6</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1049383"/>
                  </a:ext>
                </a:extLst>
              </a:tr>
              <a:tr h="365760">
                <a:tc>
                  <a:txBody>
                    <a:bodyPr/>
                    <a:lstStyle/>
                    <a:p>
                      <a:pPr algn="l" fontAlgn="b"/>
                      <a:r>
                        <a:rPr lang="en-US" sz="18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Geopolitical Risk</a:t>
                      </a:r>
                      <a:endParaRPr lang="en-US" sz="18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accent3">
                              <a:lumMod val="50000"/>
                            </a:schemeClr>
                          </a:solidFill>
                          <a:effectLst/>
                          <a:latin typeface="Roboto Condensed" panose="02000000000000000000" pitchFamily="2" charset="0"/>
                          <a:ea typeface="Roboto Condensed" panose="02000000000000000000" pitchFamily="2" charset="0"/>
                          <a:cs typeface="+mn-cs"/>
                        </a:rPr>
                        <a:t>1.4</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accent3">
                              <a:lumMod val="50000"/>
                            </a:schemeClr>
                          </a:solidFill>
                          <a:effectLst/>
                          <a:latin typeface="Roboto Condensed" panose="02000000000000000000" pitchFamily="2" charset="0"/>
                          <a:ea typeface="Roboto Condensed" panose="02000000000000000000" pitchFamily="2" charset="0"/>
                          <a:cs typeface="+mn-cs"/>
                        </a:rPr>
                        <a:t>8.2</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4740945"/>
                  </a:ext>
                </a:extLst>
              </a:tr>
              <a:tr h="365760">
                <a:tc>
                  <a:txBody>
                    <a:bodyPr/>
                    <a:lstStyle/>
                    <a:p>
                      <a:pPr algn="l" fontAlgn="b"/>
                      <a:r>
                        <a:rPr lang="en-US" sz="1800" u="none" strike="noStrike" dirty="0">
                          <a:solidFill>
                            <a:schemeClr val="accent6"/>
                          </a:solidFill>
                          <a:effectLst/>
                          <a:latin typeface="Roboto Condensed" panose="02000000000000000000" pitchFamily="2" charset="0"/>
                          <a:ea typeface="Roboto Condensed" panose="02000000000000000000" pitchFamily="2" charset="0"/>
                        </a:rPr>
                        <a:t>Domestic Policy Risk</a:t>
                      </a:r>
                      <a:endParaRPr lang="en-US" sz="18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accent6"/>
                          </a:solidFill>
                          <a:effectLst/>
                          <a:latin typeface="Roboto Condensed" panose="02000000000000000000" pitchFamily="2" charset="0"/>
                          <a:ea typeface="Roboto Condensed" panose="02000000000000000000" pitchFamily="2" charset="0"/>
                          <a:cs typeface="+mn-cs"/>
                        </a:rPr>
                        <a:t>5.7</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accent6"/>
                          </a:solidFill>
                          <a:effectLst/>
                          <a:latin typeface="Roboto Condensed" panose="02000000000000000000" pitchFamily="2" charset="0"/>
                          <a:ea typeface="Roboto Condensed" panose="02000000000000000000" pitchFamily="2" charset="0"/>
                          <a:cs typeface="+mn-cs"/>
                        </a:rPr>
                        <a:t>2.9</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0670485"/>
                  </a:ext>
                </a:extLst>
              </a:tr>
              <a:tr h="365760">
                <a:tc>
                  <a:txBody>
                    <a:bodyPr/>
                    <a:lstStyle/>
                    <a:p>
                      <a:pPr algn="l" fontAlgn="b"/>
                      <a:r>
                        <a:rPr lang="en-US" sz="1800" u="none" strike="noStrike" dirty="0">
                          <a:solidFill>
                            <a:schemeClr val="tx2"/>
                          </a:solidFill>
                          <a:effectLst/>
                          <a:latin typeface="Roboto Condensed" panose="02000000000000000000" pitchFamily="2" charset="0"/>
                          <a:ea typeface="Roboto Condensed" panose="02000000000000000000" pitchFamily="2" charset="0"/>
                        </a:rPr>
                        <a:t>Diversification</a:t>
                      </a:r>
                      <a:endParaRPr lang="en-US" sz="1800" b="0" i="0" u="none" strike="noStrike" dirty="0">
                        <a:solidFill>
                          <a:schemeClr val="tx2"/>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tx2"/>
                          </a:solidFill>
                          <a:effectLst/>
                          <a:latin typeface="Roboto Condensed" panose="02000000000000000000" pitchFamily="2" charset="0"/>
                          <a:ea typeface="Roboto Condensed" panose="02000000000000000000" pitchFamily="2" charset="0"/>
                          <a:cs typeface="+mn-cs"/>
                        </a:rPr>
                        <a:t>0.4</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tx2"/>
                          </a:solidFill>
                          <a:effectLst/>
                          <a:latin typeface="Roboto Condensed" panose="02000000000000000000" pitchFamily="2" charset="0"/>
                          <a:ea typeface="Roboto Condensed" panose="02000000000000000000" pitchFamily="2" charset="0"/>
                          <a:cs typeface="+mn-cs"/>
                        </a:rPr>
                        <a:t>6.1</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2339990"/>
                  </a:ext>
                </a:extLst>
              </a:tr>
              <a:tr h="36576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Final Score</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3.21</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9.28</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6492022"/>
                  </a:ext>
                </a:extLst>
              </a:tr>
              <a:tr h="36576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Market Cap Weight (%)</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41.7</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1.1</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4250340"/>
                  </a:ext>
                </a:extLst>
              </a:tr>
              <a:tr h="457200">
                <a:tc>
                  <a:txBody>
                    <a:bodyPr/>
                    <a:lstStyle/>
                    <a:p>
                      <a:pPr algn="l" fontAlgn="b"/>
                      <a:r>
                        <a:rPr lang="en-US" sz="2000" b="1" i="1" u="none" strike="noStrike" dirty="0">
                          <a:solidFill>
                            <a:schemeClr val="accent1"/>
                          </a:solidFill>
                          <a:effectLst/>
                          <a:latin typeface="Georgia" panose="02040502050405020303" pitchFamily="18" charset="0"/>
                          <a:ea typeface="Roboto Condensed" panose="02000000000000000000" pitchFamily="2" charset="0"/>
                        </a:rPr>
                        <a:t>Final Weight (%)</a:t>
                      </a: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2000" b="1" i="1" u="none" strike="noStrike" kern="1200" dirty="0">
                          <a:solidFill>
                            <a:schemeClr val="accent1"/>
                          </a:solidFill>
                          <a:effectLst/>
                          <a:latin typeface="Georgia" panose="02040502050405020303" pitchFamily="18" charset="0"/>
                          <a:ea typeface="Roboto Condensed" panose="02000000000000000000" pitchFamily="2" charset="0"/>
                          <a:cs typeface="+mn-cs"/>
                        </a:rPr>
                        <a:t>10.3</a:t>
                      </a:r>
                    </a:p>
                  </a:txBody>
                  <a:tcPr marL="8610" marR="54864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2000" b="1" i="1" u="none" strike="noStrike" kern="1200" dirty="0">
                          <a:solidFill>
                            <a:schemeClr val="accent1"/>
                          </a:solidFill>
                          <a:effectLst/>
                          <a:latin typeface="Georgia" panose="02040502050405020303" pitchFamily="18" charset="0"/>
                          <a:ea typeface="Roboto Condensed" panose="02000000000000000000" pitchFamily="2" charset="0"/>
                          <a:cs typeface="+mn-cs"/>
                        </a:rPr>
                        <a:t>4.9</a:t>
                      </a:r>
                    </a:p>
                  </a:txBody>
                  <a:tcPr marL="8610" marR="54864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716270"/>
                  </a:ext>
                </a:extLst>
              </a:tr>
            </a:tbl>
          </a:graphicData>
        </a:graphic>
      </p:graphicFrame>
    </p:spTree>
    <p:extLst>
      <p:ext uri="{BB962C8B-B14F-4D97-AF65-F5344CB8AC3E}">
        <p14:creationId xmlns:p14="http://schemas.microsoft.com/office/powerpoint/2010/main" val="40697398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endParaRPr lang="en-US" dirty="0"/>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t>The ”new Normal” reduces country concertation without affecting other dimensions </a:t>
            </a:r>
          </a:p>
        </p:txBody>
      </p:sp>
      <p:graphicFrame>
        <p:nvGraphicFramePr>
          <p:cNvPr id="7" name="Chart 6">
            <a:extLst>
              <a:ext uri="{FF2B5EF4-FFF2-40B4-BE49-F238E27FC236}">
                <a16:creationId xmlns:a16="http://schemas.microsoft.com/office/drawing/2014/main" id="{D86120C2-97BE-B884-B772-5A3118534006}"/>
              </a:ext>
            </a:extLst>
          </p:cNvPr>
          <p:cNvGraphicFramePr>
            <a:graphicFrameLocks/>
          </p:cNvGraphicFramePr>
          <p:nvPr>
            <p:extLst>
              <p:ext uri="{D42A27DB-BD31-4B8C-83A1-F6EECF244321}">
                <p14:modId xmlns:p14="http://schemas.microsoft.com/office/powerpoint/2010/main" val="3263737806"/>
              </p:ext>
            </p:extLst>
          </p:nvPr>
        </p:nvGraphicFramePr>
        <p:xfrm>
          <a:off x="991299" y="2106453"/>
          <a:ext cx="6870700" cy="4572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8">
            <a:extLst>
              <a:ext uri="{FF2B5EF4-FFF2-40B4-BE49-F238E27FC236}">
                <a16:creationId xmlns:a16="http://schemas.microsoft.com/office/drawing/2014/main" id="{784EF7BC-C04D-9C0B-E353-9ABAE4A9EC63}"/>
              </a:ext>
            </a:extLst>
          </p:cNvPr>
          <p:cNvGraphicFramePr>
            <a:graphicFrameLocks noGrp="1"/>
          </p:cNvGraphicFramePr>
          <p:nvPr>
            <p:extLst>
              <p:ext uri="{D42A27DB-BD31-4B8C-83A1-F6EECF244321}">
                <p14:modId xmlns:p14="http://schemas.microsoft.com/office/powerpoint/2010/main" val="3713701245"/>
              </p:ext>
            </p:extLst>
          </p:nvPr>
        </p:nvGraphicFramePr>
        <p:xfrm>
          <a:off x="8225224" y="2071283"/>
          <a:ext cx="4754880" cy="1624965"/>
        </p:xfrm>
        <a:graphic>
          <a:graphicData uri="http://schemas.openxmlformats.org/drawingml/2006/table">
            <a:tbl>
              <a:tblPr>
                <a:tableStyleId>{5C22544A-7EE6-4342-B048-85BDC9FD1C3A}</a:tableStyleId>
              </a:tblPr>
              <a:tblGrid>
                <a:gridCol w="2651760">
                  <a:extLst>
                    <a:ext uri="{9D8B030D-6E8A-4147-A177-3AD203B41FA5}">
                      <a16:colId xmlns:a16="http://schemas.microsoft.com/office/drawing/2014/main" val="3964972092"/>
                    </a:ext>
                  </a:extLst>
                </a:gridCol>
                <a:gridCol w="914400">
                  <a:extLst>
                    <a:ext uri="{9D8B030D-6E8A-4147-A177-3AD203B41FA5}">
                      <a16:colId xmlns:a16="http://schemas.microsoft.com/office/drawing/2014/main" val="1767694857"/>
                    </a:ext>
                  </a:extLst>
                </a:gridCol>
                <a:gridCol w="1188720">
                  <a:extLst>
                    <a:ext uri="{9D8B030D-6E8A-4147-A177-3AD203B41FA5}">
                      <a16:colId xmlns:a16="http://schemas.microsoft.com/office/drawing/2014/main" val="527211555"/>
                    </a:ext>
                  </a:extLst>
                </a:gridCol>
              </a:tblGrid>
              <a:tr h="190500">
                <a:tc>
                  <a:txBody>
                    <a:bodyPr/>
                    <a:lstStyle/>
                    <a:p>
                      <a:pPr algn="l" fontAlgn="b"/>
                      <a:endParaRPr lang="en-US" sz="1600" b="1" i="1" u="none" strike="noStrike" dirty="0">
                        <a:solidFill>
                          <a:schemeClr val="accent1"/>
                        </a:solidFill>
                        <a:effectLst/>
                        <a:latin typeface="Georgia" panose="02040502050405020303" pitchFamily="18" charset="0"/>
                      </a:endParaRPr>
                    </a:p>
                  </a:txBody>
                  <a:tcPr marL="9525" marR="9525" marT="9525" marB="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1" i="1" u="none" strike="noStrike" dirty="0">
                          <a:solidFill>
                            <a:schemeClr val="accent1"/>
                          </a:solidFill>
                          <a:effectLst/>
                          <a:latin typeface="Georgia" panose="02040502050405020303" pitchFamily="18" charset="0"/>
                        </a:rPr>
                        <a:t>MSCI</a:t>
                      </a:r>
                    </a:p>
                  </a:txBody>
                  <a:tcPr marL="9525" marR="9525" marT="9525" marB="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1" i="1" u="none" strike="noStrike" dirty="0">
                          <a:solidFill>
                            <a:schemeClr val="accent1"/>
                          </a:solidFill>
                          <a:effectLst/>
                          <a:latin typeface="Georgia" panose="02040502050405020303" pitchFamily="18" charset="0"/>
                        </a:rPr>
                        <a:t>New EM</a:t>
                      </a:r>
                    </a:p>
                  </a:txBody>
                  <a:tcPr marL="9525" marR="9525" marT="9525" marB="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1930697"/>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5-day liquidity (% of MSCO)</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9525" marR="9525" marT="9525"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u="none" strike="noStrike" dirty="0">
                          <a:effectLst/>
                          <a:latin typeface="Roboto Condensed" panose="02000000000000000000" pitchFamily="2" charset="0"/>
                          <a:ea typeface="Roboto Condensed" panose="02000000000000000000" pitchFamily="2" charset="0"/>
                        </a:rPr>
                        <a:t>100%</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9525" marR="9525" marT="9525"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u="none" strike="noStrike" dirty="0">
                          <a:effectLst/>
                          <a:latin typeface="Roboto Condensed" panose="02000000000000000000" pitchFamily="2" charset="0"/>
                          <a:ea typeface="Roboto Condensed" panose="02000000000000000000" pitchFamily="2" charset="0"/>
                        </a:rPr>
                        <a:t>94%</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9525" marR="9525" marT="9525"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0390363"/>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10-day liquidity (% of MSCI)</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9525" marR="9525" marT="9525"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u="none" strike="noStrike" dirty="0">
                          <a:effectLst/>
                          <a:latin typeface="Roboto Condensed" panose="02000000000000000000" pitchFamily="2" charset="0"/>
                          <a:ea typeface="Roboto Condensed" panose="02000000000000000000" pitchFamily="2" charset="0"/>
                        </a:rPr>
                        <a:t>100%</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9525" marR="9525" marT="9525"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u="none" strike="noStrike" dirty="0">
                          <a:effectLst/>
                          <a:latin typeface="Roboto Condensed" panose="02000000000000000000" pitchFamily="2" charset="0"/>
                          <a:ea typeface="Roboto Condensed" panose="02000000000000000000" pitchFamily="2" charset="0"/>
                        </a:rPr>
                        <a:t>97%</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9525" marR="9525" marT="9525"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9012380"/>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Top 10 Stocks (%)</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9525" marR="9525" marT="9525"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u="none" strike="noStrike" dirty="0">
                          <a:effectLst/>
                          <a:latin typeface="Roboto Condensed" panose="02000000000000000000" pitchFamily="2" charset="0"/>
                          <a:ea typeface="Roboto Condensed" panose="02000000000000000000" pitchFamily="2" charset="0"/>
                        </a:rPr>
                        <a:t>22.1%</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9525" marR="9525" marT="9525"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u="none" strike="noStrike" dirty="0">
                          <a:effectLst/>
                          <a:latin typeface="Roboto Condensed" panose="02000000000000000000" pitchFamily="2" charset="0"/>
                          <a:ea typeface="Roboto Condensed" panose="02000000000000000000" pitchFamily="2" charset="0"/>
                        </a:rPr>
                        <a:t>19.0%</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9525" marR="9525" marT="9525"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9989254"/>
                  </a:ext>
                </a:extLst>
              </a:tr>
            </a:tbl>
          </a:graphicData>
        </a:graphic>
      </p:graphicFrame>
      <p:sp>
        <p:nvSpPr>
          <p:cNvPr id="4" name="Text Box 3">
            <a:extLst>
              <a:ext uri="{FF2B5EF4-FFF2-40B4-BE49-F238E27FC236}">
                <a16:creationId xmlns:a16="http://schemas.microsoft.com/office/drawing/2014/main" id="{11CDD84E-D34F-F4B6-C44C-B510858AAD8A}"/>
              </a:ext>
            </a:extLst>
          </p:cNvPr>
          <p:cNvSpPr txBox="1">
            <a:spLocks noChangeArrowheads="1"/>
          </p:cNvSpPr>
          <p:nvPr/>
        </p:nvSpPr>
        <p:spPr bwMode="auto">
          <a:xfrm>
            <a:off x="991300" y="1671061"/>
            <a:ext cx="6731864" cy="400110"/>
          </a:xfrm>
          <a:prstGeom prst="rect">
            <a:avLst/>
          </a:prstGeom>
          <a:noFill/>
          <a:ln w="9525">
            <a:noFill/>
            <a:miter lim="800000"/>
            <a:headEnd/>
            <a:tailEnd/>
          </a:ln>
        </p:spPr>
        <p:txBody>
          <a:bodyPr wrap="square">
            <a:spAutoFit/>
          </a:bodyPr>
          <a:lstStyle/>
          <a:p>
            <a:pPr eaLnBrk="0" hangingPunct="0"/>
            <a:r>
              <a:rPr lang="en-US" sz="2000" dirty="0">
                <a:solidFill>
                  <a:schemeClr val="accent2"/>
                </a:solidFill>
                <a:latin typeface="Roboto Condensed" panose="02000000000000000000" pitchFamily="2" charset="0"/>
              </a:rPr>
              <a:t>“NEW NORMAL” CONCENTRATION</a:t>
            </a:r>
          </a:p>
        </p:txBody>
      </p:sp>
    </p:spTree>
    <p:extLst>
      <p:ext uri="{BB962C8B-B14F-4D97-AF65-F5344CB8AC3E}">
        <p14:creationId xmlns:p14="http://schemas.microsoft.com/office/powerpoint/2010/main" val="2086581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2A7E48-0BF9-83C1-DC7A-F1777456EEE2}"/>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9DD25E6F-D2BD-9ED1-3D36-E8DADC834855}"/>
              </a:ext>
            </a:extLst>
          </p:cNvPr>
          <p:cNvSpPr>
            <a:spLocks noGrp="1"/>
          </p:cNvSpPr>
          <p:nvPr>
            <p:ph type="title"/>
          </p:nvPr>
        </p:nvSpPr>
        <p:spPr/>
        <p:txBody>
          <a:bodyPr/>
          <a:lstStyle/>
          <a:p>
            <a:r>
              <a:rPr lang="en-US" dirty="0"/>
              <a:t>China and Taiwan are around 20% combined</a:t>
            </a:r>
          </a:p>
        </p:txBody>
      </p:sp>
      <p:graphicFrame>
        <p:nvGraphicFramePr>
          <p:cNvPr id="5" name="Chart 4">
            <a:extLst>
              <a:ext uri="{FF2B5EF4-FFF2-40B4-BE49-F238E27FC236}">
                <a16:creationId xmlns:a16="http://schemas.microsoft.com/office/drawing/2014/main" id="{CA6C965D-FB0E-1643-A77D-B4C929CAB55A}"/>
              </a:ext>
            </a:extLst>
          </p:cNvPr>
          <p:cNvGraphicFramePr>
            <a:graphicFrameLocks/>
          </p:cNvGraphicFramePr>
          <p:nvPr>
            <p:extLst>
              <p:ext uri="{D42A27DB-BD31-4B8C-83A1-F6EECF244321}">
                <p14:modId xmlns:p14="http://schemas.microsoft.com/office/powerpoint/2010/main" val="3270241831"/>
              </p:ext>
            </p:extLst>
          </p:nvPr>
        </p:nvGraphicFramePr>
        <p:xfrm>
          <a:off x="1884381" y="2047875"/>
          <a:ext cx="10058400" cy="4572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Table 7">
            <a:extLst>
              <a:ext uri="{FF2B5EF4-FFF2-40B4-BE49-F238E27FC236}">
                <a16:creationId xmlns:a16="http://schemas.microsoft.com/office/drawing/2014/main" id="{3EBDFE2A-BE50-BD14-6FFC-7A01D701307D}"/>
              </a:ext>
            </a:extLst>
          </p:cNvPr>
          <p:cNvGraphicFramePr>
            <a:graphicFrameLocks noGrp="1"/>
          </p:cNvGraphicFramePr>
          <p:nvPr>
            <p:extLst>
              <p:ext uri="{D42A27DB-BD31-4B8C-83A1-F6EECF244321}">
                <p14:modId xmlns:p14="http://schemas.microsoft.com/office/powerpoint/2010/main" val="2551172617"/>
              </p:ext>
            </p:extLst>
          </p:nvPr>
        </p:nvGraphicFramePr>
        <p:xfrm>
          <a:off x="7146157" y="1610550"/>
          <a:ext cx="4663440" cy="138176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590062158"/>
                    </a:ext>
                  </a:extLst>
                </a:gridCol>
                <a:gridCol w="1645920">
                  <a:extLst>
                    <a:ext uri="{9D8B030D-6E8A-4147-A177-3AD203B41FA5}">
                      <a16:colId xmlns:a16="http://schemas.microsoft.com/office/drawing/2014/main" val="3177419071"/>
                    </a:ext>
                  </a:extLst>
                </a:gridCol>
                <a:gridCol w="1280160">
                  <a:extLst>
                    <a:ext uri="{9D8B030D-6E8A-4147-A177-3AD203B41FA5}">
                      <a16:colId xmlns:a16="http://schemas.microsoft.com/office/drawing/2014/main" val="162779588"/>
                    </a:ext>
                  </a:extLst>
                </a:gridCol>
              </a:tblGrid>
              <a:tr h="370840">
                <a:tc>
                  <a:txBody>
                    <a:bodyPr/>
                    <a:lstStyle/>
                    <a:p>
                      <a:endParaRPr lang="en-US" sz="1800" i="1" dirty="0">
                        <a:solidFill>
                          <a:schemeClr val="accent1"/>
                        </a:solidFill>
                        <a:latin typeface="Georgia" panose="02040502050405020303" pitchFamily="18" charset="0"/>
                      </a:endParaRPr>
                    </a:p>
                  </a:txBody>
                  <a:tcP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i="1" dirty="0">
                          <a:solidFill>
                            <a:schemeClr val="accent1"/>
                          </a:solidFill>
                          <a:latin typeface="Georgia" panose="02040502050405020303" pitchFamily="18" charset="0"/>
                        </a:rPr>
                        <a:t>Market Cap Weighted</a:t>
                      </a:r>
                    </a:p>
                  </a:txBody>
                  <a:tcP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i="1" dirty="0">
                          <a:solidFill>
                            <a:schemeClr val="accent1"/>
                          </a:solidFill>
                          <a:latin typeface="Georgia" panose="02040502050405020303" pitchFamily="18" charset="0"/>
                        </a:rPr>
                        <a:t>New</a:t>
                      </a:r>
                      <a:br>
                        <a:rPr lang="en-US" sz="1800" i="1" dirty="0">
                          <a:solidFill>
                            <a:schemeClr val="accent1"/>
                          </a:solidFill>
                          <a:latin typeface="Georgia" panose="02040502050405020303" pitchFamily="18" charset="0"/>
                        </a:rPr>
                      </a:br>
                      <a:r>
                        <a:rPr lang="en-US" sz="1800" i="1" dirty="0">
                          <a:solidFill>
                            <a:schemeClr val="accent1"/>
                          </a:solidFill>
                          <a:latin typeface="Georgia" panose="02040502050405020303" pitchFamily="18" charset="0"/>
                        </a:rPr>
                        <a:t>Normal</a:t>
                      </a:r>
                    </a:p>
                  </a:txBody>
                  <a:tcP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57715705"/>
                  </a:ext>
                </a:extLst>
              </a:tr>
              <a:tr h="370840">
                <a:tc>
                  <a:txBody>
                    <a:bodyPr/>
                    <a:lstStyle/>
                    <a:p>
                      <a:r>
                        <a:rPr lang="en-US" sz="1800" dirty="0">
                          <a:solidFill>
                            <a:schemeClr val="tx1"/>
                          </a:solidFill>
                          <a:latin typeface="Roboto Condensed" panose="02000000000000000000" pitchFamily="2" charset="0"/>
                          <a:ea typeface="Roboto Condensed" panose="02000000000000000000" pitchFamily="2" charset="0"/>
                        </a:rPr>
                        <a:t>Concentration</a:t>
                      </a: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latin typeface="Roboto Condensed" panose="02000000000000000000" pitchFamily="2" charset="0"/>
                          <a:ea typeface="Roboto Condensed" panose="02000000000000000000" pitchFamily="2" charset="0"/>
                        </a:rPr>
                        <a:t>16%</a:t>
                      </a: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latin typeface="Roboto Condensed" panose="02000000000000000000" pitchFamily="2" charset="0"/>
                          <a:ea typeface="Roboto Condensed" panose="02000000000000000000" pitchFamily="2" charset="0"/>
                        </a:rPr>
                        <a:t>8%</a:t>
                      </a: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160638"/>
                  </a:ext>
                </a:extLst>
              </a:tr>
              <a:tr h="370840">
                <a:tc>
                  <a:txBody>
                    <a:bodyPr/>
                    <a:lstStyle/>
                    <a:p>
                      <a:r>
                        <a:rPr lang="en-US" sz="1800" dirty="0">
                          <a:solidFill>
                            <a:schemeClr val="tx1"/>
                          </a:solidFill>
                          <a:latin typeface="Roboto Condensed" panose="02000000000000000000" pitchFamily="2" charset="0"/>
                          <a:ea typeface="Roboto Condensed" panose="02000000000000000000" pitchFamily="2" charset="0"/>
                        </a:rPr>
                        <a:t>China &amp; Taiwan</a:t>
                      </a: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latin typeface="Roboto Condensed" panose="02000000000000000000" pitchFamily="2" charset="0"/>
                          <a:ea typeface="Roboto Condensed" panose="02000000000000000000" pitchFamily="2" charset="0"/>
                        </a:rPr>
                        <a:t>45%</a:t>
                      </a: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latin typeface="Roboto Condensed" panose="02000000000000000000" pitchFamily="2" charset="0"/>
                          <a:ea typeface="Roboto Condensed" panose="02000000000000000000" pitchFamily="2" charset="0"/>
                        </a:rPr>
                        <a:t>21%</a:t>
                      </a: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6655599"/>
                  </a:ext>
                </a:extLst>
              </a:tr>
            </a:tbl>
          </a:graphicData>
        </a:graphic>
      </p:graphicFrame>
    </p:spTree>
    <p:extLst>
      <p:ext uri="{BB962C8B-B14F-4D97-AF65-F5344CB8AC3E}">
        <p14:creationId xmlns:p14="http://schemas.microsoft.com/office/powerpoint/2010/main" val="33972842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endParaRPr lang="en-US" dirty="0"/>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t>Sector weights of the “new normal” are similar to the MSCI</a:t>
            </a:r>
          </a:p>
        </p:txBody>
      </p:sp>
      <p:graphicFrame>
        <p:nvGraphicFramePr>
          <p:cNvPr id="4" name="Chart 3">
            <a:extLst>
              <a:ext uri="{FF2B5EF4-FFF2-40B4-BE49-F238E27FC236}">
                <a16:creationId xmlns:a16="http://schemas.microsoft.com/office/drawing/2014/main" id="{3B55EA52-9E94-9049-8FB7-5EA5409FC6E7}"/>
              </a:ext>
            </a:extLst>
          </p:cNvPr>
          <p:cNvGraphicFramePr>
            <a:graphicFrameLocks/>
          </p:cNvGraphicFramePr>
          <p:nvPr>
            <p:extLst>
              <p:ext uri="{D42A27DB-BD31-4B8C-83A1-F6EECF244321}">
                <p14:modId xmlns:p14="http://schemas.microsoft.com/office/powerpoint/2010/main" val="4191937319"/>
              </p:ext>
            </p:extLst>
          </p:nvPr>
        </p:nvGraphicFramePr>
        <p:xfrm>
          <a:off x="1880334" y="2115185"/>
          <a:ext cx="100584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Box 3">
            <a:extLst>
              <a:ext uri="{FF2B5EF4-FFF2-40B4-BE49-F238E27FC236}">
                <a16:creationId xmlns:a16="http://schemas.microsoft.com/office/drawing/2014/main" id="{42EA6E45-B19C-A79D-2312-C97B14DAFE5A}"/>
              </a:ext>
            </a:extLst>
          </p:cNvPr>
          <p:cNvSpPr txBox="1">
            <a:spLocks noChangeArrowheads="1"/>
          </p:cNvSpPr>
          <p:nvPr/>
        </p:nvSpPr>
        <p:spPr bwMode="auto">
          <a:xfrm>
            <a:off x="1880334" y="1671061"/>
            <a:ext cx="6731864" cy="400110"/>
          </a:xfrm>
          <a:prstGeom prst="rect">
            <a:avLst/>
          </a:prstGeom>
          <a:noFill/>
          <a:ln w="9525">
            <a:noFill/>
            <a:miter lim="800000"/>
            <a:headEnd/>
            <a:tailEnd/>
          </a:ln>
        </p:spPr>
        <p:txBody>
          <a:bodyPr wrap="square">
            <a:spAutoFit/>
          </a:bodyPr>
          <a:lstStyle/>
          <a:p>
            <a:pPr eaLnBrk="0" hangingPunct="0"/>
            <a:r>
              <a:rPr lang="en-US" sz="2000" dirty="0">
                <a:solidFill>
                  <a:schemeClr val="accent2"/>
                </a:solidFill>
                <a:latin typeface="Roboto Condensed" panose="02000000000000000000" pitchFamily="2" charset="0"/>
              </a:rPr>
              <a:t>SECTOR WEIGHTS</a:t>
            </a:r>
          </a:p>
        </p:txBody>
      </p:sp>
      <p:sp>
        <p:nvSpPr>
          <p:cNvPr id="7" name="TextBox 6">
            <a:extLst>
              <a:ext uri="{FF2B5EF4-FFF2-40B4-BE49-F238E27FC236}">
                <a16:creationId xmlns:a16="http://schemas.microsoft.com/office/drawing/2014/main" id="{ECA2CC0B-04C3-A34A-4F38-24329C284E2A}"/>
              </a:ext>
            </a:extLst>
          </p:cNvPr>
          <p:cNvSpPr txBox="1"/>
          <p:nvPr/>
        </p:nvSpPr>
        <p:spPr>
          <a:xfrm>
            <a:off x="2795215" y="5617654"/>
            <a:ext cx="322524" cy="307777"/>
          </a:xfrm>
          <a:prstGeom prst="rect">
            <a:avLst/>
          </a:prstGeom>
          <a:noFill/>
        </p:spPr>
        <p:txBody>
          <a:bodyPr wrap="none" rtlCol="0">
            <a:spAutoFit/>
          </a:bodyPr>
          <a:lstStyle/>
          <a:p>
            <a:pPr algn="ctr"/>
            <a:r>
              <a:rPr lang="en-US" sz="1400" dirty="0">
                <a:latin typeface="Roboto Condensed" panose="02000000000000000000" pitchFamily="2" charset="0"/>
                <a:ea typeface="Roboto Condensed" panose="02000000000000000000" pitchFamily="2" charset="0"/>
              </a:rPr>
              <a:t>IT</a:t>
            </a:r>
          </a:p>
        </p:txBody>
      </p:sp>
      <p:sp>
        <p:nvSpPr>
          <p:cNvPr id="8" name="TextBox 7">
            <a:extLst>
              <a:ext uri="{FF2B5EF4-FFF2-40B4-BE49-F238E27FC236}">
                <a16:creationId xmlns:a16="http://schemas.microsoft.com/office/drawing/2014/main" id="{5797E7E4-0C39-8891-E25F-FF2396DDA513}"/>
              </a:ext>
            </a:extLst>
          </p:cNvPr>
          <p:cNvSpPr txBox="1"/>
          <p:nvPr/>
        </p:nvSpPr>
        <p:spPr>
          <a:xfrm>
            <a:off x="3349694" y="5617654"/>
            <a:ext cx="902811" cy="523220"/>
          </a:xfrm>
          <a:prstGeom prst="rect">
            <a:avLst/>
          </a:prstGeom>
          <a:noFill/>
        </p:spPr>
        <p:txBody>
          <a:bodyPr wrap="none" rtlCol="0">
            <a:spAutoFit/>
          </a:bodyPr>
          <a:lstStyle/>
          <a:p>
            <a:pPr algn="ctr"/>
            <a:r>
              <a:rPr lang="en-US" sz="1400" dirty="0">
                <a:latin typeface="Roboto Condensed" panose="02000000000000000000" pitchFamily="2" charset="0"/>
                <a:ea typeface="Roboto Condensed" panose="02000000000000000000" pitchFamily="2" charset="0"/>
              </a:rPr>
              <a:t>Consumer</a:t>
            </a:r>
            <a:br>
              <a:rPr lang="en-US" sz="1400" dirty="0">
                <a:latin typeface="Roboto Condensed" panose="02000000000000000000" pitchFamily="2" charset="0"/>
                <a:ea typeface="Roboto Condensed" panose="02000000000000000000" pitchFamily="2" charset="0"/>
              </a:rPr>
            </a:br>
            <a:r>
              <a:rPr lang="en-US" sz="1400" dirty="0">
                <a:latin typeface="Roboto Condensed" panose="02000000000000000000" pitchFamily="2" charset="0"/>
                <a:ea typeface="Roboto Condensed" panose="02000000000000000000" pitchFamily="2" charset="0"/>
              </a:rPr>
              <a:t>Services</a:t>
            </a:r>
          </a:p>
        </p:txBody>
      </p:sp>
      <p:sp>
        <p:nvSpPr>
          <p:cNvPr id="9" name="TextBox 8">
            <a:extLst>
              <a:ext uri="{FF2B5EF4-FFF2-40B4-BE49-F238E27FC236}">
                <a16:creationId xmlns:a16="http://schemas.microsoft.com/office/drawing/2014/main" id="{696596A9-7325-2A45-01D6-72F2BCC65C56}"/>
              </a:ext>
            </a:extLst>
          </p:cNvPr>
          <p:cNvSpPr txBox="1"/>
          <p:nvPr/>
        </p:nvSpPr>
        <p:spPr>
          <a:xfrm>
            <a:off x="4090556" y="5617654"/>
            <a:ext cx="1119217" cy="523220"/>
          </a:xfrm>
          <a:prstGeom prst="rect">
            <a:avLst/>
          </a:prstGeom>
          <a:noFill/>
        </p:spPr>
        <p:txBody>
          <a:bodyPr wrap="none" rtlCol="0">
            <a:spAutoFit/>
          </a:bodyPr>
          <a:lstStyle/>
          <a:p>
            <a:pPr algn="ctr"/>
            <a:r>
              <a:rPr lang="en-US" sz="1400" dirty="0">
                <a:latin typeface="Roboto Condensed" panose="02000000000000000000" pitchFamily="2" charset="0"/>
                <a:ea typeface="Roboto Condensed" panose="02000000000000000000" pitchFamily="2" charset="0"/>
              </a:rPr>
              <a:t>Consumer</a:t>
            </a:r>
            <a:br>
              <a:rPr lang="en-US" sz="1400" dirty="0">
                <a:latin typeface="Roboto Condensed" panose="02000000000000000000" pitchFamily="2" charset="0"/>
                <a:ea typeface="Roboto Condensed" panose="02000000000000000000" pitchFamily="2" charset="0"/>
              </a:rPr>
            </a:br>
            <a:r>
              <a:rPr lang="en-US" sz="1400" dirty="0">
                <a:latin typeface="Roboto Condensed" panose="02000000000000000000" pitchFamily="2" charset="0"/>
                <a:ea typeface="Roboto Condensed" panose="02000000000000000000" pitchFamily="2" charset="0"/>
              </a:rPr>
              <a:t>Discretionary</a:t>
            </a:r>
          </a:p>
        </p:txBody>
      </p:sp>
      <p:sp>
        <p:nvSpPr>
          <p:cNvPr id="10" name="TextBox 9">
            <a:extLst>
              <a:ext uri="{FF2B5EF4-FFF2-40B4-BE49-F238E27FC236}">
                <a16:creationId xmlns:a16="http://schemas.microsoft.com/office/drawing/2014/main" id="{8CC388E1-24D3-4051-7BEA-5DEF15C0850A}"/>
              </a:ext>
            </a:extLst>
          </p:cNvPr>
          <p:cNvSpPr txBox="1"/>
          <p:nvPr/>
        </p:nvSpPr>
        <p:spPr>
          <a:xfrm>
            <a:off x="5153334" y="5617654"/>
            <a:ext cx="662361" cy="307777"/>
          </a:xfrm>
          <a:prstGeom prst="rect">
            <a:avLst/>
          </a:prstGeom>
          <a:noFill/>
        </p:spPr>
        <p:txBody>
          <a:bodyPr wrap="none" rtlCol="0">
            <a:spAutoFit/>
          </a:bodyPr>
          <a:lstStyle/>
          <a:p>
            <a:pPr algn="ctr"/>
            <a:r>
              <a:rPr lang="en-US" sz="1400" dirty="0">
                <a:latin typeface="Roboto Condensed" panose="02000000000000000000" pitchFamily="2" charset="0"/>
                <a:ea typeface="Roboto Condensed" panose="02000000000000000000" pitchFamily="2" charset="0"/>
              </a:rPr>
              <a:t>Energy</a:t>
            </a:r>
          </a:p>
        </p:txBody>
      </p:sp>
      <p:sp>
        <p:nvSpPr>
          <p:cNvPr id="11" name="TextBox 10">
            <a:extLst>
              <a:ext uri="{FF2B5EF4-FFF2-40B4-BE49-F238E27FC236}">
                <a16:creationId xmlns:a16="http://schemas.microsoft.com/office/drawing/2014/main" id="{878A703E-3B21-1FBF-9FD6-AA16316495A5}"/>
              </a:ext>
            </a:extLst>
          </p:cNvPr>
          <p:cNvSpPr txBox="1"/>
          <p:nvPr/>
        </p:nvSpPr>
        <p:spPr>
          <a:xfrm>
            <a:off x="5899936" y="5617654"/>
            <a:ext cx="849913" cy="307777"/>
          </a:xfrm>
          <a:prstGeom prst="rect">
            <a:avLst/>
          </a:prstGeom>
          <a:noFill/>
        </p:spPr>
        <p:txBody>
          <a:bodyPr wrap="none" rtlCol="0">
            <a:spAutoFit/>
          </a:bodyPr>
          <a:lstStyle/>
          <a:p>
            <a:pPr algn="ctr"/>
            <a:r>
              <a:rPr lang="en-US" sz="1400" dirty="0">
                <a:latin typeface="Roboto Condensed" panose="02000000000000000000" pitchFamily="2" charset="0"/>
                <a:ea typeface="Roboto Condensed" panose="02000000000000000000" pitchFamily="2" charset="0"/>
              </a:rPr>
              <a:t>Materials</a:t>
            </a:r>
          </a:p>
        </p:txBody>
      </p:sp>
      <p:sp>
        <p:nvSpPr>
          <p:cNvPr id="12" name="TextBox 11">
            <a:extLst>
              <a:ext uri="{FF2B5EF4-FFF2-40B4-BE49-F238E27FC236}">
                <a16:creationId xmlns:a16="http://schemas.microsoft.com/office/drawing/2014/main" id="{FDE346AD-CB93-458A-37A6-7477FFEC1C35}"/>
              </a:ext>
            </a:extLst>
          </p:cNvPr>
          <p:cNvSpPr txBox="1"/>
          <p:nvPr/>
        </p:nvSpPr>
        <p:spPr>
          <a:xfrm>
            <a:off x="6707478" y="5617654"/>
            <a:ext cx="907621" cy="307777"/>
          </a:xfrm>
          <a:prstGeom prst="rect">
            <a:avLst/>
          </a:prstGeom>
          <a:noFill/>
        </p:spPr>
        <p:txBody>
          <a:bodyPr wrap="none" rtlCol="0">
            <a:spAutoFit/>
          </a:bodyPr>
          <a:lstStyle/>
          <a:p>
            <a:pPr algn="ctr"/>
            <a:r>
              <a:rPr lang="en-US" sz="1400" dirty="0">
                <a:latin typeface="Roboto Condensed" panose="02000000000000000000" pitchFamily="2" charset="0"/>
                <a:ea typeface="Roboto Condensed" panose="02000000000000000000" pitchFamily="2" charset="0"/>
              </a:rPr>
              <a:t>Financials</a:t>
            </a:r>
          </a:p>
        </p:txBody>
      </p:sp>
      <p:sp>
        <p:nvSpPr>
          <p:cNvPr id="13" name="TextBox 12">
            <a:extLst>
              <a:ext uri="{FF2B5EF4-FFF2-40B4-BE49-F238E27FC236}">
                <a16:creationId xmlns:a16="http://schemas.microsoft.com/office/drawing/2014/main" id="{2BA9B01F-BCED-125A-63B3-833095EC96A0}"/>
              </a:ext>
            </a:extLst>
          </p:cNvPr>
          <p:cNvSpPr txBox="1"/>
          <p:nvPr/>
        </p:nvSpPr>
        <p:spPr>
          <a:xfrm>
            <a:off x="7558664" y="5617654"/>
            <a:ext cx="902811" cy="523220"/>
          </a:xfrm>
          <a:prstGeom prst="rect">
            <a:avLst/>
          </a:prstGeom>
          <a:noFill/>
        </p:spPr>
        <p:txBody>
          <a:bodyPr wrap="none" rtlCol="0">
            <a:spAutoFit/>
          </a:bodyPr>
          <a:lstStyle/>
          <a:p>
            <a:pPr algn="ctr"/>
            <a:r>
              <a:rPr lang="en-US" sz="1400" dirty="0">
                <a:latin typeface="Roboto Condensed" panose="02000000000000000000" pitchFamily="2" charset="0"/>
                <a:ea typeface="Roboto Condensed" panose="02000000000000000000" pitchFamily="2" charset="0"/>
              </a:rPr>
              <a:t>Consumer</a:t>
            </a:r>
            <a:br>
              <a:rPr lang="en-US" sz="1400" dirty="0">
                <a:latin typeface="Roboto Condensed" panose="02000000000000000000" pitchFamily="2" charset="0"/>
                <a:ea typeface="Roboto Condensed" panose="02000000000000000000" pitchFamily="2" charset="0"/>
              </a:rPr>
            </a:br>
            <a:r>
              <a:rPr lang="en-US" sz="1400" dirty="0">
                <a:latin typeface="Roboto Condensed" panose="02000000000000000000" pitchFamily="2" charset="0"/>
                <a:ea typeface="Roboto Condensed" panose="02000000000000000000" pitchFamily="2" charset="0"/>
              </a:rPr>
              <a:t>Staples</a:t>
            </a:r>
          </a:p>
        </p:txBody>
      </p:sp>
      <p:sp>
        <p:nvSpPr>
          <p:cNvPr id="14" name="TextBox 13">
            <a:extLst>
              <a:ext uri="{FF2B5EF4-FFF2-40B4-BE49-F238E27FC236}">
                <a16:creationId xmlns:a16="http://schemas.microsoft.com/office/drawing/2014/main" id="{150CB7A3-F771-C5BE-DB16-451237449B3F}"/>
              </a:ext>
            </a:extLst>
          </p:cNvPr>
          <p:cNvSpPr txBox="1"/>
          <p:nvPr/>
        </p:nvSpPr>
        <p:spPr>
          <a:xfrm>
            <a:off x="8538678" y="5617654"/>
            <a:ext cx="646331" cy="523220"/>
          </a:xfrm>
          <a:prstGeom prst="rect">
            <a:avLst/>
          </a:prstGeom>
          <a:noFill/>
        </p:spPr>
        <p:txBody>
          <a:bodyPr wrap="none" rtlCol="0">
            <a:spAutoFit/>
          </a:bodyPr>
          <a:lstStyle/>
          <a:p>
            <a:pPr algn="ctr"/>
            <a:r>
              <a:rPr lang="en-US" sz="1400" dirty="0">
                <a:latin typeface="Roboto Condensed" panose="02000000000000000000" pitchFamily="2" charset="0"/>
                <a:ea typeface="Roboto Condensed" panose="02000000000000000000" pitchFamily="2" charset="0"/>
              </a:rPr>
              <a:t>Health</a:t>
            </a:r>
          </a:p>
          <a:p>
            <a:pPr algn="ctr"/>
            <a:r>
              <a:rPr lang="en-US" sz="1400" dirty="0">
                <a:latin typeface="Roboto Condensed" panose="02000000000000000000" pitchFamily="2" charset="0"/>
                <a:ea typeface="Roboto Condensed" panose="02000000000000000000" pitchFamily="2" charset="0"/>
              </a:rPr>
              <a:t>Care</a:t>
            </a:r>
          </a:p>
        </p:txBody>
      </p:sp>
      <p:sp>
        <p:nvSpPr>
          <p:cNvPr id="15" name="TextBox 14">
            <a:extLst>
              <a:ext uri="{FF2B5EF4-FFF2-40B4-BE49-F238E27FC236}">
                <a16:creationId xmlns:a16="http://schemas.microsoft.com/office/drawing/2014/main" id="{E1FF3D9E-5021-D673-7E63-D3D6296F9CDF}"/>
              </a:ext>
            </a:extLst>
          </p:cNvPr>
          <p:cNvSpPr txBox="1"/>
          <p:nvPr/>
        </p:nvSpPr>
        <p:spPr>
          <a:xfrm>
            <a:off x="9220013" y="5617654"/>
            <a:ext cx="933269" cy="307777"/>
          </a:xfrm>
          <a:prstGeom prst="rect">
            <a:avLst/>
          </a:prstGeom>
          <a:noFill/>
        </p:spPr>
        <p:txBody>
          <a:bodyPr wrap="none" rtlCol="0">
            <a:spAutoFit/>
          </a:bodyPr>
          <a:lstStyle/>
          <a:p>
            <a:pPr algn="ctr"/>
            <a:r>
              <a:rPr lang="en-US" sz="1400" dirty="0">
                <a:latin typeface="Roboto Condensed" panose="02000000000000000000" pitchFamily="2" charset="0"/>
                <a:ea typeface="Roboto Condensed" panose="02000000000000000000" pitchFamily="2" charset="0"/>
              </a:rPr>
              <a:t>Industrials</a:t>
            </a:r>
          </a:p>
        </p:txBody>
      </p:sp>
      <p:sp>
        <p:nvSpPr>
          <p:cNvPr id="16" name="TextBox 15">
            <a:extLst>
              <a:ext uri="{FF2B5EF4-FFF2-40B4-BE49-F238E27FC236}">
                <a16:creationId xmlns:a16="http://schemas.microsoft.com/office/drawing/2014/main" id="{327A8750-F1E0-B11E-B1CB-F08E46E970BD}"/>
              </a:ext>
            </a:extLst>
          </p:cNvPr>
          <p:cNvSpPr txBox="1"/>
          <p:nvPr/>
        </p:nvSpPr>
        <p:spPr>
          <a:xfrm>
            <a:off x="10223454" y="5617654"/>
            <a:ext cx="631904" cy="523220"/>
          </a:xfrm>
          <a:prstGeom prst="rect">
            <a:avLst/>
          </a:prstGeom>
          <a:noFill/>
        </p:spPr>
        <p:txBody>
          <a:bodyPr wrap="none" rtlCol="0">
            <a:spAutoFit/>
          </a:bodyPr>
          <a:lstStyle/>
          <a:p>
            <a:pPr algn="ctr"/>
            <a:r>
              <a:rPr lang="en-US" sz="1400" dirty="0">
                <a:latin typeface="Roboto Condensed" panose="02000000000000000000" pitchFamily="2" charset="0"/>
                <a:ea typeface="Roboto Condensed" panose="02000000000000000000" pitchFamily="2" charset="0"/>
              </a:rPr>
              <a:t>Real</a:t>
            </a:r>
          </a:p>
          <a:p>
            <a:pPr algn="ctr"/>
            <a:r>
              <a:rPr lang="en-US" sz="1400" dirty="0">
                <a:latin typeface="Roboto Condensed" panose="02000000000000000000" pitchFamily="2" charset="0"/>
                <a:ea typeface="Roboto Condensed" panose="02000000000000000000" pitchFamily="2" charset="0"/>
              </a:rPr>
              <a:t>Estate</a:t>
            </a:r>
          </a:p>
        </p:txBody>
      </p:sp>
      <p:sp>
        <p:nvSpPr>
          <p:cNvPr id="17" name="TextBox 16">
            <a:extLst>
              <a:ext uri="{FF2B5EF4-FFF2-40B4-BE49-F238E27FC236}">
                <a16:creationId xmlns:a16="http://schemas.microsoft.com/office/drawing/2014/main" id="{D4F82924-C743-727D-B2D7-295C6938ACA8}"/>
              </a:ext>
            </a:extLst>
          </p:cNvPr>
          <p:cNvSpPr txBox="1"/>
          <p:nvPr/>
        </p:nvSpPr>
        <p:spPr>
          <a:xfrm>
            <a:off x="11024011" y="5617654"/>
            <a:ext cx="723275" cy="307777"/>
          </a:xfrm>
          <a:prstGeom prst="rect">
            <a:avLst/>
          </a:prstGeom>
          <a:noFill/>
        </p:spPr>
        <p:txBody>
          <a:bodyPr wrap="none" rtlCol="0">
            <a:spAutoFit/>
          </a:bodyPr>
          <a:lstStyle/>
          <a:p>
            <a:pPr algn="ctr"/>
            <a:r>
              <a:rPr lang="en-US" sz="1400" dirty="0">
                <a:latin typeface="Roboto Condensed" panose="02000000000000000000" pitchFamily="2" charset="0"/>
                <a:ea typeface="Roboto Condensed" panose="02000000000000000000" pitchFamily="2" charset="0"/>
              </a:rPr>
              <a:t>Utilities</a:t>
            </a:r>
          </a:p>
        </p:txBody>
      </p:sp>
    </p:spTree>
    <p:extLst>
      <p:ext uri="{BB962C8B-B14F-4D97-AF65-F5344CB8AC3E}">
        <p14:creationId xmlns:p14="http://schemas.microsoft.com/office/powerpoint/2010/main" val="8170291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A9E0D30-D2AA-F812-7C3E-631567F6E52D}"/>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537D9F75-2710-3EC3-4248-5081A4D9F3FA}"/>
              </a:ext>
            </a:extLst>
          </p:cNvPr>
          <p:cNvSpPr>
            <a:spLocks noGrp="1"/>
          </p:cNvSpPr>
          <p:nvPr>
            <p:ph type="title"/>
          </p:nvPr>
        </p:nvSpPr>
        <p:spPr/>
        <p:txBody>
          <a:bodyPr/>
          <a:lstStyle/>
          <a:p>
            <a:r>
              <a:rPr lang="en-US" dirty="0"/>
              <a:t>Characteristics of the “NEW normal”</a:t>
            </a:r>
          </a:p>
        </p:txBody>
      </p:sp>
      <p:graphicFrame>
        <p:nvGraphicFramePr>
          <p:cNvPr id="4" name="Content Placeholder 8">
            <a:extLst>
              <a:ext uri="{FF2B5EF4-FFF2-40B4-BE49-F238E27FC236}">
                <a16:creationId xmlns:a16="http://schemas.microsoft.com/office/drawing/2014/main" id="{E7F5FE85-83FC-8428-C105-8F5273D911DD}"/>
              </a:ext>
            </a:extLst>
          </p:cNvPr>
          <p:cNvGraphicFramePr>
            <a:graphicFrameLocks noGrp="1"/>
          </p:cNvGraphicFramePr>
          <p:nvPr>
            <p:extLst>
              <p:ext uri="{D42A27DB-BD31-4B8C-83A1-F6EECF244321}">
                <p14:modId xmlns:p14="http://schemas.microsoft.com/office/powerpoint/2010/main" val="2970783430"/>
              </p:ext>
            </p:extLst>
          </p:nvPr>
        </p:nvGraphicFramePr>
        <p:xfrm>
          <a:off x="7438184" y="2374853"/>
          <a:ext cx="5218026"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Box 3">
            <a:extLst>
              <a:ext uri="{FF2B5EF4-FFF2-40B4-BE49-F238E27FC236}">
                <a16:creationId xmlns:a16="http://schemas.microsoft.com/office/drawing/2014/main" id="{11849AAF-C0D7-8966-178C-4FF62A0E4256}"/>
              </a:ext>
            </a:extLst>
          </p:cNvPr>
          <p:cNvSpPr txBox="1">
            <a:spLocks noChangeArrowheads="1"/>
          </p:cNvSpPr>
          <p:nvPr/>
        </p:nvSpPr>
        <p:spPr bwMode="auto">
          <a:xfrm>
            <a:off x="7363946" y="1974743"/>
            <a:ext cx="5599431" cy="400110"/>
          </a:xfrm>
          <a:prstGeom prst="rect">
            <a:avLst/>
          </a:prstGeom>
          <a:noFill/>
          <a:ln w="9525">
            <a:noFill/>
            <a:miter lim="800000"/>
            <a:headEnd/>
            <a:tailEnd/>
          </a:ln>
        </p:spPr>
        <p:txBody>
          <a:bodyPr wrap="square">
            <a:spAutoFit/>
          </a:bodyPr>
          <a:lstStyle/>
          <a:p>
            <a:pPr eaLnBrk="0" hangingPunct="0"/>
            <a:r>
              <a:rPr lang="en-US" sz="2000" dirty="0">
                <a:solidFill>
                  <a:schemeClr val="accent2"/>
                </a:solidFill>
                <a:latin typeface="Roboto Condensed" panose="02000000000000000000" pitchFamily="2" charset="0"/>
              </a:rPr>
              <a:t>CONCENTRATION (HERFINDAHL-HIRSCHMAN INDEX)</a:t>
            </a:r>
          </a:p>
        </p:txBody>
      </p:sp>
      <p:graphicFrame>
        <p:nvGraphicFramePr>
          <p:cNvPr id="6" name="Table 5">
            <a:extLst>
              <a:ext uri="{FF2B5EF4-FFF2-40B4-BE49-F238E27FC236}">
                <a16:creationId xmlns:a16="http://schemas.microsoft.com/office/drawing/2014/main" id="{B0EE84DB-2A6E-DB2B-EA82-55116B1D7564}"/>
              </a:ext>
            </a:extLst>
          </p:cNvPr>
          <p:cNvGraphicFramePr>
            <a:graphicFrameLocks noGrp="1"/>
          </p:cNvGraphicFramePr>
          <p:nvPr>
            <p:extLst>
              <p:ext uri="{D42A27DB-BD31-4B8C-83A1-F6EECF244321}">
                <p14:modId xmlns:p14="http://schemas.microsoft.com/office/powerpoint/2010/main" val="981810547"/>
              </p:ext>
            </p:extLst>
          </p:nvPr>
        </p:nvGraphicFramePr>
        <p:xfrm>
          <a:off x="967255" y="1782441"/>
          <a:ext cx="5486400" cy="475488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1824963558"/>
                    </a:ext>
                  </a:extLst>
                </a:gridCol>
                <a:gridCol w="914400">
                  <a:extLst>
                    <a:ext uri="{9D8B030D-6E8A-4147-A177-3AD203B41FA5}">
                      <a16:colId xmlns:a16="http://schemas.microsoft.com/office/drawing/2014/main" val="3178202665"/>
                    </a:ext>
                  </a:extLst>
                </a:gridCol>
                <a:gridCol w="1371600">
                  <a:extLst>
                    <a:ext uri="{9D8B030D-6E8A-4147-A177-3AD203B41FA5}">
                      <a16:colId xmlns:a16="http://schemas.microsoft.com/office/drawing/2014/main" val="2024657325"/>
                    </a:ext>
                  </a:extLst>
                </a:gridCol>
                <a:gridCol w="914400">
                  <a:extLst>
                    <a:ext uri="{9D8B030D-6E8A-4147-A177-3AD203B41FA5}">
                      <a16:colId xmlns:a16="http://schemas.microsoft.com/office/drawing/2014/main" val="3855417403"/>
                    </a:ext>
                  </a:extLst>
                </a:gridCol>
              </a:tblGrid>
              <a:tr h="190500">
                <a:tc>
                  <a:txBody>
                    <a:bodyPr/>
                    <a:lstStyle/>
                    <a:p>
                      <a:pPr algn="l" fontAlgn="b"/>
                      <a:r>
                        <a:rPr lang="en-US" sz="1600" b="1" i="1" u="none" strike="noStrike" dirty="0">
                          <a:solidFill>
                            <a:schemeClr val="accent1"/>
                          </a:solidFill>
                          <a:effectLst/>
                          <a:latin typeface="Georgia" panose="02040502050405020303" pitchFamily="18" charset="0"/>
                        </a:rPr>
                        <a:t>Performance</a:t>
                      </a:r>
                    </a:p>
                  </a:txBody>
                  <a:tcPr anchor="b">
                    <a:lnB w="12700" cap="flat" cmpd="sng" algn="ctr">
                      <a:solidFill>
                        <a:schemeClr val="accent1"/>
                      </a:solidFill>
                      <a:prstDash val="solid"/>
                      <a:round/>
                      <a:headEnd type="none" w="med" len="med"/>
                      <a:tailEnd type="none" w="med" len="med"/>
                    </a:lnB>
                    <a:noFill/>
                  </a:tcPr>
                </a:tc>
                <a:tc>
                  <a:txBody>
                    <a:bodyPr/>
                    <a:lstStyle/>
                    <a:p>
                      <a:pPr algn="ctr" fontAlgn="b"/>
                      <a:r>
                        <a:rPr lang="en-US" sz="1600" b="1" i="1" u="none" strike="noStrike" dirty="0">
                          <a:solidFill>
                            <a:schemeClr val="accent1"/>
                          </a:solidFill>
                          <a:effectLst/>
                          <a:latin typeface="Georgia" panose="02040502050405020303" pitchFamily="18" charset="0"/>
                        </a:rPr>
                        <a:t>New</a:t>
                      </a:r>
                      <a:br>
                        <a:rPr lang="en-US" sz="1600" b="1" i="1" u="none" strike="noStrike" dirty="0">
                          <a:solidFill>
                            <a:schemeClr val="accent1"/>
                          </a:solidFill>
                          <a:effectLst/>
                          <a:latin typeface="Georgia" panose="02040502050405020303" pitchFamily="18" charset="0"/>
                        </a:rPr>
                      </a:br>
                      <a:r>
                        <a:rPr lang="en-US" sz="1600" b="1" i="1" u="none" strike="noStrike" dirty="0">
                          <a:solidFill>
                            <a:schemeClr val="accent1"/>
                          </a:solidFill>
                          <a:effectLst/>
                          <a:latin typeface="Georgia" panose="02040502050405020303" pitchFamily="18" charset="0"/>
                        </a:rPr>
                        <a:t>EM</a:t>
                      </a:r>
                    </a:p>
                  </a:txBody>
                  <a:tcPr anchor="b">
                    <a:lnB w="12700" cap="flat" cmpd="sng" algn="ctr">
                      <a:solidFill>
                        <a:schemeClr val="accent1"/>
                      </a:solidFill>
                      <a:prstDash val="solid"/>
                      <a:round/>
                      <a:headEnd type="none" w="med" len="med"/>
                      <a:tailEnd type="none" w="med" len="med"/>
                    </a:lnB>
                    <a:noFill/>
                  </a:tcPr>
                </a:tc>
                <a:tc>
                  <a:txBody>
                    <a:bodyPr/>
                    <a:lstStyle/>
                    <a:p>
                      <a:pPr algn="ctr" fontAlgn="b"/>
                      <a:r>
                        <a:rPr lang="en-US" sz="1600" b="1" i="1" u="none" strike="noStrike" dirty="0">
                          <a:solidFill>
                            <a:schemeClr val="accent1"/>
                          </a:solidFill>
                          <a:effectLst/>
                          <a:latin typeface="Georgia" panose="02040502050405020303" pitchFamily="18" charset="0"/>
                        </a:rPr>
                        <a:t>SQRT Market</a:t>
                      </a:r>
                      <a:br>
                        <a:rPr lang="en-US" sz="1600" b="1" i="1" u="none" strike="noStrike" dirty="0">
                          <a:solidFill>
                            <a:schemeClr val="accent1"/>
                          </a:solidFill>
                          <a:effectLst/>
                          <a:latin typeface="Georgia" panose="02040502050405020303" pitchFamily="18" charset="0"/>
                        </a:rPr>
                      </a:br>
                      <a:r>
                        <a:rPr lang="en-US" sz="1600" b="1" i="1" u="none" strike="noStrike" dirty="0">
                          <a:solidFill>
                            <a:schemeClr val="accent1"/>
                          </a:solidFill>
                          <a:effectLst/>
                          <a:latin typeface="Georgia" panose="02040502050405020303" pitchFamily="18" charset="0"/>
                        </a:rPr>
                        <a:t>Cap</a:t>
                      </a:r>
                    </a:p>
                  </a:txBody>
                  <a:tcPr anchor="b">
                    <a:lnB w="12700" cap="flat" cmpd="sng" algn="ctr">
                      <a:solidFill>
                        <a:schemeClr val="accent1"/>
                      </a:solidFill>
                      <a:prstDash val="solid"/>
                      <a:round/>
                      <a:headEnd type="none" w="med" len="med"/>
                      <a:tailEnd type="none" w="med" len="med"/>
                    </a:lnB>
                    <a:noFill/>
                  </a:tcPr>
                </a:tc>
                <a:tc>
                  <a:txBody>
                    <a:bodyPr/>
                    <a:lstStyle/>
                    <a:p>
                      <a:pPr algn="ctr" fontAlgn="b"/>
                      <a:r>
                        <a:rPr lang="en-US" sz="1600" b="1" i="1" u="none" strike="noStrike" dirty="0">
                          <a:solidFill>
                            <a:schemeClr val="accent1"/>
                          </a:solidFill>
                          <a:effectLst/>
                          <a:latin typeface="Georgia" panose="02040502050405020303" pitchFamily="18" charset="0"/>
                        </a:rPr>
                        <a:t>MSCI EM</a:t>
                      </a:r>
                    </a:p>
                  </a:txBody>
                  <a:tcPr anchor="b">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939789781"/>
                  </a:ext>
                </a:extLst>
              </a:tr>
              <a:tr h="36576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Performance, 1Y </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600" u="none" strike="noStrike" dirty="0">
                          <a:effectLst/>
                          <a:latin typeface="Roboto Condensed" panose="02000000000000000000" pitchFamily="2" charset="0"/>
                          <a:ea typeface="Roboto Condensed" panose="02000000000000000000" pitchFamily="2" charset="0"/>
                        </a:rPr>
                        <a:t>-18.6%</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R="182880" anchor="b">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600" u="none" strike="noStrike" dirty="0">
                          <a:effectLst/>
                          <a:latin typeface="Roboto Condensed" panose="02000000000000000000" pitchFamily="2" charset="0"/>
                          <a:ea typeface="Roboto Condensed" panose="02000000000000000000" pitchFamily="2" charset="0"/>
                        </a:rPr>
                        <a:t>-19.0%</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R="457200" anchor="b">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600" u="none" strike="noStrike" dirty="0">
                          <a:effectLst/>
                          <a:latin typeface="Roboto Condensed" panose="02000000000000000000" pitchFamily="2" charset="0"/>
                          <a:ea typeface="Roboto Condensed" panose="02000000000000000000" pitchFamily="2" charset="0"/>
                        </a:rPr>
                        <a:t>-27.9%</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R="182880" anchor="b">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03480619"/>
                  </a:ext>
                </a:extLst>
              </a:tr>
              <a:tr h="36576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Performance, 3Y </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600" u="none" strike="noStrike" dirty="0">
                          <a:effectLst/>
                          <a:latin typeface="Roboto Condensed" panose="02000000000000000000" pitchFamily="2" charset="0"/>
                          <a:ea typeface="Roboto Condensed" panose="02000000000000000000" pitchFamily="2" charset="0"/>
                        </a:rPr>
                        <a:t>1.7%</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R="182880"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600" u="none" strike="noStrike" dirty="0">
                          <a:effectLst/>
                          <a:latin typeface="Roboto Condensed" panose="02000000000000000000" pitchFamily="2" charset="0"/>
                          <a:ea typeface="Roboto Condensed" panose="02000000000000000000" pitchFamily="2" charset="0"/>
                        </a:rPr>
                        <a:t>0.7%</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R="457200"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600" u="none" strike="noStrike" dirty="0">
                          <a:effectLst/>
                          <a:latin typeface="Roboto Condensed" panose="02000000000000000000" pitchFamily="2" charset="0"/>
                          <a:ea typeface="Roboto Condensed" panose="02000000000000000000" pitchFamily="2" charset="0"/>
                        </a:rPr>
                        <a:t>-1.8%</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R="182880"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044140744"/>
                  </a:ext>
                </a:extLst>
              </a:tr>
              <a:tr h="36576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Performance, 5Y</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600" u="none" strike="noStrike" dirty="0">
                          <a:effectLst/>
                          <a:latin typeface="Roboto Condensed" panose="02000000000000000000" pitchFamily="2" charset="0"/>
                          <a:ea typeface="Roboto Condensed" panose="02000000000000000000" pitchFamily="2" charset="0"/>
                        </a:rPr>
                        <a:t>0.8%</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R="182880"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600" u="none" strike="noStrike" dirty="0">
                          <a:effectLst/>
                          <a:latin typeface="Roboto Condensed" panose="02000000000000000000" pitchFamily="2" charset="0"/>
                          <a:ea typeface="Roboto Condensed" panose="02000000000000000000" pitchFamily="2" charset="0"/>
                        </a:rPr>
                        <a:t>0.1%</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R="457200"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600" u="none" strike="noStrike" dirty="0">
                          <a:effectLst/>
                          <a:latin typeface="Roboto Condensed" panose="02000000000000000000" pitchFamily="2" charset="0"/>
                          <a:ea typeface="Roboto Condensed" panose="02000000000000000000" pitchFamily="2" charset="0"/>
                        </a:rPr>
                        <a:t>-1.5%</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R="182880"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260372137"/>
                  </a:ext>
                </a:extLst>
              </a:tr>
              <a:tr h="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Performance from 2012</a:t>
                      </a:r>
                    </a:p>
                  </a:txBody>
                  <a:tcPr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600" u="none" strike="noStrike" dirty="0">
                          <a:effectLst/>
                          <a:latin typeface="Roboto Condensed" panose="02000000000000000000" pitchFamily="2" charset="0"/>
                          <a:ea typeface="Roboto Condensed" panose="02000000000000000000" pitchFamily="2" charset="0"/>
                        </a:rPr>
                        <a:t>3.1%</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R="182880"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600" u="none" strike="noStrike" dirty="0">
                          <a:effectLst/>
                          <a:latin typeface="Roboto Condensed" panose="02000000000000000000" pitchFamily="2" charset="0"/>
                          <a:ea typeface="Roboto Condensed" panose="02000000000000000000" pitchFamily="2" charset="0"/>
                        </a:rPr>
                        <a:t>3.2%</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R="457200"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600" u="none" strike="noStrike" dirty="0">
                          <a:effectLst/>
                          <a:latin typeface="Roboto Condensed" panose="02000000000000000000" pitchFamily="2" charset="0"/>
                          <a:ea typeface="Roboto Condensed" panose="02000000000000000000" pitchFamily="2" charset="0"/>
                        </a:rPr>
                        <a:t>2.4%</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R="182880"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3645249401"/>
                  </a:ext>
                </a:extLst>
              </a:tr>
              <a:tr h="36576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Turnover (%)</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fontAlgn="b"/>
                      <a:r>
                        <a:rPr lang="en-US" sz="1600" u="none" strike="noStrike">
                          <a:effectLst/>
                          <a:latin typeface="Roboto Condensed" panose="02000000000000000000" pitchFamily="2" charset="0"/>
                          <a:ea typeface="Roboto Condensed" panose="02000000000000000000" pitchFamily="2" charset="0"/>
                        </a:rPr>
                        <a:t>10.8%</a:t>
                      </a:r>
                      <a:endParaRPr lang="en-US" sz="1600" b="0" i="0" u="none" strike="noStrike">
                        <a:solidFill>
                          <a:srgbClr val="000000"/>
                        </a:solidFill>
                        <a:effectLst/>
                        <a:latin typeface="Roboto Condensed" panose="02000000000000000000" pitchFamily="2" charset="0"/>
                        <a:ea typeface="Roboto Condensed" panose="02000000000000000000" pitchFamily="2" charset="0"/>
                      </a:endParaRPr>
                    </a:p>
                  </a:txBody>
                  <a:tcPr marR="182880" anchor="b">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fontAlgn="b"/>
                      <a:r>
                        <a:rPr lang="en-US" sz="1600" u="none" strike="noStrike" dirty="0">
                          <a:effectLst/>
                          <a:latin typeface="Roboto Condensed" panose="02000000000000000000" pitchFamily="2" charset="0"/>
                          <a:ea typeface="Roboto Condensed" panose="02000000000000000000" pitchFamily="2" charset="0"/>
                        </a:rPr>
                        <a:t>9.8%</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R="457200" anchor="b">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fontAlgn="b"/>
                      <a:r>
                        <a:rPr lang="en-US" sz="1600" u="none" strike="noStrike" dirty="0">
                          <a:effectLst/>
                          <a:latin typeface="Roboto Condensed" panose="02000000000000000000" pitchFamily="2" charset="0"/>
                          <a:ea typeface="Roboto Condensed" panose="02000000000000000000" pitchFamily="2" charset="0"/>
                        </a:rPr>
                        <a:t>8.9%</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R="182880" anchor="b">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774500923"/>
                  </a:ext>
                </a:extLst>
              </a:tr>
              <a:tr h="190500">
                <a:tc>
                  <a:txBody>
                    <a:bodyPr/>
                    <a:lstStyle/>
                    <a:p>
                      <a:pPr algn="l" fontAlgn="b"/>
                      <a:endParaRPr lang="en-US" sz="1600" b="1" i="0" u="none" strike="noStrike" dirty="0">
                        <a:solidFill>
                          <a:srgbClr val="000000"/>
                        </a:solidFill>
                        <a:effectLst/>
                        <a:latin typeface="Georgia" panose="02040502050405020303" pitchFamily="18" charset="0"/>
                      </a:endParaRPr>
                    </a:p>
                  </a:txBody>
                  <a:tcPr anchor="b">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endParaRPr lang="en-US" sz="1600" b="1" i="0" u="none" strike="noStrike" dirty="0">
                        <a:solidFill>
                          <a:srgbClr val="FFFFFF"/>
                        </a:solidFill>
                        <a:effectLst/>
                        <a:latin typeface="Georgia" panose="02040502050405020303" pitchFamily="18" charset="0"/>
                      </a:endParaRPr>
                    </a:p>
                  </a:txBody>
                  <a:tcPr anchor="b">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endParaRPr lang="en-US" sz="1600" b="1" i="0" u="none" strike="noStrike" dirty="0">
                        <a:solidFill>
                          <a:srgbClr val="FFFFFF"/>
                        </a:solidFill>
                        <a:effectLst/>
                        <a:latin typeface="Georgia" panose="02040502050405020303" pitchFamily="18" charset="0"/>
                      </a:endParaRPr>
                    </a:p>
                  </a:txBody>
                  <a:tcPr anchor="b">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endParaRPr lang="en-US" sz="1600" b="1" i="0" u="none" strike="noStrike" dirty="0">
                        <a:solidFill>
                          <a:srgbClr val="FFFFFF"/>
                        </a:solidFill>
                        <a:effectLst/>
                        <a:latin typeface="Georgia" panose="02040502050405020303" pitchFamily="18" charset="0"/>
                      </a:endParaRPr>
                    </a:p>
                  </a:txBody>
                  <a:tcPr anchor="b">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638717814"/>
                  </a:ext>
                </a:extLst>
              </a:tr>
              <a:tr h="190500">
                <a:tc>
                  <a:txBody>
                    <a:bodyPr/>
                    <a:lstStyle/>
                    <a:p>
                      <a:pPr algn="l" fontAlgn="b"/>
                      <a:r>
                        <a:rPr lang="en-US" sz="1600" b="1" i="1" u="none" strike="noStrike" dirty="0">
                          <a:solidFill>
                            <a:schemeClr val="accent1"/>
                          </a:solidFill>
                          <a:effectLst/>
                          <a:latin typeface="Georgia" panose="02040502050405020303" pitchFamily="18" charset="0"/>
                        </a:rPr>
                        <a:t>Risk Metrics</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1600" b="1" i="0" u="none" strike="noStrike" dirty="0">
                        <a:solidFill>
                          <a:schemeClr val="accent1"/>
                        </a:solidFill>
                        <a:effectLst/>
                        <a:latin typeface="Georgia" panose="02040502050405020303" pitchFamily="18" charset="0"/>
                      </a:endParaRP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1600" b="1" i="0" u="none" strike="noStrike" dirty="0">
                        <a:solidFill>
                          <a:schemeClr val="accent1"/>
                        </a:solidFill>
                        <a:effectLst/>
                        <a:latin typeface="Georgia" panose="02040502050405020303" pitchFamily="18" charset="0"/>
                      </a:endParaRP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1600" b="1" i="0" u="none" strike="noStrike" dirty="0">
                        <a:solidFill>
                          <a:schemeClr val="accent1"/>
                        </a:solidFill>
                        <a:effectLst/>
                        <a:latin typeface="Georgia" panose="02040502050405020303" pitchFamily="18" charset="0"/>
                      </a:endParaRP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537007"/>
                  </a:ext>
                </a:extLst>
              </a:tr>
              <a:tr h="36576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Concentration</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fontAlgn="b"/>
                      <a:r>
                        <a:rPr lang="en-US" sz="1600" u="none" strike="noStrike" dirty="0">
                          <a:effectLst/>
                          <a:latin typeface="Roboto Condensed" panose="02000000000000000000" pitchFamily="2" charset="0"/>
                          <a:ea typeface="Roboto Condensed" panose="02000000000000000000" pitchFamily="2" charset="0"/>
                        </a:rPr>
                        <a:t>0.08</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fontAlgn="b"/>
                      <a:r>
                        <a:rPr lang="en-US" sz="1600" u="none" strike="noStrike">
                          <a:effectLst/>
                          <a:latin typeface="Roboto Condensed" panose="02000000000000000000" pitchFamily="2" charset="0"/>
                          <a:ea typeface="Roboto Condensed" panose="02000000000000000000" pitchFamily="2" charset="0"/>
                        </a:rPr>
                        <a:t>0.07</a:t>
                      </a:r>
                      <a:endParaRPr lang="en-US" sz="1600" b="0" i="0" u="none" strike="noStrike">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fontAlgn="b"/>
                      <a:r>
                        <a:rPr lang="en-US" sz="1600" u="none" strike="noStrike" dirty="0">
                          <a:effectLst/>
                          <a:latin typeface="Roboto Condensed" panose="02000000000000000000" pitchFamily="2" charset="0"/>
                          <a:ea typeface="Roboto Condensed" panose="02000000000000000000" pitchFamily="2" charset="0"/>
                        </a:rPr>
                        <a:t>0.16</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3531407319"/>
                  </a:ext>
                </a:extLst>
              </a:tr>
              <a:tr h="36576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Volatility</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fontAlgn="b"/>
                      <a:r>
                        <a:rPr lang="en-US" sz="1600" u="none" strike="noStrike" dirty="0">
                          <a:effectLst/>
                          <a:latin typeface="Roboto Condensed" panose="02000000000000000000" pitchFamily="2" charset="0"/>
                          <a:ea typeface="Roboto Condensed" panose="02000000000000000000" pitchFamily="2" charset="0"/>
                        </a:rPr>
                        <a:t>16.0%</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fontAlgn="b"/>
                      <a:r>
                        <a:rPr lang="en-US" sz="1600" u="none" strike="noStrike">
                          <a:effectLst/>
                          <a:latin typeface="Roboto Condensed" panose="02000000000000000000" pitchFamily="2" charset="0"/>
                          <a:ea typeface="Roboto Condensed" panose="02000000000000000000" pitchFamily="2" charset="0"/>
                        </a:rPr>
                        <a:t>16.6%</a:t>
                      </a:r>
                      <a:endParaRPr lang="en-US" sz="1600" b="0" i="0" u="none" strike="noStrike">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fontAlgn="b"/>
                      <a:r>
                        <a:rPr lang="en-US" sz="1600" u="none" strike="noStrike" dirty="0">
                          <a:effectLst/>
                          <a:latin typeface="Roboto Condensed" panose="02000000000000000000" pitchFamily="2" charset="0"/>
                          <a:ea typeface="Roboto Condensed" panose="02000000000000000000" pitchFamily="2" charset="0"/>
                        </a:rPr>
                        <a:t>16.5%</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393981303"/>
                  </a:ext>
                </a:extLst>
              </a:tr>
              <a:tr h="365760">
                <a:tc>
                  <a:txBody>
                    <a:bodyPr/>
                    <a:lstStyle/>
                    <a:p>
                      <a:pPr algn="l" fontAlgn="b"/>
                      <a:r>
                        <a:rPr lang="en-US" sz="1600" u="none" strike="noStrike" dirty="0" err="1">
                          <a:effectLst/>
                          <a:latin typeface="Roboto Condensed" panose="02000000000000000000" pitchFamily="2" charset="0"/>
                          <a:ea typeface="Roboto Condensed" panose="02000000000000000000" pitchFamily="2" charset="0"/>
                        </a:rPr>
                        <a:t>Sortino</a:t>
                      </a:r>
                      <a:r>
                        <a:rPr lang="en-US" sz="1600" u="none" strike="noStrike" dirty="0">
                          <a:effectLst/>
                          <a:latin typeface="Roboto Condensed" panose="02000000000000000000" pitchFamily="2" charset="0"/>
                          <a:ea typeface="Roboto Condensed" panose="02000000000000000000" pitchFamily="2" charset="0"/>
                        </a:rPr>
                        <a:t> Ratio</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fontAlgn="b"/>
                      <a:r>
                        <a:rPr lang="en-US" sz="1600" u="none" strike="noStrike" dirty="0">
                          <a:effectLst/>
                          <a:latin typeface="Roboto Condensed" panose="02000000000000000000" pitchFamily="2" charset="0"/>
                          <a:ea typeface="Roboto Condensed" panose="02000000000000000000" pitchFamily="2" charset="0"/>
                        </a:rPr>
                        <a:t>0.07</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fontAlgn="b"/>
                      <a:r>
                        <a:rPr lang="en-US" sz="1600" u="none" strike="noStrike">
                          <a:effectLst/>
                          <a:latin typeface="Roboto Condensed" panose="02000000000000000000" pitchFamily="2" charset="0"/>
                          <a:ea typeface="Roboto Condensed" panose="02000000000000000000" pitchFamily="2" charset="0"/>
                        </a:rPr>
                        <a:t>0.09</a:t>
                      </a:r>
                      <a:endParaRPr lang="en-US" sz="1600" b="0" i="0" u="none" strike="noStrike">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fontAlgn="b"/>
                      <a:r>
                        <a:rPr lang="en-US" sz="1600" u="none" strike="noStrike" dirty="0">
                          <a:effectLst/>
                          <a:latin typeface="Roboto Condensed" panose="02000000000000000000" pitchFamily="2" charset="0"/>
                          <a:ea typeface="Roboto Condensed" panose="02000000000000000000" pitchFamily="2" charset="0"/>
                        </a:rPr>
                        <a:t>0.02</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3137233706"/>
                  </a:ext>
                </a:extLst>
              </a:tr>
              <a:tr h="36576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Sharpe Ratio</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r>
                        <a:rPr lang="en-US" sz="1600" u="none" strike="noStrike" dirty="0">
                          <a:effectLst/>
                          <a:latin typeface="Roboto Condensed" panose="02000000000000000000" pitchFamily="2" charset="0"/>
                          <a:ea typeface="Roboto Condensed" panose="02000000000000000000" pitchFamily="2" charset="0"/>
                        </a:rPr>
                        <a:t>0.27</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r>
                        <a:rPr lang="en-US" sz="1600" u="none" strike="noStrike" dirty="0">
                          <a:effectLst/>
                          <a:latin typeface="Roboto Condensed" panose="02000000000000000000" pitchFamily="2" charset="0"/>
                          <a:ea typeface="Roboto Condensed" panose="02000000000000000000" pitchFamily="2" charset="0"/>
                        </a:rPr>
                        <a:t>0.27</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r>
                        <a:rPr lang="en-US" sz="1600" u="none" strike="noStrike" dirty="0">
                          <a:effectLst/>
                          <a:latin typeface="Roboto Condensed" panose="02000000000000000000" pitchFamily="2" charset="0"/>
                          <a:ea typeface="Roboto Condensed" panose="02000000000000000000" pitchFamily="2" charset="0"/>
                        </a:rPr>
                        <a:t>0.23</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b">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416892742"/>
                  </a:ext>
                </a:extLst>
              </a:tr>
            </a:tbl>
          </a:graphicData>
        </a:graphic>
      </p:graphicFrame>
      <p:sp>
        <p:nvSpPr>
          <p:cNvPr id="7" name="TextBox 6">
            <a:extLst>
              <a:ext uri="{FF2B5EF4-FFF2-40B4-BE49-F238E27FC236}">
                <a16:creationId xmlns:a16="http://schemas.microsoft.com/office/drawing/2014/main" id="{50B40D64-E8AB-C5AC-501E-3C102B8996F5}"/>
              </a:ext>
            </a:extLst>
          </p:cNvPr>
          <p:cNvSpPr txBox="1"/>
          <p:nvPr/>
        </p:nvSpPr>
        <p:spPr>
          <a:xfrm>
            <a:off x="12385032" y="3563034"/>
            <a:ext cx="1076526" cy="646331"/>
          </a:xfrm>
          <a:prstGeom prst="rect">
            <a:avLst/>
          </a:prstGeom>
          <a:noFill/>
        </p:spPr>
        <p:txBody>
          <a:bodyPr wrap="square" rtlCol="0">
            <a:spAutoFit/>
          </a:bodyPr>
          <a:lstStyle/>
          <a:p>
            <a:r>
              <a:rPr lang="en-US" b="1" dirty="0">
                <a:latin typeface="Roboto Condensed" panose="02000000000000000000" pitchFamily="2" charset="0"/>
                <a:ea typeface="Roboto Condensed" panose="02000000000000000000" pitchFamily="2" charset="0"/>
              </a:rPr>
              <a:t>MSCI EM</a:t>
            </a:r>
          </a:p>
          <a:p>
            <a:r>
              <a:rPr lang="en-US" b="1" dirty="0">
                <a:latin typeface="Roboto Condensed" panose="02000000000000000000" pitchFamily="2" charset="0"/>
                <a:ea typeface="Roboto Condensed" panose="02000000000000000000" pitchFamily="2" charset="0"/>
              </a:rPr>
              <a:t>0.16</a:t>
            </a:r>
          </a:p>
        </p:txBody>
      </p:sp>
      <p:sp>
        <p:nvSpPr>
          <p:cNvPr id="9" name="TextBox 8">
            <a:extLst>
              <a:ext uri="{FF2B5EF4-FFF2-40B4-BE49-F238E27FC236}">
                <a16:creationId xmlns:a16="http://schemas.microsoft.com/office/drawing/2014/main" id="{484062D7-53DE-C727-BF4A-0B1D54CBFB80}"/>
              </a:ext>
            </a:extLst>
          </p:cNvPr>
          <p:cNvSpPr txBox="1"/>
          <p:nvPr/>
        </p:nvSpPr>
        <p:spPr>
          <a:xfrm>
            <a:off x="12385032" y="4747714"/>
            <a:ext cx="1076526" cy="646331"/>
          </a:xfrm>
          <a:prstGeom prst="rect">
            <a:avLst/>
          </a:prstGeom>
          <a:noFill/>
        </p:spPr>
        <p:txBody>
          <a:bodyPr wrap="square" rtlCol="0">
            <a:spAutoFit/>
          </a:bodyPr>
          <a:lstStyle/>
          <a:p>
            <a:r>
              <a:rPr lang="en-US" b="1" dirty="0">
                <a:latin typeface="Roboto Condensed" panose="02000000000000000000" pitchFamily="2" charset="0"/>
                <a:ea typeface="Roboto Condensed" panose="02000000000000000000" pitchFamily="2" charset="0"/>
              </a:rPr>
              <a:t>New EM</a:t>
            </a:r>
          </a:p>
          <a:p>
            <a:r>
              <a:rPr lang="en-US" b="1" dirty="0">
                <a:latin typeface="Roboto Condensed" panose="02000000000000000000" pitchFamily="2" charset="0"/>
                <a:ea typeface="Roboto Condensed" panose="02000000000000000000" pitchFamily="2" charset="0"/>
              </a:rPr>
              <a:t>0.08</a:t>
            </a:r>
          </a:p>
        </p:txBody>
      </p:sp>
    </p:spTree>
    <p:extLst>
      <p:ext uri="{BB962C8B-B14F-4D97-AF65-F5344CB8AC3E}">
        <p14:creationId xmlns:p14="http://schemas.microsoft.com/office/powerpoint/2010/main" val="35741848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18B493-45C7-BB55-DF07-21B3E19D8E7F}"/>
              </a:ext>
            </a:extLst>
          </p:cNvPr>
          <p:cNvSpPr>
            <a:spLocks noGrp="1"/>
          </p:cNvSpPr>
          <p:nvPr>
            <p:ph type="title"/>
          </p:nvPr>
        </p:nvSpPr>
        <p:spPr/>
        <p:txBody>
          <a:bodyPr/>
          <a:lstStyle/>
          <a:p>
            <a:r>
              <a:rPr lang="en-US" dirty="0"/>
              <a:t>How investors could use this</a:t>
            </a:r>
          </a:p>
        </p:txBody>
      </p:sp>
      <p:sp>
        <p:nvSpPr>
          <p:cNvPr id="5" name="Content Placeholder 4">
            <a:extLst>
              <a:ext uri="{FF2B5EF4-FFF2-40B4-BE49-F238E27FC236}">
                <a16:creationId xmlns:a16="http://schemas.microsoft.com/office/drawing/2014/main" id="{7E63C16D-A631-9D10-1142-FBB99B763C9B}"/>
              </a:ext>
            </a:extLst>
          </p:cNvPr>
          <p:cNvSpPr>
            <a:spLocks noGrp="1"/>
          </p:cNvSpPr>
          <p:nvPr>
            <p:ph idx="1"/>
          </p:nvPr>
        </p:nvSpPr>
        <p:spPr>
          <a:xfrm>
            <a:off x="1419106" y="2006918"/>
            <a:ext cx="10992879" cy="4349750"/>
          </a:xfrm>
        </p:spPr>
        <p:txBody>
          <a:bodyPr/>
          <a:lstStyle/>
          <a:p>
            <a:pPr lvl="1"/>
            <a:r>
              <a:rPr lang="en-US" dirty="0"/>
              <a:t>For investors looking for broad EM exposure, an ETF of the “New Normal” would represent a “better” exposure to the asset class</a:t>
            </a:r>
          </a:p>
          <a:p>
            <a:pPr lvl="1"/>
            <a:r>
              <a:rPr lang="en-US" dirty="0"/>
              <a:t>For active investors, the “New Normal” could serve as the base vis-a-vis what their managers would make bets in the country domain, and thus serve as a custom benchmark</a:t>
            </a:r>
          </a:p>
          <a:p>
            <a:pPr lvl="1"/>
            <a:r>
              <a:rPr lang="en-US" dirty="0"/>
              <a:t>Would love to get your feedback</a:t>
            </a:r>
          </a:p>
        </p:txBody>
      </p:sp>
      <p:sp>
        <p:nvSpPr>
          <p:cNvPr id="6" name="Text Placeholder 5">
            <a:extLst>
              <a:ext uri="{FF2B5EF4-FFF2-40B4-BE49-F238E27FC236}">
                <a16:creationId xmlns:a16="http://schemas.microsoft.com/office/drawing/2014/main" id="{0D6F0AAE-7691-BC93-72A9-C1BF176F9E17}"/>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4125453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18B493-45C7-BB55-DF07-21B3E19D8E7F}"/>
              </a:ext>
            </a:extLst>
          </p:cNvPr>
          <p:cNvSpPr>
            <a:spLocks noGrp="1"/>
          </p:cNvSpPr>
          <p:nvPr>
            <p:ph type="title"/>
          </p:nvPr>
        </p:nvSpPr>
        <p:spPr/>
        <p:txBody>
          <a:bodyPr/>
          <a:lstStyle/>
          <a:p>
            <a:r>
              <a:rPr lang="en-US" dirty="0"/>
              <a:t>Summary</a:t>
            </a:r>
          </a:p>
        </p:txBody>
      </p:sp>
      <p:sp>
        <p:nvSpPr>
          <p:cNvPr id="5" name="Content Placeholder 4">
            <a:extLst>
              <a:ext uri="{FF2B5EF4-FFF2-40B4-BE49-F238E27FC236}">
                <a16:creationId xmlns:a16="http://schemas.microsoft.com/office/drawing/2014/main" id="{7E63C16D-A631-9D10-1142-FBB99B763C9B}"/>
              </a:ext>
            </a:extLst>
          </p:cNvPr>
          <p:cNvSpPr>
            <a:spLocks noGrp="1"/>
          </p:cNvSpPr>
          <p:nvPr>
            <p:ph idx="1"/>
          </p:nvPr>
        </p:nvSpPr>
        <p:spPr>
          <a:xfrm>
            <a:off x="1419106" y="2006918"/>
            <a:ext cx="10992879" cy="4349750"/>
          </a:xfrm>
        </p:spPr>
        <p:txBody>
          <a:bodyPr/>
          <a:lstStyle/>
          <a:p>
            <a:pPr lvl="1"/>
            <a:r>
              <a:rPr lang="en-US" dirty="0"/>
              <a:t>EM is broken and needs to be re-imagined</a:t>
            </a:r>
          </a:p>
          <a:p>
            <a:pPr lvl="1"/>
            <a:r>
              <a:rPr lang="en-US" dirty="0"/>
              <a:t>The concept of a “New Normal” portfolio is neither an index nor an active portfolio, in the traditional sense, but represents a new way of thinking about investing sensibly</a:t>
            </a:r>
          </a:p>
          <a:p>
            <a:pPr lvl="1"/>
            <a:r>
              <a:rPr lang="en-US" dirty="0"/>
              <a:t>Multiple factors matter, and combining them is an art, not a science</a:t>
            </a:r>
          </a:p>
          <a:p>
            <a:pPr lvl="1"/>
            <a:r>
              <a:rPr lang="en-US" dirty="0"/>
              <a:t>We end up with a portfolio that is comfortable to own for the long term, with minimal turnover above the index</a:t>
            </a:r>
          </a:p>
          <a:p>
            <a:pPr lvl="1"/>
            <a:r>
              <a:rPr lang="en-US" dirty="0"/>
              <a:t>Bottom line: The “New Normal” is a better way to invest in EM</a:t>
            </a:r>
          </a:p>
        </p:txBody>
      </p:sp>
      <p:sp>
        <p:nvSpPr>
          <p:cNvPr id="6" name="Text Placeholder 5">
            <a:extLst>
              <a:ext uri="{FF2B5EF4-FFF2-40B4-BE49-F238E27FC236}">
                <a16:creationId xmlns:a16="http://schemas.microsoft.com/office/drawing/2014/main" id="{0D6F0AAE-7691-BC93-72A9-C1BF176F9E17}"/>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984138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AC286-3BD8-4583-AB80-E4A35AA7151B}"/>
              </a:ext>
            </a:extLst>
          </p:cNvPr>
          <p:cNvSpPr>
            <a:spLocks noGrp="1"/>
          </p:cNvSpPr>
          <p:nvPr>
            <p:ph type="title"/>
          </p:nvPr>
        </p:nvSpPr>
        <p:spPr/>
        <p:txBody>
          <a:bodyPr/>
          <a:lstStyle/>
          <a:p>
            <a:r>
              <a:rPr lang="en-US" dirty="0"/>
              <a:t>DISCLAIMERS</a:t>
            </a:r>
          </a:p>
        </p:txBody>
      </p:sp>
      <p:sp>
        <p:nvSpPr>
          <p:cNvPr id="4" name="Text Placeholder 3">
            <a:extLst>
              <a:ext uri="{FF2B5EF4-FFF2-40B4-BE49-F238E27FC236}">
                <a16:creationId xmlns:a16="http://schemas.microsoft.com/office/drawing/2014/main" id="{CD12FB67-587B-47C6-8C25-BF87360741B7}"/>
              </a:ext>
            </a:extLst>
          </p:cNvPr>
          <p:cNvSpPr>
            <a:spLocks noGrp="1"/>
          </p:cNvSpPr>
          <p:nvPr>
            <p:ph type="body" sz="quarter" idx="13"/>
          </p:nvPr>
        </p:nvSpPr>
        <p:spPr/>
        <p:txBody>
          <a:bodyPr/>
          <a:lstStyle/>
          <a:p>
            <a:endParaRPr lang="en-US"/>
          </a:p>
        </p:txBody>
      </p:sp>
      <p:sp>
        <p:nvSpPr>
          <p:cNvPr id="7" name="TextBox 6">
            <a:extLst>
              <a:ext uri="{FF2B5EF4-FFF2-40B4-BE49-F238E27FC236}">
                <a16:creationId xmlns:a16="http://schemas.microsoft.com/office/drawing/2014/main" id="{C56D50B5-A52B-4FA8-A9B4-411C05823A62}"/>
              </a:ext>
            </a:extLst>
          </p:cNvPr>
          <p:cNvSpPr txBox="1"/>
          <p:nvPr/>
        </p:nvSpPr>
        <p:spPr>
          <a:xfrm>
            <a:off x="1570182" y="1824039"/>
            <a:ext cx="10677236" cy="3823102"/>
          </a:xfrm>
          <a:prstGeom prst="rect">
            <a:avLst/>
          </a:prstGeom>
          <a:noFill/>
        </p:spPr>
        <p:txBody>
          <a:bodyPr wrap="square" lIns="81906" tIns="40952" rIns="81906" bIns="40952" rtlCol="0">
            <a:noAutofit/>
          </a:bodyPr>
          <a:lstStyle/>
          <a:p>
            <a:pPr marL="0" marR="0">
              <a:spcBef>
                <a:spcPts val="0"/>
              </a:spcBef>
              <a:spcAft>
                <a:spcPts val="0"/>
              </a:spcAft>
            </a:pPr>
            <a:r>
              <a:rPr lang="en-US" sz="900" dirty="0">
                <a:effectLst/>
                <a:latin typeface="Roboto" pitchFamily="2" charset="0"/>
                <a:ea typeface="Roboto" pitchFamily="2" charset="0"/>
              </a:rPr>
              <a:t>This presentation has been provided to you by Grantham, Mayo, Van Otterloo &amp; Co. LLC (“GMO”) for illustrative purposes only, is intended exclusively for the use of the person to whom it has been delivered by GMO, and is not to be reproduced or redistributed to any other person. Nothing contained herein constitutes investment, legal, tax, regulatory, accounting or other advice of any kind nor is it to be relied on in making an investment or other decision. This presentation should not be viewed as a current or past recommendation or a solicitation of an offer to buy or sell any securities or to adopt any investment strategy. The investment strategy and themes discussed herein may be unsuitable for investors depending on their specific investment objectives and financial situation. </a:t>
            </a:r>
          </a:p>
          <a:p>
            <a:pPr marL="0" marR="0">
              <a:spcBef>
                <a:spcPts val="0"/>
              </a:spcBef>
              <a:spcAft>
                <a:spcPts val="0"/>
              </a:spcAft>
            </a:pPr>
            <a:r>
              <a:rPr lang="en-US" sz="900" dirty="0">
                <a:effectLst/>
                <a:latin typeface="Roboto" pitchFamily="2" charset="0"/>
                <a:ea typeface="Roboto" pitchFamily="2" charset="0"/>
              </a:rPr>
              <a:t> </a:t>
            </a:r>
          </a:p>
          <a:p>
            <a:pPr marL="0" marR="0">
              <a:spcBef>
                <a:spcPts val="0"/>
              </a:spcBef>
              <a:spcAft>
                <a:spcPts val="0"/>
              </a:spcAft>
            </a:pPr>
            <a:r>
              <a:rPr lang="en-US" sz="900" dirty="0">
                <a:effectLst/>
                <a:latin typeface="Roboto" pitchFamily="2" charset="0"/>
                <a:ea typeface="Roboto" pitchFamily="2" charset="0"/>
              </a:rPr>
              <a:t>The information in this presentation is only as current as the date indicated, and may be superseded by subsequent market events or for other reasons. The information in this presentation has been developed internally and/or obtained from sources believed to be reliable; however, GMO does not guarantee the accuracy, adequacy or completeness of such information. The information contained herein may be based on (</a:t>
            </a:r>
            <a:r>
              <a:rPr lang="en-US" sz="900" dirty="0" err="1">
                <a:effectLst/>
                <a:latin typeface="Roboto" pitchFamily="2" charset="0"/>
                <a:ea typeface="Roboto" pitchFamily="2" charset="0"/>
              </a:rPr>
              <a:t>i</a:t>
            </a:r>
            <a:r>
              <a:rPr lang="en-US" sz="900" dirty="0">
                <a:effectLst/>
                <a:latin typeface="Roboto" pitchFamily="2" charset="0"/>
                <a:ea typeface="Roboto" pitchFamily="2" charset="0"/>
              </a:rPr>
              <a:t>) data that may no longer be current, (ii) estimates that may involve highly subjective assessments and (iii) models that may change from time to time and be different from the assumptions and models used by other persons.  Such information should not be the basis for determining the value of any security or financial instrument or in making any decision to buy, sell or hold a security or financial instrument. It should not be assumed that GMO will make investment recommendations in the future that are consistent with the views expressed herein, or use any or all of the techniques or methods of analysis described herein in managing client accounts. </a:t>
            </a:r>
          </a:p>
          <a:p>
            <a:pPr marL="0" marR="0">
              <a:spcBef>
                <a:spcPts val="0"/>
              </a:spcBef>
              <a:spcAft>
                <a:spcPts val="0"/>
              </a:spcAft>
            </a:pPr>
            <a:r>
              <a:rPr lang="en-US" sz="900" dirty="0">
                <a:effectLst/>
                <a:latin typeface="Roboto" pitchFamily="2" charset="0"/>
                <a:ea typeface="Roboto" pitchFamily="2" charset="0"/>
              </a:rPr>
              <a:t> </a:t>
            </a:r>
          </a:p>
          <a:p>
            <a:pPr marL="0" marR="0">
              <a:spcBef>
                <a:spcPts val="0"/>
              </a:spcBef>
              <a:spcAft>
                <a:spcPts val="0"/>
              </a:spcAft>
            </a:pPr>
            <a:r>
              <a:rPr lang="en-US" sz="900" dirty="0">
                <a:effectLst/>
                <a:latin typeface="Roboto" pitchFamily="2" charset="0"/>
                <a:ea typeface="Roboto" pitchFamily="2" charset="0"/>
              </a:rPr>
              <a:t>There can be no assurance that an investment strategy will be successful. Historic market trends are not reliable indicators of actual future market behavior or future performance of any particular investment which may differ materially, and should not be relied upon as such. Predictions, opinions, and other information contained in this presentation are subject to change continually and without notice of any kind and may no longer be true after the date indicated. [Forward-looking statements are subject to numerous assumptions, risks and uncertainties, which change over time, and GMO assumes no duty to and does not undertake to update forward-looking statements. Any forward-looking statements are not guarantees of any future performance and actual results or developments may differ materially. </a:t>
            </a:r>
          </a:p>
          <a:p>
            <a:pPr marL="0" marR="0">
              <a:spcBef>
                <a:spcPts val="0"/>
              </a:spcBef>
              <a:spcAft>
                <a:spcPts val="0"/>
              </a:spcAft>
            </a:pPr>
            <a:r>
              <a:rPr lang="en-US" sz="900" dirty="0">
                <a:effectLst/>
                <a:latin typeface="Roboto" pitchFamily="2" charset="0"/>
                <a:ea typeface="Roboto" pitchFamily="2" charset="0"/>
              </a:rPr>
              <a:t> </a:t>
            </a:r>
          </a:p>
          <a:p>
            <a:pPr marL="0" marR="0" algn="just" fontAlgn="base">
              <a:spcBef>
                <a:spcPts val="600"/>
              </a:spcBef>
              <a:spcAft>
                <a:spcPts val="600"/>
              </a:spcAft>
            </a:pPr>
            <a:r>
              <a:rPr lang="en-US" sz="900" kern="1200" dirty="0">
                <a:solidFill>
                  <a:srgbClr val="000000"/>
                </a:solidFill>
                <a:effectLst/>
                <a:latin typeface="Roboto" pitchFamily="2" charset="0"/>
                <a:ea typeface="Roboto" pitchFamily="2" charset="0"/>
                <a:cs typeface="Times New Roman" panose="02020603050405020304" pitchFamily="18" charset="0"/>
              </a:rPr>
              <a:t>The offer to invest in any financial product issued or advised by GMO is contained in the relevant Information Memorandum, Product Disclosure Statement or other offering document and is subject to the conditions set out therein. Offering documents are available from GMO and should be considered before making any investment decisions.</a:t>
            </a:r>
            <a:endParaRPr lang="en-US" sz="900" dirty="0">
              <a:effectLst/>
              <a:latin typeface="Roboto" pitchFamily="2" charset="0"/>
              <a:ea typeface="Roboto" pitchFamily="2" charset="0"/>
            </a:endParaRPr>
          </a:p>
          <a:p>
            <a:pPr marL="0" marR="0" algn="just" fontAlgn="base">
              <a:spcBef>
                <a:spcPts val="600"/>
              </a:spcBef>
              <a:spcAft>
                <a:spcPts val="600"/>
              </a:spcAft>
            </a:pPr>
            <a:r>
              <a:rPr lang="en-US" sz="900" kern="1200" dirty="0">
                <a:solidFill>
                  <a:srgbClr val="000000"/>
                </a:solidFill>
                <a:effectLst/>
                <a:latin typeface="Roboto" pitchFamily="2" charset="0"/>
                <a:ea typeface="Roboto" pitchFamily="2" charset="0"/>
                <a:cs typeface="Times New Roman" panose="02020603050405020304" pitchFamily="18" charset="0"/>
              </a:rPr>
              <a:t>GMO Australia Limited ABN 30 071 502 639, AFSL 236 656</a:t>
            </a:r>
            <a:endParaRPr lang="en-US" sz="900" dirty="0">
              <a:effectLst/>
              <a:latin typeface="Roboto" pitchFamily="2" charset="0"/>
              <a:ea typeface="Roboto" pitchFamily="2" charset="0"/>
            </a:endParaRPr>
          </a:p>
        </p:txBody>
      </p:sp>
    </p:spTree>
    <p:extLst>
      <p:ext uri="{BB962C8B-B14F-4D97-AF65-F5344CB8AC3E}">
        <p14:creationId xmlns:p14="http://schemas.microsoft.com/office/powerpoint/2010/main" val="1435603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fish&#10;&#10;Description automatically generated">
            <a:extLst>
              <a:ext uri="{FF2B5EF4-FFF2-40B4-BE49-F238E27FC236}">
                <a16:creationId xmlns:a16="http://schemas.microsoft.com/office/drawing/2014/main" id="{2001EC96-1362-EBC8-D64B-45BD185BB05B}"/>
              </a:ext>
            </a:extLst>
          </p:cNvPr>
          <p:cNvPicPr>
            <a:picLocks noChangeAspect="1"/>
          </p:cNvPicPr>
          <p:nvPr/>
        </p:nvPicPr>
        <p:blipFill>
          <a:blip r:embed="rId3"/>
          <a:stretch>
            <a:fillRect/>
          </a:stretch>
        </p:blipFill>
        <p:spPr>
          <a:xfrm>
            <a:off x="0" y="0"/>
            <a:ext cx="13817600" cy="7772400"/>
          </a:xfrm>
          <a:prstGeom prst="rect">
            <a:avLst/>
          </a:prstGeom>
        </p:spPr>
      </p:pic>
      <p:sp>
        <p:nvSpPr>
          <p:cNvPr id="8" name="Rectangle 7">
            <a:extLst>
              <a:ext uri="{FF2B5EF4-FFF2-40B4-BE49-F238E27FC236}">
                <a16:creationId xmlns:a16="http://schemas.microsoft.com/office/drawing/2014/main" id="{76B1B7EC-647C-82E9-3070-9AC2FE245CBE}"/>
              </a:ext>
            </a:extLst>
          </p:cNvPr>
          <p:cNvSpPr/>
          <p:nvPr/>
        </p:nvSpPr>
        <p:spPr>
          <a:xfrm>
            <a:off x="0" y="0"/>
            <a:ext cx="13817600" cy="7772400"/>
          </a:xfrm>
          <a:prstGeom prst="rect">
            <a:avLst/>
          </a:prstGeom>
          <a:solidFill>
            <a:schemeClr val="accent1">
              <a:alpha val="50000"/>
            </a:schemeClr>
          </a:solidFill>
          <a:ln>
            <a:solidFill>
              <a:srgbClr val="000000">
                <a:alpha val="2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pic>
        <p:nvPicPr>
          <p:cNvPr id="7" name="Picture 6" descr="Logo&#10;&#10;Description automatically generated">
            <a:extLst>
              <a:ext uri="{FF2B5EF4-FFF2-40B4-BE49-F238E27FC236}">
                <a16:creationId xmlns:a16="http://schemas.microsoft.com/office/drawing/2014/main" id="{86912015-16E2-4ED1-B25E-1ECB13DCE387}"/>
              </a:ext>
            </a:extLst>
          </p:cNvPr>
          <p:cNvPicPr>
            <a:picLocks noChangeAspect="1"/>
          </p:cNvPicPr>
          <p:nvPr/>
        </p:nvPicPr>
        <p:blipFill>
          <a:blip r:embed="rId4"/>
          <a:stretch>
            <a:fillRect/>
          </a:stretch>
        </p:blipFill>
        <p:spPr>
          <a:xfrm>
            <a:off x="11310827" y="6743700"/>
            <a:ext cx="1779824" cy="517839"/>
          </a:xfrm>
          <a:prstGeom prst="rect">
            <a:avLst/>
          </a:prstGeom>
        </p:spPr>
      </p:pic>
      <p:grpSp>
        <p:nvGrpSpPr>
          <p:cNvPr id="10" name="Group 9">
            <a:extLst>
              <a:ext uri="{FF2B5EF4-FFF2-40B4-BE49-F238E27FC236}">
                <a16:creationId xmlns:a16="http://schemas.microsoft.com/office/drawing/2014/main" id="{F3F89F35-021E-1E12-977C-9839701DFD82}"/>
              </a:ext>
            </a:extLst>
          </p:cNvPr>
          <p:cNvGrpSpPr/>
          <p:nvPr/>
        </p:nvGrpSpPr>
        <p:grpSpPr>
          <a:xfrm>
            <a:off x="4319546" y="1549400"/>
            <a:ext cx="5229308" cy="4572000"/>
            <a:chOff x="4319546" y="711200"/>
            <a:chExt cx="5229308" cy="4572000"/>
          </a:xfrm>
        </p:grpSpPr>
        <p:sp>
          <p:nvSpPr>
            <p:cNvPr id="6" name="Title 1">
              <a:extLst>
                <a:ext uri="{FF2B5EF4-FFF2-40B4-BE49-F238E27FC236}">
                  <a16:creationId xmlns:a16="http://schemas.microsoft.com/office/drawing/2014/main" id="{FF704B13-AFAF-4A98-88D8-AFBB0F3C4610}"/>
                </a:ext>
              </a:extLst>
            </p:cNvPr>
            <p:cNvSpPr txBox="1">
              <a:spLocks/>
            </p:cNvSpPr>
            <p:nvPr/>
          </p:nvSpPr>
          <p:spPr>
            <a:xfrm>
              <a:off x="4319546" y="1852771"/>
              <a:ext cx="5229308" cy="2288858"/>
            </a:xfrm>
            <a:prstGeom prst="rect">
              <a:avLst/>
            </a:prstGeom>
          </p:spPr>
          <p:txBody>
            <a:bodyPr/>
            <a:lstStyle>
              <a:lvl1pPr algn="l" defTabSz="1005755" rtl="0" eaLnBrk="1" latinLnBrk="0" hangingPunct="1">
                <a:lnSpc>
                  <a:spcPct val="90000"/>
                </a:lnSpc>
                <a:spcBef>
                  <a:spcPct val="0"/>
                </a:spcBef>
                <a:buNone/>
                <a:defRPr sz="3200" b="0" i="0" kern="1200" cap="all" spc="100" baseline="0">
                  <a:solidFill>
                    <a:schemeClr val="accent2"/>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pPr algn="ctr"/>
              <a:r>
                <a:rPr lang="en-US" sz="15000" dirty="0">
                  <a:solidFill>
                    <a:schemeClr val="bg1"/>
                  </a:solidFill>
                  <a:latin typeface="Georgia" panose="02040502050405020303" pitchFamily="18" charset="0"/>
                </a:rPr>
                <a:t>Q</a:t>
              </a:r>
              <a:r>
                <a:rPr lang="en-US" sz="4400" dirty="0">
                  <a:solidFill>
                    <a:schemeClr val="bg1"/>
                  </a:solidFill>
                  <a:latin typeface="Georgia" panose="02040502050405020303" pitchFamily="18" charset="0"/>
                </a:rPr>
                <a:t> </a:t>
              </a:r>
              <a:r>
                <a:rPr lang="en-US" sz="9600" baseline="30000" dirty="0">
                  <a:solidFill>
                    <a:schemeClr val="bg1"/>
                  </a:solidFill>
                  <a:latin typeface="Georgia" panose="02040502050405020303" pitchFamily="18" charset="0"/>
                </a:rPr>
                <a:t>&amp;</a:t>
              </a:r>
              <a:r>
                <a:rPr lang="en-US" sz="15000" dirty="0">
                  <a:solidFill>
                    <a:schemeClr val="bg1"/>
                  </a:solidFill>
                  <a:latin typeface="Georgia" panose="02040502050405020303" pitchFamily="18" charset="0"/>
                </a:rPr>
                <a:t>A</a:t>
              </a:r>
            </a:p>
          </p:txBody>
        </p:sp>
        <p:sp>
          <p:nvSpPr>
            <p:cNvPr id="9" name="Rectangle: Rounded Corners 8">
              <a:extLst>
                <a:ext uri="{FF2B5EF4-FFF2-40B4-BE49-F238E27FC236}">
                  <a16:creationId xmlns:a16="http://schemas.microsoft.com/office/drawing/2014/main" id="{1DFE088F-AAC4-60DA-DA86-658D76991244}"/>
                </a:ext>
              </a:extLst>
            </p:cNvPr>
            <p:cNvSpPr/>
            <p:nvPr/>
          </p:nvSpPr>
          <p:spPr>
            <a:xfrm>
              <a:off x="4648200" y="711200"/>
              <a:ext cx="4572000" cy="4572000"/>
            </a:xfrm>
            <a:prstGeom prst="roundRect">
              <a:avLst>
                <a:gd name="adj" fmla="val 9445"/>
              </a:avLst>
            </a:prstGeom>
            <a:noFill/>
            <a:ln>
              <a:solidFill>
                <a:srgbClr val="D6A7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Tree>
    <p:extLst>
      <p:ext uri="{BB962C8B-B14F-4D97-AF65-F5344CB8AC3E}">
        <p14:creationId xmlns:p14="http://schemas.microsoft.com/office/powerpoint/2010/main" val="4059615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fish&#10;&#10;Description automatically generated">
            <a:extLst>
              <a:ext uri="{FF2B5EF4-FFF2-40B4-BE49-F238E27FC236}">
                <a16:creationId xmlns:a16="http://schemas.microsoft.com/office/drawing/2014/main" id="{39BC5E33-DF51-81E0-51F0-F1F22CFA5810}"/>
              </a:ext>
            </a:extLst>
          </p:cNvPr>
          <p:cNvPicPr>
            <a:picLocks noChangeAspect="1"/>
          </p:cNvPicPr>
          <p:nvPr/>
        </p:nvPicPr>
        <p:blipFill>
          <a:blip r:embed="rId3"/>
          <a:stretch>
            <a:fillRect/>
          </a:stretch>
        </p:blipFill>
        <p:spPr>
          <a:xfrm>
            <a:off x="0" y="0"/>
            <a:ext cx="13817600" cy="7772400"/>
          </a:xfrm>
          <a:prstGeom prst="rect">
            <a:avLst/>
          </a:prstGeom>
        </p:spPr>
      </p:pic>
      <p:sp>
        <p:nvSpPr>
          <p:cNvPr id="6" name="Rectangle 5">
            <a:extLst>
              <a:ext uri="{FF2B5EF4-FFF2-40B4-BE49-F238E27FC236}">
                <a16:creationId xmlns:a16="http://schemas.microsoft.com/office/drawing/2014/main" id="{DBFEDF39-1B93-5FB0-287D-2BDCCCAB39D7}"/>
              </a:ext>
            </a:extLst>
          </p:cNvPr>
          <p:cNvSpPr/>
          <p:nvPr/>
        </p:nvSpPr>
        <p:spPr>
          <a:xfrm>
            <a:off x="0" y="0"/>
            <a:ext cx="13817600" cy="7772400"/>
          </a:xfrm>
          <a:prstGeom prst="rect">
            <a:avLst/>
          </a:prstGeom>
          <a:solidFill>
            <a:schemeClr val="accent1">
              <a:alpha val="50000"/>
            </a:schemeClr>
          </a:solidFill>
          <a:ln>
            <a:solidFill>
              <a:srgbClr val="000000">
                <a:alpha val="2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pic>
        <p:nvPicPr>
          <p:cNvPr id="7" name="Picture 6" descr="Logo&#10;&#10;Description automatically generated">
            <a:extLst>
              <a:ext uri="{FF2B5EF4-FFF2-40B4-BE49-F238E27FC236}">
                <a16:creationId xmlns:a16="http://schemas.microsoft.com/office/drawing/2014/main" id="{86912015-16E2-4ED1-B25E-1ECB13DCE387}"/>
              </a:ext>
            </a:extLst>
          </p:cNvPr>
          <p:cNvPicPr>
            <a:picLocks noChangeAspect="1"/>
          </p:cNvPicPr>
          <p:nvPr/>
        </p:nvPicPr>
        <p:blipFill>
          <a:blip r:embed="rId4"/>
          <a:stretch>
            <a:fillRect/>
          </a:stretch>
        </p:blipFill>
        <p:spPr>
          <a:xfrm>
            <a:off x="5441354" y="3459248"/>
            <a:ext cx="2934893" cy="853905"/>
          </a:xfrm>
          <a:prstGeom prst="rect">
            <a:avLst/>
          </a:prstGeom>
        </p:spPr>
      </p:pic>
      <p:sp>
        <p:nvSpPr>
          <p:cNvPr id="8" name="Rectangle: Rounded Corners 7">
            <a:extLst>
              <a:ext uri="{FF2B5EF4-FFF2-40B4-BE49-F238E27FC236}">
                <a16:creationId xmlns:a16="http://schemas.microsoft.com/office/drawing/2014/main" id="{C146C00B-533A-D01E-4443-EF4CA48D7310}"/>
              </a:ext>
            </a:extLst>
          </p:cNvPr>
          <p:cNvSpPr/>
          <p:nvPr/>
        </p:nvSpPr>
        <p:spPr>
          <a:xfrm>
            <a:off x="4622800" y="1600200"/>
            <a:ext cx="4572000" cy="4572000"/>
          </a:xfrm>
          <a:prstGeom prst="roundRect">
            <a:avLst>
              <a:gd name="adj" fmla="val 9445"/>
            </a:avLst>
          </a:prstGeom>
          <a:noFill/>
          <a:ln>
            <a:solidFill>
              <a:srgbClr val="D6A7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Tree>
    <p:extLst>
      <p:ext uri="{BB962C8B-B14F-4D97-AF65-F5344CB8AC3E}">
        <p14:creationId xmlns:p14="http://schemas.microsoft.com/office/powerpoint/2010/main" val="3489182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endParaRPr lang="en-US" dirty="0"/>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solidFill>
                  <a:srgbClr val="AF332B"/>
                </a:solidFill>
              </a:rPr>
              <a:t>Predicted growth:</a:t>
            </a:r>
            <a:br>
              <a:rPr lang="en-US" dirty="0"/>
            </a:br>
            <a:r>
              <a:rPr lang="en-US" dirty="0"/>
              <a:t>Predicting growth is always tricky</a:t>
            </a:r>
          </a:p>
        </p:txBody>
      </p:sp>
      <p:graphicFrame>
        <p:nvGraphicFramePr>
          <p:cNvPr id="4" name="Table 3">
            <a:extLst>
              <a:ext uri="{FF2B5EF4-FFF2-40B4-BE49-F238E27FC236}">
                <a16:creationId xmlns:a16="http://schemas.microsoft.com/office/drawing/2014/main" id="{7769DDB2-0FC1-58E1-2126-1F00DE447B34}"/>
              </a:ext>
            </a:extLst>
          </p:cNvPr>
          <p:cNvGraphicFramePr>
            <a:graphicFrameLocks noGrp="1"/>
          </p:cNvGraphicFramePr>
          <p:nvPr/>
        </p:nvGraphicFramePr>
        <p:xfrm>
          <a:off x="907683" y="2146566"/>
          <a:ext cx="11978640" cy="2987040"/>
        </p:xfrm>
        <a:graphic>
          <a:graphicData uri="http://schemas.openxmlformats.org/drawingml/2006/table">
            <a:tbl>
              <a:tblPr>
                <a:tableStyleId>{5C22544A-7EE6-4342-B048-85BDC9FD1C3A}</a:tableStyleId>
              </a:tblPr>
              <a:tblGrid>
                <a:gridCol w="3017520">
                  <a:extLst>
                    <a:ext uri="{9D8B030D-6E8A-4147-A177-3AD203B41FA5}">
                      <a16:colId xmlns:a16="http://schemas.microsoft.com/office/drawing/2014/main" val="1898463280"/>
                    </a:ext>
                  </a:extLst>
                </a:gridCol>
                <a:gridCol w="1097280">
                  <a:extLst>
                    <a:ext uri="{9D8B030D-6E8A-4147-A177-3AD203B41FA5}">
                      <a16:colId xmlns:a16="http://schemas.microsoft.com/office/drawing/2014/main" val="2417231881"/>
                    </a:ext>
                  </a:extLst>
                </a:gridCol>
                <a:gridCol w="1097280">
                  <a:extLst>
                    <a:ext uri="{9D8B030D-6E8A-4147-A177-3AD203B41FA5}">
                      <a16:colId xmlns:a16="http://schemas.microsoft.com/office/drawing/2014/main" val="4088223132"/>
                    </a:ext>
                  </a:extLst>
                </a:gridCol>
                <a:gridCol w="1097280">
                  <a:extLst>
                    <a:ext uri="{9D8B030D-6E8A-4147-A177-3AD203B41FA5}">
                      <a16:colId xmlns:a16="http://schemas.microsoft.com/office/drawing/2014/main" val="1431477524"/>
                    </a:ext>
                  </a:extLst>
                </a:gridCol>
                <a:gridCol w="1280160">
                  <a:extLst>
                    <a:ext uri="{9D8B030D-6E8A-4147-A177-3AD203B41FA5}">
                      <a16:colId xmlns:a16="http://schemas.microsoft.com/office/drawing/2014/main" val="355499506"/>
                    </a:ext>
                  </a:extLst>
                </a:gridCol>
                <a:gridCol w="1097280">
                  <a:extLst>
                    <a:ext uri="{9D8B030D-6E8A-4147-A177-3AD203B41FA5}">
                      <a16:colId xmlns:a16="http://schemas.microsoft.com/office/drawing/2014/main" val="171442710"/>
                    </a:ext>
                  </a:extLst>
                </a:gridCol>
                <a:gridCol w="1097280">
                  <a:extLst>
                    <a:ext uri="{9D8B030D-6E8A-4147-A177-3AD203B41FA5}">
                      <a16:colId xmlns:a16="http://schemas.microsoft.com/office/drawing/2014/main" val="1588504413"/>
                    </a:ext>
                  </a:extLst>
                </a:gridCol>
                <a:gridCol w="1097280">
                  <a:extLst>
                    <a:ext uri="{9D8B030D-6E8A-4147-A177-3AD203B41FA5}">
                      <a16:colId xmlns:a16="http://schemas.microsoft.com/office/drawing/2014/main" val="3209936391"/>
                    </a:ext>
                  </a:extLst>
                </a:gridCol>
                <a:gridCol w="1097280">
                  <a:extLst>
                    <a:ext uri="{9D8B030D-6E8A-4147-A177-3AD203B41FA5}">
                      <a16:colId xmlns:a16="http://schemas.microsoft.com/office/drawing/2014/main" val="330847030"/>
                    </a:ext>
                  </a:extLst>
                </a:gridCol>
              </a:tblGrid>
              <a:tr h="274320">
                <a:tc>
                  <a:txBody>
                    <a:bodyPr/>
                    <a:lstStyle/>
                    <a:p>
                      <a:pPr algn="l" fontAlgn="b"/>
                      <a:endParaRPr lang="en-US" sz="1600" b="1" i="1" u="none" strike="noStrike" dirty="0">
                        <a:solidFill>
                          <a:schemeClr val="bg1"/>
                        </a:solidFill>
                        <a:effectLst/>
                        <a:latin typeface="Georgia" panose="02040502050405020303" pitchFamily="18" charset="0"/>
                      </a:endParaRP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gridSpan="7">
                  <a:txBody>
                    <a:bodyPr/>
                    <a:lstStyle/>
                    <a:p>
                      <a:pPr algn="ctr" fontAlgn="b"/>
                      <a:r>
                        <a:rPr lang="en-US" sz="1600" b="1" i="1" u="none" strike="noStrike" dirty="0">
                          <a:solidFill>
                            <a:schemeClr val="bg1"/>
                          </a:solidFill>
                          <a:effectLst/>
                          <a:latin typeface="Georgia" panose="02040502050405020303" pitchFamily="18" charset="0"/>
                        </a:rPr>
                        <a:t>EMERGING MARKETS</a:t>
                      </a:r>
                    </a:p>
                  </a:txBody>
                  <a:tcPr anchor="b">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
                      <a:r>
                        <a:rPr lang="en-US" sz="1600" b="1" i="1" u="none" strike="noStrike" dirty="0">
                          <a:solidFill>
                            <a:schemeClr val="bg1"/>
                          </a:solidFill>
                          <a:effectLst/>
                          <a:latin typeface="Georgia" panose="02040502050405020303" pitchFamily="18" charset="0"/>
                        </a:rPr>
                        <a:t> </a:t>
                      </a:r>
                    </a:p>
                  </a:txBody>
                  <a:tcPr anchor="b">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96036985"/>
                  </a:ext>
                </a:extLst>
              </a:tr>
              <a:tr h="365760">
                <a:tc>
                  <a:txBody>
                    <a:bodyPr/>
                    <a:lstStyle/>
                    <a:p>
                      <a:pPr algn="ctr" fontAlgn="ctr"/>
                      <a:endParaRPr lang="en-US" sz="1600" b="1" i="1" u="none" strike="noStrike" dirty="0">
                        <a:solidFill>
                          <a:schemeClr val="bg1"/>
                        </a:solidFill>
                        <a:effectLst/>
                        <a:latin typeface="Georgia" panose="02040502050405020303" pitchFamily="18" charset="0"/>
                      </a:endParaRP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1600" b="1" i="1" u="none" strike="noStrike" dirty="0">
                          <a:solidFill>
                            <a:schemeClr val="bg1"/>
                          </a:solidFill>
                          <a:effectLst/>
                          <a:latin typeface="Georgia" panose="02040502050405020303" pitchFamily="18" charset="0"/>
                        </a:rPr>
                        <a:t>Brazil</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1600" b="1" i="1" u="none" strike="noStrike" dirty="0">
                          <a:solidFill>
                            <a:schemeClr val="bg1"/>
                          </a:solidFill>
                          <a:effectLst/>
                          <a:latin typeface="Georgia" panose="02040502050405020303" pitchFamily="18" charset="0"/>
                        </a:rPr>
                        <a:t>China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1600" b="1" i="1" u="none" strike="noStrike" dirty="0">
                          <a:solidFill>
                            <a:schemeClr val="bg1"/>
                          </a:solidFill>
                          <a:effectLst/>
                          <a:latin typeface="Georgia" panose="02040502050405020303" pitchFamily="18" charset="0"/>
                        </a:rPr>
                        <a:t>India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1600" b="1" i="1" u="none" strike="noStrike" dirty="0">
                          <a:solidFill>
                            <a:schemeClr val="bg1"/>
                          </a:solidFill>
                          <a:effectLst/>
                          <a:latin typeface="Georgia" panose="02040502050405020303" pitchFamily="18" charset="0"/>
                        </a:rPr>
                        <a:t>Indonesia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1600" b="1" i="1" u="none" strike="noStrike" dirty="0">
                          <a:solidFill>
                            <a:schemeClr val="bg1"/>
                          </a:solidFill>
                          <a:effectLst/>
                          <a:latin typeface="Georgia" panose="02040502050405020303" pitchFamily="18" charset="0"/>
                        </a:rPr>
                        <a:t>Mexico</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1600" b="1" i="1" u="none" strike="noStrike" dirty="0">
                          <a:solidFill>
                            <a:schemeClr val="bg1"/>
                          </a:solidFill>
                          <a:effectLst/>
                          <a:latin typeface="Georgia" panose="02040502050405020303" pitchFamily="18" charset="0"/>
                        </a:rPr>
                        <a:t>Poland</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1600" b="1" i="1" u="none" strike="noStrike" dirty="0">
                          <a:solidFill>
                            <a:schemeClr val="bg1"/>
                          </a:solidFill>
                          <a:effectLst/>
                          <a:latin typeface="Georgia" panose="02040502050405020303" pitchFamily="18" charset="0"/>
                        </a:rPr>
                        <a:t>Taiwan</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1600" b="1" i="1" u="none" strike="noStrike" dirty="0">
                          <a:solidFill>
                            <a:schemeClr val="bg1"/>
                          </a:solidFill>
                          <a:effectLst/>
                          <a:latin typeface="Georgia" panose="02040502050405020303" pitchFamily="18" charset="0"/>
                        </a:rPr>
                        <a:t>Vietnam</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227546343"/>
                  </a:ext>
                </a:extLst>
              </a:tr>
              <a:tr h="457200">
                <a:tc>
                  <a:txBody>
                    <a:bodyPr/>
                    <a:lstStyle/>
                    <a:p>
                      <a:pPr algn="l"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ROE (3-Year Average)</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16.0</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11.1</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12.3</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15.1</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20.9</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8.4</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16.3</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20.1</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691729"/>
                  </a:ext>
                </a:extLst>
              </a:tr>
              <a:tr h="457200">
                <a:tc>
                  <a:txBody>
                    <a:bodyPr/>
                    <a:lstStyle/>
                    <a:p>
                      <a:pPr algn="l"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5-Year EPS Growth %</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22.5</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4.3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6.9</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2.5</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6.5</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11.3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14.8</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18.2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307822"/>
                  </a:ext>
                </a:extLst>
              </a:tr>
              <a:tr h="457200">
                <a:tc>
                  <a:txBody>
                    <a:bodyPr/>
                    <a:lstStyle/>
                    <a:p>
                      <a:pPr algn="l"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Past GDP Growth</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1.7</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9.0</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9.3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8.3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2.1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6.2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5.9</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9.7</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0037602"/>
                  </a:ext>
                </a:extLst>
              </a:tr>
              <a:tr h="457200">
                <a:tc>
                  <a:txBody>
                    <a:bodyPr/>
                    <a:lstStyle/>
                    <a:p>
                      <a:pPr algn="l" fontAlgn="b"/>
                      <a:r>
                        <a:rPr lang="en-US" sz="1600" u="none" strike="noStrike" dirty="0">
                          <a:solidFill>
                            <a:schemeClr val="tx1"/>
                          </a:solidFill>
                          <a:effectLst/>
                          <a:latin typeface="Roboto Condensed" panose="02000000000000000000" pitchFamily="2" charset="0"/>
                          <a:ea typeface="Roboto Condensed" panose="02000000000000000000" pitchFamily="2" charset="0"/>
                        </a:rPr>
                        <a:t>Sustainable Growth Rate</a:t>
                      </a:r>
                      <a:endParaRPr lang="en-US" sz="16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2.1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8.3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7.2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8.6</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9.0</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2.4</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3.8</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tx1"/>
                          </a:solidFill>
                          <a:effectLst/>
                          <a:latin typeface="Roboto Condensed" panose="02000000000000000000" pitchFamily="2" charset="0"/>
                          <a:ea typeface="Roboto Condensed" panose="02000000000000000000" pitchFamily="2" charset="0"/>
                          <a:cs typeface="+mn-cs"/>
                        </a:rPr>
                        <a:t>9.3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2853511"/>
                  </a:ext>
                </a:extLst>
              </a:tr>
              <a:tr h="457200">
                <a:tc>
                  <a:txBody>
                    <a:bodyPr/>
                    <a:lstStyle/>
                    <a:p>
                      <a:pPr algn="l" fontAlgn="b"/>
                      <a:r>
                        <a:rPr lang="en-US" sz="1800" b="1" i="0" u="none" strike="noStrike" dirty="0">
                          <a:solidFill>
                            <a:srgbClr val="C00000"/>
                          </a:solidFill>
                          <a:effectLst/>
                          <a:latin typeface="Roboto Condensed" panose="02000000000000000000" pitchFamily="2" charset="0"/>
                          <a:ea typeface="Roboto Condensed" panose="02000000000000000000" pitchFamily="2" charset="0"/>
                        </a:rPr>
                        <a:t>Predicted Growth (0 to 10)</a:t>
                      </a: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b="1" i="0" u="none" strike="noStrike" kern="1200" dirty="0">
                          <a:solidFill>
                            <a:srgbClr val="C00000"/>
                          </a:solidFill>
                          <a:effectLst/>
                          <a:latin typeface="Roboto Condensed" panose="02000000000000000000" pitchFamily="2" charset="0"/>
                          <a:ea typeface="Roboto Condensed" panose="02000000000000000000" pitchFamily="2" charset="0"/>
                          <a:cs typeface="+mn-cs"/>
                        </a:rPr>
                        <a:t>2.14</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b="1" i="0" u="none" strike="noStrike" kern="1200" dirty="0">
                          <a:solidFill>
                            <a:srgbClr val="C00000"/>
                          </a:solidFill>
                          <a:effectLst/>
                          <a:latin typeface="Roboto Condensed" panose="02000000000000000000" pitchFamily="2" charset="0"/>
                          <a:ea typeface="Roboto Condensed" panose="02000000000000000000" pitchFamily="2" charset="0"/>
                          <a:cs typeface="+mn-cs"/>
                        </a:rPr>
                        <a:t>8.57</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b="1" i="0" u="none" strike="noStrike" kern="1200" dirty="0">
                          <a:solidFill>
                            <a:srgbClr val="C00000"/>
                          </a:solidFill>
                          <a:effectLst/>
                          <a:latin typeface="Roboto Condensed" panose="02000000000000000000" pitchFamily="2" charset="0"/>
                          <a:ea typeface="Roboto Condensed" panose="02000000000000000000" pitchFamily="2" charset="0"/>
                          <a:cs typeface="+mn-cs"/>
                        </a:rPr>
                        <a:t>9.28</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b="1" i="0" u="none" strike="noStrike" kern="1200" dirty="0">
                          <a:solidFill>
                            <a:srgbClr val="C00000"/>
                          </a:solidFill>
                          <a:effectLst/>
                          <a:latin typeface="Roboto Condensed" panose="02000000000000000000" pitchFamily="2" charset="0"/>
                          <a:ea typeface="Roboto Condensed" panose="02000000000000000000" pitchFamily="2" charset="0"/>
                          <a:cs typeface="+mn-cs"/>
                        </a:rPr>
                        <a:t>8.92</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b="1" i="0" u="none" strike="noStrike" kern="1200" dirty="0">
                          <a:solidFill>
                            <a:srgbClr val="C00000"/>
                          </a:solidFill>
                          <a:effectLst/>
                          <a:latin typeface="Roboto Condensed" panose="02000000000000000000" pitchFamily="2" charset="0"/>
                          <a:ea typeface="Roboto Condensed" panose="02000000000000000000" pitchFamily="2" charset="0"/>
                          <a:cs typeface="+mn-cs"/>
                        </a:rPr>
                        <a:t>6.42</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b="1" i="0" u="none" strike="noStrike" kern="1200" dirty="0">
                          <a:solidFill>
                            <a:srgbClr val="C00000"/>
                          </a:solidFill>
                          <a:effectLst/>
                          <a:latin typeface="Roboto Condensed" panose="02000000000000000000" pitchFamily="2" charset="0"/>
                          <a:ea typeface="Roboto Condensed" panose="02000000000000000000" pitchFamily="2" charset="0"/>
                          <a:cs typeface="+mn-cs"/>
                        </a:rPr>
                        <a:t>3.57</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b="1" i="0" u="none" strike="noStrike" kern="1200" dirty="0">
                          <a:solidFill>
                            <a:srgbClr val="C00000"/>
                          </a:solidFill>
                          <a:effectLst/>
                          <a:latin typeface="Roboto Condensed" panose="02000000000000000000" pitchFamily="2" charset="0"/>
                          <a:ea typeface="Roboto Condensed" panose="02000000000000000000" pitchFamily="2" charset="0"/>
                          <a:cs typeface="+mn-cs"/>
                        </a:rPr>
                        <a:t>5.35</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b="1" i="0" u="none" strike="noStrike" kern="1200" dirty="0">
                          <a:solidFill>
                            <a:srgbClr val="C00000"/>
                          </a:solidFill>
                          <a:effectLst/>
                          <a:latin typeface="Roboto Condensed" panose="02000000000000000000" pitchFamily="2" charset="0"/>
                          <a:ea typeface="Roboto Condensed" panose="02000000000000000000" pitchFamily="2" charset="0"/>
                          <a:cs typeface="+mn-cs"/>
                        </a:rPr>
                        <a:t>10.00</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716270"/>
                  </a:ext>
                </a:extLst>
              </a:tr>
            </a:tbl>
          </a:graphicData>
        </a:graphic>
      </p:graphicFrame>
    </p:spTree>
    <p:extLst>
      <p:ext uri="{BB962C8B-B14F-4D97-AF65-F5344CB8AC3E}">
        <p14:creationId xmlns:p14="http://schemas.microsoft.com/office/powerpoint/2010/main" val="3130977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endParaRPr lang="en-US" dirty="0"/>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solidFill>
                  <a:srgbClr val="AF332B"/>
                </a:solidFill>
              </a:rPr>
              <a:t>Predicted growth:</a:t>
            </a:r>
            <a:br>
              <a:rPr lang="en-US" dirty="0"/>
            </a:br>
            <a:r>
              <a:rPr lang="en-US" dirty="0"/>
              <a:t>Predicting growth is always tricky</a:t>
            </a:r>
          </a:p>
        </p:txBody>
      </p:sp>
      <p:graphicFrame>
        <p:nvGraphicFramePr>
          <p:cNvPr id="4" name="Table 3">
            <a:extLst>
              <a:ext uri="{FF2B5EF4-FFF2-40B4-BE49-F238E27FC236}">
                <a16:creationId xmlns:a16="http://schemas.microsoft.com/office/drawing/2014/main" id="{36CB6504-115B-084E-D0C4-E36BE61D9BFA}"/>
              </a:ext>
            </a:extLst>
          </p:cNvPr>
          <p:cNvGraphicFramePr>
            <a:graphicFrameLocks noGrp="1"/>
          </p:cNvGraphicFramePr>
          <p:nvPr/>
        </p:nvGraphicFramePr>
        <p:xfrm>
          <a:off x="3840796" y="2378683"/>
          <a:ext cx="6126480" cy="2651760"/>
        </p:xfrm>
        <a:graphic>
          <a:graphicData uri="http://schemas.openxmlformats.org/drawingml/2006/table">
            <a:tbl>
              <a:tblPr>
                <a:tableStyleId>{5C22544A-7EE6-4342-B048-85BDC9FD1C3A}</a:tableStyleId>
              </a:tblPr>
              <a:tblGrid>
                <a:gridCol w="3017520">
                  <a:extLst>
                    <a:ext uri="{9D8B030D-6E8A-4147-A177-3AD203B41FA5}">
                      <a16:colId xmlns:a16="http://schemas.microsoft.com/office/drawing/2014/main" val="1898463280"/>
                    </a:ext>
                  </a:extLst>
                </a:gridCol>
                <a:gridCol w="1554480">
                  <a:extLst>
                    <a:ext uri="{9D8B030D-6E8A-4147-A177-3AD203B41FA5}">
                      <a16:colId xmlns:a16="http://schemas.microsoft.com/office/drawing/2014/main" val="2417231881"/>
                    </a:ext>
                  </a:extLst>
                </a:gridCol>
                <a:gridCol w="1554480">
                  <a:extLst>
                    <a:ext uri="{9D8B030D-6E8A-4147-A177-3AD203B41FA5}">
                      <a16:colId xmlns:a16="http://schemas.microsoft.com/office/drawing/2014/main" val="330847030"/>
                    </a:ext>
                  </a:extLst>
                </a:gridCol>
              </a:tblGrid>
              <a:tr h="365760">
                <a:tc>
                  <a:txBody>
                    <a:bodyPr/>
                    <a:lstStyle/>
                    <a:p>
                      <a:pPr algn="ctr" fontAlgn="ctr"/>
                      <a:endParaRPr lang="en-US" sz="1800" b="1" i="1" u="none" strike="noStrike" dirty="0">
                        <a:solidFill>
                          <a:schemeClr val="bg1"/>
                        </a:solidFill>
                        <a:effectLst/>
                        <a:latin typeface="Georgia" panose="02040502050405020303" pitchFamily="18" charset="0"/>
                      </a:endParaRP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1800" b="1" i="1" u="none" strike="noStrike" dirty="0">
                          <a:solidFill>
                            <a:schemeClr val="bg1"/>
                          </a:solidFill>
                          <a:effectLst/>
                          <a:latin typeface="Georgia" panose="02040502050405020303" pitchFamily="18" charset="0"/>
                        </a:rPr>
                        <a:t>Brazil</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1800" b="1" i="1" u="none" strike="noStrike" dirty="0">
                          <a:solidFill>
                            <a:schemeClr val="bg1"/>
                          </a:solidFill>
                          <a:effectLst/>
                          <a:latin typeface="Georgia" panose="02040502050405020303" pitchFamily="18" charset="0"/>
                        </a:rPr>
                        <a:t>Vietnam</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227546343"/>
                  </a:ext>
                </a:extLst>
              </a:tr>
              <a:tr h="457200">
                <a:tc>
                  <a:txBody>
                    <a:bodyPr/>
                    <a:lstStyle/>
                    <a:p>
                      <a:pPr algn="l" fontAlgn="b"/>
                      <a:r>
                        <a:rPr lang="en-US" sz="1800" u="none" strike="noStrike" dirty="0">
                          <a:solidFill>
                            <a:schemeClr val="tx1"/>
                          </a:solidFill>
                          <a:effectLst/>
                          <a:latin typeface="Roboto Condensed" panose="02000000000000000000" pitchFamily="2" charset="0"/>
                          <a:ea typeface="Roboto Condensed" panose="02000000000000000000" pitchFamily="2" charset="0"/>
                        </a:rPr>
                        <a:t>ROE (3-Year Average)</a:t>
                      </a:r>
                      <a:endParaRPr lang="en-US" sz="18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tx1"/>
                          </a:solidFill>
                          <a:effectLst/>
                          <a:latin typeface="Roboto Condensed" panose="02000000000000000000" pitchFamily="2" charset="0"/>
                          <a:ea typeface="Roboto Condensed" panose="02000000000000000000" pitchFamily="2" charset="0"/>
                          <a:cs typeface="+mn-cs"/>
                        </a:rPr>
                        <a:t>16.0</a:t>
                      </a:r>
                    </a:p>
                  </a:txBody>
                  <a:tcPr marL="8610" marR="54864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tx1"/>
                          </a:solidFill>
                          <a:effectLst/>
                          <a:latin typeface="Roboto Condensed" panose="02000000000000000000" pitchFamily="2" charset="0"/>
                          <a:ea typeface="Roboto Condensed" panose="02000000000000000000" pitchFamily="2" charset="0"/>
                          <a:cs typeface="+mn-cs"/>
                        </a:rPr>
                        <a:t>20.1</a:t>
                      </a:r>
                    </a:p>
                  </a:txBody>
                  <a:tcPr marL="8610" marR="54864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691729"/>
                  </a:ext>
                </a:extLst>
              </a:tr>
              <a:tr h="457200">
                <a:tc>
                  <a:txBody>
                    <a:bodyPr/>
                    <a:lstStyle/>
                    <a:p>
                      <a:pPr algn="l" fontAlgn="b"/>
                      <a:r>
                        <a:rPr lang="en-US" sz="1800" u="none" strike="noStrike" dirty="0">
                          <a:solidFill>
                            <a:schemeClr val="tx1"/>
                          </a:solidFill>
                          <a:effectLst/>
                          <a:latin typeface="Roboto Condensed" panose="02000000000000000000" pitchFamily="2" charset="0"/>
                          <a:ea typeface="Roboto Condensed" panose="02000000000000000000" pitchFamily="2" charset="0"/>
                        </a:rPr>
                        <a:t>5-Year EPS Growth %</a:t>
                      </a:r>
                      <a:endParaRPr lang="en-US" sz="18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tx1"/>
                          </a:solidFill>
                          <a:effectLst/>
                          <a:latin typeface="Roboto Condensed" panose="02000000000000000000" pitchFamily="2" charset="0"/>
                          <a:ea typeface="Roboto Condensed" panose="02000000000000000000" pitchFamily="2" charset="0"/>
                          <a:cs typeface="+mn-cs"/>
                        </a:rPr>
                        <a:t>22.5</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tx1"/>
                          </a:solidFill>
                          <a:effectLst/>
                          <a:latin typeface="Roboto Condensed" panose="02000000000000000000" pitchFamily="2" charset="0"/>
                          <a:ea typeface="Roboto Condensed" panose="02000000000000000000" pitchFamily="2" charset="0"/>
                          <a:cs typeface="+mn-cs"/>
                        </a:rPr>
                        <a:t>18.2</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307822"/>
                  </a:ext>
                </a:extLst>
              </a:tr>
              <a:tr h="457200">
                <a:tc>
                  <a:txBody>
                    <a:bodyPr/>
                    <a:lstStyle/>
                    <a:p>
                      <a:pPr algn="l" fontAlgn="b"/>
                      <a:r>
                        <a:rPr lang="en-US" sz="1800" u="none" strike="noStrike" dirty="0">
                          <a:solidFill>
                            <a:schemeClr val="tx1"/>
                          </a:solidFill>
                          <a:effectLst/>
                          <a:latin typeface="Roboto Condensed" panose="02000000000000000000" pitchFamily="2" charset="0"/>
                          <a:ea typeface="Roboto Condensed" panose="02000000000000000000" pitchFamily="2" charset="0"/>
                        </a:rPr>
                        <a:t>Past GDP Growth</a:t>
                      </a:r>
                      <a:endParaRPr lang="en-US" sz="18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tx1"/>
                          </a:solidFill>
                          <a:effectLst/>
                          <a:latin typeface="Roboto Condensed" panose="02000000000000000000" pitchFamily="2" charset="0"/>
                          <a:ea typeface="Roboto Condensed" panose="02000000000000000000" pitchFamily="2" charset="0"/>
                          <a:cs typeface="+mn-cs"/>
                        </a:rPr>
                        <a:t>1.7</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tx1"/>
                          </a:solidFill>
                          <a:effectLst/>
                          <a:latin typeface="Roboto Condensed" panose="02000000000000000000" pitchFamily="2" charset="0"/>
                          <a:ea typeface="Roboto Condensed" panose="02000000000000000000" pitchFamily="2" charset="0"/>
                          <a:cs typeface="+mn-cs"/>
                        </a:rPr>
                        <a:t>9.7</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0037602"/>
                  </a:ext>
                </a:extLst>
              </a:tr>
              <a:tr h="457200">
                <a:tc>
                  <a:txBody>
                    <a:bodyPr/>
                    <a:lstStyle/>
                    <a:p>
                      <a:pPr algn="l" fontAlgn="b"/>
                      <a:r>
                        <a:rPr lang="en-US" sz="1800" u="none" strike="noStrike" dirty="0">
                          <a:solidFill>
                            <a:schemeClr val="tx1"/>
                          </a:solidFill>
                          <a:effectLst/>
                          <a:latin typeface="Roboto Condensed" panose="02000000000000000000" pitchFamily="2" charset="0"/>
                          <a:ea typeface="Roboto Condensed" panose="02000000000000000000" pitchFamily="2" charset="0"/>
                        </a:rPr>
                        <a:t>Sustainable Growth Rate</a:t>
                      </a:r>
                      <a:endParaRPr lang="en-US" sz="1800" b="0" i="0" u="none" strike="noStrike" dirty="0">
                        <a:solidFill>
                          <a:schemeClr val="tx1"/>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tx1"/>
                          </a:solidFill>
                          <a:effectLst/>
                          <a:latin typeface="Roboto Condensed" panose="02000000000000000000" pitchFamily="2" charset="0"/>
                          <a:ea typeface="Roboto Condensed" panose="02000000000000000000" pitchFamily="2" charset="0"/>
                          <a:cs typeface="+mn-cs"/>
                        </a:rPr>
                        <a:t>2.1</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tx1"/>
                          </a:solidFill>
                          <a:effectLst/>
                          <a:latin typeface="Roboto Condensed" panose="02000000000000000000" pitchFamily="2" charset="0"/>
                          <a:ea typeface="Roboto Condensed" panose="02000000000000000000" pitchFamily="2" charset="0"/>
                          <a:cs typeface="+mn-cs"/>
                        </a:rPr>
                        <a:t>9.3</a:t>
                      </a:r>
                    </a:p>
                  </a:txBody>
                  <a:tcPr marL="8610" marR="54864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2853511"/>
                  </a:ext>
                </a:extLst>
              </a:tr>
              <a:tr h="457200">
                <a:tc>
                  <a:txBody>
                    <a:bodyPr/>
                    <a:lstStyle/>
                    <a:p>
                      <a:pPr algn="l" fontAlgn="b"/>
                      <a:r>
                        <a:rPr lang="en-US" sz="2000" b="1" i="0" u="none" strike="noStrike" dirty="0">
                          <a:solidFill>
                            <a:srgbClr val="C00000"/>
                          </a:solidFill>
                          <a:effectLst/>
                          <a:latin typeface="Roboto Condensed" panose="02000000000000000000" pitchFamily="2" charset="0"/>
                          <a:ea typeface="Roboto Condensed" panose="02000000000000000000" pitchFamily="2" charset="0"/>
                        </a:rPr>
                        <a:t>Predicted Growth (0 to 10)</a:t>
                      </a: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2000" b="1" i="0" u="none" strike="noStrike" kern="1200" dirty="0">
                          <a:solidFill>
                            <a:srgbClr val="C00000"/>
                          </a:solidFill>
                          <a:effectLst/>
                          <a:latin typeface="Roboto Condensed" panose="02000000000000000000" pitchFamily="2" charset="0"/>
                          <a:ea typeface="Roboto Condensed" panose="02000000000000000000" pitchFamily="2" charset="0"/>
                          <a:cs typeface="+mn-cs"/>
                        </a:rPr>
                        <a:t>2.14</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2000" b="1" i="0" u="none" strike="noStrike" kern="1200" dirty="0">
                          <a:solidFill>
                            <a:srgbClr val="C00000"/>
                          </a:solidFill>
                          <a:effectLst/>
                          <a:latin typeface="Roboto Condensed" panose="02000000000000000000" pitchFamily="2" charset="0"/>
                          <a:ea typeface="Roboto Condensed" panose="02000000000000000000" pitchFamily="2" charset="0"/>
                          <a:cs typeface="+mn-cs"/>
                        </a:rPr>
                        <a:t>10.00</a:t>
                      </a:r>
                    </a:p>
                  </a:txBody>
                  <a:tcPr marL="8610" marR="861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716270"/>
                  </a:ext>
                </a:extLst>
              </a:tr>
            </a:tbl>
          </a:graphicData>
        </a:graphic>
      </p:graphicFrame>
    </p:spTree>
    <p:extLst>
      <p:ext uri="{BB962C8B-B14F-4D97-AF65-F5344CB8AC3E}">
        <p14:creationId xmlns:p14="http://schemas.microsoft.com/office/powerpoint/2010/main" val="40957168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r>
              <a:rPr lang="en-US" b="1" dirty="0"/>
              <a:t>As of 1/31/21</a:t>
            </a:r>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solidFill>
                  <a:srgbClr val="AF332B"/>
                </a:solidFill>
              </a:rPr>
              <a:t>Predicted growth:</a:t>
            </a:r>
            <a:br>
              <a:rPr lang="en-US" dirty="0"/>
            </a:br>
            <a:r>
              <a:rPr lang="en-US" dirty="0"/>
              <a:t>Predicting growth is always tricky, but…</a:t>
            </a:r>
          </a:p>
        </p:txBody>
      </p:sp>
      <p:graphicFrame>
        <p:nvGraphicFramePr>
          <p:cNvPr id="5" name="Chart 4">
            <a:extLst>
              <a:ext uri="{FF2B5EF4-FFF2-40B4-BE49-F238E27FC236}">
                <a16:creationId xmlns:a16="http://schemas.microsoft.com/office/drawing/2014/main" id="{3115B9CB-2E81-2A31-6D24-F5A36F790785}"/>
              </a:ext>
            </a:extLst>
          </p:cNvPr>
          <p:cNvGraphicFramePr>
            <a:graphicFrameLocks/>
          </p:cNvGraphicFramePr>
          <p:nvPr/>
        </p:nvGraphicFramePr>
        <p:xfrm>
          <a:off x="1880471" y="2057400"/>
          <a:ext cx="100584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Box 3">
            <a:extLst>
              <a:ext uri="{FF2B5EF4-FFF2-40B4-BE49-F238E27FC236}">
                <a16:creationId xmlns:a16="http://schemas.microsoft.com/office/drawing/2014/main" id="{1C6E3A4C-7672-B76E-1867-9EFDF8D886C7}"/>
              </a:ext>
            </a:extLst>
          </p:cNvPr>
          <p:cNvSpPr txBox="1">
            <a:spLocks noChangeArrowheads="1"/>
          </p:cNvSpPr>
          <p:nvPr/>
        </p:nvSpPr>
        <p:spPr bwMode="auto">
          <a:xfrm>
            <a:off x="1852284" y="1671061"/>
            <a:ext cx="9950509" cy="400110"/>
          </a:xfrm>
          <a:prstGeom prst="rect">
            <a:avLst/>
          </a:prstGeom>
          <a:noFill/>
          <a:ln w="9525">
            <a:noFill/>
            <a:miter lim="800000"/>
            <a:headEnd/>
            <a:tailEnd/>
          </a:ln>
        </p:spPr>
        <p:txBody>
          <a:bodyPr wrap="square">
            <a:spAutoFit/>
          </a:bodyPr>
          <a:lstStyle/>
          <a:p>
            <a:pPr eaLnBrk="0" hangingPunct="0"/>
            <a:r>
              <a:rPr lang="en-US" sz="2000" dirty="0">
                <a:solidFill>
                  <a:schemeClr val="accent2"/>
                </a:solidFill>
                <a:latin typeface="Roboto Condensed" panose="02000000000000000000" pitchFamily="2" charset="0"/>
              </a:rPr>
              <a:t>VIETNAM VS. BRAZIL GDP GROWTH 5-YEAR TRAILING AVERAGE</a:t>
            </a:r>
          </a:p>
        </p:txBody>
      </p:sp>
      <p:sp>
        <p:nvSpPr>
          <p:cNvPr id="7" name="TextBox 6">
            <a:extLst>
              <a:ext uri="{FF2B5EF4-FFF2-40B4-BE49-F238E27FC236}">
                <a16:creationId xmlns:a16="http://schemas.microsoft.com/office/drawing/2014/main" id="{E85946B0-213F-540B-E8D4-18A5BCA136FA}"/>
              </a:ext>
            </a:extLst>
          </p:cNvPr>
          <p:cNvSpPr txBox="1"/>
          <p:nvPr/>
        </p:nvSpPr>
        <p:spPr>
          <a:xfrm>
            <a:off x="11802793" y="3619500"/>
            <a:ext cx="1095848" cy="369332"/>
          </a:xfrm>
          <a:prstGeom prst="rect">
            <a:avLst/>
          </a:prstGeom>
          <a:noFill/>
        </p:spPr>
        <p:txBody>
          <a:bodyPr wrap="square" rtlCol="0">
            <a:spAutoFit/>
          </a:bodyPr>
          <a:lstStyle/>
          <a:p>
            <a:r>
              <a:rPr lang="en-US" b="1" dirty="0">
                <a:latin typeface="Roboto Condensed" panose="02000000000000000000" pitchFamily="2" charset="0"/>
                <a:ea typeface="Roboto Condensed" panose="02000000000000000000" pitchFamily="2" charset="0"/>
              </a:rPr>
              <a:t>Vietnam</a:t>
            </a:r>
          </a:p>
        </p:txBody>
      </p:sp>
      <p:sp>
        <p:nvSpPr>
          <p:cNvPr id="8" name="TextBox 7">
            <a:extLst>
              <a:ext uri="{FF2B5EF4-FFF2-40B4-BE49-F238E27FC236}">
                <a16:creationId xmlns:a16="http://schemas.microsoft.com/office/drawing/2014/main" id="{30F02CB7-4A66-DA43-DA23-8ED057C1E4B8}"/>
              </a:ext>
            </a:extLst>
          </p:cNvPr>
          <p:cNvSpPr txBox="1"/>
          <p:nvPr/>
        </p:nvSpPr>
        <p:spPr>
          <a:xfrm>
            <a:off x="11802793" y="4881492"/>
            <a:ext cx="1316890" cy="369332"/>
          </a:xfrm>
          <a:prstGeom prst="rect">
            <a:avLst/>
          </a:prstGeom>
          <a:noFill/>
        </p:spPr>
        <p:txBody>
          <a:bodyPr wrap="square" rtlCol="0">
            <a:spAutoFit/>
          </a:bodyPr>
          <a:lstStyle/>
          <a:p>
            <a:r>
              <a:rPr lang="en-US" b="1" dirty="0">
                <a:latin typeface="Roboto Condensed" panose="02000000000000000000" pitchFamily="2" charset="0"/>
                <a:ea typeface="Roboto Condensed" panose="02000000000000000000" pitchFamily="2" charset="0"/>
              </a:rPr>
              <a:t>Brazil</a:t>
            </a:r>
          </a:p>
        </p:txBody>
      </p:sp>
    </p:spTree>
    <p:extLst>
      <p:ext uri="{BB962C8B-B14F-4D97-AF65-F5344CB8AC3E}">
        <p14:creationId xmlns:p14="http://schemas.microsoft.com/office/powerpoint/2010/main" val="34814967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endParaRPr lang="en-US" dirty="0"/>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err="1">
                <a:solidFill>
                  <a:srgbClr val="478976"/>
                </a:solidFill>
              </a:rPr>
              <a:t>MACROeconomics</a:t>
            </a:r>
            <a:r>
              <a:rPr lang="en-US" dirty="0">
                <a:solidFill>
                  <a:srgbClr val="478976"/>
                </a:solidFill>
              </a:rPr>
              <a:t>:</a:t>
            </a:r>
            <a:br>
              <a:rPr lang="en-US" dirty="0"/>
            </a:br>
            <a:r>
              <a:rPr lang="en-US" dirty="0"/>
              <a:t>Macroeconomic health is slow moving</a:t>
            </a:r>
          </a:p>
        </p:txBody>
      </p:sp>
      <p:graphicFrame>
        <p:nvGraphicFramePr>
          <p:cNvPr id="4" name="Table 3">
            <a:extLst>
              <a:ext uri="{FF2B5EF4-FFF2-40B4-BE49-F238E27FC236}">
                <a16:creationId xmlns:a16="http://schemas.microsoft.com/office/drawing/2014/main" id="{7769DDB2-0FC1-58E1-2126-1F00DE447B34}"/>
              </a:ext>
            </a:extLst>
          </p:cNvPr>
          <p:cNvGraphicFramePr>
            <a:graphicFrameLocks noGrp="1"/>
          </p:cNvGraphicFramePr>
          <p:nvPr/>
        </p:nvGraphicFramePr>
        <p:xfrm>
          <a:off x="907683" y="1927413"/>
          <a:ext cx="11978640" cy="4541520"/>
        </p:xfrm>
        <a:graphic>
          <a:graphicData uri="http://schemas.openxmlformats.org/drawingml/2006/table">
            <a:tbl>
              <a:tblPr>
                <a:tableStyleId>{5C22544A-7EE6-4342-B048-85BDC9FD1C3A}</a:tableStyleId>
              </a:tblPr>
              <a:tblGrid>
                <a:gridCol w="3017520">
                  <a:extLst>
                    <a:ext uri="{9D8B030D-6E8A-4147-A177-3AD203B41FA5}">
                      <a16:colId xmlns:a16="http://schemas.microsoft.com/office/drawing/2014/main" val="1898463280"/>
                    </a:ext>
                  </a:extLst>
                </a:gridCol>
                <a:gridCol w="1097280">
                  <a:extLst>
                    <a:ext uri="{9D8B030D-6E8A-4147-A177-3AD203B41FA5}">
                      <a16:colId xmlns:a16="http://schemas.microsoft.com/office/drawing/2014/main" val="2417231881"/>
                    </a:ext>
                  </a:extLst>
                </a:gridCol>
                <a:gridCol w="1097280">
                  <a:extLst>
                    <a:ext uri="{9D8B030D-6E8A-4147-A177-3AD203B41FA5}">
                      <a16:colId xmlns:a16="http://schemas.microsoft.com/office/drawing/2014/main" val="4088223132"/>
                    </a:ext>
                  </a:extLst>
                </a:gridCol>
                <a:gridCol w="1097280">
                  <a:extLst>
                    <a:ext uri="{9D8B030D-6E8A-4147-A177-3AD203B41FA5}">
                      <a16:colId xmlns:a16="http://schemas.microsoft.com/office/drawing/2014/main" val="1431477524"/>
                    </a:ext>
                  </a:extLst>
                </a:gridCol>
                <a:gridCol w="1280160">
                  <a:extLst>
                    <a:ext uri="{9D8B030D-6E8A-4147-A177-3AD203B41FA5}">
                      <a16:colId xmlns:a16="http://schemas.microsoft.com/office/drawing/2014/main" val="355499506"/>
                    </a:ext>
                  </a:extLst>
                </a:gridCol>
                <a:gridCol w="1097280">
                  <a:extLst>
                    <a:ext uri="{9D8B030D-6E8A-4147-A177-3AD203B41FA5}">
                      <a16:colId xmlns:a16="http://schemas.microsoft.com/office/drawing/2014/main" val="171442710"/>
                    </a:ext>
                  </a:extLst>
                </a:gridCol>
                <a:gridCol w="1097280">
                  <a:extLst>
                    <a:ext uri="{9D8B030D-6E8A-4147-A177-3AD203B41FA5}">
                      <a16:colId xmlns:a16="http://schemas.microsoft.com/office/drawing/2014/main" val="1588504413"/>
                    </a:ext>
                  </a:extLst>
                </a:gridCol>
                <a:gridCol w="1097280">
                  <a:extLst>
                    <a:ext uri="{9D8B030D-6E8A-4147-A177-3AD203B41FA5}">
                      <a16:colId xmlns:a16="http://schemas.microsoft.com/office/drawing/2014/main" val="3209936391"/>
                    </a:ext>
                  </a:extLst>
                </a:gridCol>
                <a:gridCol w="1097280">
                  <a:extLst>
                    <a:ext uri="{9D8B030D-6E8A-4147-A177-3AD203B41FA5}">
                      <a16:colId xmlns:a16="http://schemas.microsoft.com/office/drawing/2014/main" val="330847030"/>
                    </a:ext>
                  </a:extLst>
                </a:gridCol>
              </a:tblGrid>
              <a:tr h="274320">
                <a:tc>
                  <a:txBody>
                    <a:bodyPr/>
                    <a:lstStyle/>
                    <a:p>
                      <a:pPr algn="l" fontAlgn="b"/>
                      <a:endParaRPr lang="en-US" sz="1600" b="1" i="1" u="none" strike="noStrike" dirty="0">
                        <a:solidFill>
                          <a:schemeClr val="bg1"/>
                        </a:solidFill>
                        <a:effectLst/>
                        <a:latin typeface="Georgia" panose="02040502050405020303" pitchFamily="18" charset="0"/>
                      </a:endParaRP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solidFill>
                  </a:tcPr>
                </a:tc>
                <a:tc gridSpan="7">
                  <a:txBody>
                    <a:bodyPr/>
                    <a:lstStyle/>
                    <a:p>
                      <a:pPr algn="ctr" fontAlgn="b"/>
                      <a:r>
                        <a:rPr lang="en-US" sz="1600" b="1" i="1" u="none" strike="noStrike" dirty="0">
                          <a:solidFill>
                            <a:schemeClr val="bg1"/>
                          </a:solidFill>
                          <a:effectLst/>
                          <a:latin typeface="Georgia" panose="02040502050405020303" pitchFamily="18" charset="0"/>
                        </a:rPr>
                        <a:t>EMERGING MARKETS</a:t>
                      </a:r>
                    </a:p>
                  </a:txBody>
                  <a:tcPr anchor="b">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
                      <a:r>
                        <a:rPr lang="en-US" sz="1600" b="1" i="1" u="none" strike="noStrike" dirty="0">
                          <a:solidFill>
                            <a:schemeClr val="bg1"/>
                          </a:solidFill>
                          <a:effectLst/>
                          <a:latin typeface="Georgia" panose="02040502050405020303" pitchFamily="18" charset="0"/>
                        </a:rPr>
                        <a:t> </a:t>
                      </a:r>
                    </a:p>
                  </a:txBody>
                  <a:tcPr anchor="b">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896036985"/>
                  </a:ext>
                </a:extLst>
              </a:tr>
              <a:tr h="365760">
                <a:tc>
                  <a:txBody>
                    <a:bodyPr/>
                    <a:lstStyle/>
                    <a:p>
                      <a:pPr algn="ctr" fontAlgn="ctr"/>
                      <a:endParaRPr lang="en-US" sz="1600" b="1" i="1" u="none" strike="noStrike">
                        <a:solidFill>
                          <a:schemeClr val="bg1"/>
                        </a:solidFill>
                        <a:effectLst/>
                        <a:latin typeface="Georgia" panose="02040502050405020303" pitchFamily="18" charset="0"/>
                      </a:endParaRP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r>
                        <a:rPr lang="en-US" sz="1600" b="1" i="1" u="none" strike="noStrike" dirty="0">
                          <a:solidFill>
                            <a:schemeClr val="bg1"/>
                          </a:solidFill>
                          <a:effectLst/>
                          <a:latin typeface="Georgia" panose="02040502050405020303" pitchFamily="18" charset="0"/>
                        </a:rPr>
                        <a:t>Brazil</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r>
                        <a:rPr lang="en-US" sz="1600" b="1" i="1" u="none" strike="noStrike" dirty="0">
                          <a:solidFill>
                            <a:schemeClr val="bg1"/>
                          </a:solidFill>
                          <a:effectLst/>
                          <a:latin typeface="Georgia" panose="02040502050405020303" pitchFamily="18" charset="0"/>
                        </a:rPr>
                        <a:t>China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r>
                        <a:rPr lang="en-US" sz="1600" b="1" i="1" u="none" strike="noStrike" dirty="0">
                          <a:solidFill>
                            <a:schemeClr val="bg1"/>
                          </a:solidFill>
                          <a:effectLst/>
                          <a:latin typeface="Georgia" panose="02040502050405020303" pitchFamily="18" charset="0"/>
                        </a:rPr>
                        <a:t>India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r>
                        <a:rPr lang="en-US" sz="1600" b="1" i="1" u="none" strike="noStrike" dirty="0">
                          <a:solidFill>
                            <a:schemeClr val="bg1"/>
                          </a:solidFill>
                          <a:effectLst/>
                          <a:latin typeface="Georgia" panose="02040502050405020303" pitchFamily="18" charset="0"/>
                        </a:rPr>
                        <a:t>Indonesia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r>
                        <a:rPr lang="en-US" sz="1600" b="1" i="1" u="none" strike="noStrike" dirty="0">
                          <a:solidFill>
                            <a:schemeClr val="bg1"/>
                          </a:solidFill>
                          <a:effectLst/>
                          <a:latin typeface="Georgia" panose="02040502050405020303" pitchFamily="18" charset="0"/>
                        </a:rPr>
                        <a:t>Mexico</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r>
                        <a:rPr lang="en-US" sz="1600" b="1" i="1" u="none" strike="noStrike" dirty="0">
                          <a:solidFill>
                            <a:schemeClr val="bg1"/>
                          </a:solidFill>
                          <a:effectLst/>
                          <a:latin typeface="Georgia" panose="02040502050405020303" pitchFamily="18" charset="0"/>
                        </a:rPr>
                        <a:t>Poland</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r>
                        <a:rPr lang="en-US" sz="1600" b="1" i="1" u="none" strike="noStrike" dirty="0">
                          <a:solidFill>
                            <a:schemeClr val="bg1"/>
                          </a:solidFill>
                          <a:effectLst/>
                          <a:latin typeface="Georgia" panose="02040502050405020303" pitchFamily="18" charset="0"/>
                        </a:rPr>
                        <a:t>Taiwan</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r>
                        <a:rPr lang="en-US" sz="1600" b="1" i="1" u="none" strike="noStrike" dirty="0">
                          <a:solidFill>
                            <a:schemeClr val="bg1"/>
                          </a:solidFill>
                          <a:effectLst/>
                          <a:latin typeface="Georgia" panose="02040502050405020303" pitchFamily="18" charset="0"/>
                        </a:rPr>
                        <a:t>Vietnam</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4227546343"/>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EMF Macro Vulnerability</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-1.2</a:t>
                      </a:r>
                    </a:p>
                  </a:txBody>
                  <a:tcPr marL="8610" marR="45720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-0.8</a:t>
                      </a:r>
                    </a:p>
                  </a:txBody>
                  <a:tcPr marL="8610" marR="45720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-1.4</a:t>
                      </a:r>
                    </a:p>
                  </a:txBody>
                  <a:tcPr marL="8610" marR="45720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0.3</a:t>
                      </a:r>
                    </a:p>
                  </a:txBody>
                  <a:tcPr marL="8610" marR="45720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0.4</a:t>
                      </a:r>
                    </a:p>
                  </a:txBody>
                  <a:tcPr marL="8610" marR="45720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0.6</a:t>
                      </a:r>
                    </a:p>
                  </a:txBody>
                  <a:tcPr marL="8610" marR="45720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1.2</a:t>
                      </a:r>
                    </a:p>
                  </a:txBody>
                  <a:tcPr marL="8610" marR="45720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-0.2</a:t>
                      </a:r>
                    </a:p>
                  </a:txBody>
                  <a:tcPr marL="8610" marR="45720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691729"/>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EMF Fiscal Vulnerability</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-2.1</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-1.3</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-2.4</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0.2</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0.4</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-0.1</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1.3</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0.4</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307822"/>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EMF Financial Vulnerability</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0.0</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-0.6</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0.7</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1.3</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1.4</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0.2</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b="1" u="none" strike="noStrike" kern="1200" dirty="0">
                          <a:solidFill>
                            <a:schemeClr val="dk1"/>
                          </a:solidFill>
                          <a:effectLst/>
                          <a:latin typeface="Roboto Condensed" panose="02000000000000000000" pitchFamily="2" charset="0"/>
                          <a:ea typeface="Roboto Condensed" panose="02000000000000000000" pitchFamily="2" charset="0"/>
                          <a:cs typeface="+mn-cs"/>
                        </a:rPr>
                        <a:t>2.0</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0.8</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0037602"/>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CAD to GDP</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-1.7</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1.7</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-1.1</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0.3</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-0.4</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-0.6</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14.6</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-3.6</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2853511"/>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5-Year CAD to GDP</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-1.9</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1.2</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-1.0</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-1.6</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-0.3</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0.9</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13.2</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2.1</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3959068"/>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Reserves Adequacy</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1.01</a:t>
                      </a:r>
                    </a:p>
                  </a:txBody>
                  <a:tcPr marL="8610" marR="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0.90</a:t>
                      </a:r>
                    </a:p>
                  </a:txBody>
                  <a:tcPr marL="8610" marR="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0.89</a:t>
                      </a:r>
                    </a:p>
                  </a:txBody>
                  <a:tcPr marL="8610" marR="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0.50</a:t>
                      </a:r>
                    </a:p>
                  </a:txBody>
                  <a:tcPr marL="8610" marR="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0.57</a:t>
                      </a:r>
                    </a:p>
                  </a:txBody>
                  <a:tcPr marL="8610" marR="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0.34</a:t>
                      </a:r>
                    </a:p>
                  </a:txBody>
                  <a:tcPr marL="8610" marR="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1.07</a:t>
                      </a:r>
                    </a:p>
                  </a:txBody>
                  <a:tcPr marL="8610" marR="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0.32</a:t>
                      </a:r>
                    </a:p>
                  </a:txBody>
                  <a:tcPr marL="8610" marR="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2412532"/>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5-Year  Budget Balance</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-7.4</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-6.1</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-7.7</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-3.2</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-2.6</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-2.9</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-1.7</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0.0</a:t>
                      </a:r>
                    </a:p>
                  </a:txBody>
                  <a:tcPr marL="8610" marR="45720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8099252"/>
                  </a:ext>
                </a:extLst>
              </a:tr>
              <a:tr h="457200">
                <a:tc>
                  <a:txBody>
                    <a:bodyPr/>
                    <a:lstStyle/>
                    <a:p>
                      <a:pPr algn="l" fontAlgn="b"/>
                      <a:r>
                        <a:rPr lang="en-US" sz="1800" b="1" i="0" u="none" strike="noStrike" dirty="0">
                          <a:solidFill>
                            <a:schemeClr val="accent2">
                              <a:lumMod val="75000"/>
                            </a:schemeClr>
                          </a:solidFill>
                          <a:effectLst/>
                          <a:latin typeface="Roboto Condensed" panose="02000000000000000000" pitchFamily="2" charset="0"/>
                          <a:ea typeface="Roboto Condensed" panose="02000000000000000000" pitchFamily="2" charset="0"/>
                        </a:rPr>
                        <a:t>Macroeconomic Vulnerability (0 to 10)</a:t>
                      </a: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i="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1.8</a:t>
                      </a:r>
                    </a:p>
                  </a:txBody>
                  <a:tcPr marL="8610" marR="45720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i="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3.9</a:t>
                      </a:r>
                    </a:p>
                  </a:txBody>
                  <a:tcPr marL="8610" marR="45720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i="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1.4</a:t>
                      </a:r>
                    </a:p>
                  </a:txBody>
                  <a:tcPr marL="8610" marR="45720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i="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6.4</a:t>
                      </a:r>
                    </a:p>
                  </a:txBody>
                  <a:tcPr marL="8610" marR="45720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i="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7.5</a:t>
                      </a:r>
                    </a:p>
                  </a:txBody>
                  <a:tcPr marL="8610" marR="45720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i="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7.1</a:t>
                      </a:r>
                    </a:p>
                  </a:txBody>
                  <a:tcPr marL="8610" marR="45720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i="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10.0</a:t>
                      </a:r>
                    </a:p>
                  </a:txBody>
                  <a:tcPr marL="8610" marR="45720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i="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6.1</a:t>
                      </a:r>
                    </a:p>
                  </a:txBody>
                  <a:tcPr marL="8610" marR="45720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716270"/>
                  </a:ext>
                </a:extLst>
              </a:tr>
            </a:tbl>
          </a:graphicData>
        </a:graphic>
      </p:graphicFrame>
    </p:spTree>
    <p:extLst>
      <p:ext uri="{BB962C8B-B14F-4D97-AF65-F5344CB8AC3E}">
        <p14:creationId xmlns:p14="http://schemas.microsoft.com/office/powerpoint/2010/main" val="5439556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endParaRPr lang="en-US" dirty="0"/>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err="1">
                <a:solidFill>
                  <a:srgbClr val="478976"/>
                </a:solidFill>
              </a:rPr>
              <a:t>MACROeconomics</a:t>
            </a:r>
            <a:r>
              <a:rPr lang="en-US" dirty="0">
                <a:solidFill>
                  <a:srgbClr val="478976"/>
                </a:solidFill>
              </a:rPr>
              <a:t>:</a:t>
            </a:r>
            <a:br>
              <a:rPr lang="en-US" dirty="0"/>
            </a:br>
            <a:r>
              <a:rPr lang="en-US" dirty="0"/>
              <a:t>Macroeconomic health is slow moving</a:t>
            </a:r>
          </a:p>
        </p:txBody>
      </p:sp>
      <p:graphicFrame>
        <p:nvGraphicFramePr>
          <p:cNvPr id="4" name="Table 3">
            <a:extLst>
              <a:ext uri="{FF2B5EF4-FFF2-40B4-BE49-F238E27FC236}">
                <a16:creationId xmlns:a16="http://schemas.microsoft.com/office/drawing/2014/main" id="{7BA5907C-ACD6-35E7-C0E2-A9465509DBB6}"/>
              </a:ext>
            </a:extLst>
          </p:cNvPr>
          <p:cNvGraphicFramePr>
            <a:graphicFrameLocks noGrp="1"/>
          </p:cNvGraphicFramePr>
          <p:nvPr/>
        </p:nvGraphicFramePr>
        <p:xfrm>
          <a:off x="3657920" y="2032920"/>
          <a:ext cx="6492240" cy="4023360"/>
        </p:xfrm>
        <a:graphic>
          <a:graphicData uri="http://schemas.openxmlformats.org/drawingml/2006/table">
            <a:tbl>
              <a:tblPr>
                <a:tableStyleId>{5C22544A-7EE6-4342-B048-85BDC9FD1C3A}</a:tableStyleId>
              </a:tblPr>
              <a:tblGrid>
                <a:gridCol w="3383280">
                  <a:extLst>
                    <a:ext uri="{9D8B030D-6E8A-4147-A177-3AD203B41FA5}">
                      <a16:colId xmlns:a16="http://schemas.microsoft.com/office/drawing/2014/main" val="1898463280"/>
                    </a:ext>
                  </a:extLst>
                </a:gridCol>
                <a:gridCol w="1554480">
                  <a:extLst>
                    <a:ext uri="{9D8B030D-6E8A-4147-A177-3AD203B41FA5}">
                      <a16:colId xmlns:a16="http://schemas.microsoft.com/office/drawing/2014/main" val="1431477524"/>
                    </a:ext>
                  </a:extLst>
                </a:gridCol>
                <a:gridCol w="1554480">
                  <a:extLst>
                    <a:ext uri="{9D8B030D-6E8A-4147-A177-3AD203B41FA5}">
                      <a16:colId xmlns:a16="http://schemas.microsoft.com/office/drawing/2014/main" val="3209936391"/>
                    </a:ext>
                  </a:extLst>
                </a:gridCol>
              </a:tblGrid>
              <a:tr h="365760">
                <a:tc>
                  <a:txBody>
                    <a:bodyPr/>
                    <a:lstStyle/>
                    <a:p>
                      <a:pPr algn="ctr" fontAlgn="ctr"/>
                      <a:endParaRPr lang="en-US" sz="1600" b="1" i="1" u="none" strike="noStrike" dirty="0">
                        <a:solidFill>
                          <a:schemeClr val="bg1"/>
                        </a:solidFill>
                        <a:effectLst/>
                        <a:latin typeface="Georgia" panose="02040502050405020303" pitchFamily="18" charset="0"/>
                      </a:endParaRP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r>
                        <a:rPr lang="en-US" sz="1800" b="1" i="1" u="none" strike="noStrike" dirty="0">
                          <a:solidFill>
                            <a:schemeClr val="bg1"/>
                          </a:solidFill>
                          <a:effectLst/>
                          <a:latin typeface="Georgia" panose="02040502050405020303" pitchFamily="18" charset="0"/>
                        </a:rPr>
                        <a:t>India</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r>
                        <a:rPr lang="en-US" sz="1800" b="1" i="1" u="none" strike="noStrike" dirty="0">
                          <a:solidFill>
                            <a:schemeClr val="bg1"/>
                          </a:solidFill>
                          <a:effectLst/>
                          <a:latin typeface="Georgia" panose="02040502050405020303" pitchFamily="18" charset="0"/>
                        </a:rPr>
                        <a:t>Taiwan</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4227546343"/>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EMF Macro Vulnerability</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-1.4</a:t>
                      </a:r>
                    </a:p>
                  </a:txBody>
                  <a:tcPr marL="8610" marR="64008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1.2</a:t>
                      </a:r>
                    </a:p>
                  </a:txBody>
                  <a:tcPr marL="8610" marR="64008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691729"/>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EMF Fiscal Vulnerability</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-2.4</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1.3</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307822"/>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EMF Financial Vulnerability</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0.7</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dk1"/>
                          </a:solidFill>
                          <a:effectLst/>
                          <a:latin typeface="Roboto Condensed" panose="02000000000000000000" pitchFamily="2" charset="0"/>
                          <a:ea typeface="Roboto Condensed" panose="02000000000000000000" pitchFamily="2" charset="0"/>
                          <a:cs typeface="+mn-cs"/>
                        </a:rPr>
                        <a:t>2.0</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3590037602"/>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CAD to GDP</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-1.1</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14.6</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2853511"/>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5-Year CAD to GDP</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-1.0</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13.2</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3959068"/>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Reserves Adequacy</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0.89</a:t>
                      </a:r>
                    </a:p>
                  </a:txBody>
                  <a:tcPr marL="8610" marR="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1.07</a:t>
                      </a:r>
                    </a:p>
                  </a:txBody>
                  <a:tcPr marL="8610" marR="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2412532"/>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5-Year  Budget Balance</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-7.7</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-1.7</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8099252"/>
                  </a:ext>
                </a:extLst>
              </a:tr>
              <a:tr h="457200">
                <a:tc>
                  <a:txBody>
                    <a:bodyPr/>
                    <a:lstStyle/>
                    <a:p>
                      <a:pPr algn="l" fontAlgn="b"/>
                      <a:r>
                        <a:rPr lang="en-US" sz="2000" b="1" i="0" u="none" strike="noStrike" dirty="0">
                          <a:solidFill>
                            <a:schemeClr val="accent2">
                              <a:lumMod val="75000"/>
                            </a:schemeClr>
                          </a:solidFill>
                          <a:effectLst/>
                          <a:latin typeface="Roboto Condensed" panose="02000000000000000000" pitchFamily="2" charset="0"/>
                          <a:ea typeface="Roboto Condensed" panose="02000000000000000000" pitchFamily="2" charset="0"/>
                        </a:rPr>
                        <a:t>Macroeconomic Vulnerability</a:t>
                      </a: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2000" b="1" i="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1.4</a:t>
                      </a:r>
                    </a:p>
                  </a:txBody>
                  <a:tcPr marL="8610" marR="64008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2000" b="1" i="0" u="none" strike="noStrike" kern="1200" dirty="0">
                          <a:solidFill>
                            <a:schemeClr val="accent2">
                              <a:lumMod val="75000"/>
                            </a:schemeClr>
                          </a:solidFill>
                          <a:effectLst/>
                          <a:latin typeface="Roboto Condensed" panose="02000000000000000000" pitchFamily="2" charset="0"/>
                          <a:ea typeface="Roboto Condensed" panose="02000000000000000000" pitchFamily="2" charset="0"/>
                          <a:cs typeface="+mn-cs"/>
                        </a:rPr>
                        <a:t>10.0</a:t>
                      </a:r>
                    </a:p>
                  </a:txBody>
                  <a:tcPr marL="8610" marR="64008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716270"/>
                  </a:ext>
                </a:extLst>
              </a:tr>
            </a:tbl>
          </a:graphicData>
        </a:graphic>
      </p:graphicFrame>
    </p:spTree>
    <p:extLst>
      <p:ext uri="{BB962C8B-B14F-4D97-AF65-F5344CB8AC3E}">
        <p14:creationId xmlns:p14="http://schemas.microsoft.com/office/powerpoint/2010/main" val="33581743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endParaRPr lang="en-US" dirty="0"/>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solidFill>
                  <a:srgbClr val="9A8C7B"/>
                </a:solidFill>
              </a:rPr>
              <a:t>Domestic policy: </a:t>
            </a:r>
            <a:r>
              <a:rPr lang="en-US" dirty="0"/>
              <a:t>Domestic policy risks are largely driven by institutional quality</a:t>
            </a:r>
          </a:p>
        </p:txBody>
      </p:sp>
      <p:graphicFrame>
        <p:nvGraphicFramePr>
          <p:cNvPr id="4" name="Table 3">
            <a:extLst>
              <a:ext uri="{FF2B5EF4-FFF2-40B4-BE49-F238E27FC236}">
                <a16:creationId xmlns:a16="http://schemas.microsoft.com/office/drawing/2014/main" id="{7769DDB2-0FC1-58E1-2126-1F00DE447B34}"/>
              </a:ext>
            </a:extLst>
          </p:cNvPr>
          <p:cNvGraphicFramePr>
            <a:graphicFrameLocks noGrp="1"/>
          </p:cNvGraphicFramePr>
          <p:nvPr/>
        </p:nvGraphicFramePr>
        <p:xfrm>
          <a:off x="907683" y="1844286"/>
          <a:ext cx="11978640" cy="4937760"/>
        </p:xfrm>
        <a:graphic>
          <a:graphicData uri="http://schemas.openxmlformats.org/drawingml/2006/table">
            <a:tbl>
              <a:tblPr>
                <a:tableStyleId>{5C22544A-7EE6-4342-B048-85BDC9FD1C3A}</a:tableStyleId>
              </a:tblPr>
              <a:tblGrid>
                <a:gridCol w="3017520">
                  <a:extLst>
                    <a:ext uri="{9D8B030D-6E8A-4147-A177-3AD203B41FA5}">
                      <a16:colId xmlns:a16="http://schemas.microsoft.com/office/drawing/2014/main" val="1898463280"/>
                    </a:ext>
                  </a:extLst>
                </a:gridCol>
                <a:gridCol w="1097280">
                  <a:extLst>
                    <a:ext uri="{9D8B030D-6E8A-4147-A177-3AD203B41FA5}">
                      <a16:colId xmlns:a16="http://schemas.microsoft.com/office/drawing/2014/main" val="2417231881"/>
                    </a:ext>
                  </a:extLst>
                </a:gridCol>
                <a:gridCol w="1097280">
                  <a:extLst>
                    <a:ext uri="{9D8B030D-6E8A-4147-A177-3AD203B41FA5}">
                      <a16:colId xmlns:a16="http://schemas.microsoft.com/office/drawing/2014/main" val="4088223132"/>
                    </a:ext>
                  </a:extLst>
                </a:gridCol>
                <a:gridCol w="1097280">
                  <a:extLst>
                    <a:ext uri="{9D8B030D-6E8A-4147-A177-3AD203B41FA5}">
                      <a16:colId xmlns:a16="http://schemas.microsoft.com/office/drawing/2014/main" val="1431477524"/>
                    </a:ext>
                  </a:extLst>
                </a:gridCol>
                <a:gridCol w="1280160">
                  <a:extLst>
                    <a:ext uri="{9D8B030D-6E8A-4147-A177-3AD203B41FA5}">
                      <a16:colId xmlns:a16="http://schemas.microsoft.com/office/drawing/2014/main" val="355499506"/>
                    </a:ext>
                  </a:extLst>
                </a:gridCol>
                <a:gridCol w="1097280">
                  <a:extLst>
                    <a:ext uri="{9D8B030D-6E8A-4147-A177-3AD203B41FA5}">
                      <a16:colId xmlns:a16="http://schemas.microsoft.com/office/drawing/2014/main" val="171442710"/>
                    </a:ext>
                  </a:extLst>
                </a:gridCol>
                <a:gridCol w="1097280">
                  <a:extLst>
                    <a:ext uri="{9D8B030D-6E8A-4147-A177-3AD203B41FA5}">
                      <a16:colId xmlns:a16="http://schemas.microsoft.com/office/drawing/2014/main" val="1588504413"/>
                    </a:ext>
                  </a:extLst>
                </a:gridCol>
                <a:gridCol w="1097280">
                  <a:extLst>
                    <a:ext uri="{9D8B030D-6E8A-4147-A177-3AD203B41FA5}">
                      <a16:colId xmlns:a16="http://schemas.microsoft.com/office/drawing/2014/main" val="3209936391"/>
                    </a:ext>
                  </a:extLst>
                </a:gridCol>
                <a:gridCol w="1097280">
                  <a:extLst>
                    <a:ext uri="{9D8B030D-6E8A-4147-A177-3AD203B41FA5}">
                      <a16:colId xmlns:a16="http://schemas.microsoft.com/office/drawing/2014/main" val="330847030"/>
                    </a:ext>
                  </a:extLst>
                </a:gridCol>
              </a:tblGrid>
              <a:tr h="274320">
                <a:tc>
                  <a:txBody>
                    <a:bodyPr/>
                    <a:lstStyle/>
                    <a:p>
                      <a:pPr algn="l" fontAlgn="b"/>
                      <a:endParaRPr lang="en-US" sz="1600" b="1" i="1" u="none" strike="noStrike" dirty="0">
                        <a:solidFill>
                          <a:schemeClr val="bg1"/>
                        </a:solidFill>
                        <a:effectLst/>
                        <a:latin typeface="Georgia" panose="02040502050405020303" pitchFamily="18" charset="0"/>
                      </a:endParaRP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solidFill>
                  </a:tcPr>
                </a:tc>
                <a:tc gridSpan="7">
                  <a:txBody>
                    <a:bodyPr/>
                    <a:lstStyle/>
                    <a:p>
                      <a:pPr algn="ctr" fontAlgn="b"/>
                      <a:r>
                        <a:rPr lang="en-US" sz="1600" b="1" i="1" u="none" strike="noStrike" dirty="0">
                          <a:solidFill>
                            <a:schemeClr val="bg1"/>
                          </a:solidFill>
                          <a:effectLst/>
                          <a:latin typeface="Georgia" panose="02040502050405020303" pitchFamily="18" charset="0"/>
                        </a:rPr>
                        <a:t>EMERGING MARKETS</a:t>
                      </a:r>
                    </a:p>
                  </a:txBody>
                  <a:tcPr anchor="b">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
                      <a:r>
                        <a:rPr lang="en-US" sz="1600" b="1" i="1" u="none" strike="noStrike" dirty="0">
                          <a:solidFill>
                            <a:schemeClr val="bg1"/>
                          </a:solidFill>
                          <a:effectLst/>
                          <a:latin typeface="Georgia" panose="02040502050405020303" pitchFamily="18" charset="0"/>
                        </a:rPr>
                        <a:t> </a:t>
                      </a:r>
                    </a:p>
                  </a:txBody>
                  <a:tcPr anchor="b">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2896036985"/>
                  </a:ext>
                </a:extLst>
              </a:tr>
              <a:tr h="365760">
                <a:tc>
                  <a:txBody>
                    <a:bodyPr/>
                    <a:lstStyle/>
                    <a:p>
                      <a:pPr algn="ctr" fontAlgn="ctr"/>
                      <a:endParaRPr lang="en-US" sz="1600" b="1" i="1" u="none" strike="noStrike">
                        <a:solidFill>
                          <a:schemeClr val="bg1"/>
                        </a:solidFill>
                        <a:effectLst/>
                        <a:latin typeface="Georgia" panose="02040502050405020303" pitchFamily="18" charset="0"/>
                      </a:endParaRP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fontAlgn="ctr"/>
                      <a:r>
                        <a:rPr lang="en-US" sz="1600" b="1" i="1" u="none" strike="noStrike" dirty="0">
                          <a:solidFill>
                            <a:schemeClr val="bg1"/>
                          </a:solidFill>
                          <a:effectLst/>
                          <a:latin typeface="Georgia" panose="02040502050405020303" pitchFamily="18" charset="0"/>
                        </a:rPr>
                        <a:t>Brazil</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fontAlgn="ctr"/>
                      <a:r>
                        <a:rPr lang="en-US" sz="1600" b="1" i="1" u="none" strike="noStrike" dirty="0">
                          <a:solidFill>
                            <a:schemeClr val="bg1"/>
                          </a:solidFill>
                          <a:effectLst/>
                          <a:latin typeface="Georgia" panose="02040502050405020303" pitchFamily="18" charset="0"/>
                        </a:rPr>
                        <a:t>China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fontAlgn="ctr"/>
                      <a:r>
                        <a:rPr lang="en-US" sz="1600" b="1" i="1" u="none" strike="noStrike" dirty="0">
                          <a:solidFill>
                            <a:schemeClr val="bg1"/>
                          </a:solidFill>
                          <a:effectLst/>
                          <a:latin typeface="Georgia" panose="02040502050405020303" pitchFamily="18" charset="0"/>
                        </a:rPr>
                        <a:t>India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fontAlgn="ctr"/>
                      <a:r>
                        <a:rPr lang="en-US" sz="1600" b="1" i="1" u="none" strike="noStrike" dirty="0">
                          <a:solidFill>
                            <a:schemeClr val="bg1"/>
                          </a:solidFill>
                          <a:effectLst/>
                          <a:latin typeface="Georgia" panose="02040502050405020303" pitchFamily="18" charset="0"/>
                        </a:rPr>
                        <a:t>Indonesia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fontAlgn="ctr"/>
                      <a:r>
                        <a:rPr lang="en-US" sz="1600" b="1" i="1" u="none" strike="noStrike" dirty="0">
                          <a:solidFill>
                            <a:schemeClr val="bg1"/>
                          </a:solidFill>
                          <a:effectLst/>
                          <a:latin typeface="Georgia" panose="02040502050405020303" pitchFamily="18" charset="0"/>
                        </a:rPr>
                        <a:t>Mexico</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fontAlgn="ctr"/>
                      <a:r>
                        <a:rPr lang="en-US" sz="1600" b="1" i="1" u="none" strike="noStrike" dirty="0">
                          <a:solidFill>
                            <a:schemeClr val="bg1"/>
                          </a:solidFill>
                          <a:effectLst/>
                          <a:latin typeface="Georgia" panose="02040502050405020303" pitchFamily="18" charset="0"/>
                        </a:rPr>
                        <a:t>Poland</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fontAlgn="ctr"/>
                      <a:r>
                        <a:rPr lang="en-US" sz="1600" b="1" i="1" u="none" strike="noStrike" dirty="0">
                          <a:solidFill>
                            <a:schemeClr val="bg1"/>
                          </a:solidFill>
                          <a:effectLst/>
                          <a:latin typeface="Georgia" panose="02040502050405020303" pitchFamily="18" charset="0"/>
                        </a:rPr>
                        <a:t>Taiwan</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fontAlgn="ctr"/>
                      <a:r>
                        <a:rPr lang="en-US" sz="1600" b="1" i="1" u="none" strike="noStrike" dirty="0">
                          <a:solidFill>
                            <a:schemeClr val="bg1"/>
                          </a:solidFill>
                          <a:effectLst/>
                          <a:latin typeface="Georgia" panose="02040502050405020303" pitchFamily="18" charset="0"/>
                        </a:rPr>
                        <a:t>Vietnam</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4227546343"/>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Human Development Index</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-0.7</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-0.7</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-1.9</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-1.1</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-0.5</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0.4</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0.8</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-1.3</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6940382"/>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Expropriation Risk</a:t>
                      </a:r>
                    </a:p>
                    <a:p>
                      <a:pPr algn="l" fontAlgn="b"/>
                      <a:r>
                        <a:rPr lang="en-US" sz="1600" u="none" strike="noStrike" dirty="0">
                          <a:effectLst/>
                          <a:latin typeface="Roboto Condensed" panose="02000000000000000000" pitchFamily="2" charset="0"/>
                          <a:ea typeface="Roboto Condensed" panose="02000000000000000000" pitchFamily="2" charset="0"/>
                        </a:rPr>
                        <a:t>(1 = Low Risk, 7 = High Risk)</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3</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5</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3</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4</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3</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2</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3</a:t>
                      </a:r>
                    </a:p>
                  </a:txBody>
                  <a:tcPr marL="0" marR="36576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691729"/>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Rule of Law</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-0.28</a:t>
                      </a:r>
                    </a:p>
                  </a:txBody>
                  <a:tcPr marL="0" marR="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0.11</a:t>
                      </a:r>
                    </a:p>
                  </a:txBody>
                  <a:tcPr marL="0" marR="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-0.00</a:t>
                      </a:r>
                    </a:p>
                  </a:txBody>
                  <a:tcPr marL="0" marR="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-0.07</a:t>
                      </a:r>
                    </a:p>
                  </a:txBody>
                  <a:tcPr marL="0" marR="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-0.40</a:t>
                      </a:r>
                    </a:p>
                  </a:txBody>
                  <a:tcPr marL="0" marR="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0.61</a:t>
                      </a:r>
                    </a:p>
                  </a:txBody>
                  <a:tcPr marL="0" marR="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1.35</a:t>
                      </a:r>
                    </a:p>
                  </a:txBody>
                  <a:tcPr marL="0" marR="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-0.39</a:t>
                      </a:r>
                    </a:p>
                  </a:txBody>
                  <a:tcPr marL="0" marR="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307822"/>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Quality of Institutions Level</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0.0</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0.0</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0.6</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1.4</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1049383"/>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Quality of Institutions Change</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4740945"/>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Government Effectiveness</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-0.4</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0.6</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0.4</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0.4</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0.4</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1.6</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367054"/>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Control of Corruption</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-0.3</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-0.4</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-0.8</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0.7</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-0.4</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403806"/>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Regulatory Quality</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-0.2</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a:solidFill>
                            <a:schemeClr val="dk1"/>
                          </a:solidFill>
                          <a:effectLst/>
                          <a:latin typeface="Roboto Condensed" panose="02000000000000000000" pitchFamily="2" charset="0"/>
                          <a:ea typeface="Roboto Condensed" panose="02000000000000000000" pitchFamily="2" charset="0"/>
                          <a:cs typeface="+mn-cs"/>
                        </a:rPr>
                        <a:t>0.1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0.9</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1.4</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-0.1</a:t>
                      </a:r>
                    </a:p>
                  </a:txBody>
                  <a:tcPr marL="8610" marR="36576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8705704"/>
                  </a:ext>
                </a:extLst>
              </a:tr>
              <a:tr h="457200">
                <a:tc>
                  <a:txBody>
                    <a:bodyPr/>
                    <a:lstStyle/>
                    <a:p>
                      <a:pPr algn="l" fontAlgn="b"/>
                      <a:r>
                        <a:rPr lang="en-US" sz="1800" b="1" u="none" strike="noStrike" dirty="0">
                          <a:solidFill>
                            <a:schemeClr val="accent6">
                              <a:lumMod val="75000"/>
                            </a:schemeClr>
                          </a:solidFill>
                          <a:effectLst/>
                          <a:latin typeface="Roboto Condensed" panose="02000000000000000000" pitchFamily="2" charset="0"/>
                          <a:ea typeface="Roboto Condensed" panose="02000000000000000000" pitchFamily="2" charset="0"/>
                        </a:rPr>
                        <a:t>Domestic Policy Risk (0 to 10)</a:t>
                      </a:r>
                      <a:endParaRPr lang="en-US" sz="1800" b="1" i="0" u="none" strike="noStrike" dirty="0">
                        <a:solidFill>
                          <a:schemeClr val="accent6">
                            <a:lumMod val="75000"/>
                          </a:schemeClr>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accent6">
                              <a:lumMod val="75000"/>
                            </a:schemeClr>
                          </a:solidFill>
                          <a:effectLst/>
                          <a:latin typeface="Roboto Condensed" panose="02000000000000000000" pitchFamily="2" charset="0"/>
                          <a:ea typeface="Roboto Condensed" panose="02000000000000000000" pitchFamily="2" charset="0"/>
                          <a:cs typeface="+mn-cs"/>
                        </a:rPr>
                        <a:t>2.1</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accent6">
                              <a:lumMod val="75000"/>
                            </a:schemeClr>
                          </a:solidFill>
                          <a:effectLst/>
                          <a:latin typeface="Roboto Condensed" panose="02000000000000000000" pitchFamily="2" charset="0"/>
                          <a:ea typeface="Roboto Condensed" panose="02000000000000000000" pitchFamily="2" charset="0"/>
                          <a:cs typeface="+mn-cs"/>
                        </a:rPr>
                        <a:t>5.7</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accent6">
                              <a:lumMod val="75000"/>
                            </a:schemeClr>
                          </a:solidFill>
                          <a:effectLst/>
                          <a:latin typeface="Roboto Condensed" panose="02000000000000000000" pitchFamily="2" charset="0"/>
                          <a:ea typeface="Roboto Condensed" panose="02000000000000000000" pitchFamily="2" charset="0"/>
                          <a:cs typeface="+mn-cs"/>
                        </a:rPr>
                        <a:t>5.4</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accent6">
                              <a:lumMod val="75000"/>
                            </a:schemeClr>
                          </a:solidFill>
                          <a:effectLst/>
                          <a:latin typeface="Roboto Condensed" panose="02000000000000000000" pitchFamily="2" charset="0"/>
                          <a:ea typeface="Roboto Condensed" panose="02000000000000000000" pitchFamily="2" charset="0"/>
                          <a:cs typeface="+mn-cs"/>
                        </a:rPr>
                        <a:t>5.0</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accent6">
                              <a:lumMod val="75000"/>
                            </a:schemeClr>
                          </a:solidFill>
                          <a:effectLst/>
                          <a:latin typeface="Roboto Condensed" panose="02000000000000000000" pitchFamily="2" charset="0"/>
                          <a:ea typeface="Roboto Condensed" panose="02000000000000000000" pitchFamily="2" charset="0"/>
                          <a:cs typeface="+mn-cs"/>
                        </a:rPr>
                        <a:t>1.1</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accent6">
                              <a:lumMod val="75000"/>
                            </a:schemeClr>
                          </a:solidFill>
                          <a:effectLst/>
                          <a:latin typeface="Roboto Condensed" panose="02000000000000000000" pitchFamily="2" charset="0"/>
                          <a:ea typeface="Roboto Condensed" panose="02000000000000000000" pitchFamily="2" charset="0"/>
                          <a:cs typeface="+mn-cs"/>
                        </a:rPr>
                        <a:t>7.1</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accent6">
                              <a:lumMod val="75000"/>
                            </a:schemeClr>
                          </a:solidFill>
                          <a:effectLst/>
                          <a:latin typeface="Roboto Condensed" panose="02000000000000000000" pitchFamily="2" charset="0"/>
                          <a:ea typeface="Roboto Condensed" panose="02000000000000000000" pitchFamily="2" charset="0"/>
                          <a:cs typeface="+mn-cs"/>
                        </a:rPr>
                        <a:t>10.0</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b="1" u="none" strike="noStrike" kern="1200" dirty="0">
                          <a:solidFill>
                            <a:schemeClr val="accent6">
                              <a:lumMod val="75000"/>
                            </a:schemeClr>
                          </a:solidFill>
                          <a:effectLst/>
                          <a:latin typeface="Roboto Condensed" panose="02000000000000000000" pitchFamily="2" charset="0"/>
                          <a:ea typeface="Roboto Condensed" panose="02000000000000000000" pitchFamily="2" charset="0"/>
                          <a:cs typeface="+mn-cs"/>
                        </a:rPr>
                        <a:t>2.9</a:t>
                      </a:r>
                    </a:p>
                  </a:txBody>
                  <a:tcPr marL="8610" marR="36576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716270"/>
                  </a:ext>
                </a:extLst>
              </a:tr>
            </a:tbl>
          </a:graphicData>
        </a:graphic>
      </p:graphicFrame>
    </p:spTree>
    <p:extLst>
      <p:ext uri="{BB962C8B-B14F-4D97-AF65-F5344CB8AC3E}">
        <p14:creationId xmlns:p14="http://schemas.microsoft.com/office/powerpoint/2010/main" val="9568148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solidFill>
                  <a:srgbClr val="9A8C7B"/>
                </a:solidFill>
              </a:rPr>
              <a:t>Domestic policy: </a:t>
            </a:r>
            <a:r>
              <a:rPr lang="en-US" dirty="0"/>
              <a:t>Domestic policy risks are largely driven by institutional quality</a:t>
            </a:r>
          </a:p>
        </p:txBody>
      </p:sp>
      <p:sp>
        <p:nvSpPr>
          <p:cNvPr id="9" name="Content Placeholder 8">
            <a:extLst>
              <a:ext uri="{FF2B5EF4-FFF2-40B4-BE49-F238E27FC236}">
                <a16:creationId xmlns:a16="http://schemas.microsoft.com/office/drawing/2014/main" id="{1F4F9C72-C2A2-E8A7-93A9-6825D241C970}"/>
              </a:ext>
            </a:extLst>
          </p:cNvPr>
          <p:cNvSpPr>
            <a:spLocks noGrp="1"/>
          </p:cNvSpPr>
          <p:nvPr>
            <p:ph idx="1"/>
          </p:nvPr>
        </p:nvSpPr>
        <p:spPr>
          <a:xfrm>
            <a:off x="628650" y="2561563"/>
            <a:ext cx="5103935" cy="3612226"/>
          </a:xfrm>
        </p:spPr>
        <p:txBody>
          <a:bodyPr/>
          <a:lstStyle/>
          <a:p>
            <a:pPr lvl="1">
              <a:buClr>
                <a:schemeClr val="accent6"/>
              </a:buClr>
            </a:pPr>
            <a:r>
              <a:rPr lang="en-US" dirty="0"/>
              <a:t>While Indonesia has its own issues, domestic policy risk in Mexico is worse than almost all EM due to low quality of institutions</a:t>
            </a:r>
          </a:p>
        </p:txBody>
      </p:sp>
      <p:sp>
        <p:nvSpPr>
          <p:cNvPr id="10" name="Text Placeholder 9">
            <a:extLst>
              <a:ext uri="{FF2B5EF4-FFF2-40B4-BE49-F238E27FC236}">
                <a16:creationId xmlns:a16="http://schemas.microsoft.com/office/drawing/2014/main" id="{F3AB46D4-380C-AE2E-6AC4-E840EEF140D7}"/>
              </a:ext>
            </a:extLst>
          </p:cNvPr>
          <p:cNvSpPr>
            <a:spLocks noGrp="1"/>
          </p:cNvSpPr>
          <p:nvPr>
            <p:ph type="body" sz="quarter" idx="13"/>
          </p:nvPr>
        </p:nvSpPr>
        <p:spPr/>
        <p:txBody>
          <a:bodyPr/>
          <a:lstStyle/>
          <a:p>
            <a:endParaRPr lang="en-US"/>
          </a:p>
        </p:txBody>
      </p:sp>
      <p:graphicFrame>
        <p:nvGraphicFramePr>
          <p:cNvPr id="2" name="Table 1">
            <a:extLst>
              <a:ext uri="{FF2B5EF4-FFF2-40B4-BE49-F238E27FC236}">
                <a16:creationId xmlns:a16="http://schemas.microsoft.com/office/drawing/2014/main" id="{F6D6A08D-8932-49CD-41F7-7732C57A2394}"/>
              </a:ext>
            </a:extLst>
          </p:cNvPr>
          <p:cNvGraphicFramePr>
            <a:graphicFrameLocks noGrp="1"/>
          </p:cNvGraphicFramePr>
          <p:nvPr/>
        </p:nvGraphicFramePr>
        <p:xfrm>
          <a:off x="6330779" y="1874520"/>
          <a:ext cx="6583680" cy="4663440"/>
        </p:xfrm>
        <a:graphic>
          <a:graphicData uri="http://schemas.openxmlformats.org/drawingml/2006/table">
            <a:tbl>
              <a:tblPr>
                <a:tableStyleId>{5C22544A-7EE6-4342-B048-85BDC9FD1C3A}</a:tableStyleId>
              </a:tblPr>
              <a:tblGrid>
                <a:gridCol w="3474720">
                  <a:extLst>
                    <a:ext uri="{9D8B030D-6E8A-4147-A177-3AD203B41FA5}">
                      <a16:colId xmlns:a16="http://schemas.microsoft.com/office/drawing/2014/main" val="1898463280"/>
                    </a:ext>
                  </a:extLst>
                </a:gridCol>
                <a:gridCol w="1554480">
                  <a:extLst>
                    <a:ext uri="{9D8B030D-6E8A-4147-A177-3AD203B41FA5}">
                      <a16:colId xmlns:a16="http://schemas.microsoft.com/office/drawing/2014/main" val="355499506"/>
                    </a:ext>
                  </a:extLst>
                </a:gridCol>
                <a:gridCol w="1554480">
                  <a:extLst>
                    <a:ext uri="{9D8B030D-6E8A-4147-A177-3AD203B41FA5}">
                      <a16:colId xmlns:a16="http://schemas.microsoft.com/office/drawing/2014/main" val="171442710"/>
                    </a:ext>
                  </a:extLst>
                </a:gridCol>
              </a:tblGrid>
              <a:tr h="365760">
                <a:tc>
                  <a:txBody>
                    <a:bodyPr/>
                    <a:lstStyle/>
                    <a:p>
                      <a:pPr algn="ctr" fontAlgn="ctr"/>
                      <a:endParaRPr lang="en-US" sz="1800" b="1" i="1" u="none" strike="noStrike">
                        <a:solidFill>
                          <a:schemeClr val="bg1"/>
                        </a:solidFill>
                        <a:effectLst/>
                        <a:latin typeface="Georgia" panose="02040502050405020303" pitchFamily="18" charset="0"/>
                      </a:endParaRP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fontAlgn="ctr"/>
                      <a:r>
                        <a:rPr lang="en-US" sz="1800" b="1" i="1" u="none" strike="noStrike" dirty="0">
                          <a:solidFill>
                            <a:schemeClr val="bg1"/>
                          </a:solidFill>
                          <a:effectLst/>
                          <a:latin typeface="Georgia" panose="02040502050405020303" pitchFamily="18" charset="0"/>
                        </a:rPr>
                        <a:t>Indonesia</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fontAlgn="ctr"/>
                      <a:r>
                        <a:rPr lang="en-US" sz="1800" b="1" i="1" u="none" strike="noStrike" dirty="0">
                          <a:solidFill>
                            <a:schemeClr val="bg1"/>
                          </a:solidFill>
                          <a:effectLst/>
                          <a:latin typeface="Georgia" panose="02040502050405020303" pitchFamily="18" charset="0"/>
                        </a:rPr>
                        <a:t>Mexico</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4227546343"/>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Human Development Index</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-1.1</a:t>
                      </a:r>
                    </a:p>
                  </a:txBody>
                  <a:tcPr marL="0" marR="64008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-0.5</a:t>
                      </a:r>
                    </a:p>
                  </a:txBody>
                  <a:tcPr marL="0" marR="64008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6940382"/>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Expropriation Risk</a:t>
                      </a:r>
                    </a:p>
                    <a:p>
                      <a:pPr algn="l" fontAlgn="b"/>
                      <a:r>
                        <a:rPr lang="en-US" sz="1800" u="none" strike="noStrike" dirty="0">
                          <a:effectLst/>
                          <a:latin typeface="Roboto Condensed" panose="02000000000000000000" pitchFamily="2" charset="0"/>
                          <a:ea typeface="Roboto Condensed" panose="02000000000000000000" pitchFamily="2" charset="0"/>
                        </a:rPr>
                        <a:t>(1 = Low Risk, 7 = High Risk)</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4</a:t>
                      </a:r>
                    </a:p>
                  </a:txBody>
                  <a:tcPr marL="0" marR="64008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3</a:t>
                      </a:r>
                    </a:p>
                  </a:txBody>
                  <a:tcPr marL="0" marR="64008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691729"/>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Rule of Law</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-0.07</a:t>
                      </a:r>
                    </a:p>
                  </a:txBody>
                  <a:tcPr marL="0" marR="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-0.40</a:t>
                      </a:r>
                    </a:p>
                  </a:txBody>
                  <a:tcPr marL="0" marR="0" marT="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307822"/>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Quality of Institutions Level</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0.0</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-0.3</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1049383"/>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Quality of Institutions Change</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0.3</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-0.2</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4740945"/>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Government Effectiveness</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0.4</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-0.2</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367054"/>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Control of Corruption</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a:solidFill>
                            <a:schemeClr val="dk1"/>
                          </a:solidFill>
                          <a:effectLst/>
                          <a:latin typeface="Roboto Condensed" panose="02000000000000000000" pitchFamily="2" charset="0"/>
                          <a:ea typeface="Roboto Condensed" panose="02000000000000000000" pitchFamily="2" charset="0"/>
                          <a:cs typeface="+mn-cs"/>
                        </a:rPr>
                        <a:t>-0.4</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-0.8</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403806"/>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Regulatory Quality</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a:solidFill>
                            <a:schemeClr val="dk1"/>
                          </a:solidFill>
                          <a:effectLst/>
                          <a:latin typeface="Roboto Condensed" panose="02000000000000000000" pitchFamily="2" charset="0"/>
                          <a:ea typeface="Roboto Condensed" panose="02000000000000000000" pitchFamily="2" charset="0"/>
                          <a:cs typeface="+mn-cs"/>
                        </a:rPr>
                        <a:t>0.1</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0.1</a:t>
                      </a:r>
                    </a:p>
                  </a:txBody>
                  <a:tcPr marL="8610" marR="640080" marT="8610" marB="0" anchor="ctr">
                    <a:lnL w="12700" cmpd="sng">
                      <a:noFill/>
                    </a:lnL>
                    <a:lnR w="12700" cmpd="sng">
                      <a:noFill/>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8705704"/>
                  </a:ext>
                </a:extLst>
              </a:tr>
              <a:tr h="457200">
                <a:tc>
                  <a:txBody>
                    <a:bodyPr/>
                    <a:lstStyle/>
                    <a:p>
                      <a:pPr algn="l" fontAlgn="b"/>
                      <a:r>
                        <a:rPr lang="en-US" sz="2000" b="1" u="none" strike="noStrike" dirty="0">
                          <a:solidFill>
                            <a:schemeClr val="accent6">
                              <a:lumMod val="75000"/>
                            </a:schemeClr>
                          </a:solidFill>
                          <a:effectLst/>
                          <a:latin typeface="Roboto Condensed" panose="02000000000000000000" pitchFamily="2" charset="0"/>
                          <a:ea typeface="Roboto Condensed" panose="02000000000000000000" pitchFamily="2" charset="0"/>
                        </a:rPr>
                        <a:t>Domestic Policy Risk</a:t>
                      </a:r>
                      <a:endParaRPr lang="en-US" sz="2000" b="1" i="0" u="none" strike="noStrike" dirty="0">
                        <a:solidFill>
                          <a:schemeClr val="accent6">
                            <a:lumMod val="75000"/>
                          </a:schemeClr>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2000" b="1" u="none" strike="noStrike" kern="1200" dirty="0">
                          <a:solidFill>
                            <a:schemeClr val="accent6">
                              <a:lumMod val="75000"/>
                            </a:schemeClr>
                          </a:solidFill>
                          <a:effectLst/>
                          <a:latin typeface="Roboto Condensed" panose="02000000000000000000" pitchFamily="2" charset="0"/>
                          <a:ea typeface="Roboto Condensed" panose="02000000000000000000" pitchFamily="2" charset="0"/>
                          <a:cs typeface="+mn-cs"/>
                        </a:rPr>
                        <a:t>5.0</a:t>
                      </a:r>
                    </a:p>
                  </a:txBody>
                  <a:tcPr marL="8610" marR="64008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2000" b="1" u="none" strike="noStrike" kern="1200" dirty="0">
                          <a:solidFill>
                            <a:schemeClr val="accent6">
                              <a:lumMod val="75000"/>
                            </a:schemeClr>
                          </a:solidFill>
                          <a:effectLst/>
                          <a:latin typeface="Roboto Condensed" panose="02000000000000000000" pitchFamily="2" charset="0"/>
                          <a:ea typeface="Roboto Condensed" panose="02000000000000000000" pitchFamily="2" charset="0"/>
                          <a:cs typeface="+mn-cs"/>
                        </a:rPr>
                        <a:t>1.1</a:t>
                      </a:r>
                    </a:p>
                  </a:txBody>
                  <a:tcPr marL="8610" marR="64008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716270"/>
                  </a:ext>
                </a:extLst>
              </a:tr>
            </a:tbl>
          </a:graphicData>
        </a:graphic>
      </p:graphicFrame>
    </p:spTree>
    <p:extLst>
      <p:ext uri="{BB962C8B-B14F-4D97-AF65-F5344CB8AC3E}">
        <p14:creationId xmlns:p14="http://schemas.microsoft.com/office/powerpoint/2010/main" val="15642821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endParaRPr lang="en-US" dirty="0"/>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solidFill>
                  <a:srgbClr val="DC7A4B"/>
                </a:solidFill>
              </a:rPr>
              <a:t>Diversification:</a:t>
            </a:r>
            <a:br>
              <a:rPr lang="en-US" dirty="0"/>
            </a:br>
            <a:r>
              <a:rPr lang="en-US" dirty="0"/>
              <a:t>Diversification is a key element in a global portfolio</a:t>
            </a:r>
          </a:p>
        </p:txBody>
      </p:sp>
      <p:graphicFrame>
        <p:nvGraphicFramePr>
          <p:cNvPr id="4" name="Table 3">
            <a:extLst>
              <a:ext uri="{FF2B5EF4-FFF2-40B4-BE49-F238E27FC236}">
                <a16:creationId xmlns:a16="http://schemas.microsoft.com/office/drawing/2014/main" id="{7769DDB2-0FC1-58E1-2126-1F00DE447B34}"/>
              </a:ext>
            </a:extLst>
          </p:cNvPr>
          <p:cNvGraphicFramePr>
            <a:graphicFrameLocks noGrp="1"/>
          </p:cNvGraphicFramePr>
          <p:nvPr/>
        </p:nvGraphicFramePr>
        <p:xfrm>
          <a:off x="907683" y="2146566"/>
          <a:ext cx="11978640" cy="1615440"/>
        </p:xfrm>
        <a:graphic>
          <a:graphicData uri="http://schemas.openxmlformats.org/drawingml/2006/table">
            <a:tbl>
              <a:tblPr>
                <a:tableStyleId>{5C22544A-7EE6-4342-B048-85BDC9FD1C3A}</a:tableStyleId>
              </a:tblPr>
              <a:tblGrid>
                <a:gridCol w="3017520">
                  <a:extLst>
                    <a:ext uri="{9D8B030D-6E8A-4147-A177-3AD203B41FA5}">
                      <a16:colId xmlns:a16="http://schemas.microsoft.com/office/drawing/2014/main" val="1898463280"/>
                    </a:ext>
                  </a:extLst>
                </a:gridCol>
                <a:gridCol w="1097280">
                  <a:extLst>
                    <a:ext uri="{9D8B030D-6E8A-4147-A177-3AD203B41FA5}">
                      <a16:colId xmlns:a16="http://schemas.microsoft.com/office/drawing/2014/main" val="2417231881"/>
                    </a:ext>
                  </a:extLst>
                </a:gridCol>
                <a:gridCol w="1097280">
                  <a:extLst>
                    <a:ext uri="{9D8B030D-6E8A-4147-A177-3AD203B41FA5}">
                      <a16:colId xmlns:a16="http://schemas.microsoft.com/office/drawing/2014/main" val="4088223132"/>
                    </a:ext>
                  </a:extLst>
                </a:gridCol>
                <a:gridCol w="1097280">
                  <a:extLst>
                    <a:ext uri="{9D8B030D-6E8A-4147-A177-3AD203B41FA5}">
                      <a16:colId xmlns:a16="http://schemas.microsoft.com/office/drawing/2014/main" val="1431477524"/>
                    </a:ext>
                  </a:extLst>
                </a:gridCol>
                <a:gridCol w="1280160">
                  <a:extLst>
                    <a:ext uri="{9D8B030D-6E8A-4147-A177-3AD203B41FA5}">
                      <a16:colId xmlns:a16="http://schemas.microsoft.com/office/drawing/2014/main" val="355499506"/>
                    </a:ext>
                  </a:extLst>
                </a:gridCol>
                <a:gridCol w="1097280">
                  <a:extLst>
                    <a:ext uri="{9D8B030D-6E8A-4147-A177-3AD203B41FA5}">
                      <a16:colId xmlns:a16="http://schemas.microsoft.com/office/drawing/2014/main" val="171442710"/>
                    </a:ext>
                  </a:extLst>
                </a:gridCol>
                <a:gridCol w="1097280">
                  <a:extLst>
                    <a:ext uri="{9D8B030D-6E8A-4147-A177-3AD203B41FA5}">
                      <a16:colId xmlns:a16="http://schemas.microsoft.com/office/drawing/2014/main" val="1588504413"/>
                    </a:ext>
                  </a:extLst>
                </a:gridCol>
                <a:gridCol w="1097280">
                  <a:extLst>
                    <a:ext uri="{9D8B030D-6E8A-4147-A177-3AD203B41FA5}">
                      <a16:colId xmlns:a16="http://schemas.microsoft.com/office/drawing/2014/main" val="3209936391"/>
                    </a:ext>
                  </a:extLst>
                </a:gridCol>
                <a:gridCol w="1097280">
                  <a:extLst>
                    <a:ext uri="{9D8B030D-6E8A-4147-A177-3AD203B41FA5}">
                      <a16:colId xmlns:a16="http://schemas.microsoft.com/office/drawing/2014/main" val="330847030"/>
                    </a:ext>
                  </a:extLst>
                </a:gridCol>
              </a:tblGrid>
              <a:tr h="274320">
                <a:tc>
                  <a:txBody>
                    <a:bodyPr/>
                    <a:lstStyle/>
                    <a:p>
                      <a:pPr algn="l" fontAlgn="b"/>
                      <a:endParaRPr lang="en-US" sz="1600" b="1" i="1" u="none" strike="noStrike" dirty="0">
                        <a:solidFill>
                          <a:schemeClr val="accent1"/>
                        </a:solidFill>
                        <a:effectLst/>
                        <a:latin typeface="Georgia" panose="02040502050405020303" pitchFamily="18" charset="0"/>
                      </a:endParaRP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gridSpan="7">
                  <a:txBody>
                    <a:bodyPr/>
                    <a:lstStyle/>
                    <a:p>
                      <a:pPr algn="ctr" fontAlgn="b"/>
                      <a:r>
                        <a:rPr lang="en-US" sz="1600" b="1" i="1" u="none" strike="noStrike" dirty="0">
                          <a:solidFill>
                            <a:schemeClr val="bg1"/>
                          </a:solidFill>
                          <a:effectLst/>
                          <a:latin typeface="Georgia" panose="02040502050405020303" pitchFamily="18" charset="0"/>
                        </a:rPr>
                        <a:t>EMERGING MARKETS</a:t>
                      </a:r>
                    </a:p>
                  </a:txBody>
                  <a:tcPr anchor="b">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
                      <a:r>
                        <a:rPr lang="en-US" sz="1600" b="1" i="1" u="none" strike="noStrike" dirty="0">
                          <a:solidFill>
                            <a:schemeClr val="bg1"/>
                          </a:solidFill>
                          <a:effectLst/>
                          <a:latin typeface="Georgia" panose="02040502050405020303" pitchFamily="18" charset="0"/>
                        </a:rPr>
                        <a:t> </a:t>
                      </a:r>
                    </a:p>
                  </a:txBody>
                  <a:tcPr anchor="b">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896036985"/>
                  </a:ext>
                </a:extLst>
              </a:tr>
              <a:tr h="365760">
                <a:tc>
                  <a:txBody>
                    <a:bodyPr/>
                    <a:lstStyle/>
                    <a:p>
                      <a:pPr algn="ctr" fontAlgn="ctr"/>
                      <a:endParaRPr lang="en-US" sz="1600" b="1" i="1" u="none" strike="noStrike">
                        <a:solidFill>
                          <a:schemeClr val="accent1"/>
                        </a:solidFill>
                        <a:effectLst/>
                        <a:latin typeface="Georgia" panose="02040502050405020303" pitchFamily="18" charset="0"/>
                      </a:endParaRP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1600" b="1" i="1" u="none" strike="noStrike" dirty="0">
                          <a:solidFill>
                            <a:schemeClr val="bg1"/>
                          </a:solidFill>
                          <a:effectLst/>
                          <a:latin typeface="Georgia" panose="02040502050405020303" pitchFamily="18" charset="0"/>
                        </a:rPr>
                        <a:t>Brazil</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1600" b="1" i="1" u="none" strike="noStrike" dirty="0">
                          <a:solidFill>
                            <a:schemeClr val="bg1"/>
                          </a:solidFill>
                          <a:effectLst/>
                          <a:latin typeface="Georgia" panose="02040502050405020303" pitchFamily="18" charset="0"/>
                        </a:rPr>
                        <a:t>China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1600" b="1" i="1" u="none" strike="noStrike" dirty="0">
                          <a:solidFill>
                            <a:schemeClr val="bg1"/>
                          </a:solidFill>
                          <a:effectLst/>
                          <a:latin typeface="Georgia" panose="02040502050405020303" pitchFamily="18" charset="0"/>
                        </a:rPr>
                        <a:t>India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1600" b="1" i="1" u="none" strike="noStrike" dirty="0">
                          <a:solidFill>
                            <a:schemeClr val="bg1"/>
                          </a:solidFill>
                          <a:effectLst/>
                          <a:latin typeface="Georgia" panose="02040502050405020303" pitchFamily="18" charset="0"/>
                        </a:rPr>
                        <a:t>Indonesia</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1600" b="1" i="1" u="none" strike="noStrike" dirty="0">
                          <a:solidFill>
                            <a:schemeClr val="bg1"/>
                          </a:solidFill>
                          <a:effectLst/>
                          <a:latin typeface="Georgia" panose="02040502050405020303" pitchFamily="18" charset="0"/>
                        </a:rPr>
                        <a:t>Mexico</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1600" b="1" i="1" u="none" strike="noStrike" dirty="0">
                          <a:solidFill>
                            <a:schemeClr val="bg1"/>
                          </a:solidFill>
                          <a:effectLst/>
                          <a:latin typeface="Georgia" panose="02040502050405020303" pitchFamily="18" charset="0"/>
                        </a:rPr>
                        <a:t>Poland</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1600" b="1" i="1" u="none" strike="noStrike" dirty="0">
                          <a:solidFill>
                            <a:schemeClr val="bg1"/>
                          </a:solidFill>
                          <a:effectLst/>
                          <a:latin typeface="Georgia" panose="02040502050405020303" pitchFamily="18" charset="0"/>
                        </a:rPr>
                        <a:t>Taiwan</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1600" b="1" i="1" u="none" strike="noStrike" dirty="0">
                          <a:solidFill>
                            <a:schemeClr val="bg1"/>
                          </a:solidFill>
                          <a:effectLst/>
                          <a:latin typeface="Georgia" panose="02040502050405020303" pitchFamily="18" charset="0"/>
                        </a:rPr>
                        <a:t>Vietnam</a:t>
                      </a:r>
                    </a:p>
                  </a:txBody>
                  <a:tcPr anchor="b">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4227546343"/>
                  </a:ext>
                </a:extLst>
              </a:tr>
              <a:tr h="457200">
                <a:tc>
                  <a:txBody>
                    <a:bodyPr/>
                    <a:lstStyle/>
                    <a:p>
                      <a:pPr algn="l" fontAlgn="b"/>
                      <a:r>
                        <a:rPr lang="en-US" sz="1600" u="none" strike="noStrike" dirty="0">
                          <a:effectLst/>
                          <a:latin typeface="Roboto Condensed" panose="02000000000000000000" pitchFamily="2" charset="0"/>
                          <a:ea typeface="Roboto Condensed" panose="02000000000000000000" pitchFamily="2" charset="0"/>
                        </a:rPr>
                        <a:t>Max Diversification (%)</a:t>
                      </a:r>
                      <a:endParaRPr lang="en-US" sz="16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3.0</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2.5</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4.4</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5.6</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5.0</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3.8</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4.0</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600" u="none" strike="noStrike" kern="1200" dirty="0">
                          <a:solidFill>
                            <a:schemeClr val="dk1"/>
                          </a:solidFill>
                          <a:effectLst/>
                          <a:latin typeface="Roboto Condensed" panose="02000000000000000000" pitchFamily="2" charset="0"/>
                          <a:ea typeface="Roboto Condensed" panose="02000000000000000000" pitchFamily="2" charset="0"/>
                          <a:cs typeface="+mn-cs"/>
                        </a:rPr>
                        <a:t>5.0</a:t>
                      </a:r>
                    </a:p>
                  </a:txBody>
                  <a:tcPr marL="0" marR="36576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6940382"/>
                  </a:ext>
                </a:extLst>
              </a:tr>
              <a:tr h="457200">
                <a:tc>
                  <a:txBody>
                    <a:bodyPr/>
                    <a:lstStyle/>
                    <a:p>
                      <a:pPr algn="l" fontAlgn="b"/>
                      <a:r>
                        <a:rPr lang="en-US" sz="1800" b="1" u="none" strike="noStrike" dirty="0">
                          <a:solidFill>
                            <a:srgbClr val="DC7A4B"/>
                          </a:solidFill>
                          <a:effectLst/>
                          <a:latin typeface="Roboto Condensed" panose="02000000000000000000" pitchFamily="2" charset="0"/>
                          <a:ea typeface="Roboto Condensed" panose="02000000000000000000" pitchFamily="2" charset="0"/>
                        </a:rPr>
                        <a:t>Diversification</a:t>
                      </a:r>
                      <a:endParaRPr lang="en-US" sz="1800" b="1" i="0" u="none" strike="noStrike" dirty="0">
                        <a:solidFill>
                          <a:srgbClr val="DC7A4B"/>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b="1" u="none" strike="noStrike" kern="1200" dirty="0">
                          <a:solidFill>
                            <a:srgbClr val="DC7A4B"/>
                          </a:solidFill>
                          <a:effectLst/>
                          <a:latin typeface="Roboto Condensed" panose="02000000000000000000" pitchFamily="2" charset="0"/>
                          <a:ea typeface="Roboto Condensed" panose="02000000000000000000" pitchFamily="2" charset="0"/>
                          <a:cs typeface="+mn-cs"/>
                        </a:rPr>
                        <a:t>1.07</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b="1" u="none" strike="noStrike" kern="1200" dirty="0">
                          <a:solidFill>
                            <a:srgbClr val="DC7A4B"/>
                          </a:solidFill>
                          <a:effectLst/>
                          <a:latin typeface="Roboto Condensed" panose="02000000000000000000" pitchFamily="2" charset="0"/>
                          <a:ea typeface="Roboto Condensed" panose="02000000000000000000" pitchFamily="2" charset="0"/>
                          <a:cs typeface="+mn-cs"/>
                        </a:rPr>
                        <a:t>0.35</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b="1" u="none" strike="noStrike" kern="1200" dirty="0">
                          <a:solidFill>
                            <a:srgbClr val="DC7A4B"/>
                          </a:solidFill>
                          <a:effectLst/>
                          <a:latin typeface="Roboto Condensed" panose="02000000000000000000" pitchFamily="2" charset="0"/>
                          <a:ea typeface="Roboto Condensed" panose="02000000000000000000" pitchFamily="2" charset="0"/>
                          <a:cs typeface="+mn-cs"/>
                        </a:rPr>
                        <a:t>5.35</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b="1" u="none" strike="noStrike" kern="1200" dirty="0">
                          <a:solidFill>
                            <a:srgbClr val="DC7A4B"/>
                          </a:solidFill>
                          <a:effectLst/>
                          <a:latin typeface="Roboto Condensed" panose="02000000000000000000" pitchFamily="2" charset="0"/>
                          <a:ea typeface="Roboto Condensed" panose="02000000000000000000" pitchFamily="2" charset="0"/>
                          <a:cs typeface="+mn-cs"/>
                        </a:rPr>
                        <a:t>7.50</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b="1" u="none" strike="noStrike" kern="1200" dirty="0">
                          <a:solidFill>
                            <a:srgbClr val="DC7A4B"/>
                          </a:solidFill>
                          <a:effectLst/>
                          <a:latin typeface="Roboto Condensed" panose="02000000000000000000" pitchFamily="2" charset="0"/>
                          <a:ea typeface="Roboto Condensed" panose="02000000000000000000" pitchFamily="2" charset="0"/>
                          <a:cs typeface="+mn-cs"/>
                        </a:rPr>
                        <a:t>6.78</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b="1" u="none" strike="noStrike" kern="1200" dirty="0">
                          <a:solidFill>
                            <a:srgbClr val="DC7A4B"/>
                          </a:solidFill>
                          <a:effectLst/>
                          <a:latin typeface="Roboto Condensed" panose="02000000000000000000" pitchFamily="2" charset="0"/>
                          <a:ea typeface="Roboto Condensed" panose="02000000000000000000" pitchFamily="2" charset="0"/>
                          <a:cs typeface="+mn-cs"/>
                        </a:rPr>
                        <a:t>2.14</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b="1" u="none" strike="noStrike" kern="1200" dirty="0">
                          <a:solidFill>
                            <a:srgbClr val="DC7A4B"/>
                          </a:solidFill>
                          <a:effectLst/>
                          <a:latin typeface="Roboto Condensed" panose="02000000000000000000" pitchFamily="2" charset="0"/>
                          <a:ea typeface="Roboto Condensed" panose="02000000000000000000" pitchFamily="2" charset="0"/>
                          <a:cs typeface="+mn-cs"/>
                        </a:rPr>
                        <a:t>2.50</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1800" b="1" u="none" strike="noStrike" kern="1200" dirty="0">
                          <a:solidFill>
                            <a:srgbClr val="DC7A4B"/>
                          </a:solidFill>
                          <a:effectLst/>
                          <a:latin typeface="Roboto Condensed" panose="02000000000000000000" pitchFamily="2" charset="0"/>
                          <a:ea typeface="Roboto Condensed" panose="02000000000000000000" pitchFamily="2" charset="0"/>
                          <a:cs typeface="+mn-cs"/>
                        </a:rPr>
                        <a:t>6.07</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716270"/>
                  </a:ext>
                </a:extLst>
              </a:tr>
            </a:tbl>
          </a:graphicData>
        </a:graphic>
      </p:graphicFrame>
    </p:spTree>
    <p:extLst>
      <p:ext uri="{BB962C8B-B14F-4D97-AF65-F5344CB8AC3E}">
        <p14:creationId xmlns:p14="http://schemas.microsoft.com/office/powerpoint/2010/main" val="3811977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solidFill>
                  <a:srgbClr val="DC7A4B"/>
                </a:solidFill>
              </a:rPr>
              <a:t>Diversification:</a:t>
            </a:r>
            <a:br>
              <a:rPr lang="en-US" dirty="0"/>
            </a:br>
            <a:r>
              <a:rPr lang="en-US" dirty="0"/>
              <a:t>Diversification is a key element in a global portfolio</a:t>
            </a:r>
          </a:p>
        </p:txBody>
      </p:sp>
      <p:sp>
        <p:nvSpPr>
          <p:cNvPr id="9" name="Content Placeholder 8">
            <a:extLst>
              <a:ext uri="{FF2B5EF4-FFF2-40B4-BE49-F238E27FC236}">
                <a16:creationId xmlns:a16="http://schemas.microsoft.com/office/drawing/2014/main" id="{1F4F9C72-C2A2-E8A7-93A9-6825D241C970}"/>
              </a:ext>
            </a:extLst>
          </p:cNvPr>
          <p:cNvSpPr>
            <a:spLocks noGrp="1"/>
          </p:cNvSpPr>
          <p:nvPr>
            <p:ph idx="1"/>
          </p:nvPr>
        </p:nvSpPr>
        <p:spPr>
          <a:xfrm>
            <a:off x="628650" y="2561563"/>
            <a:ext cx="5103935" cy="3612226"/>
          </a:xfrm>
        </p:spPr>
        <p:txBody>
          <a:bodyPr/>
          <a:lstStyle/>
          <a:p>
            <a:pPr lvl="1">
              <a:buClr>
                <a:schemeClr val="tx2"/>
              </a:buClr>
            </a:pPr>
            <a:r>
              <a:rPr lang="en-US" dirty="0"/>
              <a:t>Brazil and China score low on this metric as they are more highly correlated with the EM Index</a:t>
            </a:r>
          </a:p>
        </p:txBody>
      </p:sp>
      <p:sp>
        <p:nvSpPr>
          <p:cNvPr id="10" name="Text Placeholder 9">
            <a:extLst>
              <a:ext uri="{FF2B5EF4-FFF2-40B4-BE49-F238E27FC236}">
                <a16:creationId xmlns:a16="http://schemas.microsoft.com/office/drawing/2014/main" id="{F3AB46D4-380C-AE2E-6AC4-E840EEF140D7}"/>
              </a:ext>
            </a:extLst>
          </p:cNvPr>
          <p:cNvSpPr>
            <a:spLocks noGrp="1"/>
          </p:cNvSpPr>
          <p:nvPr>
            <p:ph type="body" sz="quarter" idx="13"/>
          </p:nvPr>
        </p:nvSpPr>
        <p:spPr/>
        <p:txBody>
          <a:bodyPr/>
          <a:lstStyle/>
          <a:p>
            <a:endParaRPr lang="en-US"/>
          </a:p>
        </p:txBody>
      </p:sp>
      <p:graphicFrame>
        <p:nvGraphicFramePr>
          <p:cNvPr id="4" name="Table 3">
            <a:extLst>
              <a:ext uri="{FF2B5EF4-FFF2-40B4-BE49-F238E27FC236}">
                <a16:creationId xmlns:a16="http://schemas.microsoft.com/office/drawing/2014/main" id="{20F366BD-D1FE-C815-AA94-E9EFE8B8E55D}"/>
              </a:ext>
            </a:extLst>
          </p:cNvPr>
          <p:cNvGraphicFramePr>
            <a:graphicFrameLocks noGrp="1"/>
          </p:cNvGraphicFramePr>
          <p:nvPr/>
        </p:nvGraphicFramePr>
        <p:xfrm>
          <a:off x="6413500" y="2552700"/>
          <a:ext cx="6126480" cy="1280160"/>
        </p:xfrm>
        <a:graphic>
          <a:graphicData uri="http://schemas.openxmlformats.org/drawingml/2006/table">
            <a:tbl>
              <a:tblPr>
                <a:tableStyleId>{5C22544A-7EE6-4342-B048-85BDC9FD1C3A}</a:tableStyleId>
              </a:tblPr>
              <a:tblGrid>
                <a:gridCol w="3017520">
                  <a:extLst>
                    <a:ext uri="{9D8B030D-6E8A-4147-A177-3AD203B41FA5}">
                      <a16:colId xmlns:a16="http://schemas.microsoft.com/office/drawing/2014/main" val="1898463280"/>
                    </a:ext>
                  </a:extLst>
                </a:gridCol>
                <a:gridCol w="1554480">
                  <a:extLst>
                    <a:ext uri="{9D8B030D-6E8A-4147-A177-3AD203B41FA5}">
                      <a16:colId xmlns:a16="http://schemas.microsoft.com/office/drawing/2014/main" val="2417231881"/>
                    </a:ext>
                  </a:extLst>
                </a:gridCol>
                <a:gridCol w="1554480">
                  <a:extLst>
                    <a:ext uri="{9D8B030D-6E8A-4147-A177-3AD203B41FA5}">
                      <a16:colId xmlns:a16="http://schemas.microsoft.com/office/drawing/2014/main" val="4088223132"/>
                    </a:ext>
                  </a:extLst>
                </a:gridCol>
              </a:tblGrid>
              <a:tr h="365760">
                <a:tc>
                  <a:txBody>
                    <a:bodyPr/>
                    <a:lstStyle/>
                    <a:p>
                      <a:pPr algn="ctr" fontAlgn="ctr"/>
                      <a:endParaRPr lang="en-US" sz="1800" b="1" i="1" u="none" strike="noStrike" dirty="0">
                        <a:solidFill>
                          <a:schemeClr val="accent1"/>
                        </a:solidFill>
                        <a:effectLst/>
                        <a:latin typeface="Georgia" panose="02040502050405020303" pitchFamily="18" charset="0"/>
                      </a:endParaRPr>
                    </a:p>
                  </a:txBody>
                  <a:tcPr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1800" b="1" i="1" u="none" strike="noStrike" dirty="0">
                          <a:solidFill>
                            <a:schemeClr val="bg1"/>
                          </a:solidFill>
                          <a:effectLst/>
                          <a:latin typeface="Georgia" panose="02040502050405020303" pitchFamily="18" charset="0"/>
                        </a:rPr>
                        <a:t>Brazil</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1800" b="1" i="1" u="none" strike="noStrike" dirty="0">
                          <a:solidFill>
                            <a:schemeClr val="bg1"/>
                          </a:solidFill>
                          <a:effectLst/>
                          <a:latin typeface="Georgia" panose="02040502050405020303" pitchFamily="18" charset="0"/>
                        </a:rPr>
                        <a:t>China</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4227546343"/>
                  </a:ext>
                </a:extLst>
              </a:tr>
              <a:tr h="457200">
                <a:tc>
                  <a:txBody>
                    <a:bodyPr/>
                    <a:lstStyle/>
                    <a:p>
                      <a:pPr algn="l" fontAlgn="b"/>
                      <a:r>
                        <a:rPr lang="en-US" sz="1800" u="none" strike="noStrike" dirty="0">
                          <a:effectLst/>
                          <a:latin typeface="Roboto Condensed" panose="02000000000000000000" pitchFamily="2" charset="0"/>
                          <a:ea typeface="Roboto Condensed" panose="02000000000000000000" pitchFamily="2" charset="0"/>
                        </a:rPr>
                        <a:t>Max Diversification (%)</a:t>
                      </a:r>
                      <a:endParaRPr lang="en-US" sz="1800" b="0" i="0" u="none" strike="noStrike" dirty="0">
                        <a:solidFill>
                          <a:srgbClr val="000000"/>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3.0</a:t>
                      </a:r>
                    </a:p>
                  </a:txBody>
                  <a:tcPr marL="0" marR="64008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005755" rtl="0" eaLnBrk="1" fontAlgn="b" latinLnBrk="0" hangingPunct="1"/>
                      <a:r>
                        <a:rPr lang="en-US" sz="1800" u="none" strike="noStrike" kern="1200" dirty="0">
                          <a:solidFill>
                            <a:schemeClr val="dk1"/>
                          </a:solidFill>
                          <a:effectLst/>
                          <a:latin typeface="Roboto Condensed" panose="02000000000000000000" pitchFamily="2" charset="0"/>
                          <a:ea typeface="Roboto Condensed" panose="02000000000000000000" pitchFamily="2" charset="0"/>
                          <a:cs typeface="+mn-cs"/>
                        </a:rPr>
                        <a:t>2.5</a:t>
                      </a:r>
                    </a:p>
                  </a:txBody>
                  <a:tcPr marL="0" marR="64008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6940382"/>
                  </a:ext>
                </a:extLst>
              </a:tr>
              <a:tr h="457200">
                <a:tc>
                  <a:txBody>
                    <a:bodyPr/>
                    <a:lstStyle/>
                    <a:p>
                      <a:pPr algn="l" fontAlgn="b"/>
                      <a:r>
                        <a:rPr lang="en-US" sz="2000" b="1" u="none" strike="noStrike" dirty="0">
                          <a:solidFill>
                            <a:srgbClr val="DC7A4B"/>
                          </a:solidFill>
                          <a:effectLst/>
                          <a:latin typeface="Roboto Condensed" panose="02000000000000000000" pitchFamily="2" charset="0"/>
                          <a:ea typeface="Roboto Condensed" panose="02000000000000000000" pitchFamily="2" charset="0"/>
                        </a:rPr>
                        <a:t>Diversification</a:t>
                      </a:r>
                      <a:endParaRPr lang="en-US" sz="2000" b="1" i="0" u="none" strike="noStrike" dirty="0">
                        <a:solidFill>
                          <a:srgbClr val="DC7A4B"/>
                        </a:solidFill>
                        <a:effectLst/>
                        <a:latin typeface="Roboto Condensed" panose="02000000000000000000" pitchFamily="2" charset="0"/>
                        <a:ea typeface="Roboto Condensed" panose="02000000000000000000" pitchFamily="2"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2000" b="1" u="none" strike="noStrike" kern="1200" dirty="0">
                          <a:solidFill>
                            <a:srgbClr val="DC7A4B"/>
                          </a:solidFill>
                          <a:effectLst/>
                          <a:latin typeface="Roboto Condensed" panose="02000000000000000000" pitchFamily="2" charset="0"/>
                          <a:ea typeface="Roboto Condensed" panose="02000000000000000000" pitchFamily="2" charset="0"/>
                          <a:cs typeface="+mn-cs"/>
                        </a:rPr>
                        <a:t>1.07</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5755" rtl="0" eaLnBrk="1" fontAlgn="b" latinLnBrk="0" hangingPunct="1"/>
                      <a:r>
                        <a:rPr lang="en-US" sz="2000" b="1" u="none" strike="noStrike" kern="1200" dirty="0">
                          <a:solidFill>
                            <a:srgbClr val="DC7A4B"/>
                          </a:solidFill>
                          <a:effectLst/>
                          <a:latin typeface="Roboto Condensed" panose="02000000000000000000" pitchFamily="2" charset="0"/>
                          <a:ea typeface="Roboto Condensed" panose="02000000000000000000" pitchFamily="2" charset="0"/>
                          <a:cs typeface="+mn-cs"/>
                        </a:rPr>
                        <a:t>0.35</a:t>
                      </a:r>
                    </a:p>
                  </a:txBody>
                  <a:tcPr marL="8610" marR="0" marT="861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716270"/>
                  </a:ext>
                </a:extLst>
              </a:tr>
            </a:tbl>
          </a:graphicData>
        </a:graphic>
      </p:graphicFrame>
    </p:spTree>
    <p:extLst>
      <p:ext uri="{BB962C8B-B14F-4D97-AF65-F5344CB8AC3E}">
        <p14:creationId xmlns:p14="http://schemas.microsoft.com/office/powerpoint/2010/main" val="10297447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61BA7-5FC5-1EBC-6D6F-1495EC065E91}"/>
              </a:ext>
            </a:extLst>
          </p:cNvPr>
          <p:cNvSpPr>
            <a:spLocks noGrp="1"/>
          </p:cNvSpPr>
          <p:nvPr>
            <p:ph type="body" sz="quarter" idx="13"/>
          </p:nvPr>
        </p:nvSpPr>
        <p:spPr/>
        <p:txBody>
          <a:bodyPr/>
          <a:lstStyle/>
          <a:p>
            <a:endParaRPr lang="en-US" dirty="0"/>
          </a:p>
        </p:txBody>
      </p:sp>
      <p:sp>
        <p:nvSpPr>
          <p:cNvPr id="3" name="Title 2">
            <a:extLst>
              <a:ext uri="{FF2B5EF4-FFF2-40B4-BE49-F238E27FC236}">
                <a16:creationId xmlns:a16="http://schemas.microsoft.com/office/drawing/2014/main" id="{AAEB2979-A5F3-5636-D102-09F944626D9E}"/>
              </a:ext>
            </a:extLst>
          </p:cNvPr>
          <p:cNvSpPr>
            <a:spLocks noGrp="1"/>
          </p:cNvSpPr>
          <p:nvPr>
            <p:ph type="title"/>
          </p:nvPr>
        </p:nvSpPr>
        <p:spPr/>
        <p:txBody>
          <a:bodyPr/>
          <a:lstStyle/>
          <a:p>
            <a:r>
              <a:rPr lang="en-US" dirty="0">
                <a:solidFill>
                  <a:srgbClr val="DC7A4B"/>
                </a:solidFill>
              </a:rPr>
              <a:t>Diversification:</a:t>
            </a:r>
            <a:br>
              <a:rPr lang="en-US" dirty="0"/>
            </a:br>
            <a:r>
              <a:rPr lang="en-US" dirty="0"/>
              <a:t>Diversification is a key element in a global portfolio</a:t>
            </a:r>
          </a:p>
        </p:txBody>
      </p:sp>
      <p:pic>
        <p:nvPicPr>
          <p:cNvPr id="5" name="Picture 4">
            <a:extLst>
              <a:ext uri="{FF2B5EF4-FFF2-40B4-BE49-F238E27FC236}">
                <a16:creationId xmlns:a16="http://schemas.microsoft.com/office/drawing/2014/main" id="{98C4190E-6249-C4D8-22ED-3FD211018AA9}"/>
              </a:ext>
            </a:extLst>
          </p:cNvPr>
          <p:cNvPicPr>
            <a:picLocks noChangeAspect="1"/>
          </p:cNvPicPr>
          <p:nvPr/>
        </p:nvPicPr>
        <p:blipFill>
          <a:blip r:embed="rId3"/>
          <a:stretch>
            <a:fillRect/>
          </a:stretch>
        </p:blipFill>
        <p:spPr>
          <a:xfrm>
            <a:off x="3278494" y="1909156"/>
            <a:ext cx="7987786" cy="4308764"/>
          </a:xfrm>
          <a:prstGeom prst="rect">
            <a:avLst/>
          </a:prstGeom>
        </p:spPr>
      </p:pic>
      <p:sp>
        <p:nvSpPr>
          <p:cNvPr id="4" name="TextBox 3">
            <a:extLst>
              <a:ext uri="{FF2B5EF4-FFF2-40B4-BE49-F238E27FC236}">
                <a16:creationId xmlns:a16="http://schemas.microsoft.com/office/drawing/2014/main" id="{3197A847-5FED-31C1-5367-9C5C1DA380EB}"/>
              </a:ext>
            </a:extLst>
          </p:cNvPr>
          <p:cNvSpPr txBox="1"/>
          <p:nvPr/>
        </p:nvSpPr>
        <p:spPr>
          <a:xfrm>
            <a:off x="1794138" y="3096280"/>
            <a:ext cx="1106393" cy="523220"/>
          </a:xfrm>
          <a:prstGeom prst="rect">
            <a:avLst/>
          </a:prstGeom>
          <a:noFill/>
        </p:spPr>
        <p:txBody>
          <a:bodyPr wrap="none" rtlCol="0">
            <a:spAutoFit/>
          </a:bodyPr>
          <a:lstStyle/>
          <a:p>
            <a:r>
              <a:rPr lang="en-US" sz="2800" dirty="0"/>
              <a:t>China</a:t>
            </a:r>
          </a:p>
        </p:txBody>
      </p:sp>
      <p:sp>
        <p:nvSpPr>
          <p:cNvPr id="6" name="TextBox 5">
            <a:extLst>
              <a:ext uri="{FF2B5EF4-FFF2-40B4-BE49-F238E27FC236}">
                <a16:creationId xmlns:a16="http://schemas.microsoft.com/office/drawing/2014/main" id="{C4F44EED-7421-D629-4315-3E9401A07301}"/>
              </a:ext>
            </a:extLst>
          </p:cNvPr>
          <p:cNvSpPr txBox="1"/>
          <p:nvPr/>
        </p:nvSpPr>
        <p:spPr>
          <a:xfrm>
            <a:off x="1794138" y="3891291"/>
            <a:ext cx="982961" cy="523220"/>
          </a:xfrm>
          <a:prstGeom prst="rect">
            <a:avLst/>
          </a:prstGeom>
          <a:noFill/>
        </p:spPr>
        <p:txBody>
          <a:bodyPr wrap="none" rtlCol="0">
            <a:spAutoFit/>
          </a:bodyPr>
          <a:lstStyle/>
          <a:p>
            <a:r>
              <a:rPr lang="en-US" sz="2800" dirty="0"/>
              <a:t>Chile</a:t>
            </a:r>
          </a:p>
        </p:txBody>
      </p:sp>
      <p:sp>
        <p:nvSpPr>
          <p:cNvPr id="7" name="TextBox 6">
            <a:extLst>
              <a:ext uri="{FF2B5EF4-FFF2-40B4-BE49-F238E27FC236}">
                <a16:creationId xmlns:a16="http://schemas.microsoft.com/office/drawing/2014/main" id="{BE3322CF-F65A-6DD1-42DA-50BE46BE1D7E}"/>
              </a:ext>
            </a:extLst>
          </p:cNvPr>
          <p:cNvSpPr txBox="1"/>
          <p:nvPr/>
        </p:nvSpPr>
        <p:spPr>
          <a:xfrm>
            <a:off x="1794138" y="4744011"/>
            <a:ext cx="1095172" cy="523220"/>
          </a:xfrm>
          <a:prstGeom prst="rect">
            <a:avLst/>
          </a:prstGeom>
          <a:noFill/>
        </p:spPr>
        <p:txBody>
          <a:bodyPr wrap="none" rtlCol="0">
            <a:spAutoFit/>
          </a:bodyPr>
          <a:lstStyle/>
          <a:p>
            <a:r>
              <a:rPr lang="en-US" sz="2800" dirty="0"/>
              <a:t>Brazil</a:t>
            </a:r>
          </a:p>
        </p:txBody>
      </p:sp>
      <p:sp>
        <p:nvSpPr>
          <p:cNvPr id="10" name="TextBox 9">
            <a:extLst>
              <a:ext uri="{FF2B5EF4-FFF2-40B4-BE49-F238E27FC236}">
                <a16:creationId xmlns:a16="http://schemas.microsoft.com/office/drawing/2014/main" id="{44416D22-07E7-2770-742C-E0D9B58FE13D}"/>
              </a:ext>
            </a:extLst>
          </p:cNvPr>
          <p:cNvSpPr txBox="1"/>
          <p:nvPr/>
        </p:nvSpPr>
        <p:spPr>
          <a:xfrm>
            <a:off x="1794138" y="5528142"/>
            <a:ext cx="1258614" cy="523220"/>
          </a:xfrm>
          <a:prstGeom prst="rect">
            <a:avLst/>
          </a:prstGeom>
          <a:noFill/>
        </p:spPr>
        <p:txBody>
          <a:bodyPr wrap="none" rtlCol="0">
            <a:spAutoFit/>
          </a:bodyPr>
          <a:lstStyle/>
          <a:p>
            <a:r>
              <a:rPr lang="en-US" sz="2800" dirty="0"/>
              <a:t>Turkey</a:t>
            </a:r>
          </a:p>
        </p:txBody>
      </p:sp>
    </p:spTree>
    <p:extLst>
      <p:ext uri="{BB962C8B-B14F-4D97-AF65-F5344CB8AC3E}">
        <p14:creationId xmlns:p14="http://schemas.microsoft.com/office/powerpoint/2010/main" val="14531882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2E27365D-8E52-AF8D-696B-477AC43A97D8}"/>
              </a:ext>
            </a:extLst>
          </p:cNvPr>
          <p:cNvSpPr>
            <a:spLocks noGrp="1"/>
          </p:cNvSpPr>
          <p:nvPr>
            <p:ph type="body" sz="quarter" idx="13"/>
          </p:nvPr>
        </p:nvSpPr>
        <p:spPr/>
        <p:txBody>
          <a:bodyPr/>
          <a:lstStyle/>
          <a:p>
            <a:endParaRPr lang="en-US" dirty="0"/>
          </a:p>
        </p:txBody>
      </p:sp>
      <p:sp>
        <p:nvSpPr>
          <p:cNvPr id="4" name="Title 3">
            <a:extLst>
              <a:ext uri="{FF2B5EF4-FFF2-40B4-BE49-F238E27FC236}">
                <a16:creationId xmlns:a16="http://schemas.microsoft.com/office/drawing/2014/main" id="{FAB3DAB2-586F-45C2-3543-B3D696447BD3}"/>
              </a:ext>
            </a:extLst>
          </p:cNvPr>
          <p:cNvSpPr>
            <a:spLocks noGrp="1"/>
          </p:cNvSpPr>
          <p:nvPr>
            <p:ph type="title"/>
          </p:nvPr>
        </p:nvSpPr>
        <p:spPr/>
        <p:txBody>
          <a:bodyPr/>
          <a:lstStyle/>
          <a:p>
            <a:r>
              <a:rPr lang="en-US" dirty="0"/>
              <a:t>What the “new normal” portfolio would look like</a:t>
            </a:r>
          </a:p>
        </p:txBody>
      </p:sp>
      <p:graphicFrame>
        <p:nvGraphicFramePr>
          <p:cNvPr id="2" name="Table 1">
            <a:extLst>
              <a:ext uri="{FF2B5EF4-FFF2-40B4-BE49-F238E27FC236}">
                <a16:creationId xmlns:a16="http://schemas.microsoft.com/office/drawing/2014/main" id="{C43C5CB5-621B-F1F9-051A-44F78452F690}"/>
              </a:ext>
            </a:extLst>
          </p:cNvPr>
          <p:cNvGraphicFramePr>
            <a:graphicFrameLocks noGrp="1"/>
          </p:cNvGraphicFramePr>
          <p:nvPr/>
        </p:nvGraphicFramePr>
        <p:xfrm>
          <a:off x="1009375" y="1965960"/>
          <a:ext cx="11795760" cy="475488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2266032367"/>
                    </a:ext>
                  </a:extLst>
                </a:gridCol>
                <a:gridCol w="1097280">
                  <a:extLst>
                    <a:ext uri="{9D8B030D-6E8A-4147-A177-3AD203B41FA5}">
                      <a16:colId xmlns:a16="http://schemas.microsoft.com/office/drawing/2014/main" val="695155199"/>
                    </a:ext>
                  </a:extLst>
                </a:gridCol>
                <a:gridCol w="1005840">
                  <a:extLst>
                    <a:ext uri="{9D8B030D-6E8A-4147-A177-3AD203B41FA5}">
                      <a16:colId xmlns:a16="http://schemas.microsoft.com/office/drawing/2014/main" val="1845081924"/>
                    </a:ext>
                  </a:extLst>
                </a:gridCol>
                <a:gridCol w="1463040">
                  <a:extLst>
                    <a:ext uri="{9D8B030D-6E8A-4147-A177-3AD203B41FA5}">
                      <a16:colId xmlns:a16="http://schemas.microsoft.com/office/drawing/2014/main" val="4156503350"/>
                    </a:ext>
                  </a:extLst>
                </a:gridCol>
                <a:gridCol w="822960">
                  <a:extLst>
                    <a:ext uri="{9D8B030D-6E8A-4147-A177-3AD203B41FA5}">
                      <a16:colId xmlns:a16="http://schemas.microsoft.com/office/drawing/2014/main" val="905348429"/>
                    </a:ext>
                  </a:extLst>
                </a:gridCol>
                <a:gridCol w="1188720">
                  <a:extLst>
                    <a:ext uri="{9D8B030D-6E8A-4147-A177-3AD203B41FA5}">
                      <a16:colId xmlns:a16="http://schemas.microsoft.com/office/drawing/2014/main" val="3295109078"/>
                    </a:ext>
                  </a:extLst>
                </a:gridCol>
                <a:gridCol w="1188720">
                  <a:extLst>
                    <a:ext uri="{9D8B030D-6E8A-4147-A177-3AD203B41FA5}">
                      <a16:colId xmlns:a16="http://schemas.microsoft.com/office/drawing/2014/main" val="2283241856"/>
                    </a:ext>
                  </a:extLst>
                </a:gridCol>
                <a:gridCol w="1188720">
                  <a:extLst>
                    <a:ext uri="{9D8B030D-6E8A-4147-A177-3AD203B41FA5}">
                      <a16:colId xmlns:a16="http://schemas.microsoft.com/office/drawing/2014/main" val="1984971356"/>
                    </a:ext>
                  </a:extLst>
                </a:gridCol>
                <a:gridCol w="822960">
                  <a:extLst>
                    <a:ext uri="{9D8B030D-6E8A-4147-A177-3AD203B41FA5}">
                      <a16:colId xmlns:a16="http://schemas.microsoft.com/office/drawing/2014/main" val="2086744603"/>
                    </a:ext>
                  </a:extLst>
                </a:gridCol>
                <a:gridCol w="822960">
                  <a:extLst>
                    <a:ext uri="{9D8B030D-6E8A-4147-A177-3AD203B41FA5}">
                      <a16:colId xmlns:a16="http://schemas.microsoft.com/office/drawing/2014/main" val="3671402419"/>
                    </a:ext>
                  </a:extLst>
                </a:gridCol>
                <a:gridCol w="822960">
                  <a:extLst>
                    <a:ext uri="{9D8B030D-6E8A-4147-A177-3AD203B41FA5}">
                      <a16:colId xmlns:a16="http://schemas.microsoft.com/office/drawing/2014/main" val="2754373239"/>
                    </a:ext>
                  </a:extLst>
                </a:gridCol>
              </a:tblGrid>
              <a:tr h="248989">
                <a:tc>
                  <a:txBody>
                    <a:bodyPr/>
                    <a:lstStyle/>
                    <a:p>
                      <a:pPr algn="l" fontAlgn="b"/>
                      <a:endParaRPr lang="en-US" sz="1100" b="1" i="1" u="none" strike="noStrike" dirty="0">
                        <a:solidFill>
                          <a:schemeClr val="accent1"/>
                        </a:solidFill>
                        <a:effectLst/>
                        <a:latin typeface="Georgia" panose="02040502050405020303" pitchFamily="18" charset="0"/>
                      </a:endParaRPr>
                    </a:p>
                  </a:txBody>
                  <a:tcPr marL="0" marR="0" marT="0" marB="0" anchor="b">
                    <a:lnB w="12700" cap="flat" cmpd="sng" algn="ctr">
                      <a:solidFill>
                        <a:schemeClr val="accent1"/>
                      </a:solidFill>
                      <a:prstDash val="solid"/>
                      <a:round/>
                      <a:headEnd type="none" w="med" len="med"/>
                      <a:tailEnd type="none" w="med" len="med"/>
                    </a:lnB>
                    <a:noFill/>
                  </a:tcPr>
                </a:tc>
                <a:tc>
                  <a:txBody>
                    <a:bodyPr/>
                    <a:lstStyle/>
                    <a:p>
                      <a:pPr algn="ctr" fontAlgn="b"/>
                      <a:r>
                        <a:rPr lang="en-US" sz="1100" b="1" i="1" u="none" strike="noStrike" dirty="0">
                          <a:solidFill>
                            <a:schemeClr val="accent1"/>
                          </a:solidFill>
                          <a:effectLst/>
                          <a:latin typeface="Georgia" panose="02040502050405020303" pitchFamily="18" charset="0"/>
                        </a:rPr>
                        <a:t>Demographics</a:t>
                      </a:r>
                    </a:p>
                  </a:txBody>
                  <a:tcPr marL="0" marR="0" marT="0" marB="0" anchor="b">
                    <a:lnB w="12700" cap="flat" cmpd="sng" algn="ctr">
                      <a:solidFill>
                        <a:schemeClr val="accent1"/>
                      </a:solidFill>
                      <a:prstDash val="solid"/>
                      <a:round/>
                      <a:headEnd type="none" w="med" len="med"/>
                      <a:tailEnd type="none" w="med" len="med"/>
                    </a:lnB>
                    <a:noFill/>
                  </a:tcPr>
                </a:tc>
                <a:tc>
                  <a:txBody>
                    <a:bodyPr/>
                    <a:lstStyle/>
                    <a:p>
                      <a:pPr algn="ctr" fontAlgn="b"/>
                      <a:r>
                        <a:rPr lang="en-US" sz="1100" b="1" i="1" u="none" strike="noStrike" dirty="0">
                          <a:solidFill>
                            <a:schemeClr val="bg2"/>
                          </a:solidFill>
                          <a:effectLst/>
                          <a:latin typeface="Georgia" panose="02040502050405020303" pitchFamily="18" charset="0"/>
                        </a:rPr>
                        <a:t>Predicted Growth</a:t>
                      </a:r>
                    </a:p>
                  </a:txBody>
                  <a:tcPr marL="0" marR="0" marT="0" marB="0" anchor="b">
                    <a:lnB w="12700" cap="flat" cmpd="sng" algn="ctr">
                      <a:solidFill>
                        <a:schemeClr val="accent1"/>
                      </a:solidFill>
                      <a:prstDash val="solid"/>
                      <a:round/>
                      <a:headEnd type="none" w="med" len="med"/>
                      <a:tailEnd type="none" w="med" len="med"/>
                    </a:lnB>
                    <a:noFill/>
                  </a:tcPr>
                </a:tc>
                <a:tc>
                  <a:txBody>
                    <a:bodyPr/>
                    <a:lstStyle/>
                    <a:p>
                      <a:pPr algn="ctr" fontAlgn="b"/>
                      <a:r>
                        <a:rPr lang="en-US" sz="1100" b="1" i="1" u="none" strike="noStrike" dirty="0">
                          <a:solidFill>
                            <a:schemeClr val="accent2"/>
                          </a:solidFill>
                          <a:effectLst/>
                          <a:latin typeface="Georgia" panose="02040502050405020303" pitchFamily="18" charset="0"/>
                        </a:rPr>
                        <a:t>Macroeconomic  Risk</a:t>
                      </a:r>
                    </a:p>
                  </a:txBody>
                  <a:tcPr marL="0" marR="0" marT="0" marB="0" anchor="b">
                    <a:lnB w="12700" cap="flat" cmpd="sng" algn="ctr">
                      <a:solidFill>
                        <a:schemeClr val="accent1"/>
                      </a:solidFill>
                      <a:prstDash val="solid"/>
                      <a:round/>
                      <a:headEnd type="none" w="med" len="med"/>
                      <a:tailEnd type="none" w="med" len="med"/>
                    </a:lnB>
                    <a:noFill/>
                  </a:tcPr>
                </a:tc>
                <a:tc>
                  <a:txBody>
                    <a:bodyPr/>
                    <a:lstStyle/>
                    <a:p>
                      <a:pPr algn="ctr" fontAlgn="b"/>
                      <a:r>
                        <a:rPr lang="en-US" sz="1100" b="1" i="1" u="none" strike="noStrike" dirty="0">
                          <a:solidFill>
                            <a:schemeClr val="accent4"/>
                          </a:solidFill>
                          <a:effectLst/>
                          <a:latin typeface="Georgia" panose="02040502050405020303" pitchFamily="18" charset="0"/>
                        </a:rPr>
                        <a:t>Climate Risk</a:t>
                      </a:r>
                    </a:p>
                  </a:txBody>
                  <a:tcPr marL="0" marR="0" marT="0" marB="0" anchor="b">
                    <a:lnB w="12700" cap="flat" cmpd="sng" algn="ctr">
                      <a:solidFill>
                        <a:schemeClr val="accent1"/>
                      </a:solidFill>
                      <a:prstDash val="solid"/>
                      <a:round/>
                      <a:headEnd type="none" w="med" len="med"/>
                      <a:tailEnd type="none" w="med" len="med"/>
                    </a:lnB>
                    <a:noFill/>
                  </a:tcPr>
                </a:tc>
                <a:tc>
                  <a:txBody>
                    <a:bodyPr/>
                    <a:lstStyle/>
                    <a:p>
                      <a:pPr algn="ctr" fontAlgn="b"/>
                      <a:r>
                        <a:rPr lang="en-US" sz="1100" b="1" i="1" u="none" strike="noStrike" dirty="0">
                          <a:solidFill>
                            <a:schemeClr val="accent3">
                              <a:lumMod val="50000"/>
                            </a:schemeClr>
                          </a:solidFill>
                          <a:effectLst/>
                          <a:latin typeface="Georgia" panose="02040502050405020303" pitchFamily="18" charset="0"/>
                        </a:rPr>
                        <a:t>Geopolitical Risk</a:t>
                      </a:r>
                    </a:p>
                  </a:txBody>
                  <a:tcPr marL="0" marR="0" marT="0" marB="0" anchor="b">
                    <a:lnB w="12700" cap="flat" cmpd="sng" algn="ctr">
                      <a:solidFill>
                        <a:schemeClr val="accent1"/>
                      </a:solidFill>
                      <a:prstDash val="solid"/>
                      <a:round/>
                      <a:headEnd type="none" w="med" len="med"/>
                      <a:tailEnd type="none" w="med" len="med"/>
                    </a:lnB>
                    <a:noFill/>
                  </a:tcPr>
                </a:tc>
                <a:tc>
                  <a:txBody>
                    <a:bodyPr/>
                    <a:lstStyle/>
                    <a:p>
                      <a:pPr algn="ctr" fontAlgn="b"/>
                      <a:r>
                        <a:rPr lang="en-US" sz="1100" b="1" i="1" u="none" strike="noStrike" dirty="0">
                          <a:solidFill>
                            <a:schemeClr val="accent6"/>
                          </a:solidFill>
                          <a:effectLst/>
                          <a:latin typeface="Georgia" panose="02040502050405020303" pitchFamily="18" charset="0"/>
                        </a:rPr>
                        <a:t>Domestic</a:t>
                      </a:r>
                      <a:br>
                        <a:rPr lang="en-US" sz="1100" b="1" i="1" u="none" strike="noStrike" dirty="0">
                          <a:solidFill>
                            <a:schemeClr val="accent6"/>
                          </a:solidFill>
                          <a:effectLst/>
                          <a:latin typeface="Georgia" panose="02040502050405020303" pitchFamily="18" charset="0"/>
                        </a:rPr>
                      </a:br>
                      <a:r>
                        <a:rPr lang="en-US" sz="1100" b="1" i="1" u="none" strike="noStrike" dirty="0">
                          <a:solidFill>
                            <a:schemeClr val="accent6"/>
                          </a:solidFill>
                          <a:effectLst/>
                          <a:latin typeface="Georgia" panose="02040502050405020303" pitchFamily="18" charset="0"/>
                        </a:rPr>
                        <a:t>Policy Risk</a:t>
                      </a:r>
                    </a:p>
                  </a:txBody>
                  <a:tcPr marL="0" marR="0" marT="0" marB="0" anchor="b">
                    <a:lnB w="12700" cap="flat" cmpd="sng" algn="ctr">
                      <a:solidFill>
                        <a:schemeClr val="accent1"/>
                      </a:solidFill>
                      <a:prstDash val="solid"/>
                      <a:round/>
                      <a:headEnd type="none" w="med" len="med"/>
                      <a:tailEnd type="none" w="med" len="med"/>
                    </a:lnB>
                    <a:noFill/>
                  </a:tcPr>
                </a:tc>
                <a:tc>
                  <a:txBody>
                    <a:bodyPr/>
                    <a:lstStyle/>
                    <a:p>
                      <a:pPr algn="ctr" fontAlgn="b"/>
                      <a:r>
                        <a:rPr lang="en-US" sz="1100" b="1" i="1" u="none" strike="noStrike" dirty="0">
                          <a:solidFill>
                            <a:schemeClr val="tx2"/>
                          </a:solidFill>
                          <a:effectLst/>
                          <a:latin typeface="Georgia" panose="02040502050405020303" pitchFamily="18" charset="0"/>
                        </a:rPr>
                        <a:t>Diversification</a:t>
                      </a:r>
                    </a:p>
                  </a:txBody>
                  <a:tcPr marL="0" marR="0" marT="0" marB="0" anchor="b">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pPr algn="ctr" fontAlgn="b"/>
                      <a:r>
                        <a:rPr lang="en-US" sz="1100" b="1" i="1" u="none" strike="noStrike" dirty="0">
                          <a:solidFill>
                            <a:schemeClr val="accent1"/>
                          </a:solidFill>
                          <a:effectLst/>
                          <a:latin typeface="Georgia" panose="02040502050405020303" pitchFamily="18" charset="0"/>
                        </a:rPr>
                        <a:t>Final Score</a:t>
                      </a:r>
                    </a:p>
                  </a:txBody>
                  <a:tcPr marL="0" marR="0" marT="0" marB="0" anchor="b">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noFill/>
                  </a:tcPr>
                </a:tc>
                <a:tc>
                  <a:txBody>
                    <a:bodyPr/>
                    <a:lstStyle/>
                    <a:p>
                      <a:pPr algn="ctr" fontAlgn="b"/>
                      <a:r>
                        <a:rPr lang="en-US" sz="1100" b="1" i="1" u="none" strike="noStrike" dirty="0">
                          <a:solidFill>
                            <a:schemeClr val="accent1"/>
                          </a:solidFill>
                          <a:effectLst/>
                          <a:latin typeface="Georgia" panose="02040502050405020303" pitchFamily="18" charset="0"/>
                        </a:rPr>
                        <a:t>MCAP Weight</a:t>
                      </a:r>
                    </a:p>
                  </a:txBody>
                  <a:tcPr marL="0" marR="0" marT="0" marB="0" anchor="b">
                    <a:lnB w="12700" cap="flat" cmpd="sng" algn="ctr">
                      <a:solidFill>
                        <a:schemeClr val="accent1"/>
                      </a:solidFill>
                      <a:prstDash val="solid"/>
                      <a:round/>
                      <a:headEnd type="none" w="med" len="med"/>
                      <a:tailEnd type="none" w="med" len="med"/>
                    </a:lnB>
                    <a:noFill/>
                  </a:tcPr>
                </a:tc>
                <a:tc>
                  <a:txBody>
                    <a:bodyPr/>
                    <a:lstStyle/>
                    <a:p>
                      <a:pPr algn="ctr" fontAlgn="b"/>
                      <a:r>
                        <a:rPr lang="en-US" sz="1100" b="1" i="1" u="none" strike="noStrike" dirty="0">
                          <a:solidFill>
                            <a:schemeClr val="accent1"/>
                          </a:solidFill>
                          <a:effectLst/>
                          <a:latin typeface="Georgia" panose="02040502050405020303" pitchFamily="18" charset="0"/>
                        </a:rPr>
                        <a:t>Final Weight</a:t>
                      </a:r>
                    </a:p>
                  </a:txBody>
                  <a:tcPr marL="0" marR="0" marT="0" marB="0" anchor="b">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693995936"/>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Brazil</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6.4</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bg2"/>
                          </a:solidFill>
                          <a:effectLst/>
                          <a:latin typeface="Roboto Condensed" panose="02000000000000000000" pitchFamily="2" charset="0"/>
                          <a:ea typeface="Roboto Condensed" panose="02000000000000000000" pitchFamily="2" charset="0"/>
                        </a:rPr>
                        <a:t>2.1</a:t>
                      </a:r>
                      <a:endParaRPr lang="en-US" sz="1000" b="0" i="0" u="none" strike="noStrike" dirty="0">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1.8</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2.9</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9.3</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2.1</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1.1</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0.4</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3.5%</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0.3%</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1"/>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3758504868"/>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Chile</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0.7</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bg2"/>
                          </a:solidFill>
                          <a:effectLst/>
                          <a:latin typeface="Roboto Condensed" panose="02000000000000000000" pitchFamily="2" charset="0"/>
                          <a:ea typeface="Roboto Condensed" panose="02000000000000000000" pitchFamily="2" charset="0"/>
                        </a:rPr>
                        <a:t>4.6</a:t>
                      </a:r>
                      <a:endParaRPr lang="en-US" sz="1000" b="0" i="0" u="none" strike="noStrike" dirty="0">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2.5</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8.2</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3">
                              <a:lumMod val="50000"/>
                            </a:schemeClr>
                          </a:solidFill>
                          <a:effectLst/>
                          <a:latin typeface="Roboto Condensed" panose="02000000000000000000" pitchFamily="2" charset="0"/>
                          <a:ea typeface="Roboto Condensed" panose="02000000000000000000" pitchFamily="2" charset="0"/>
                        </a:rPr>
                        <a:t>7.9</a:t>
                      </a:r>
                      <a:endParaRPr lang="en-US" sz="1000" b="0" i="0" u="none" strike="noStrike">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8.6</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9.3</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7.5</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0.7%</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3.1%</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415773923"/>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China</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7.1</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bg2"/>
                          </a:solidFill>
                          <a:effectLst/>
                          <a:latin typeface="Roboto Condensed" panose="02000000000000000000" pitchFamily="2" charset="0"/>
                          <a:ea typeface="Roboto Condensed" panose="02000000000000000000" pitchFamily="2" charset="0"/>
                        </a:rPr>
                        <a:t>8.6</a:t>
                      </a:r>
                      <a:endParaRPr lang="en-US" sz="1000" b="0" i="0" u="none" strike="noStrike">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3.9</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0.7</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1.4</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6"/>
                          </a:solidFill>
                          <a:effectLst/>
                          <a:latin typeface="Roboto Condensed" panose="02000000000000000000" pitchFamily="2" charset="0"/>
                          <a:ea typeface="Roboto Condensed" panose="02000000000000000000" pitchFamily="2" charset="0"/>
                        </a:rPr>
                        <a:t>5.7</a:t>
                      </a:r>
                      <a:endParaRPr lang="en-US" sz="1000" b="0" i="0" u="none" strike="noStrike">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0.4</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3.2</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41.7%</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10.3%</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750334181"/>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Colombia</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1"/>
                          </a:solidFill>
                          <a:effectLst/>
                          <a:latin typeface="Roboto Condensed" panose="02000000000000000000" pitchFamily="2" charset="0"/>
                          <a:ea typeface="Roboto Condensed" panose="02000000000000000000" pitchFamily="2" charset="0"/>
                        </a:rPr>
                        <a:t>3.6</a:t>
                      </a:r>
                      <a:endParaRPr lang="en-US" sz="1000" b="0" i="0" u="none" strike="noStrike">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bg2"/>
                          </a:solidFill>
                          <a:effectLst/>
                          <a:latin typeface="Roboto Condensed" panose="02000000000000000000" pitchFamily="2" charset="0"/>
                          <a:ea typeface="Roboto Condensed" panose="02000000000000000000" pitchFamily="2" charset="0"/>
                        </a:rPr>
                        <a:t>6.8</a:t>
                      </a:r>
                      <a:endParaRPr lang="en-US" sz="1000" b="0" i="0" u="none" strike="noStrike" dirty="0">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2.9</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3.2</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3">
                              <a:lumMod val="50000"/>
                            </a:schemeClr>
                          </a:solidFill>
                          <a:effectLst/>
                          <a:latin typeface="Roboto Condensed" panose="02000000000000000000" pitchFamily="2" charset="0"/>
                          <a:ea typeface="Roboto Condensed" panose="02000000000000000000" pitchFamily="2" charset="0"/>
                        </a:rPr>
                        <a:t>6.8</a:t>
                      </a:r>
                      <a:endParaRPr lang="en-US" sz="1000" b="0" i="0" u="none" strike="noStrike">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4.6</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7.9</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5.0</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0.4%</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1.5%</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558228187"/>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Czech Republic</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2.5</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bg2"/>
                          </a:solidFill>
                          <a:effectLst/>
                          <a:latin typeface="Roboto Condensed" panose="02000000000000000000" pitchFamily="2" charset="0"/>
                          <a:ea typeface="Roboto Condensed" panose="02000000000000000000" pitchFamily="2" charset="0"/>
                        </a:rPr>
                        <a:t>1.8</a:t>
                      </a:r>
                      <a:endParaRPr lang="en-US" sz="1000" b="0" i="0" u="none" strike="noStrike">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5.4</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10.0</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7.1</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6"/>
                          </a:solidFill>
                          <a:effectLst/>
                          <a:latin typeface="Roboto Condensed" panose="02000000000000000000" pitchFamily="2" charset="0"/>
                          <a:ea typeface="Roboto Condensed" panose="02000000000000000000" pitchFamily="2" charset="0"/>
                        </a:rPr>
                        <a:t>8.9</a:t>
                      </a:r>
                      <a:endParaRPr lang="en-US" sz="1000" b="0" i="0" u="none" strike="noStrike">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8.6</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8.9</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0.2%</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1.8%</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289066254"/>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Egypt</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1"/>
                          </a:solidFill>
                          <a:effectLst/>
                          <a:latin typeface="Roboto Condensed" panose="02000000000000000000" pitchFamily="2" charset="0"/>
                          <a:ea typeface="Roboto Condensed" panose="02000000000000000000" pitchFamily="2" charset="0"/>
                        </a:rPr>
                        <a:t>7.9</a:t>
                      </a:r>
                      <a:endParaRPr lang="en-US" sz="1000" b="0" i="0" u="none" strike="noStrike">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bg2"/>
                          </a:solidFill>
                          <a:effectLst/>
                          <a:latin typeface="Roboto Condensed" panose="02000000000000000000" pitchFamily="2" charset="0"/>
                          <a:ea typeface="Roboto Condensed" panose="02000000000000000000" pitchFamily="2" charset="0"/>
                        </a:rPr>
                        <a:t>7.9</a:t>
                      </a:r>
                      <a:endParaRPr lang="en-US" sz="1000" b="0" i="0" u="none" strike="noStrike" dirty="0">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0.0</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5.0</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2.5</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0.0</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8.9</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3.9</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0.2%</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0.8%</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833931826"/>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Greece</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0.0</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bg2"/>
                          </a:solidFill>
                          <a:effectLst/>
                          <a:latin typeface="Roboto Condensed" panose="02000000000000000000" pitchFamily="2" charset="0"/>
                          <a:ea typeface="Roboto Condensed" panose="02000000000000000000" pitchFamily="2" charset="0"/>
                        </a:rPr>
                        <a:t>0.4</a:t>
                      </a:r>
                      <a:endParaRPr lang="en-US" sz="1000" b="0" i="0" u="none" strike="noStrike" dirty="0">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0.7</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6.1</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8.6</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7.9</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4.6</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0.7</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0.2%</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0.2%</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968686185"/>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Hungary</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0.4</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bg2"/>
                          </a:solidFill>
                          <a:effectLst/>
                          <a:latin typeface="Roboto Condensed" panose="02000000000000000000" pitchFamily="2" charset="0"/>
                          <a:ea typeface="Roboto Condensed" panose="02000000000000000000" pitchFamily="2" charset="0"/>
                        </a:rPr>
                        <a:t>6.1</a:t>
                      </a:r>
                      <a:endParaRPr lang="en-US" sz="1000" b="0" i="0" u="none" strike="noStrike">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2">
                              <a:lumMod val="75000"/>
                            </a:schemeClr>
                          </a:solidFill>
                          <a:effectLst/>
                          <a:latin typeface="Roboto Condensed" panose="02000000000000000000" pitchFamily="2" charset="0"/>
                          <a:ea typeface="Roboto Condensed" panose="02000000000000000000" pitchFamily="2" charset="0"/>
                        </a:rPr>
                        <a:t>3.2</a:t>
                      </a:r>
                      <a:endParaRPr lang="en-US" sz="1000" b="0" i="0" u="none" strike="noStrike">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7.1</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3.6</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6.8</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4.3</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3.6</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0.1%</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0.5%</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448803523"/>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India</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1"/>
                          </a:solidFill>
                          <a:effectLst/>
                          <a:latin typeface="Roboto Condensed" panose="02000000000000000000" pitchFamily="2" charset="0"/>
                          <a:ea typeface="Roboto Condensed" panose="02000000000000000000" pitchFamily="2" charset="0"/>
                        </a:rPr>
                        <a:t>8.6</a:t>
                      </a:r>
                      <a:endParaRPr lang="en-US" sz="1000" b="0" i="0" u="none" strike="noStrike">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bg2"/>
                          </a:solidFill>
                          <a:effectLst/>
                          <a:latin typeface="Roboto Condensed" panose="02000000000000000000" pitchFamily="2" charset="0"/>
                          <a:ea typeface="Roboto Condensed" panose="02000000000000000000" pitchFamily="2" charset="0"/>
                        </a:rPr>
                        <a:t>9.3</a:t>
                      </a:r>
                      <a:endParaRPr lang="en-US" sz="1000" b="0" i="0" u="none" strike="noStrike">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1.4</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0.0</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6.1</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6"/>
                          </a:solidFill>
                          <a:effectLst/>
                          <a:latin typeface="Roboto Condensed" panose="02000000000000000000" pitchFamily="2" charset="0"/>
                          <a:ea typeface="Roboto Condensed" panose="02000000000000000000" pitchFamily="2" charset="0"/>
                        </a:rPr>
                        <a:t>5.4</a:t>
                      </a:r>
                      <a:endParaRPr lang="en-US" sz="1000" b="0" i="0" u="none" strike="noStrike">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tx2"/>
                          </a:solidFill>
                          <a:effectLst/>
                          <a:latin typeface="Roboto Condensed" panose="02000000000000000000" pitchFamily="2" charset="0"/>
                          <a:ea typeface="Roboto Condensed" panose="02000000000000000000" pitchFamily="2" charset="0"/>
                        </a:rPr>
                        <a:t>5.4</a:t>
                      </a:r>
                      <a:endParaRPr lang="en-US" sz="1000" b="0" i="0" u="none" strike="noStrike">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5.4</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13.1%</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9.6%</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542519424"/>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Indonesia</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1"/>
                          </a:solidFill>
                          <a:effectLst/>
                          <a:latin typeface="Roboto Condensed" panose="02000000000000000000" pitchFamily="2" charset="0"/>
                          <a:ea typeface="Roboto Condensed" panose="02000000000000000000" pitchFamily="2" charset="0"/>
                        </a:rPr>
                        <a:t>10.0</a:t>
                      </a:r>
                      <a:endParaRPr lang="en-US" sz="1000" b="0" i="0" u="none" strike="noStrike">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bg2"/>
                          </a:solidFill>
                          <a:effectLst/>
                          <a:latin typeface="Roboto Condensed" panose="02000000000000000000" pitchFamily="2" charset="0"/>
                          <a:ea typeface="Roboto Condensed" panose="02000000000000000000" pitchFamily="2" charset="0"/>
                        </a:rPr>
                        <a:t>8.9</a:t>
                      </a:r>
                      <a:endParaRPr lang="en-US" sz="1000" b="0" i="0" u="none" strike="noStrike" dirty="0">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6.4</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2.5</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9.6</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5.0</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tx2"/>
                          </a:solidFill>
                          <a:effectLst/>
                          <a:latin typeface="Roboto Condensed" panose="02000000000000000000" pitchFamily="2" charset="0"/>
                          <a:ea typeface="Roboto Condensed" panose="02000000000000000000" pitchFamily="2" charset="0"/>
                        </a:rPr>
                        <a:t>7.5</a:t>
                      </a:r>
                      <a:endParaRPr lang="en-US" sz="1000" b="0" i="0" u="none" strike="noStrike">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10.0</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2.6%</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7.9%</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625137007"/>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Korea</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2.9</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bg2"/>
                          </a:solidFill>
                          <a:effectLst/>
                          <a:latin typeface="Roboto Condensed" panose="02000000000000000000" pitchFamily="2" charset="0"/>
                          <a:ea typeface="Roboto Condensed" panose="02000000000000000000" pitchFamily="2" charset="0"/>
                        </a:rPr>
                        <a:t>4.3</a:t>
                      </a:r>
                      <a:endParaRPr lang="en-US" sz="1000" b="0" i="0" u="none" strike="noStrike">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2">
                              <a:lumMod val="75000"/>
                            </a:schemeClr>
                          </a:solidFill>
                          <a:effectLst/>
                          <a:latin typeface="Roboto Condensed" panose="02000000000000000000" pitchFamily="2" charset="0"/>
                          <a:ea typeface="Roboto Condensed" panose="02000000000000000000" pitchFamily="2" charset="0"/>
                        </a:rPr>
                        <a:t>9.3</a:t>
                      </a:r>
                      <a:endParaRPr lang="en-US" sz="1000" b="0" i="0" u="none" strike="noStrike">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9.6</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0.7</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6"/>
                          </a:solidFill>
                          <a:effectLst/>
                          <a:latin typeface="Roboto Condensed" panose="02000000000000000000" pitchFamily="2" charset="0"/>
                          <a:ea typeface="Roboto Condensed" panose="02000000000000000000" pitchFamily="2" charset="0"/>
                        </a:rPr>
                        <a:t>9.6</a:t>
                      </a:r>
                      <a:endParaRPr lang="en-US" sz="1000" b="0" i="0" u="none" strike="noStrike">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0.0</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7.1</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7.7%</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9.8%</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257277115"/>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Kuwait</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1"/>
                          </a:solidFill>
                          <a:effectLst/>
                          <a:latin typeface="Roboto Condensed" panose="02000000000000000000" pitchFamily="2" charset="0"/>
                          <a:ea typeface="Roboto Condensed" panose="02000000000000000000" pitchFamily="2" charset="0"/>
                        </a:rPr>
                        <a:t>1.4</a:t>
                      </a:r>
                      <a:endParaRPr lang="en-US" sz="1000" b="0" i="0" u="none" strike="noStrike">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bg2"/>
                          </a:solidFill>
                          <a:effectLst/>
                          <a:latin typeface="Roboto Condensed" panose="02000000000000000000" pitchFamily="2" charset="0"/>
                          <a:ea typeface="Roboto Condensed" panose="02000000000000000000" pitchFamily="2" charset="0"/>
                        </a:rPr>
                        <a:t>0.0</a:t>
                      </a:r>
                      <a:endParaRPr lang="en-US" sz="1000" b="0" i="0" u="none" strike="noStrike">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2">
                              <a:lumMod val="75000"/>
                            </a:schemeClr>
                          </a:solidFill>
                          <a:effectLst/>
                          <a:latin typeface="Roboto Condensed" panose="02000000000000000000" pitchFamily="2" charset="0"/>
                          <a:ea typeface="Roboto Condensed" panose="02000000000000000000" pitchFamily="2" charset="0"/>
                        </a:rPr>
                        <a:t>7.9</a:t>
                      </a:r>
                      <a:endParaRPr lang="en-US" sz="1000" b="0" i="0" u="none" strike="noStrike">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8.6</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3">
                              <a:lumMod val="50000"/>
                            </a:schemeClr>
                          </a:solidFill>
                          <a:effectLst/>
                          <a:latin typeface="Roboto Condensed" panose="02000000000000000000" pitchFamily="2" charset="0"/>
                          <a:ea typeface="Roboto Condensed" panose="02000000000000000000" pitchFamily="2" charset="0"/>
                        </a:rPr>
                        <a:t>1.1</a:t>
                      </a:r>
                      <a:endParaRPr lang="en-US" sz="1000" b="0" i="0" u="none" strike="noStrike">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6.1</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3.9</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1.8</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0.6%</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0.7%</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280204117"/>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Malaysia</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5.4</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bg2"/>
                          </a:solidFill>
                          <a:effectLst/>
                          <a:latin typeface="Roboto Condensed" panose="02000000000000000000" pitchFamily="2" charset="0"/>
                          <a:ea typeface="Roboto Condensed" panose="02000000000000000000" pitchFamily="2" charset="0"/>
                        </a:rPr>
                        <a:t>2.9</a:t>
                      </a:r>
                      <a:endParaRPr lang="en-US" sz="1000" b="0" i="0" u="none" strike="noStrike">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5.0</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4"/>
                          </a:solidFill>
                          <a:effectLst/>
                          <a:latin typeface="Roboto Condensed" panose="02000000000000000000" pitchFamily="2" charset="0"/>
                          <a:ea typeface="Roboto Condensed" panose="02000000000000000000" pitchFamily="2" charset="0"/>
                        </a:rPr>
                        <a:t>5.7</a:t>
                      </a:r>
                      <a:endParaRPr lang="en-US" sz="1000" b="0" i="0" u="none" strike="noStrike">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5.0</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7.5</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9.6</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6.8</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1.6%</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4.2%</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102504168"/>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Mexico</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1"/>
                          </a:solidFill>
                          <a:effectLst/>
                          <a:latin typeface="Roboto Condensed" panose="02000000000000000000" pitchFamily="2" charset="0"/>
                          <a:ea typeface="Roboto Condensed" panose="02000000000000000000" pitchFamily="2" charset="0"/>
                        </a:rPr>
                        <a:t>9.3</a:t>
                      </a:r>
                      <a:endParaRPr lang="en-US" sz="1000" b="0" i="0" u="none" strike="noStrike">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bg2"/>
                          </a:solidFill>
                          <a:effectLst/>
                          <a:latin typeface="Roboto Condensed" panose="02000000000000000000" pitchFamily="2" charset="0"/>
                          <a:ea typeface="Roboto Condensed" panose="02000000000000000000" pitchFamily="2" charset="0"/>
                        </a:rPr>
                        <a:t>6.4</a:t>
                      </a:r>
                      <a:endParaRPr lang="en-US" sz="1000" b="0" i="0" u="none" strike="noStrike">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7.5</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5.4</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8.9</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1.1</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6.8</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9.6</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1.7%</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6.2%</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434503201"/>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Peru</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5.0</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bg2"/>
                          </a:solidFill>
                          <a:effectLst/>
                          <a:latin typeface="Roboto Condensed" panose="02000000000000000000" pitchFamily="2" charset="0"/>
                          <a:ea typeface="Roboto Condensed" panose="02000000000000000000" pitchFamily="2" charset="0"/>
                        </a:rPr>
                        <a:t>7.1</a:t>
                      </a:r>
                      <a:endParaRPr lang="en-US" sz="1000" b="0" i="0" u="none" strike="noStrike">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2">
                              <a:lumMod val="75000"/>
                            </a:schemeClr>
                          </a:solidFill>
                          <a:effectLst/>
                          <a:latin typeface="Roboto Condensed" panose="02000000000000000000" pitchFamily="2" charset="0"/>
                          <a:ea typeface="Roboto Condensed" panose="02000000000000000000" pitchFamily="2" charset="0"/>
                        </a:rPr>
                        <a:t>6.8</a:t>
                      </a:r>
                      <a:endParaRPr lang="en-US" sz="1000" b="0" i="0" u="none" strike="noStrike">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4.6</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6.4</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3.2</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7.1</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7.9</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0.3%</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2.2%</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955195960"/>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Philippines</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8.9</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bg2"/>
                          </a:solidFill>
                          <a:effectLst/>
                          <a:latin typeface="Roboto Condensed" panose="02000000000000000000" pitchFamily="2" charset="0"/>
                          <a:ea typeface="Roboto Condensed" panose="02000000000000000000" pitchFamily="2" charset="0"/>
                        </a:rPr>
                        <a:t>5.7</a:t>
                      </a:r>
                      <a:endParaRPr lang="en-US" sz="1000" b="0" i="0" u="none" strike="noStrike">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5.7</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1.4</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0.0</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6"/>
                          </a:solidFill>
                          <a:effectLst/>
                          <a:latin typeface="Roboto Condensed" panose="02000000000000000000" pitchFamily="2" charset="0"/>
                          <a:ea typeface="Roboto Condensed" panose="02000000000000000000" pitchFamily="2" charset="0"/>
                        </a:rPr>
                        <a:t>2.5</a:t>
                      </a:r>
                      <a:endParaRPr lang="en-US" sz="1000" b="0" i="0" u="none" strike="noStrike">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10.0</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4.6</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1.0%</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2.3%</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4220135817"/>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Poland</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1.8</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bg2"/>
                          </a:solidFill>
                          <a:effectLst/>
                          <a:latin typeface="Roboto Condensed" panose="02000000000000000000" pitchFamily="2" charset="0"/>
                          <a:ea typeface="Roboto Condensed" panose="02000000000000000000" pitchFamily="2" charset="0"/>
                        </a:rPr>
                        <a:t>3.6</a:t>
                      </a:r>
                      <a:endParaRPr lang="en-US" sz="1000" b="0" i="0" u="none" strike="noStrike" dirty="0">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7.1</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6.4</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10.0</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7.1</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2.1</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5.7</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0.6%</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2.2%</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4085977849"/>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Qatar</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1"/>
                          </a:solidFill>
                          <a:effectLst/>
                          <a:latin typeface="Roboto Condensed" panose="02000000000000000000" pitchFamily="2" charset="0"/>
                          <a:ea typeface="Roboto Condensed" panose="02000000000000000000" pitchFamily="2" charset="0"/>
                        </a:rPr>
                        <a:t>3.2</a:t>
                      </a:r>
                      <a:endParaRPr lang="en-US" sz="1000" b="0" i="0" u="none" strike="noStrike">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bg2"/>
                          </a:solidFill>
                          <a:effectLst/>
                          <a:latin typeface="Roboto Condensed" panose="02000000000000000000" pitchFamily="2" charset="0"/>
                          <a:ea typeface="Roboto Condensed" panose="02000000000000000000" pitchFamily="2" charset="0"/>
                        </a:rPr>
                        <a:t>3.2</a:t>
                      </a:r>
                      <a:endParaRPr lang="en-US" sz="1000" b="0" i="0" u="none" strike="noStrike">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8.6</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9.3</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2.9</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8.2</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1.4</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6.4</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0.8%</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2.8%</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498611573"/>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Russia</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4.3</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bg2"/>
                          </a:solidFill>
                          <a:effectLst/>
                          <a:latin typeface="Roboto Condensed" panose="02000000000000000000" pitchFamily="2" charset="0"/>
                          <a:ea typeface="Roboto Condensed" panose="02000000000000000000" pitchFamily="2" charset="0"/>
                        </a:rPr>
                        <a:t>1.4</a:t>
                      </a:r>
                      <a:endParaRPr lang="en-US" sz="1000" b="0" i="0" u="none" strike="noStrike" dirty="0">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9.6</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6.8</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5.4</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6"/>
                          </a:solidFill>
                          <a:effectLst/>
                          <a:latin typeface="Roboto Condensed" panose="02000000000000000000" pitchFamily="2" charset="0"/>
                          <a:ea typeface="Roboto Condensed" panose="02000000000000000000" pitchFamily="2" charset="0"/>
                        </a:rPr>
                        <a:t>0.4</a:t>
                      </a:r>
                      <a:endParaRPr lang="en-US" sz="1000" b="0" i="0" u="none" strike="noStrike">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5.0</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2.9</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2.8%</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2.4%</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198438104"/>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Saudi Arabia</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1"/>
                          </a:solidFill>
                          <a:effectLst/>
                          <a:latin typeface="Roboto Condensed" panose="02000000000000000000" pitchFamily="2" charset="0"/>
                          <a:ea typeface="Roboto Condensed" panose="02000000000000000000" pitchFamily="2" charset="0"/>
                        </a:rPr>
                        <a:t>4.6</a:t>
                      </a:r>
                      <a:endParaRPr lang="en-US" sz="1000" b="0" i="0" u="none" strike="noStrike">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bg2"/>
                          </a:solidFill>
                          <a:effectLst/>
                          <a:latin typeface="Roboto Condensed" panose="02000000000000000000" pitchFamily="2" charset="0"/>
                          <a:ea typeface="Roboto Condensed" panose="02000000000000000000" pitchFamily="2" charset="0"/>
                        </a:rPr>
                        <a:t>3.9</a:t>
                      </a:r>
                      <a:endParaRPr lang="en-US" sz="1000" b="0" i="0" u="none" strike="noStrike">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8.9</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4.3</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3.2</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6.4</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1.4</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4.3</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2.5%</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3.3%</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867549446"/>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South Africa</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7.5</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bg2"/>
                          </a:solidFill>
                          <a:effectLst/>
                          <a:latin typeface="Roboto Condensed" panose="02000000000000000000" pitchFamily="2" charset="0"/>
                          <a:ea typeface="Roboto Condensed" panose="02000000000000000000" pitchFamily="2" charset="0"/>
                        </a:rPr>
                        <a:t>5.0</a:t>
                      </a:r>
                      <a:endParaRPr lang="en-US" sz="1000" b="0" i="0" u="none" strike="noStrike">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4.3</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0.4</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3.9</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4.3</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0.7</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1.4</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1.6%</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0.9%</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3474590973"/>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Taiwan</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1.1</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bg2"/>
                          </a:solidFill>
                          <a:effectLst/>
                          <a:latin typeface="Roboto Condensed" panose="02000000000000000000" pitchFamily="2" charset="0"/>
                          <a:ea typeface="Roboto Condensed" panose="02000000000000000000" pitchFamily="2" charset="0"/>
                        </a:rPr>
                        <a:t>5.4</a:t>
                      </a:r>
                      <a:endParaRPr lang="en-US" sz="1000" b="0" i="0" u="none" strike="noStrike" dirty="0">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10.0</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7.9</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2.1</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accent6"/>
                          </a:solidFill>
                          <a:effectLst/>
                          <a:latin typeface="Roboto Condensed" panose="02000000000000000000" pitchFamily="2" charset="0"/>
                          <a:ea typeface="Roboto Condensed" panose="02000000000000000000" pitchFamily="2" charset="0"/>
                        </a:rPr>
                        <a:t>10.0</a:t>
                      </a:r>
                      <a:endParaRPr lang="en-US" sz="1000" b="0" i="0" u="none" strike="noStrike">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2.5</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8.6</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7.7%</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11.8%</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563068531"/>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Thailand</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2.1</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solidFill>
                            <a:schemeClr val="bg2"/>
                          </a:solidFill>
                          <a:effectLst/>
                          <a:latin typeface="Roboto Condensed" panose="02000000000000000000" pitchFamily="2" charset="0"/>
                          <a:ea typeface="Roboto Condensed" panose="02000000000000000000" pitchFamily="2" charset="0"/>
                        </a:rPr>
                        <a:t>1.1</a:t>
                      </a:r>
                      <a:endParaRPr lang="en-US" sz="1000" b="0" i="0" u="none" strike="noStrike">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4.6</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2.1</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4.3</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3.9</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8.2</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0.0</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2.3%</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0.0%</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888254628"/>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Turkey</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6.1</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bg2"/>
                          </a:solidFill>
                          <a:effectLst/>
                          <a:latin typeface="Roboto Condensed" panose="02000000000000000000" pitchFamily="2" charset="0"/>
                          <a:ea typeface="Roboto Condensed" panose="02000000000000000000" pitchFamily="2" charset="0"/>
                        </a:rPr>
                        <a:t>8.2</a:t>
                      </a:r>
                      <a:endParaRPr lang="en-US" sz="1000" b="0" i="0" u="none" strike="noStrike" dirty="0">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3.6</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7.5</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7.5</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1.8</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5.7</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8.2</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0.7%</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3.3%</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4201931616"/>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United Arab Emirates</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3.9</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bg2"/>
                          </a:solidFill>
                          <a:effectLst/>
                          <a:latin typeface="Roboto Condensed" panose="02000000000000000000" pitchFamily="2" charset="0"/>
                          <a:ea typeface="Roboto Condensed" panose="02000000000000000000" pitchFamily="2" charset="0"/>
                        </a:rPr>
                        <a:t>0.7</a:t>
                      </a:r>
                      <a:endParaRPr lang="en-US" sz="1000" b="0" i="0" u="none" strike="noStrike" dirty="0">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8.2</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8.9</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4.6</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9.3</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2.9</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6.1</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2.7%</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5.0%</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4152895131"/>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Argentina</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6.8</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bg2"/>
                          </a:solidFill>
                          <a:effectLst/>
                          <a:latin typeface="Roboto Condensed" panose="02000000000000000000" pitchFamily="2" charset="0"/>
                          <a:ea typeface="Roboto Condensed" panose="02000000000000000000" pitchFamily="2" charset="0"/>
                        </a:rPr>
                        <a:t>2.5</a:t>
                      </a:r>
                      <a:endParaRPr lang="en-US" sz="1000" b="0" i="0" u="none" strike="noStrike" dirty="0">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2.1</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3.9</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5.7</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3.6</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6.1</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2.1</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0.2%</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0.4%</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126698100"/>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Bangladesh</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8.2</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bg2"/>
                          </a:solidFill>
                          <a:effectLst/>
                          <a:latin typeface="Roboto Condensed" panose="02000000000000000000" pitchFamily="2" charset="0"/>
                          <a:ea typeface="Roboto Condensed" panose="02000000000000000000" pitchFamily="2" charset="0"/>
                        </a:rPr>
                        <a:t>9.6</a:t>
                      </a:r>
                      <a:endParaRPr lang="en-US" sz="1000" b="0" i="0" u="none" strike="noStrike" dirty="0">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1.1</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1.1</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1.8</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1.4</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2.9</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2.5</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a:effectLst/>
                          <a:latin typeface="Roboto Condensed" panose="02000000000000000000" pitchFamily="2" charset="0"/>
                          <a:ea typeface="Roboto Condensed" panose="02000000000000000000" pitchFamily="2" charset="0"/>
                        </a:rPr>
                        <a:t>1.5%</a:t>
                      </a:r>
                      <a:endParaRPr lang="en-US" sz="1000" b="0" i="0" u="none" strike="noStrike">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1.5%</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360958672"/>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Pakistan</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9.6</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bg2"/>
                          </a:solidFill>
                          <a:effectLst/>
                          <a:latin typeface="Roboto Condensed" panose="02000000000000000000" pitchFamily="2" charset="0"/>
                          <a:ea typeface="Roboto Condensed" panose="02000000000000000000" pitchFamily="2" charset="0"/>
                        </a:rPr>
                        <a:t>7.1</a:t>
                      </a:r>
                      <a:endParaRPr lang="en-US" sz="1000" b="0" i="0" u="none" strike="noStrike" dirty="0">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0.4</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1.8</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0.4</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0.7</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2.9</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1.1</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0.1%</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0.2%</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987453757"/>
                  </a:ext>
                </a:extLst>
              </a:tr>
              <a:tr h="91440">
                <a:tc>
                  <a:txBody>
                    <a:bodyPr/>
                    <a:lstStyle/>
                    <a:p>
                      <a:pPr algn="l" fontAlgn="b"/>
                      <a:r>
                        <a:rPr lang="en-US" sz="1000" u="none" strike="noStrike" dirty="0">
                          <a:effectLst/>
                          <a:latin typeface="Roboto Condensed" panose="02000000000000000000" pitchFamily="2" charset="0"/>
                          <a:ea typeface="Roboto Condensed" panose="02000000000000000000" pitchFamily="2" charset="0"/>
                        </a:rPr>
                        <a:t>Vietnam</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0" marT="0" marB="0" anchor="ct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fontAlgn="b"/>
                      <a:r>
                        <a:rPr lang="en-US" sz="1000" u="none" strike="noStrike" dirty="0">
                          <a:solidFill>
                            <a:schemeClr val="accent1"/>
                          </a:solidFill>
                          <a:effectLst/>
                          <a:latin typeface="Roboto Condensed" panose="02000000000000000000" pitchFamily="2" charset="0"/>
                          <a:ea typeface="Roboto Condensed" panose="02000000000000000000" pitchFamily="2" charset="0"/>
                        </a:rPr>
                        <a:t>5.7</a:t>
                      </a:r>
                      <a:endParaRPr lang="en-US" sz="1000" b="0" i="0" u="none" strike="noStrike" dirty="0">
                        <a:solidFill>
                          <a:schemeClr val="accent1"/>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fontAlgn="b"/>
                      <a:r>
                        <a:rPr lang="en-US" sz="1000" u="none" strike="noStrike" dirty="0">
                          <a:solidFill>
                            <a:schemeClr val="bg2"/>
                          </a:solidFill>
                          <a:effectLst/>
                          <a:latin typeface="Roboto Condensed" panose="02000000000000000000" pitchFamily="2" charset="0"/>
                          <a:ea typeface="Roboto Condensed" panose="02000000000000000000" pitchFamily="2" charset="0"/>
                        </a:rPr>
                        <a:t>10.0</a:t>
                      </a:r>
                      <a:endParaRPr lang="en-US" sz="1000" b="0" i="0" u="none" strike="noStrike" dirty="0">
                        <a:solidFill>
                          <a:schemeClr val="bg2"/>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fontAlgn="b"/>
                      <a:r>
                        <a:rPr lang="en-US" sz="1000" u="none" strike="noStrike" dirty="0">
                          <a:solidFill>
                            <a:schemeClr val="accent2">
                              <a:lumMod val="75000"/>
                            </a:schemeClr>
                          </a:solidFill>
                          <a:effectLst/>
                          <a:latin typeface="Roboto Condensed" panose="02000000000000000000" pitchFamily="2" charset="0"/>
                          <a:ea typeface="Roboto Condensed" panose="02000000000000000000" pitchFamily="2" charset="0"/>
                        </a:rPr>
                        <a:t>6.1</a:t>
                      </a:r>
                      <a:endParaRPr lang="en-US" sz="1000" b="0" i="0" u="none" strike="noStrike" dirty="0">
                        <a:solidFill>
                          <a:schemeClr val="accent2">
                            <a:lumMod val="75000"/>
                          </a:schemeClr>
                        </a:solidFill>
                        <a:effectLst/>
                        <a:latin typeface="Roboto Condensed" panose="02000000000000000000" pitchFamily="2" charset="0"/>
                        <a:ea typeface="Roboto Condensed" panose="02000000000000000000" pitchFamily="2" charset="0"/>
                      </a:endParaRPr>
                    </a:p>
                  </a:txBody>
                  <a:tcPr marL="0" marR="640080" marT="0" marB="0" anchor="ct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fontAlgn="b"/>
                      <a:r>
                        <a:rPr lang="en-US" sz="1000" u="none" strike="noStrike" dirty="0">
                          <a:solidFill>
                            <a:schemeClr val="accent4"/>
                          </a:solidFill>
                          <a:effectLst/>
                          <a:latin typeface="Roboto Condensed" panose="02000000000000000000" pitchFamily="2" charset="0"/>
                          <a:ea typeface="Roboto Condensed" panose="02000000000000000000" pitchFamily="2" charset="0"/>
                        </a:rPr>
                        <a:t>3.6</a:t>
                      </a:r>
                      <a:endParaRPr lang="en-US" sz="1000" b="0" i="0" u="none" strike="noStrike" dirty="0">
                        <a:solidFill>
                          <a:schemeClr val="accent4"/>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fontAlgn="b"/>
                      <a:r>
                        <a:rPr lang="en-US" sz="1000" u="none" strike="noStrike" dirty="0">
                          <a:solidFill>
                            <a:schemeClr val="accent3">
                              <a:lumMod val="50000"/>
                            </a:schemeClr>
                          </a:solidFill>
                          <a:effectLst/>
                          <a:latin typeface="Roboto Condensed" panose="02000000000000000000" pitchFamily="2" charset="0"/>
                          <a:ea typeface="Roboto Condensed" panose="02000000000000000000" pitchFamily="2" charset="0"/>
                        </a:rPr>
                        <a:t>8.2</a:t>
                      </a:r>
                      <a:endParaRPr lang="en-US" sz="1000" b="0" i="0" u="none" strike="noStrike" dirty="0">
                        <a:solidFill>
                          <a:schemeClr val="accent3">
                            <a:lumMod val="50000"/>
                          </a:schemeClr>
                        </a:solidFill>
                        <a:effectLst/>
                        <a:latin typeface="Roboto Condensed" panose="02000000000000000000" pitchFamily="2" charset="0"/>
                        <a:ea typeface="Roboto Condensed" panose="02000000000000000000" pitchFamily="2" charset="0"/>
                      </a:endParaRPr>
                    </a:p>
                  </a:txBody>
                  <a:tcPr marL="0" marR="548640" marT="0" marB="0" anchor="ct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fontAlgn="b"/>
                      <a:r>
                        <a:rPr lang="en-US" sz="1000" u="none" strike="noStrike" dirty="0">
                          <a:solidFill>
                            <a:schemeClr val="accent6"/>
                          </a:solidFill>
                          <a:effectLst/>
                          <a:latin typeface="Roboto Condensed" panose="02000000000000000000" pitchFamily="2" charset="0"/>
                          <a:ea typeface="Roboto Condensed" panose="02000000000000000000" pitchFamily="2" charset="0"/>
                        </a:rPr>
                        <a:t>2.9</a:t>
                      </a:r>
                      <a:endParaRPr lang="en-US" sz="1000" b="0" i="0" u="none" strike="noStrike" dirty="0">
                        <a:solidFill>
                          <a:schemeClr val="accent6"/>
                        </a:solidFill>
                        <a:effectLst/>
                        <a:latin typeface="Roboto Condensed" panose="02000000000000000000" pitchFamily="2" charset="0"/>
                        <a:ea typeface="Roboto Condensed" panose="02000000000000000000" pitchFamily="2" charset="0"/>
                      </a:endParaRPr>
                    </a:p>
                  </a:txBody>
                  <a:tcPr marL="0" marR="457200" marT="0" marB="0" anchor="ct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fontAlgn="b"/>
                      <a:r>
                        <a:rPr lang="en-US" sz="1000" u="none" strike="noStrike" dirty="0">
                          <a:solidFill>
                            <a:schemeClr val="tx2"/>
                          </a:solidFill>
                          <a:effectLst/>
                          <a:latin typeface="Roboto Condensed" panose="02000000000000000000" pitchFamily="2" charset="0"/>
                          <a:ea typeface="Roboto Condensed" panose="02000000000000000000" pitchFamily="2" charset="0"/>
                        </a:rPr>
                        <a:t>6.1</a:t>
                      </a:r>
                      <a:endParaRPr lang="en-US" sz="1000" b="0" i="0" u="none" strike="noStrike" dirty="0">
                        <a:solidFill>
                          <a:schemeClr val="tx2"/>
                        </a:solidFill>
                        <a:effectLst/>
                        <a:latin typeface="Roboto Condensed" panose="02000000000000000000" pitchFamily="2" charset="0"/>
                        <a:ea typeface="Roboto Condensed" panose="02000000000000000000" pitchFamily="2" charset="0"/>
                      </a:endParaRPr>
                    </a:p>
                  </a:txBody>
                  <a:tcPr marL="0" marR="457200" marT="0" marB="0" anchor="ctr">
                    <a:lnR w="12700" cap="flat" cmpd="sng" algn="ctr">
                      <a:solidFill>
                        <a:schemeClr val="accent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9.3</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L w="12700" cap="flat" cmpd="sng" algn="ctr">
                      <a:solidFill>
                        <a:schemeClr val="accent1"/>
                      </a:solidFill>
                      <a:prstDash val="solid"/>
                      <a:round/>
                      <a:headEnd type="none" w="med" len="med"/>
                      <a:tailEnd type="none" w="med" len="med"/>
                    </a:lnL>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1.1%</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fontAlgn="b"/>
                      <a:r>
                        <a:rPr lang="en-US" sz="1000" u="none" strike="noStrike" dirty="0">
                          <a:effectLst/>
                          <a:latin typeface="Roboto Condensed" panose="02000000000000000000" pitchFamily="2" charset="0"/>
                          <a:ea typeface="Roboto Condensed" panose="02000000000000000000" pitchFamily="2" charset="0"/>
                        </a:rPr>
                        <a:t>4.9%</a:t>
                      </a:r>
                      <a:endParaRPr lang="en-US" sz="1000" b="0" i="0" u="none" strike="noStrike" dirty="0">
                        <a:solidFill>
                          <a:srgbClr val="000000"/>
                        </a:solidFill>
                        <a:effectLst/>
                        <a:latin typeface="Roboto Condensed" panose="02000000000000000000" pitchFamily="2" charset="0"/>
                        <a:ea typeface="Roboto Condensed" panose="02000000000000000000" pitchFamily="2" charset="0"/>
                      </a:endParaRPr>
                    </a:p>
                  </a:txBody>
                  <a:tcPr marL="0" marR="274320" marT="0" marB="0" anchor="ctr">
                    <a:lnT w="12700" cap="flat" cmpd="sng" algn="ctr">
                      <a:solidFill>
                        <a:schemeClr val="accent3"/>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809787516"/>
                  </a:ext>
                </a:extLst>
              </a:tr>
            </a:tbl>
          </a:graphicData>
        </a:graphic>
      </p:graphicFrame>
    </p:spTree>
    <p:extLst>
      <p:ext uri="{BB962C8B-B14F-4D97-AF65-F5344CB8AC3E}">
        <p14:creationId xmlns:p14="http://schemas.microsoft.com/office/powerpoint/2010/main" val="4246308733"/>
      </p:ext>
    </p:extLst>
  </p:cSld>
  <p:clrMapOvr>
    <a:masterClrMapping/>
  </p:clrMapOvr>
</p:sld>
</file>

<file path=ppt/theme/theme1.xml><?xml version="1.0" encoding="utf-8"?>
<a:theme xmlns:a="http://schemas.openxmlformats.org/drawingml/2006/main" name="GMO_New Template_BFAF">
  <a:themeElements>
    <a:clrScheme name="GMO color palette 1">
      <a:dk1>
        <a:srgbClr val="000000"/>
      </a:dk1>
      <a:lt1>
        <a:srgbClr val="FFFFFF"/>
      </a:lt1>
      <a:dk2>
        <a:srgbClr val="DC7A4B"/>
      </a:dk2>
      <a:lt2>
        <a:srgbClr val="AF332B"/>
      </a:lt2>
      <a:accent1>
        <a:srgbClr val="013957"/>
      </a:accent1>
      <a:accent2>
        <a:srgbClr val="478976"/>
      </a:accent2>
      <a:accent3>
        <a:srgbClr val="C8DEE8"/>
      </a:accent3>
      <a:accent4>
        <a:srgbClr val="76637F"/>
      </a:accent4>
      <a:accent5>
        <a:srgbClr val="C8676E"/>
      </a:accent5>
      <a:accent6>
        <a:srgbClr val="9A8C7B"/>
      </a:accent6>
      <a:hlink>
        <a:srgbClr val="478976"/>
      </a:hlink>
      <a:folHlink>
        <a:srgbClr val="013957"/>
      </a:folHlink>
    </a:clrScheme>
    <a:fontScheme name="NEW - GMO - Font">
      <a:majorFont>
        <a:latin typeface="Roboto Condensed Light"/>
        <a:ea typeface=""/>
        <a:cs typeface=""/>
      </a:majorFont>
      <a:minorFont>
        <a:latin typeface="Robo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200"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ESG Integration Emg Debt_11-22" id="{8D9B1EC7-FF30-45D5-B151-90E9E14F4E71}" vid="{61392795-DC0C-42D7-A234-813F64622E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VariableListDefinition name="System" displayName="System" id="6d6f3d25-f833-4691-9657-02f54cd867e7" isdomainofvalue="False" dataSourceId="af665f06-db01-4976-896e-315b79f81b00"/>
</file>

<file path=customXml/item2.xml><?xml version="1.0" encoding="utf-8"?>
<VariableList UniqueId="7d1c1034-0958-4abc-86a6-8625e5f61eb8" Name="Computed" ContentType="XML" MajorVersion="0" MinorVersion="1" isLocalCopy="False" IsBaseObject="False" DataSourceId="835613b6-5b05-4700-b202-054d9d8fb1f8" DataSourceMajorVersion="0" DataSourceMinorVersion="1"/>
</file>

<file path=customXml/item3.xml><?xml version="1.0" encoding="utf-8"?>
<VariableListDefinition name="Computed" displayName="Computed" id="7d1c1034-0958-4abc-86a6-8625e5f61eb8" isdomainofvalue="False" dataSourceId="835613b6-5b05-4700-b202-054d9d8fb1f8"/>
</file>

<file path=customXml/item4.xml><?xml version="1.0" encoding="utf-8"?>
<VariableListDefinition name="AD_HOC" displayName="AD_HOC" id="c69d8670-75b8-4b3b-9e5f-f496c78539a1" isdomainofvalue="False" dataSourceId="5c3af9eb-7852-4df3-96b8-dd90f46f0ad5"/>
</file>

<file path=customXml/item5.xml><?xml version="1.0" encoding="utf-8"?>
<VariableList UniqueId="6d6f3d25-f833-4691-9657-02f54cd867e7" Name="System" ContentType="XML" MajorVersion="0" MinorVersion="1" isLocalCopy="False" IsBaseObject="False" DataSourceId="af665f06-db01-4976-896e-315b79f81b00" DataSourceMajorVersion="0" DataSourceMinorVersion="1"/>
</file>

<file path=customXml/item6.xml><?xml version="1.0" encoding="utf-8"?>
<AllExternalAdhocVariableMappings/>
</file>

<file path=customXml/item7.xml><?xml version="1.0" encoding="utf-8"?>
<VariableList UniqueId="c69d8670-75b8-4b3b-9e5f-f496c78539a1" Name="AD_HOC" ContentType="XML" MajorVersion="0" MinorVersion="1" isLocalCopy="False" IsBaseObject="False" DataSourceId="5c3af9eb-7852-4df3-96b8-dd90f46f0ad5" DataSourceMajorVersion="0" DataSourceMinorVersion="1"/>
</file>

<file path=customXml/itemProps1.xml><?xml version="1.0" encoding="utf-8"?>
<ds:datastoreItem xmlns:ds="http://schemas.openxmlformats.org/officeDocument/2006/customXml" ds:itemID="{071036A9-CD14-493A-9995-E3B8ECB534F4}">
  <ds:schemaRefs/>
</ds:datastoreItem>
</file>

<file path=customXml/itemProps2.xml><?xml version="1.0" encoding="utf-8"?>
<ds:datastoreItem xmlns:ds="http://schemas.openxmlformats.org/officeDocument/2006/customXml" ds:itemID="{441FBF1F-2B6C-4C49-A9CC-A0948332BDC6}">
  <ds:schemaRefs/>
</ds:datastoreItem>
</file>

<file path=customXml/itemProps3.xml><?xml version="1.0" encoding="utf-8"?>
<ds:datastoreItem xmlns:ds="http://schemas.openxmlformats.org/officeDocument/2006/customXml" ds:itemID="{8EE53569-DBAB-446D-91E8-E3ECF5D8701F}">
  <ds:schemaRefs/>
</ds:datastoreItem>
</file>

<file path=customXml/itemProps4.xml><?xml version="1.0" encoding="utf-8"?>
<ds:datastoreItem xmlns:ds="http://schemas.openxmlformats.org/officeDocument/2006/customXml" ds:itemID="{ACB2C864-534A-4750-9826-C0D08B4F52B3}">
  <ds:schemaRefs/>
</ds:datastoreItem>
</file>

<file path=customXml/itemProps5.xml><?xml version="1.0" encoding="utf-8"?>
<ds:datastoreItem xmlns:ds="http://schemas.openxmlformats.org/officeDocument/2006/customXml" ds:itemID="{5E04F43C-6D63-4171-BF5A-95E82EC64DC7}">
  <ds:schemaRefs/>
</ds:datastoreItem>
</file>

<file path=customXml/itemProps6.xml><?xml version="1.0" encoding="utf-8"?>
<ds:datastoreItem xmlns:ds="http://schemas.openxmlformats.org/officeDocument/2006/customXml" ds:itemID="{4B734FDA-1510-43DD-9CB1-D26187676854}">
  <ds:schemaRefs/>
</ds:datastoreItem>
</file>

<file path=customXml/itemProps7.xml><?xml version="1.0" encoding="utf-8"?>
<ds:datastoreItem xmlns:ds="http://schemas.openxmlformats.org/officeDocument/2006/customXml" ds:itemID="{03C7042B-61C2-48E9-9060-2398B6FFAA5C}">
  <ds:schemaRefs/>
</ds:datastoreItem>
</file>

<file path=docProps/app.xml><?xml version="1.0" encoding="utf-8"?>
<Properties xmlns="http://schemas.openxmlformats.org/officeDocument/2006/extended-properties" xmlns:vt="http://schemas.openxmlformats.org/officeDocument/2006/docPropsVTypes">
  <Template>ESG Integration Emg Debt_11-22</Template>
  <TotalTime>8989</TotalTime>
  <Words>4406</Words>
  <Application>Microsoft Macintosh PowerPoint</Application>
  <PresentationFormat>Custom</PresentationFormat>
  <Paragraphs>1733</Paragraphs>
  <Slides>41</Slides>
  <Notes>41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41</vt:i4>
      </vt:variant>
    </vt:vector>
  </HeadingPairs>
  <TitlesOfParts>
    <vt:vector size="51" baseType="lpstr">
      <vt:lpstr>Arial</vt:lpstr>
      <vt:lpstr>Arial Narrow</vt:lpstr>
      <vt:lpstr>Calibri</vt:lpstr>
      <vt:lpstr>Georgia</vt:lpstr>
      <vt:lpstr>Roboto</vt:lpstr>
      <vt:lpstr>Roboto Black</vt:lpstr>
      <vt:lpstr>Roboto Condensed</vt:lpstr>
      <vt:lpstr>Roboto Light</vt:lpstr>
      <vt:lpstr>Wingdings</vt:lpstr>
      <vt:lpstr>GMO_New Template_BFAF</vt:lpstr>
      <vt:lpstr>Reimagining emerging markets for a new world order</vt:lpstr>
      <vt:lpstr>Reimagining emerging markets</vt:lpstr>
      <vt:lpstr>The problem with china/taiwan</vt:lpstr>
      <vt:lpstr>The problem with china/taiwan</vt:lpstr>
      <vt:lpstr>This creates a very lopsided portfolio</vt:lpstr>
      <vt:lpstr>Cap weighting does have its positives</vt:lpstr>
      <vt:lpstr>Equal weighting solves one problem, but creates others</vt:lpstr>
      <vt:lpstr>Square Root cap weighting is a nice compromise</vt:lpstr>
      <vt:lpstr>But we can do better! The “new normal” portfolio</vt:lpstr>
      <vt:lpstr>factors to consider in the “new Normal”</vt:lpstr>
      <vt:lpstr>Demographics: bigger is better, but labor market dynamics matter too</vt:lpstr>
      <vt:lpstr>Demographics: bigger is better, but labor market dynamics matter too</vt:lpstr>
      <vt:lpstr>Demographics: bigger is better, but labor market dynamics matter too</vt:lpstr>
      <vt:lpstr>Climate: Climate factors are becoming more important</vt:lpstr>
      <vt:lpstr>Climate: Climate factors are becoming more important</vt:lpstr>
      <vt:lpstr>Geopolitics: geopolitical risks are likely to become more important, but hard to predict</vt:lpstr>
      <vt:lpstr>Geopolitics: geopolitical risks are likely to become more important, but hard to predict</vt:lpstr>
      <vt:lpstr>How should these factors be weighted? An art, not a science </vt:lpstr>
      <vt:lpstr>Top and Bottom countries on this metric</vt:lpstr>
      <vt:lpstr>A closer look some of the countries</vt:lpstr>
      <vt:lpstr>A closer look some of the countries</vt:lpstr>
      <vt:lpstr>The ”new Normal” reduces country concertation without affecting other dimensions </vt:lpstr>
      <vt:lpstr>China and Taiwan are around 20% combined</vt:lpstr>
      <vt:lpstr>Sector weights of the “new normal” are similar to the MSCI</vt:lpstr>
      <vt:lpstr>Characteristics of the “NEW normal”</vt:lpstr>
      <vt:lpstr>How investors could use this</vt:lpstr>
      <vt:lpstr>Summary</vt:lpstr>
      <vt:lpstr>DISCLAIMERS</vt:lpstr>
      <vt:lpstr>PowerPoint Presentation</vt:lpstr>
      <vt:lpstr>PowerPoint Presentation</vt:lpstr>
      <vt:lpstr>Predicted growth: Predicting growth is always tricky</vt:lpstr>
      <vt:lpstr>Predicted growth: Predicting growth is always tricky</vt:lpstr>
      <vt:lpstr>Predicted growth: Predicting growth is always tricky, but…</vt:lpstr>
      <vt:lpstr>MACROeconomics: Macroeconomic health is slow moving</vt:lpstr>
      <vt:lpstr>MACROeconomics: Macroeconomic health is slow moving</vt:lpstr>
      <vt:lpstr>Domestic policy: Domestic policy risks are largely driven by institutional quality</vt:lpstr>
      <vt:lpstr>Domestic policy: Domestic policy risks are largely driven by institutional quality</vt:lpstr>
      <vt:lpstr>Diversification: Diversification is a key element in a global portfolio</vt:lpstr>
      <vt:lpstr>Diversification: Diversification is a key element in a global portfolio</vt:lpstr>
      <vt:lpstr>Diversification: Diversification is a key element in a global portfolio</vt:lpstr>
      <vt:lpstr>What the “new normal” portfolio would look like</vt:lpstr>
    </vt:vector>
  </TitlesOfParts>
  <Company>GMO,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ESG Integration in Emerging Debt Markets:  The Challenges and the Rewards</dc:title>
  <dc:creator>Rebecca Gilkey</dc:creator>
  <cp:lastModifiedBy>arjun divecha</cp:lastModifiedBy>
  <cp:revision>41</cp:revision>
  <cp:lastPrinted>2018-11-20T13:40:24Z</cp:lastPrinted>
  <dcterms:created xsi:type="dcterms:W3CDTF">2022-10-11T19:20:30Z</dcterms:created>
  <dcterms:modified xsi:type="dcterms:W3CDTF">2022-10-20T19:41:58Z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